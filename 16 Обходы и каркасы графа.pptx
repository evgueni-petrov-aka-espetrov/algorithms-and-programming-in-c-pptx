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45"/>
  </p:notesMasterIdLst>
  <p:sldIdLst>
    <p:sldId id="256" r:id="rId2"/>
    <p:sldId id="358" r:id="rId3"/>
    <p:sldId id="343" r:id="rId4"/>
    <p:sldId id="366" r:id="rId5"/>
    <p:sldId id="367" r:id="rId6"/>
    <p:sldId id="368" r:id="rId7"/>
    <p:sldId id="369" r:id="rId8"/>
    <p:sldId id="370" r:id="rId9"/>
    <p:sldId id="590" r:id="rId10"/>
    <p:sldId id="365" r:id="rId11"/>
    <p:sldId id="591" r:id="rId12"/>
    <p:sldId id="372" r:id="rId13"/>
    <p:sldId id="373" r:id="rId14"/>
    <p:sldId id="374" r:id="rId15"/>
    <p:sldId id="379" r:id="rId16"/>
    <p:sldId id="609" r:id="rId17"/>
    <p:sldId id="610" r:id="rId18"/>
    <p:sldId id="611" r:id="rId19"/>
    <p:sldId id="612" r:id="rId20"/>
    <p:sldId id="259" r:id="rId21"/>
    <p:sldId id="380" r:id="rId22"/>
    <p:sldId id="381" r:id="rId23"/>
    <p:sldId id="382" r:id="rId24"/>
    <p:sldId id="383" r:id="rId25"/>
    <p:sldId id="384" r:id="rId26"/>
    <p:sldId id="387" r:id="rId27"/>
    <p:sldId id="388" r:id="rId28"/>
    <p:sldId id="389" r:id="rId29"/>
    <p:sldId id="390" r:id="rId30"/>
    <p:sldId id="391" r:id="rId31"/>
    <p:sldId id="392" r:id="rId32"/>
    <p:sldId id="385" r:id="rId33"/>
    <p:sldId id="386" r:id="rId34"/>
    <p:sldId id="269" r:id="rId35"/>
    <p:sldId id="393" r:id="rId36"/>
    <p:sldId id="394" r:id="rId37"/>
    <p:sldId id="395" r:id="rId38"/>
    <p:sldId id="396" r:id="rId39"/>
    <p:sldId id="397" r:id="rId40"/>
    <p:sldId id="266" r:id="rId41"/>
    <p:sldId id="398" r:id="rId42"/>
    <p:sldId id="399" r:id="rId43"/>
    <p:sldId id="401" r:id="rId44"/>
    <p:sldId id="402" r:id="rId45"/>
    <p:sldId id="400" r:id="rId46"/>
    <p:sldId id="261" r:id="rId47"/>
    <p:sldId id="403" r:id="rId48"/>
    <p:sldId id="404" r:id="rId49"/>
    <p:sldId id="405" r:id="rId50"/>
    <p:sldId id="406" r:id="rId51"/>
    <p:sldId id="407" r:id="rId52"/>
    <p:sldId id="408" r:id="rId53"/>
    <p:sldId id="264" r:id="rId54"/>
    <p:sldId id="409" r:id="rId55"/>
    <p:sldId id="410" r:id="rId56"/>
    <p:sldId id="411" r:id="rId57"/>
    <p:sldId id="412" r:id="rId58"/>
    <p:sldId id="345" r:id="rId59"/>
    <p:sldId id="413" r:id="rId60"/>
    <p:sldId id="414" r:id="rId61"/>
    <p:sldId id="415" r:id="rId62"/>
    <p:sldId id="418" r:id="rId63"/>
    <p:sldId id="613" r:id="rId64"/>
    <p:sldId id="614" r:id="rId65"/>
    <p:sldId id="615" r:id="rId66"/>
    <p:sldId id="616" r:id="rId67"/>
    <p:sldId id="331" r:id="rId68"/>
    <p:sldId id="420" r:id="rId69"/>
    <p:sldId id="421" r:id="rId70"/>
    <p:sldId id="422" r:id="rId71"/>
    <p:sldId id="423" r:id="rId72"/>
    <p:sldId id="592" r:id="rId73"/>
    <p:sldId id="601" r:id="rId74"/>
    <p:sldId id="602" r:id="rId75"/>
    <p:sldId id="603" r:id="rId76"/>
    <p:sldId id="604" r:id="rId77"/>
    <p:sldId id="605" r:id="rId78"/>
    <p:sldId id="606" r:id="rId79"/>
    <p:sldId id="607" r:id="rId80"/>
    <p:sldId id="608" r:id="rId81"/>
    <p:sldId id="323" r:id="rId82"/>
    <p:sldId id="475" r:id="rId83"/>
    <p:sldId id="476" r:id="rId84"/>
    <p:sldId id="477" r:id="rId85"/>
    <p:sldId id="478" r:id="rId86"/>
    <p:sldId id="479" r:id="rId87"/>
    <p:sldId id="593" r:id="rId88"/>
    <p:sldId id="617" r:id="rId89"/>
    <p:sldId id="335" r:id="rId90"/>
    <p:sldId id="480" r:id="rId91"/>
    <p:sldId id="481" r:id="rId92"/>
    <p:sldId id="482" r:id="rId93"/>
    <p:sldId id="483" r:id="rId94"/>
    <p:sldId id="484" r:id="rId95"/>
    <p:sldId id="485" r:id="rId96"/>
    <p:sldId id="486" r:id="rId97"/>
    <p:sldId id="487" r:id="rId98"/>
    <p:sldId id="488" r:id="rId99"/>
    <p:sldId id="489" r:id="rId100"/>
    <p:sldId id="490" r:id="rId101"/>
    <p:sldId id="491" r:id="rId102"/>
    <p:sldId id="492" r:id="rId103"/>
    <p:sldId id="493" r:id="rId104"/>
    <p:sldId id="494" r:id="rId105"/>
    <p:sldId id="495" r:id="rId106"/>
    <p:sldId id="515" r:id="rId107"/>
    <p:sldId id="336" r:id="rId108"/>
    <p:sldId id="511" r:id="rId109"/>
    <p:sldId id="512" r:id="rId110"/>
    <p:sldId id="513" r:id="rId111"/>
    <p:sldId id="514" r:id="rId112"/>
    <p:sldId id="496" r:id="rId113"/>
    <p:sldId id="497" r:id="rId114"/>
    <p:sldId id="498" r:id="rId115"/>
    <p:sldId id="499" r:id="rId116"/>
    <p:sldId id="500" r:id="rId117"/>
    <p:sldId id="501" r:id="rId118"/>
    <p:sldId id="502" r:id="rId119"/>
    <p:sldId id="503" r:id="rId120"/>
    <p:sldId id="504" r:id="rId121"/>
    <p:sldId id="505" r:id="rId122"/>
    <p:sldId id="506" r:id="rId123"/>
    <p:sldId id="338" r:id="rId124"/>
    <p:sldId id="516" r:id="rId125"/>
    <p:sldId id="517" r:id="rId126"/>
    <p:sldId id="518" r:id="rId127"/>
    <p:sldId id="519" r:id="rId128"/>
    <p:sldId id="520" r:id="rId129"/>
    <p:sldId id="521" r:id="rId130"/>
    <p:sldId id="522" r:id="rId131"/>
    <p:sldId id="354" r:id="rId132"/>
    <p:sldId id="523" r:id="rId133"/>
    <p:sldId id="524" r:id="rId134"/>
    <p:sldId id="525" r:id="rId135"/>
    <p:sldId id="526" r:id="rId136"/>
    <p:sldId id="527" r:id="rId137"/>
    <p:sldId id="280" r:id="rId138"/>
    <p:sldId id="424" r:id="rId139"/>
    <p:sldId id="425" r:id="rId140"/>
    <p:sldId id="600" r:id="rId141"/>
    <p:sldId id="426" r:id="rId142"/>
    <p:sldId id="618" r:id="rId143"/>
    <p:sldId id="303" r:id="rId144"/>
    <p:sldId id="427" r:id="rId145"/>
    <p:sldId id="428" r:id="rId146"/>
    <p:sldId id="429" r:id="rId147"/>
    <p:sldId id="430" r:id="rId148"/>
    <p:sldId id="360" r:id="rId149"/>
    <p:sldId id="446" r:id="rId150"/>
    <p:sldId id="359" r:id="rId151"/>
    <p:sldId id="447" r:id="rId152"/>
    <p:sldId id="448" r:id="rId153"/>
    <p:sldId id="449" r:id="rId154"/>
    <p:sldId id="450" r:id="rId155"/>
    <p:sldId id="451" r:id="rId156"/>
    <p:sldId id="452" r:id="rId157"/>
    <p:sldId id="453" r:id="rId158"/>
    <p:sldId id="454" r:id="rId159"/>
    <p:sldId id="456" r:id="rId160"/>
    <p:sldId id="594" r:id="rId161"/>
    <p:sldId id="595" r:id="rId162"/>
    <p:sldId id="596" r:id="rId163"/>
    <p:sldId id="597" r:id="rId164"/>
    <p:sldId id="598" r:id="rId165"/>
    <p:sldId id="311" r:id="rId166"/>
    <p:sldId id="460" r:id="rId167"/>
    <p:sldId id="461" r:id="rId168"/>
    <p:sldId id="462" r:id="rId169"/>
    <p:sldId id="463" r:id="rId170"/>
    <p:sldId id="464" r:id="rId171"/>
    <p:sldId id="465" r:id="rId172"/>
    <p:sldId id="466" r:id="rId173"/>
    <p:sldId id="467" r:id="rId174"/>
    <p:sldId id="468" r:id="rId175"/>
    <p:sldId id="469" r:id="rId176"/>
    <p:sldId id="305" r:id="rId177"/>
    <p:sldId id="470" r:id="rId178"/>
    <p:sldId id="471" r:id="rId179"/>
    <p:sldId id="472" r:id="rId180"/>
    <p:sldId id="473" r:id="rId181"/>
    <p:sldId id="474" r:id="rId182"/>
    <p:sldId id="306" r:id="rId183"/>
    <p:sldId id="528" r:id="rId184"/>
    <p:sldId id="529" r:id="rId185"/>
    <p:sldId id="530" r:id="rId186"/>
    <p:sldId id="531" r:id="rId187"/>
    <p:sldId id="532" r:id="rId188"/>
    <p:sldId id="363" r:id="rId189"/>
    <p:sldId id="307" r:id="rId190"/>
    <p:sldId id="549" r:id="rId191"/>
    <p:sldId id="550" r:id="rId192"/>
    <p:sldId id="551" r:id="rId193"/>
    <p:sldId id="552" r:id="rId194"/>
    <p:sldId id="553" r:id="rId195"/>
    <p:sldId id="554" r:id="rId196"/>
    <p:sldId id="555" r:id="rId197"/>
    <p:sldId id="556" r:id="rId198"/>
    <p:sldId id="557" r:id="rId199"/>
    <p:sldId id="558" r:id="rId200"/>
    <p:sldId id="559" r:id="rId201"/>
    <p:sldId id="560" r:id="rId202"/>
    <p:sldId id="561" r:id="rId203"/>
    <p:sldId id="547" r:id="rId204"/>
    <p:sldId id="548" r:id="rId205"/>
    <p:sldId id="619" r:id="rId206"/>
    <p:sldId id="362" r:id="rId207"/>
    <p:sldId id="565" r:id="rId208"/>
    <p:sldId id="566" r:id="rId209"/>
    <p:sldId id="567" r:id="rId210"/>
    <p:sldId id="568" r:id="rId211"/>
    <p:sldId id="569" r:id="rId212"/>
    <p:sldId id="570" r:id="rId213"/>
    <p:sldId id="571" r:id="rId214"/>
    <p:sldId id="572" r:id="rId215"/>
    <p:sldId id="573" r:id="rId216"/>
    <p:sldId id="574" r:id="rId217"/>
    <p:sldId id="562" r:id="rId218"/>
    <p:sldId id="563" r:id="rId219"/>
    <p:sldId id="564" r:id="rId220"/>
    <p:sldId id="356" r:id="rId221"/>
    <p:sldId id="575" r:id="rId222"/>
    <p:sldId id="576" r:id="rId223"/>
    <p:sldId id="577" r:id="rId224"/>
    <p:sldId id="578" r:id="rId225"/>
    <p:sldId id="579" r:id="rId226"/>
    <p:sldId id="580" r:id="rId227"/>
    <p:sldId id="364" r:id="rId228"/>
    <p:sldId id="361" r:id="rId229"/>
    <p:sldId id="581" r:id="rId230"/>
    <p:sldId id="582" r:id="rId231"/>
    <p:sldId id="583" r:id="rId232"/>
    <p:sldId id="584" r:id="rId233"/>
    <p:sldId id="585" r:id="rId234"/>
    <p:sldId id="586" r:id="rId235"/>
    <p:sldId id="587" r:id="rId236"/>
    <p:sldId id="588" r:id="rId237"/>
    <p:sldId id="589" r:id="rId238"/>
    <p:sldId id="344" r:id="rId239"/>
    <p:sldId id="289" r:id="rId240"/>
    <p:sldId id="313" r:id="rId241"/>
    <p:sldId id="274" r:id="rId242"/>
    <p:sldId id="278" r:id="rId243"/>
    <p:sldId id="334" r:id="rId244"/>
  </p:sldIdLst>
  <p:sldSz cx="12192000" cy="6858000"/>
  <p:notesSz cx="6781800" cy="98806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F5"/>
    <a:srgbClr val="00CC00"/>
    <a:srgbClr val="663300"/>
    <a:srgbClr val="996633"/>
    <a:srgbClr val="EF5A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preferSingleView="1">
    <p:restoredLeft sz="20324" autoAdjust="0"/>
    <p:restoredTop sz="95044" autoAdjust="0"/>
  </p:normalViewPr>
  <p:slideViewPr>
    <p:cSldViewPr>
      <p:cViewPr varScale="1">
        <p:scale>
          <a:sx n="91" d="100"/>
          <a:sy n="91" d="100"/>
        </p:scale>
        <p:origin x="125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53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viewProps" Target="view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theme" Target="theme/theme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tableStyles" Target="tableStyle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notesMaster" Target="notesMasters/notesMaster1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presProps" Target="presProps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1750" y="0"/>
            <a:ext cx="29384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380130C-11A6-49A8-9F20-44B24BE9247B}" type="datetimeFigureOut">
              <a:rPr lang="ru-RU"/>
              <a:pPr>
                <a:defRPr/>
              </a:pPr>
              <a:t>16.03.2026</a:t>
            </a:fld>
            <a:endParaRPr lang="ru-RU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425" y="741363"/>
            <a:ext cx="6584950" cy="37052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3" y="4692650"/>
            <a:ext cx="5426075" cy="444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Click to edit Master text styles</a:t>
            </a:r>
          </a:p>
          <a:p>
            <a:pPr lvl="1"/>
            <a:r>
              <a:rPr lang="ru-RU" noProof="0"/>
              <a:t>Second level</a:t>
            </a:r>
          </a:p>
          <a:p>
            <a:pPr lvl="2"/>
            <a:r>
              <a:rPr lang="ru-RU" noProof="0"/>
              <a:t>Third level</a:t>
            </a:r>
          </a:p>
          <a:p>
            <a:pPr lvl="3"/>
            <a:r>
              <a:rPr lang="ru-RU" noProof="0"/>
              <a:t>Fourth level</a:t>
            </a:r>
          </a:p>
          <a:p>
            <a:pPr lvl="4"/>
            <a:r>
              <a:rPr lang="ru-RU" noProof="0"/>
              <a:t>Fifth level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5300"/>
            <a:ext cx="29384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1750" y="9385300"/>
            <a:ext cx="293846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4D677C6D-3D49-45A1-BBD5-CEB4381B0AC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9497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012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9831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1869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0202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1635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4717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230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6549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5895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647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645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8585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492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5304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8206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0422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4542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786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2357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6377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5936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3560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2604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4412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9425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7780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5315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21181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5400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68821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20769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5684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8147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4245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1510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4430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459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716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77515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7689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5759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60227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3168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88028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33765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42191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80652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34705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14913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7665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2585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95426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588680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02229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583761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220028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88094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5279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55085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64036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726012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38285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38747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84909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21267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12689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0039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10943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8155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7449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406576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06944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263950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11793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378444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19977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77377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77423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42968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38247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836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97921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47038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01187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73651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95955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384194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006805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5706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69029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5320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27935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45272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37350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578975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0777386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04265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337809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30502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11634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860338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74884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544196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18080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677086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9774605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157415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794454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782465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266905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099120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94872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27346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923006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741586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259042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864154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8816683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695190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203052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79170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807629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952277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796210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9964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3852694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259765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065188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780764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791317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8588632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021333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5748613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4239937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030906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977017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5823716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992325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943060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32791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920008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81393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589338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589407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600769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1172592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559372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585749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420833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1620202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013152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1116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742275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8514692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4409616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9638400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853977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161639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890793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171824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747196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975165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788072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078506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14523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431046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822216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66425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329933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6826414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039075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622290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624130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9616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397233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287497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692962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238853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002534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2651557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31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561744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993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294398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4161414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766115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41363"/>
            <a:ext cx="6584950" cy="3705225"/>
          </a:xfrm>
          <a:ln/>
        </p:spPr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522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CBC22E-0CC6-4409-B55E-820FCEF990CA}" type="datetimeFigureOut">
              <a:rPr lang="ru-RU" smtClean="0"/>
              <a:pPr>
                <a:defRPr/>
              </a:pPr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2BE67-3CBF-4A82-BBD0-60CD376ADF4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0869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CBC22E-0CC6-4409-B55E-820FCEF990CA}" type="datetimeFigureOut">
              <a:rPr lang="ru-RU" smtClean="0"/>
              <a:pPr>
                <a:defRPr/>
              </a:pPr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2BE67-3CBF-4A82-BBD0-60CD376ADF4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956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CBC22E-0CC6-4409-B55E-820FCEF990CA}" type="datetimeFigureOut">
              <a:rPr lang="ru-RU" smtClean="0"/>
              <a:pPr>
                <a:defRPr/>
              </a:pPr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2BE67-3CBF-4A82-BBD0-60CD376ADF4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743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CBC22E-0CC6-4409-B55E-820FCEF990CA}" type="datetimeFigureOut">
              <a:rPr lang="ru-RU" smtClean="0"/>
              <a:pPr>
                <a:defRPr/>
              </a:pPr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2BE67-3CBF-4A82-BBD0-60CD376ADF4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3733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CBC22E-0CC6-4409-B55E-820FCEF990CA}" type="datetimeFigureOut">
              <a:rPr lang="ru-RU" smtClean="0"/>
              <a:pPr>
                <a:defRPr/>
              </a:pPr>
              <a:t>16.03.2026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2BE67-3CBF-4A82-BBD0-60CD376ADF4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002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CBC22E-0CC6-4409-B55E-820FCEF990CA}" type="datetimeFigureOut">
              <a:rPr lang="ru-RU" smtClean="0"/>
              <a:pPr>
                <a:defRPr/>
              </a:pPr>
              <a:t>16.03.2026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2BE67-3CBF-4A82-BBD0-60CD376ADF4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5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CBC22E-0CC6-4409-B55E-820FCEF990CA}" type="datetimeFigureOut">
              <a:rPr lang="ru-RU" smtClean="0"/>
              <a:pPr>
                <a:defRPr/>
              </a:pPr>
              <a:t>16.03.2026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2BE67-3CBF-4A82-BBD0-60CD376ADF4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823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CBC22E-0CC6-4409-B55E-820FCEF990CA}" type="datetimeFigureOut">
              <a:rPr lang="ru-RU" smtClean="0"/>
              <a:pPr>
                <a:defRPr/>
              </a:pPr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2BE67-3CBF-4A82-BBD0-60CD376ADF4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973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CBC22E-0CC6-4409-B55E-820FCEF990CA}" type="datetimeFigureOut">
              <a:rPr lang="ru-RU" smtClean="0"/>
              <a:pPr>
                <a:defRPr/>
              </a:pPr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2BE67-3CBF-4A82-BBD0-60CD376ADF4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89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CBC22E-0CC6-4409-B55E-820FCEF990CA}" type="datetimeFigureOut">
              <a:rPr lang="ru-RU" smtClean="0"/>
              <a:pPr>
                <a:defRPr/>
              </a:pPr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2BE67-3CBF-4A82-BBD0-60CD376ADF4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060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CBC22E-0CC6-4409-B55E-820FCEF990CA}" type="datetimeFigureOut">
              <a:rPr lang="ru-RU" smtClean="0"/>
              <a:pPr>
                <a:defRPr/>
              </a:pPr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2BE67-3CBF-4A82-BBD0-60CD376ADF4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510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E441E3-4042-45B0-9071-371ED47AD456}" type="datetimeFigureOut">
              <a:rPr lang="ru-RU"/>
              <a:pPr>
                <a:defRPr/>
              </a:pPr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ACC29-9961-40B1-BB5F-A054ECFE95E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ECBC22E-0CC6-4409-B55E-820FCEF990CA}" type="datetimeFigureOut">
              <a:rPr lang="ru-RU" smtClean="0"/>
              <a:pPr>
                <a:defRPr/>
              </a:pPr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6E2BE67-3CBF-4A82-BBD0-60CD376ADF4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11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frenchtrip.ru/" TargetMode="Externa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frenchtrip.ru/" TargetMode="Externa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frenchtrip.ru/" TargetMode="Externa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4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4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4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4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4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4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4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4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4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4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12.xml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7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2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Обходы и каркасы графов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Лекции 16 и17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лекции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глубину</a:t>
            </a:r>
          </a:p>
          <a:p>
            <a:endParaRPr lang="ru-RU" dirty="0"/>
          </a:p>
          <a:p>
            <a:r>
              <a:rPr lang="ru-RU" dirty="0"/>
              <a:t>Обход вершин графа в ширину</a:t>
            </a:r>
          </a:p>
          <a:p>
            <a:endParaRPr lang="ru-RU" dirty="0"/>
          </a:p>
          <a:p>
            <a:r>
              <a:rPr lang="ru-RU" dirty="0"/>
              <a:t>Построение каркаса графа</a:t>
            </a:r>
          </a:p>
          <a:p>
            <a:pPr lvl="1"/>
            <a:r>
              <a:rPr lang="ru-RU" dirty="0"/>
              <a:t>Компоненты связности и система непересекающихся множеств</a:t>
            </a:r>
          </a:p>
          <a:p>
            <a:pPr lvl="1"/>
            <a:r>
              <a:rPr lang="ru-RU" dirty="0"/>
              <a:t>Алгоритм </a:t>
            </a:r>
            <a:r>
              <a:rPr lang="ru-RU" dirty="0" err="1"/>
              <a:t>Краскала</a:t>
            </a:r>
            <a:endParaRPr lang="ru-RU" dirty="0"/>
          </a:p>
          <a:p>
            <a:pPr lvl="1"/>
            <a:r>
              <a:rPr lang="ru-RU" dirty="0"/>
              <a:t>Алгоритм Прима-</a:t>
            </a:r>
            <a:r>
              <a:rPr lang="ru-RU" dirty="0" err="1"/>
              <a:t>Краскала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086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Графы – это модели систем, процессов, программ, данных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Обработка графов – это построение и анализ этих моделей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Обход вершин графа – это обработка вершин графа в порядке, заданном множеством дуг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Основа большого числа алгоритмов обработки графов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 глубину, в ширину и другие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Множество дуг у большинства графов задает порядок обработки не до конца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739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Графы – это модели систем, процессов, программ, данных</a:t>
            </a:r>
          </a:p>
          <a:p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Обработка графов – это построение и анализ этих моделей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Обход вершин графа – это обработка вершин графа в порядке, заданном множеством дуг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Основа большого числа алгоритмов обработки графов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 глубину, в ширину и другие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Множество дуг у большинства графов задает порядок обработки не до конца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612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Графы – это модели систем, процессов, программ, данных</a:t>
            </a:r>
          </a:p>
          <a:p>
            <a:endParaRPr lang="ru-RU" dirty="0"/>
          </a:p>
          <a:p>
            <a:r>
              <a:rPr lang="ru-RU" dirty="0"/>
              <a:t>Обработка графов – это построение и анализ этих моделей</a:t>
            </a:r>
          </a:p>
          <a:p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Обход вершин графа – это обработка вершин графа в порядке, заданном множеством дуг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Основа большого числа алгоритмов обработки графов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 глубину, в ширину и другие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Множество дуг у большинства графов задает порядок обработки не до конца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629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Графы – это модели систем, процессов, программ, данных</a:t>
            </a:r>
          </a:p>
          <a:p>
            <a:endParaRPr lang="ru-RU" dirty="0"/>
          </a:p>
          <a:p>
            <a:r>
              <a:rPr lang="ru-RU" dirty="0"/>
              <a:t>Обработка графов – это построение и анализ этих моделей</a:t>
            </a:r>
          </a:p>
          <a:p>
            <a:endParaRPr lang="ru-RU" dirty="0"/>
          </a:p>
          <a:p>
            <a:r>
              <a:rPr lang="ru-RU" dirty="0"/>
              <a:t>Обход вершин графа – это обработка вершин графа в порядке, заданном множеством дуг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Основа большого числа алгоритмов обработки графов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 глубину, в ширину и другие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Множество дуг у большинства графов задает порядок обработки не до конца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60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Графы – это модели систем, процессов, программ, данных</a:t>
            </a:r>
          </a:p>
          <a:p>
            <a:endParaRPr lang="ru-RU" dirty="0"/>
          </a:p>
          <a:p>
            <a:r>
              <a:rPr lang="ru-RU" dirty="0"/>
              <a:t>Обработка графов – это построение и анализ этих моделей</a:t>
            </a:r>
          </a:p>
          <a:p>
            <a:endParaRPr lang="ru-RU" dirty="0"/>
          </a:p>
          <a:p>
            <a:r>
              <a:rPr lang="ru-RU" dirty="0"/>
              <a:t>Обход вершин графа – это обработка вершин графа в порядке, заданном множеством дуг</a:t>
            </a:r>
          </a:p>
          <a:p>
            <a:pPr lvl="1"/>
            <a:r>
              <a:rPr lang="ru-RU" dirty="0"/>
              <a:t>Основа большого числа алгоритмов обработки графов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 глубину, в ширину и другие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Множество дуг у большинства графов задает порядок обработки не до конца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447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Графы – это модели систем, процессов, программ, данных</a:t>
            </a:r>
          </a:p>
          <a:p>
            <a:endParaRPr lang="ru-RU" dirty="0"/>
          </a:p>
          <a:p>
            <a:r>
              <a:rPr lang="ru-RU" dirty="0"/>
              <a:t>Обработка графов – это построение и анализ этих моделей</a:t>
            </a:r>
          </a:p>
          <a:p>
            <a:endParaRPr lang="ru-RU" dirty="0"/>
          </a:p>
          <a:p>
            <a:r>
              <a:rPr lang="ru-RU" dirty="0"/>
              <a:t>Обход вершин графа – это обработка вершин графа в порядке, заданном множеством дуг</a:t>
            </a:r>
          </a:p>
          <a:p>
            <a:pPr lvl="1"/>
            <a:r>
              <a:rPr lang="ru-RU" dirty="0"/>
              <a:t>Основа большого числа алгоритмов обработки графов</a:t>
            </a:r>
          </a:p>
          <a:p>
            <a:pPr lvl="1"/>
            <a:r>
              <a:rPr lang="ru-RU" dirty="0"/>
              <a:t>В глубину, в ширину и другие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Множество дуг у большинства графов задает порядок обработки не до конца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1591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Графы – это модели систем, процессов, программ, данных</a:t>
            </a:r>
          </a:p>
          <a:p>
            <a:endParaRPr lang="ru-RU" dirty="0"/>
          </a:p>
          <a:p>
            <a:r>
              <a:rPr lang="ru-RU" dirty="0"/>
              <a:t>Обработка графов – это построение и анализ этих моделей</a:t>
            </a:r>
          </a:p>
          <a:p>
            <a:endParaRPr lang="ru-RU" dirty="0"/>
          </a:p>
          <a:p>
            <a:r>
              <a:rPr lang="ru-RU" dirty="0"/>
              <a:t>Обход вершин графа – это обработка вершин графа в порядке, заданном множеством дуг</a:t>
            </a:r>
          </a:p>
          <a:p>
            <a:pPr lvl="1"/>
            <a:r>
              <a:rPr lang="ru-RU" dirty="0"/>
              <a:t>Основа большого числа алгоритмов обработки графов</a:t>
            </a:r>
          </a:p>
          <a:p>
            <a:pPr lvl="1"/>
            <a:r>
              <a:rPr lang="ru-RU" dirty="0"/>
              <a:t>В глубину, в ширину и другие</a:t>
            </a:r>
          </a:p>
          <a:p>
            <a:pPr lvl="2"/>
            <a:r>
              <a:rPr lang="ru-RU" dirty="0"/>
              <a:t>Множество дуг у большинства графов задает порядок обработки не до конца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6735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глубину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Обработка вершин вдоль длинных путей по графу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Двигаемся в необработанную смежную вершину, либо откатываемся назад по пройденному пути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Компиляция программ, комбинаторный поиск, компьютерная алгебра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Алгоритмы на основе обхода в глубину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Топологическая сортировка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Поиск 1-, 2-, 3-связных компонент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Поиск мостов, поиск шарниров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Поиск сильно связанных компонент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Проверка планарности</a:t>
            </a:r>
          </a:p>
        </p:txBody>
      </p:sp>
    </p:spTree>
    <p:extLst>
      <p:ext uri="{BB962C8B-B14F-4D97-AF65-F5344CB8AC3E}">
        <p14:creationId xmlns:p14="http://schemas.microsoft.com/office/powerpoint/2010/main" val="284723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глубину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Обработка вершин вдоль длинных путей по графу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Двигаемся в необработанную смежную вершину, либо откатываемся назад по пройденному пути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Компиляция программ, комбинаторный поиск, компьютерная алгебра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Алгоритмы на основе обхода в глубину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Топологическая сортировка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Поиск 1-, 2-, 3-связных компонент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Поиск мостов, поиск шарниров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Поиск сильно связанных компонент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Проверка планарности</a:t>
            </a:r>
          </a:p>
        </p:txBody>
      </p:sp>
    </p:spTree>
    <p:extLst>
      <p:ext uri="{BB962C8B-B14F-4D97-AF65-F5344CB8AC3E}">
        <p14:creationId xmlns:p14="http://schemas.microsoft.com/office/powerpoint/2010/main" val="3176407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глубину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Обработка вершин вдоль длинных путей по графу</a:t>
            </a:r>
          </a:p>
          <a:p>
            <a:pPr lvl="1"/>
            <a:r>
              <a:rPr lang="ru-RU" dirty="0"/>
              <a:t>Двигаемся в необработанную смежную вершину, либо откатываемся назад по пройденному пути</a:t>
            </a:r>
          </a:p>
          <a:p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Компиляция программ, комбинаторный поиск, компьютерная алгебра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Алгоритмы на основе обхода в глубину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Топологическая сортировка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Поиск 1-, 2-, 3-связных компонент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Поиск мостов, поиск шарниров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Поиск сильно связанных компонент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Проверка планарности</a:t>
            </a:r>
          </a:p>
        </p:txBody>
      </p:sp>
    </p:spTree>
    <p:extLst>
      <p:ext uri="{BB962C8B-B14F-4D97-AF65-F5344CB8AC3E}">
        <p14:creationId xmlns:p14="http://schemas.microsoft.com/office/powerpoint/2010/main" val="1963546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глубину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Обработка вершин вдоль длинных путей по графу</a:t>
            </a:r>
          </a:p>
          <a:p>
            <a:pPr lvl="1"/>
            <a:r>
              <a:rPr lang="ru-RU" dirty="0"/>
              <a:t>Двигаемся в необработанную смежную вершину, либо откатываемся назад по пройденному пути</a:t>
            </a:r>
          </a:p>
          <a:p>
            <a:endParaRPr lang="ru-RU" dirty="0"/>
          </a:p>
          <a:p>
            <a:r>
              <a:rPr lang="ru-RU" dirty="0"/>
              <a:t>Компиляция программ, комбинаторный поиск, компьютерная алгебра</a:t>
            </a:r>
          </a:p>
          <a:p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Алгоритмы на основе обхода в глубину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Топологическая сортировка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Поиск 1-, 2-, 3-связных компонент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Поиск мостов, поиск шарниров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Поиск сильно связанных компонент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ru-RU" dirty="0">
                <a:solidFill>
                  <a:schemeClr val="bg1"/>
                </a:solidFill>
              </a:rPr>
              <a:t>Проверка планарности</a:t>
            </a:r>
          </a:p>
        </p:txBody>
      </p:sp>
    </p:spTree>
    <p:extLst>
      <p:ext uri="{BB962C8B-B14F-4D97-AF65-F5344CB8AC3E}">
        <p14:creationId xmlns:p14="http://schemas.microsoft.com/office/powerpoint/2010/main" val="1924870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глубину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Обработка вершин вдоль длинных путей по графу</a:t>
            </a:r>
          </a:p>
          <a:p>
            <a:pPr lvl="1"/>
            <a:r>
              <a:rPr lang="ru-RU" dirty="0"/>
              <a:t>Двигаемся в необработанную смежную вершину, либо откатываемся назад по пройденному пути</a:t>
            </a:r>
          </a:p>
          <a:p>
            <a:endParaRPr lang="ru-RU" dirty="0"/>
          </a:p>
          <a:p>
            <a:r>
              <a:rPr lang="ru-RU" dirty="0"/>
              <a:t>Компиляция программ, комбинаторный поиск, компьютерная алгебра</a:t>
            </a:r>
          </a:p>
          <a:p>
            <a:endParaRPr lang="ru-RU" dirty="0"/>
          </a:p>
          <a:p>
            <a:r>
              <a:rPr lang="ru-RU" dirty="0"/>
              <a:t>Алгоритмы на основе обхода в глубину</a:t>
            </a:r>
          </a:p>
          <a:p>
            <a:pPr lvl="1"/>
            <a:r>
              <a:rPr lang="ru-RU" dirty="0"/>
              <a:t>Топологическая сортировка</a:t>
            </a:r>
          </a:p>
          <a:p>
            <a:pPr lvl="1"/>
            <a:r>
              <a:rPr lang="ru-RU" dirty="0"/>
              <a:t>Поиск 1-, 2-, 3-связных компонент</a:t>
            </a:r>
            <a:endParaRPr lang="en-US" dirty="0"/>
          </a:p>
          <a:p>
            <a:pPr lvl="1"/>
            <a:r>
              <a:rPr lang="ru-RU" dirty="0"/>
              <a:t>Поиск мостов, поиск шарниров</a:t>
            </a:r>
          </a:p>
          <a:p>
            <a:pPr lvl="1"/>
            <a:r>
              <a:rPr lang="ru-RU" dirty="0"/>
              <a:t>Поиск сильно связанных компонент</a:t>
            </a:r>
            <a:endParaRPr lang="en-US" dirty="0"/>
          </a:p>
          <a:p>
            <a:pPr lvl="1"/>
            <a:r>
              <a:rPr lang="ru-RU" dirty="0"/>
              <a:t>Проверка планарности</a:t>
            </a:r>
          </a:p>
        </p:txBody>
      </p:sp>
    </p:spTree>
    <p:extLst>
      <p:ext uri="{BB962C8B-B14F-4D97-AF65-F5344CB8AC3E}">
        <p14:creationId xmlns:p14="http://schemas.microsoft.com/office/powerpoint/2010/main" val="1488272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глубину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Graph, Time, Visited[],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[],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[], Parent[]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visitor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OnFind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(u),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OnFinish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(u),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OnArcFind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(u, v),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OnArcFinish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(u, v)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Data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DepthFirstSearch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visitor):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u 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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dfsData.Graph.Vertices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dfsData.Visited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[u] = 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false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u 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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dfsData.Graph.Vertices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not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dfsData.Visited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[u]: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dfsData.Parent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[u] = u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DepthFirstSearch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u, visitor)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DepthFirstSearch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, u, visitor):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dfsData.Visited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[u] = </a:t>
            </a:r>
            <a:r>
              <a:rPr lang="en-US" sz="1500" b="1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  <a:endParaRPr lang="ru-RU" sz="15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dfsData.StartTime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[u]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dfsData.Time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++</a:t>
            </a:r>
            <a:b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visitor.OnFind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(u)</a:t>
            </a:r>
            <a:b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b="1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(u, v)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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dfsData.Graph.Edges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visitor.OnArcFind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(u, v)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500" b="1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b="1" dirty="0">
                <a:solidFill>
                  <a:schemeClr val="bg1"/>
                </a:solidFill>
                <a:latin typeface="Consolas" panose="020B0609020204030204" pitchFamily="49" charset="0"/>
              </a:rPr>
              <a:t>not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dfsData.Visited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[v]: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dfsData.Parent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[v] = u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DepthFirstSearch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, v, visitor)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visitor.OnArcFinish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(u, v)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dfsData.EndTime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[u]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dfsData.Time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++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visitor.OnFinish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(u)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446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глубину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 err="1">
                <a:latin typeface="Consolas" panose="020B0609020204030204" pitchFamily="49" charset="0"/>
              </a:rPr>
              <a:t>dfsData</a:t>
            </a:r>
            <a:r>
              <a:rPr lang="en-US" sz="16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Graph, Visited[], Parent[],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StartTime</a:t>
            </a:r>
            <a:r>
              <a:rPr lang="en-US" sz="1600" dirty="0">
                <a:latin typeface="Consolas" panose="020B0609020204030204" pitchFamily="49" charset="0"/>
              </a:rPr>
              <a:t>[], </a:t>
            </a:r>
            <a:r>
              <a:rPr lang="en-US" sz="1600" dirty="0" err="1">
                <a:latin typeface="Consolas" panose="020B0609020204030204" pitchFamily="49" charset="0"/>
              </a:rPr>
              <a:t>EndTime</a:t>
            </a:r>
            <a:r>
              <a:rPr lang="en-US" sz="1600" dirty="0">
                <a:latin typeface="Consolas" panose="020B0609020204030204" pitchFamily="49" charset="0"/>
              </a:rPr>
              <a:t>[], Time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visitor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OnFind</a:t>
            </a:r>
            <a:r>
              <a:rPr lang="en-US" sz="1600" dirty="0">
                <a:latin typeface="Consolas" panose="020B0609020204030204" pitchFamily="49" charset="0"/>
              </a:rPr>
              <a:t>(u), </a:t>
            </a:r>
            <a:r>
              <a:rPr lang="en-US" sz="1600" dirty="0" err="1">
                <a:latin typeface="Consolas" panose="020B0609020204030204" pitchFamily="49" charset="0"/>
              </a:rPr>
              <a:t>OnFinish</a:t>
            </a:r>
            <a:r>
              <a:rPr lang="en-US" sz="1600" dirty="0">
                <a:latin typeface="Consolas" panose="020B0609020204030204" pitchFamily="49" charset="0"/>
              </a:rPr>
              <a:t>(u),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OnArcFind</a:t>
            </a:r>
            <a:r>
              <a:rPr lang="en-US" sz="1600" dirty="0">
                <a:latin typeface="Consolas" panose="020B0609020204030204" pitchFamily="49" charset="0"/>
              </a:rPr>
              <a:t>(u, v), </a:t>
            </a:r>
            <a:r>
              <a:rPr lang="en-US" sz="1600" dirty="0" err="1">
                <a:latin typeface="Consolas" panose="020B0609020204030204" pitchFamily="49" charset="0"/>
              </a:rPr>
              <a:t>OnArcFinish</a:t>
            </a:r>
            <a:r>
              <a:rPr lang="en-US" sz="1600" dirty="0">
                <a:latin typeface="Consolas" panose="020B0609020204030204" pitchFamily="49" charset="0"/>
              </a:rPr>
              <a:t>(u, v)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Data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DepthFirstSearch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visitor):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u 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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dfsData.Graph.Vertices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dfsData.Visited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[u] = 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false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u 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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dfsData.Graph.Vertices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Consolas" panose="020B0609020204030204" pitchFamily="49" charset="0"/>
              </a:rPr>
              <a:t>not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dfsData.Visited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[u]: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dfsData.Parent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[u] = u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DepthFirstSearch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u, visitor)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DepthFirstSearch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, u, visitor):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dfsData.Visited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[u] = </a:t>
            </a:r>
            <a:r>
              <a:rPr lang="en-US" sz="1500" b="1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  <a:endParaRPr lang="ru-RU" sz="15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dfsData.StartTime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[u]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dfsData.Time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++</a:t>
            </a:r>
            <a:b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visitor.OnFind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(u)</a:t>
            </a:r>
            <a:b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b="1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(u, v)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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dfsData.Graph.Edges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visitor.OnArcFind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(u, v)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500" b="1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b="1" dirty="0">
                <a:solidFill>
                  <a:schemeClr val="bg1"/>
                </a:solidFill>
                <a:latin typeface="Consolas" panose="020B0609020204030204" pitchFamily="49" charset="0"/>
              </a:rPr>
              <a:t>not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dfsData.Visited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[v]: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dfsData.Parent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[v] = u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DepthFirstSearch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, v, visitor)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visitor.OnArcFinish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(u, v)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dfsData.EndTime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[u]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dfsData.Time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++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visitor.OnFinish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(u)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8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глубину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 err="1">
                <a:latin typeface="Consolas" panose="020B0609020204030204" pitchFamily="49" charset="0"/>
              </a:rPr>
              <a:t>dfsData</a:t>
            </a:r>
            <a:r>
              <a:rPr lang="en-US" sz="16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Graph, Visited[], Parent[],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StartTime</a:t>
            </a:r>
            <a:r>
              <a:rPr lang="en-US" sz="1600" dirty="0">
                <a:latin typeface="Consolas" panose="020B0609020204030204" pitchFamily="49" charset="0"/>
              </a:rPr>
              <a:t>[], </a:t>
            </a:r>
            <a:r>
              <a:rPr lang="en-US" sz="1600" dirty="0" err="1">
                <a:latin typeface="Consolas" panose="020B0609020204030204" pitchFamily="49" charset="0"/>
              </a:rPr>
              <a:t>EndTime</a:t>
            </a:r>
            <a:r>
              <a:rPr lang="en-US" sz="1600" dirty="0">
                <a:latin typeface="Consolas" panose="020B0609020204030204" pitchFamily="49" charset="0"/>
              </a:rPr>
              <a:t>[], Time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visitor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OnFind</a:t>
            </a:r>
            <a:r>
              <a:rPr lang="en-US" sz="1600" dirty="0">
                <a:latin typeface="Consolas" panose="020B0609020204030204" pitchFamily="49" charset="0"/>
              </a:rPr>
              <a:t>(u), </a:t>
            </a:r>
            <a:r>
              <a:rPr lang="en-US" sz="1600" dirty="0" err="1">
                <a:latin typeface="Consolas" panose="020B0609020204030204" pitchFamily="49" charset="0"/>
              </a:rPr>
              <a:t>OnFinish</a:t>
            </a:r>
            <a:r>
              <a:rPr lang="en-US" sz="1600" dirty="0">
                <a:latin typeface="Consolas" panose="020B0609020204030204" pitchFamily="49" charset="0"/>
              </a:rPr>
              <a:t>(u),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OnArcFind</a:t>
            </a:r>
            <a:r>
              <a:rPr lang="en-US" sz="1600" dirty="0">
                <a:latin typeface="Consolas" panose="020B0609020204030204" pitchFamily="49" charset="0"/>
              </a:rPr>
              <a:t>(u, v), </a:t>
            </a:r>
            <a:r>
              <a:rPr lang="en-US" sz="1600" dirty="0" err="1">
                <a:latin typeface="Consolas" panose="020B0609020204030204" pitchFamily="49" charset="0"/>
              </a:rPr>
              <a:t>OnArcFinish</a:t>
            </a:r>
            <a:r>
              <a:rPr lang="en-US" sz="1600" dirty="0">
                <a:latin typeface="Consolas" panose="020B0609020204030204" pitchFamily="49" charset="0"/>
              </a:rPr>
              <a:t>(u, v)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Data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 err="1">
                <a:latin typeface="Consolas" panose="020B0609020204030204" pitchFamily="49" charset="0"/>
              </a:rPr>
              <a:t>DepthFirstSearch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dfsData</a:t>
            </a:r>
            <a:r>
              <a:rPr lang="en-US" sz="1600" dirty="0">
                <a:latin typeface="Consolas" panose="020B0609020204030204" pitchFamily="49" charset="0"/>
              </a:rPr>
              <a:t>, visitor):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latin typeface="Consolas" panose="020B06090202040302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</a:rPr>
              <a:t> u </a:t>
            </a:r>
            <a:r>
              <a:rPr lang="en-US" sz="1600" dirty="0">
                <a:latin typeface="Consolas" panose="020B0609020204030204" pitchFamily="49" charset="0"/>
                <a:sym typeface="Symbol" panose="05050102010706020507" pitchFamily="18" charset="2"/>
              </a:rPr>
              <a:t>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dfsData.Graph.Vertices</a:t>
            </a:r>
            <a:r>
              <a:rPr lang="en-US" sz="16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dfsData.Visited</a:t>
            </a:r>
            <a:r>
              <a:rPr lang="en-US" sz="1600" dirty="0">
                <a:latin typeface="Consolas" panose="020B0609020204030204" pitchFamily="49" charset="0"/>
              </a:rPr>
              <a:t>[u] = </a:t>
            </a:r>
            <a:r>
              <a:rPr lang="en-US" sz="1600" b="1" dirty="0">
                <a:latin typeface="Consolas" panose="020B0609020204030204" pitchFamily="49" charset="0"/>
              </a:rPr>
              <a:t>false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latin typeface="Consolas" panose="020B06090202040302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</a:rPr>
              <a:t> u </a:t>
            </a:r>
            <a:r>
              <a:rPr lang="en-US" sz="1600" dirty="0">
                <a:latin typeface="Consolas" panose="020B0609020204030204" pitchFamily="49" charset="0"/>
                <a:sym typeface="Symbol" panose="05050102010706020507" pitchFamily="18" charset="2"/>
              </a:rPr>
              <a:t>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dfsData.Graph.Vertices</a:t>
            </a:r>
            <a:r>
              <a:rPr lang="en-US" sz="16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b="1" dirty="0">
                <a:latin typeface="Consolas" panose="020B0609020204030204" pitchFamily="49" charset="0"/>
              </a:rPr>
              <a:t>if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latin typeface="Consolas" panose="020B0609020204030204" pitchFamily="49" charset="0"/>
              </a:rPr>
              <a:t>not </a:t>
            </a:r>
            <a:r>
              <a:rPr lang="en-US" sz="1600" dirty="0" err="1">
                <a:latin typeface="Consolas" panose="020B0609020204030204" pitchFamily="49" charset="0"/>
              </a:rPr>
              <a:t>dfsData.Visited</a:t>
            </a:r>
            <a:r>
              <a:rPr lang="en-US" sz="1600" dirty="0">
                <a:latin typeface="Consolas" panose="020B0609020204030204" pitchFamily="49" charset="0"/>
              </a:rPr>
              <a:t>[u]: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latin typeface="Consolas" panose="020B0609020204030204" pitchFamily="49" charset="0"/>
              </a:rPr>
              <a:t>dfsData.Parent</a:t>
            </a:r>
            <a:r>
              <a:rPr lang="en-US" sz="1600" dirty="0">
                <a:latin typeface="Consolas" panose="020B0609020204030204" pitchFamily="49" charset="0"/>
              </a:rPr>
              <a:t>[u] = u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latin typeface="Consolas" panose="020B0609020204030204" pitchFamily="49" charset="0"/>
              </a:rPr>
              <a:t>DepthFirstSearch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dfsData</a:t>
            </a:r>
            <a:r>
              <a:rPr lang="en-US" sz="1600" dirty="0">
                <a:latin typeface="Consolas" panose="020B0609020204030204" pitchFamily="49" charset="0"/>
              </a:rPr>
              <a:t>, u, visitor)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DepthFirstSearch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, u, visitor):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dfsData.Visited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[u] = </a:t>
            </a:r>
            <a:r>
              <a:rPr lang="en-US" sz="1500" b="1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  <a:endParaRPr lang="ru-RU" sz="15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dfsData.StartTime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[u]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dfsData.Time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++</a:t>
            </a:r>
            <a:b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visitor.OnFind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(u)</a:t>
            </a:r>
            <a:b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endParaRPr lang="en-US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b="1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(u, v)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sym typeface="Symbol" panose="05050102010706020507" pitchFamily="18" charset="2"/>
              </a:rPr>
              <a:t>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dfsData.Graph.Edges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visitor.OnArcFind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(u, v)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500" b="1" dirty="0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b="1" dirty="0">
                <a:solidFill>
                  <a:schemeClr val="bg1"/>
                </a:solidFill>
                <a:latin typeface="Consolas" panose="020B0609020204030204" pitchFamily="49" charset="0"/>
              </a:rPr>
              <a:t>not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dfsData.Visited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[v]: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dfsData.Parent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[v] = u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DepthFirstSearch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, v, visitor)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   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visitor.OnArcFinish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(u, v)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dfsData.EndTime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[u] =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dfsData.Time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++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chemeClr val="bg1"/>
                </a:solidFill>
                <a:latin typeface="Consolas" panose="020B0609020204030204" pitchFamily="49" charset="0"/>
              </a:rPr>
              <a:t>visitor.OnFinish</a:t>
            </a:r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</a:rPr>
              <a:t>(u)</a:t>
            </a:r>
            <a:endParaRPr lang="ru-RU" sz="15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498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глубину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 err="1">
                <a:latin typeface="Consolas" panose="020B0609020204030204" pitchFamily="49" charset="0"/>
              </a:rPr>
              <a:t>dfsData</a:t>
            </a:r>
            <a:r>
              <a:rPr lang="en-US" sz="16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Graph, Visited[], Parent[],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StartTime</a:t>
            </a:r>
            <a:r>
              <a:rPr lang="en-US" sz="1600" dirty="0">
                <a:latin typeface="Consolas" panose="020B0609020204030204" pitchFamily="49" charset="0"/>
              </a:rPr>
              <a:t>[], </a:t>
            </a:r>
            <a:r>
              <a:rPr lang="en-US" sz="1600" dirty="0" err="1">
                <a:latin typeface="Consolas" panose="020B0609020204030204" pitchFamily="49" charset="0"/>
              </a:rPr>
              <a:t>EndTime</a:t>
            </a:r>
            <a:r>
              <a:rPr lang="en-US" sz="1600" dirty="0">
                <a:latin typeface="Consolas" panose="020B0609020204030204" pitchFamily="49" charset="0"/>
              </a:rPr>
              <a:t>[], Time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visitor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OnFind</a:t>
            </a:r>
            <a:r>
              <a:rPr lang="en-US" sz="1600" dirty="0">
                <a:latin typeface="Consolas" panose="020B0609020204030204" pitchFamily="49" charset="0"/>
              </a:rPr>
              <a:t>(u), </a:t>
            </a:r>
            <a:r>
              <a:rPr lang="en-US" sz="1600" dirty="0" err="1">
                <a:latin typeface="Consolas" panose="020B0609020204030204" pitchFamily="49" charset="0"/>
              </a:rPr>
              <a:t>OnFinish</a:t>
            </a:r>
            <a:r>
              <a:rPr lang="en-US" sz="1600" dirty="0">
                <a:latin typeface="Consolas" panose="020B0609020204030204" pitchFamily="49" charset="0"/>
              </a:rPr>
              <a:t>(u),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OnArcFind</a:t>
            </a:r>
            <a:r>
              <a:rPr lang="en-US" sz="1600" dirty="0">
                <a:latin typeface="Consolas" panose="020B0609020204030204" pitchFamily="49" charset="0"/>
              </a:rPr>
              <a:t>(u, v), </a:t>
            </a:r>
            <a:r>
              <a:rPr lang="en-US" sz="1600" dirty="0" err="1">
                <a:latin typeface="Consolas" panose="020B0609020204030204" pitchFamily="49" charset="0"/>
              </a:rPr>
              <a:t>OnArcFinish</a:t>
            </a:r>
            <a:r>
              <a:rPr lang="en-US" sz="1600" dirty="0">
                <a:latin typeface="Consolas" panose="020B0609020204030204" pitchFamily="49" charset="0"/>
              </a:rPr>
              <a:t>(u, v)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Data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 err="1">
                <a:latin typeface="Consolas" panose="020B0609020204030204" pitchFamily="49" charset="0"/>
              </a:rPr>
              <a:t>DepthFirstSearch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dfsData</a:t>
            </a:r>
            <a:r>
              <a:rPr lang="en-US" sz="1600" dirty="0">
                <a:latin typeface="Consolas" panose="020B0609020204030204" pitchFamily="49" charset="0"/>
              </a:rPr>
              <a:t>, visitor):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latin typeface="Consolas" panose="020B06090202040302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</a:rPr>
              <a:t> u </a:t>
            </a:r>
            <a:r>
              <a:rPr lang="en-US" sz="1600" dirty="0">
                <a:latin typeface="Consolas" panose="020B0609020204030204" pitchFamily="49" charset="0"/>
                <a:sym typeface="Symbol" panose="05050102010706020507" pitchFamily="18" charset="2"/>
              </a:rPr>
              <a:t>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dfsData.Graph.Vertices</a:t>
            </a:r>
            <a:r>
              <a:rPr lang="en-US" sz="16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dfsData.Visited</a:t>
            </a:r>
            <a:r>
              <a:rPr lang="en-US" sz="1600" dirty="0">
                <a:latin typeface="Consolas" panose="020B0609020204030204" pitchFamily="49" charset="0"/>
              </a:rPr>
              <a:t>[u] = </a:t>
            </a:r>
            <a:r>
              <a:rPr lang="en-US" sz="1600" b="1" dirty="0">
                <a:latin typeface="Consolas" panose="020B0609020204030204" pitchFamily="49" charset="0"/>
              </a:rPr>
              <a:t>false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latin typeface="Consolas" panose="020B06090202040302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</a:rPr>
              <a:t> u </a:t>
            </a:r>
            <a:r>
              <a:rPr lang="en-US" sz="1600" dirty="0">
                <a:latin typeface="Consolas" panose="020B0609020204030204" pitchFamily="49" charset="0"/>
                <a:sym typeface="Symbol" panose="05050102010706020507" pitchFamily="18" charset="2"/>
              </a:rPr>
              <a:t>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dfsData.Graph.Vertices</a:t>
            </a:r>
            <a:r>
              <a:rPr lang="en-US" sz="16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b="1" dirty="0">
                <a:latin typeface="Consolas" panose="020B0609020204030204" pitchFamily="49" charset="0"/>
              </a:rPr>
              <a:t>if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latin typeface="Consolas" panose="020B0609020204030204" pitchFamily="49" charset="0"/>
              </a:rPr>
              <a:t>not </a:t>
            </a:r>
            <a:r>
              <a:rPr lang="en-US" sz="1600" dirty="0" err="1">
                <a:latin typeface="Consolas" panose="020B0609020204030204" pitchFamily="49" charset="0"/>
              </a:rPr>
              <a:t>dfsData.Visited</a:t>
            </a:r>
            <a:r>
              <a:rPr lang="en-US" sz="1600" dirty="0">
                <a:latin typeface="Consolas" panose="020B0609020204030204" pitchFamily="49" charset="0"/>
              </a:rPr>
              <a:t>[u]: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latin typeface="Consolas" panose="020B0609020204030204" pitchFamily="49" charset="0"/>
              </a:rPr>
              <a:t>dfsData.Parent</a:t>
            </a:r>
            <a:r>
              <a:rPr lang="en-US" sz="1600" dirty="0">
                <a:latin typeface="Consolas" panose="020B0609020204030204" pitchFamily="49" charset="0"/>
              </a:rPr>
              <a:t>[u] = u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latin typeface="Consolas" panose="020B0609020204030204" pitchFamily="49" charset="0"/>
              </a:rPr>
              <a:t>DepthFirstSearch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dfsData</a:t>
            </a:r>
            <a:r>
              <a:rPr lang="en-US" sz="1600" dirty="0">
                <a:latin typeface="Consolas" panose="020B0609020204030204" pitchFamily="49" charset="0"/>
              </a:rPr>
              <a:t>, u, visitor)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 err="1">
                <a:latin typeface="Consolas" panose="020B0609020204030204" pitchFamily="49" charset="0"/>
              </a:rPr>
              <a:t>DepthFirstSearch</a:t>
            </a:r>
            <a:r>
              <a:rPr lang="en-US" sz="1500" dirty="0">
                <a:latin typeface="Consolas" panose="020B0609020204030204" pitchFamily="49" charset="0"/>
              </a:rPr>
              <a:t>(</a:t>
            </a:r>
            <a:r>
              <a:rPr lang="en-US" sz="1500" dirty="0" err="1">
                <a:latin typeface="Consolas" panose="020B0609020204030204" pitchFamily="49" charset="0"/>
              </a:rPr>
              <a:t>dfsData</a:t>
            </a:r>
            <a:r>
              <a:rPr lang="en-US" sz="1500" dirty="0">
                <a:latin typeface="Consolas" panose="020B0609020204030204" pitchFamily="49" charset="0"/>
              </a:rPr>
              <a:t>, u, visitor):</a:t>
            </a:r>
            <a:endParaRPr lang="ru-RU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latin typeface="Consolas" panose="020B0609020204030204" pitchFamily="49" charset="0"/>
              </a:rPr>
              <a:t>dfsData.Visited</a:t>
            </a:r>
            <a:r>
              <a:rPr lang="en-US" sz="1500" dirty="0">
                <a:latin typeface="Consolas" panose="020B0609020204030204" pitchFamily="49" charset="0"/>
              </a:rPr>
              <a:t>[u] = </a:t>
            </a:r>
            <a:r>
              <a:rPr lang="en-US" sz="1500" b="1" dirty="0">
                <a:latin typeface="Consolas" panose="020B0609020204030204" pitchFamily="49" charset="0"/>
              </a:rPr>
              <a:t>true</a:t>
            </a:r>
            <a:endParaRPr lang="ru-RU" sz="15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latin typeface="Consolas" panose="020B0609020204030204" pitchFamily="49" charset="0"/>
              </a:rPr>
              <a:t>dfsData.StartTime</a:t>
            </a:r>
            <a:r>
              <a:rPr lang="en-US" sz="1500" dirty="0">
                <a:latin typeface="Consolas" panose="020B0609020204030204" pitchFamily="49" charset="0"/>
              </a:rPr>
              <a:t>[u] = </a:t>
            </a:r>
            <a:r>
              <a:rPr lang="en-US" sz="1500" dirty="0" err="1">
                <a:latin typeface="Consolas" panose="020B0609020204030204" pitchFamily="49" charset="0"/>
              </a:rPr>
              <a:t>dfsData.Time</a:t>
            </a:r>
            <a:r>
              <a:rPr lang="en-US" sz="1500" dirty="0">
                <a:latin typeface="Consolas" panose="020B0609020204030204" pitchFamily="49" charset="0"/>
              </a:rPr>
              <a:t>++</a:t>
            </a:r>
            <a:br>
              <a:rPr lang="en-US" sz="1500" dirty="0">
                <a:latin typeface="Consolas" panose="020B0609020204030204" pitchFamily="49" charset="0"/>
              </a:rPr>
            </a:br>
            <a:endParaRPr lang="en-US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latin typeface="Consolas" panose="020B0609020204030204" pitchFamily="49" charset="0"/>
              </a:rPr>
              <a:t>visitor.OnFind</a:t>
            </a:r>
            <a:r>
              <a:rPr lang="en-US" sz="1500" dirty="0">
                <a:latin typeface="Consolas" panose="020B0609020204030204" pitchFamily="49" charset="0"/>
              </a:rPr>
              <a:t>(u)</a:t>
            </a:r>
            <a:br>
              <a:rPr lang="en-US" sz="1500" dirty="0">
                <a:latin typeface="Consolas" panose="020B0609020204030204" pitchFamily="49" charset="0"/>
              </a:rPr>
            </a:br>
            <a:endParaRPr lang="en-US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    </a:t>
            </a:r>
            <a:r>
              <a:rPr lang="en-US" sz="1500" b="1" dirty="0">
                <a:latin typeface="Consolas" panose="020B0609020204030204" pitchFamily="49" charset="0"/>
              </a:rPr>
              <a:t>for</a:t>
            </a:r>
            <a:r>
              <a:rPr lang="en-US" sz="1500" dirty="0">
                <a:latin typeface="Consolas" panose="020B0609020204030204" pitchFamily="49" charset="0"/>
              </a:rPr>
              <a:t> (u, v) </a:t>
            </a:r>
            <a:r>
              <a:rPr lang="en-US" sz="1500" dirty="0">
                <a:latin typeface="Consolas" panose="020B0609020204030204" pitchFamily="49" charset="0"/>
                <a:sym typeface="Symbol" panose="05050102010706020507" pitchFamily="18" charset="2"/>
              </a:rPr>
              <a:t>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dirty="0" err="1">
                <a:latin typeface="Consolas" panose="020B0609020204030204" pitchFamily="49" charset="0"/>
              </a:rPr>
              <a:t>dfsData.Graph.Edges</a:t>
            </a:r>
            <a:r>
              <a:rPr lang="en-US" sz="1500" dirty="0">
                <a:latin typeface="Consolas" panose="020B0609020204030204" pitchFamily="49" charset="0"/>
              </a:rPr>
              <a:t>:</a:t>
            </a:r>
            <a:endParaRPr lang="ru-RU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latin typeface="Consolas" panose="020B0609020204030204" pitchFamily="49" charset="0"/>
              </a:rPr>
              <a:t>       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dirty="0" err="1">
                <a:latin typeface="Consolas" panose="020B0609020204030204" pitchFamily="49" charset="0"/>
              </a:rPr>
              <a:t>visitor.OnArcFind</a:t>
            </a:r>
            <a:r>
              <a:rPr lang="en-US" sz="1500" dirty="0">
                <a:latin typeface="Consolas" panose="020B0609020204030204" pitchFamily="49" charset="0"/>
              </a:rPr>
              <a:t>(u, v)</a:t>
            </a:r>
            <a:endParaRPr lang="ru-RU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        </a:t>
            </a:r>
            <a:r>
              <a:rPr lang="en-US" sz="1500" b="1" dirty="0">
                <a:latin typeface="Consolas" panose="020B0609020204030204" pitchFamily="49" charset="0"/>
              </a:rPr>
              <a:t>if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b="1" dirty="0">
                <a:latin typeface="Consolas" panose="020B0609020204030204" pitchFamily="49" charset="0"/>
              </a:rPr>
              <a:t>not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dirty="0" err="1">
                <a:latin typeface="Consolas" panose="020B0609020204030204" pitchFamily="49" charset="0"/>
              </a:rPr>
              <a:t>dfsData.Visited</a:t>
            </a:r>
            <a:r>
              <a:rPr lang="en-US" sz="1500" dirty="0">
                <a:latin typeface="Consolas" panose="020B0609020204030204" pitchFamily="49" charset="0"/>
              </a:rPr>
              <a:t>[v]:</a:t>
            </a:r>
            <a:endParaRPr lang="ru-RU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latin typeface="Consolas" panose="020B0609020204030204" pitchFamily="49" charset="0"/>
              </a:rPr>
              <a:t>dfsData.Parent</a:t>
            </a:r>
            <a:r>
              <a:rPr lang="en-US" sz="1500" dirty="0">
                <a:latin typeface="Consolas" panose="020B0609020204030204" pitchFamily="49" charset="0"/>
              </a:rPr>
              <a:t>[v] = u</a:t>
            </a:r>
            <a:endParaRPr lang="ru-RU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latin typeface="Consolas" panose="020B0609020204030204" pitchFamily="49" charset="0"/>
              </a:rPr>
              <a:t>DepthFirstSearch</a:t>
            </a:r>
            <a:r>
              <a:rPr lang="en-US" sz="1500" dirty="0">
                <a:latin typeface="Consolas" panose="020B0609020204030204" pitchFamily="49" charset="0"/>
              </a:rPr>
              <a:t>(</a:t>
            </a:r>
            <a:r>
              <a:rPr lang="en-US" sz="1500" dirty="0" err="1">
                <a:latin typeface="Consolas" panose="020B0609020204030204" pitchFamily="49" charset="0"/>
              </a:rPr>
              <a:t>dfsData</a:t>
            </a:r>
            <a:r>
              <a:rPr lang="en-US" sz="1500" dirty="0">
                <a:latin typeface="Consolas" panose="020B0609020204030204" pitchFamily="49" charset="0"/>
              </a:rPr>
              <a:t>, v, visitor)</a:t>
            </a:r>
            <a:endParaRPr lang="ru-RU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latin typeface="Consolas" panose="020B0609020204030204" pitchFamily="49" charset="0"/>
              </a:rPr>
              <a:t>       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dirty="0" err="1">
                <a:latin typeface="Consolas" panose="020B0609020204030204" pitchFamily="49" charset="0"/>
              </a:rPr>
              <a:t>visitor.OnArcFinish</a:t>
            </a:r>
            <a:r>
              <a:rPr lang="en-US" sz="1500" dirty="0">
                <a:latin typeface="Consolas" panose="020B0609020204030204" pitchFamily="49" charset="0"/>
              </a:rPr>
              <a:t>(u, v)</a:t>
            </a:r>
            <a:endParaRPr lang="ru-RU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latin typeface="Consolas" panose="020B0609020204030204" pitchFamily="49" charset="0"/>
              </a:rPr>
              <a:t>dfsData.EndTime</a:t>
            </a:r>
            <a:r>
              <a:rPr lang="en-US" sz="1500" dirty="0">
                <a:latin typeface="Consolas" panose="020B0609020204030204" pitchFamily="49" charset="0"/>
              </a:rPr>
              <a:t>[u] = </a:t>
            </a:r>
            <a:r>
              <a:rPr lang="en-US" sz="1500" dirty="0" err="1">
                <a:latin typeface="Consolas" panose="020B0609020204030204" pitchFamily="49" charset="0"/>
              </a:rPr>
              <a:t>dfsData.Time</a:t>
            </a:r>
            <a:r>
              <a:rPr lang="en-US" sz="1500" dirty="0">
                <a:latin typeface="Consolas" panose="020B0609020204030204" pitchFamily="49" charset="0"/>
              </a:rPr>
              <a:t>++</a:t>
            </a:r>
          </a:p>
          <a:p>
            <a:pPr marL="0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latin typeface="Consolas" panose="020B0609020204030204" pitchFamily="49" charset="0"/>
              </a:rPr>
              <a:t>visitor.OnFinish</a:t>
            </a:r>
            <a:r>
              <a:rPr lang="en-US" sz="1500" dirty="0">
                <a:latin typeface="Consolas" panose="020B0609020204030204" pitchFamily="49" charset="0"/>
              </a:rPr>
              <a:t>(u)</a:t>
            </a:r>
            <a:endParaRPr lang="ru-RU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531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глубину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 err="1">
                <a:latin typeface="Consolas" panose="020B0609020204030204" pitchFamily="49" charset="0"/>
              </a:rPr>
              <a:t>dfsData</a:t>
            </a:r>
            <a:r>
              <a:rPr lang="en-US" sz="16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Graph, Visited[], Parent[],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StartTime</a:t>
            </a:r>
            <a:r>
              <a:rPr lang="en-US" sz="1600" dirty="0">
                <a:latin typeface="Consolas" panose="020B0609020204030204" pitchFamily="49" charset="0"/>
              </a:rPr>
              <a:t>[], </a:t>
            </a:r>
            <a:r>
              <a:rPr lang="en-US" sz="1600" dirty="0" err="1">
                <a:latin typeface="Consolas" panose="020B0609020204030204" pitchFamily="49" charset="0"/>
              </a:rPr>
              <a:t>EndTime</a:t>
            </a:r>
            <a:r>
              <a:rPr lang="en-US" sz="1600" dirty="0">
                <a:latin typeface="Consolas" panose="020B0609020204030204" pitchFamily="49" charset="0"/>
              </a:rPr>
              <a:t>[], Time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visitor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OnFind</a:t>
            </a:r>
            <a:r>
              <a:rPr lang="en-US" sz="1600" dirty="0">
                <a:latin typeface="Consolas" panose="020B0609020204030204" pitchFamily="49" charset="0"/>
              </a:rPr>
              <a:t>(u), </a:t>
            </a:r>
            <a:r>
              <a:rPr lang="en-US" sz="1600" dirty="0" err="1">
                <a:latin typeface="Consolas" panose="020B0609020204030204" pitchFamily="49" charset="0"/>
              </a:rPr>
              <a:t>OnFinish</a:t>
            </a:r>
            <a:r>
              <a:rPr lang="en-US" sz="1600" dirty="0">
                <a:latin typeface="Consolas" panose="020B0609020204030204" pitchFamily="49" charset="0"/>
              </a:rPr>
              <a:t>(u),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OnArcFind</a:t>
            </a:r>
            <a:r>
              <a:rPr lang="en-US" sz="1600" dirty="0">
                <a:latin typeface="Consolas" panose="020B0609020204030204" pitchFamily="49" charset="0"/>
              </a:rPr>
              <a:t>(u, v), </a:t>
            </a:r>
            <a:r>
              <a:rPr lang="en-US" sz="1600" dirty="0" err="1">
                <a:latin typeface="Consolas" panose="020B0609020204030204" pitchFamily="49" charset="0"/>
              </a:rPr>
              <a:t>OnArcFinish</a:t>
            </a:r>
            <a:r>
              <a:rPr lang="en-US" sz="1600" dirty="0">
                <a:latin typeface="Consolas" panose="020B0609020204030204" pitchFamily="49" charset="0"/>
              </a:rPr>
              <a:t>(u, v)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Data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 err="1">
                <a:latin typeface="Consolas" panose="020B0609020204030204" pitchFamily="49" charset="0"/>
              </a:rPr>
              <a:t>DepthFirstSearch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dfsData</a:t>
            </a:r>
            <a:r>
              <a:rPr lang="en-US" sz="1600" dirty="0">
                <a:latin typeface="Consolas" panose="020B0609020204030204" pitchFamily="49" charset="0"/>
              </a:rPr>
              <a:t>, visitor):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latin typeface="Consolas" panose="020B06090202040302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</a:rPr>
              <a:t> u </a:t>
            </a:r>
            <a:r>
              <a:rPr lang="en-US" sz="1600" dirty="0">
                <a:latin typeface="Consolas" panose="020B0609020204030204" pitchFamily="49" charset="0"/>
                <a:sym typeface="Symbol" panose="05050102010706020507" pitchFamily="18" charset="2"/>
              </a:rPr>
              <a:t>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dfsData.Graph.Vertices</a:t>
            </a:r>
            <a:r>
              <a:rPr lang="en-US" sz="16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dfsData.Visited</a:t>
            </a:r>
            <a:r>
              <a:rPr lang="en-US" sz="1600" dirty="0">
                <a:latin typeface="Consolas" panose="020B0609020204030204" pitchFamily="49" charset="0"/>
              </a:rPr>
              <a:t>[u] = </a:t>
            </a:r>
            <a:r>
              <a:rPr lang="en-US" sz="1600" b="1" dirty="0">
                <a:latin typeface="Consolas" panose="020B0609020204030204" pitchFamily="49" charset="0"/>
              </a:rPr>
              <a:t>false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b="1" dirty="0">
                <a:latin typeface="Consolas" panose="020B06090202040302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</a:rPr>
              <a:t> u </a:t>
            </a:r>
            <a:r>
              <a:rPr lang="en-US" sz="1600" dirty="0">
                <a:latin typeface="Consolas" panose="020B0609020204030204" pitchFamily="49" charset="0"/>
                <a:sym typeface="Symbol" panose="05050102010706020507" pitchFamily="18" charset="2"/>
              </a:rPr>
              <a:t>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dfsData.Graph.Vertices</a:t>
            </a:r>
            <a:r>
              <a:rPr lang="en-US" sz="16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b="1" dirty="0">
                <a:latin typeface="Consolas" panose="020B0609020204030204" pitchFamily="49" charset="0"/>
              </a:rPr>
              <a:t>if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latin typeface="Consolas" panose="020B0609020204030204" pitchFamily="49" charset="0"/>
              </a:rPr>
              <a:t>not </a:t>
            </a:r>
            <a:r>
              <a:rPr lang="en-US" sz="1600" dirty="0" err="1">
                <a:latin typeface="Consolas" panose="020B0609020204030204" pitchFamily="49" charset="0"/>
              </a:rPr>
              <a:t>dfsData.Visited</a:t>
            </a:r>
            <a:r>
              <a:rPr lang="en-US" sz="1600" dirty="0">
                <a:latin typeface="Consolas" panose="020B0609020204030204" pitchFamily="49" charset="0"/>
              </a:rPr>
              <a:t>[u]: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latin typeface="Consolas" panose="020B0609020204030204" pitchFamily="49" charset="0"/>
              </a:rPr>
              <a:t>dfsData.Parent</a:t>
            </a:r>
            <a:r>
              <a:rPr lang="en-US" sz="1600" dirty="0">
                <a:latin typeface="Consolas" panose="020B0609020204030204" pitchFamily="49" charset="0"/>
              </a:rPr>
              <a:t>[u] = u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latin typeface="Consolas" panose="020B0609020204030204" pitchFamily="49" charset="0"/>
              </a:rPr>
              <a:t>DepthFirstSearch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dfsData</a:t>
            </a:r>
            <a:r>
              <a:rPr lang="en-US" sz="1600" dirty="0">
                <a:latin typeface="Consolas" panose="020B0609020204030204" pitchFamily="49" charset="0"/>
              </a:rPr>
              <a:t>, u, visitor)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 err="1">
                <a:latin typeface="Consolas" panose="020B0609020204030204" pitchFamily="49" charset="0"/>
              </a:rPr>
              <a:t>DepthFirstSearch</a:t>
            </a:r>
            <a:r>
              <a:rPr lang="en-US" sz="1500" dirty="0">
                <a:latin typeface="Consolas" panose="020B0609020204030204" pitchFamily="49" charset="0"/>
              </a:rPr>
              <a:t>(</a:t>
            </a:r>
            <a:r>
              <a:rPr lang="en-US" sz="1500" dirty="0" err="1">
                <a:latin typeface="Consolas" panose="020B0609020204030204" pitchFamily="49" charset="0"/>
              </a:rPr>
              <a:t>dfsData</a:t>
            </a:r>
            <a:r>
              <a:rPr lang="en-US" sz="1500" dirty="0">
                <a:latin typeface="Consolas" panose="020B0609020204030204" pitchFamily="49" charset="0"/>
              </a:rPr>
              <a:t>, u, visitor):</a:t>
            </a:r>
            <a:endParaRPr lang="ru-RU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latin typeface="Consolas" panose="020B0609020204030204" pitchFamily="49" charset="0"/>
              </a:rPr>
              <a:t>dfsData.Visited</a:t>
            </a:r>
            <a:r>
              <a:rPr lang="en-US" sz="1500" dirty="0">
                <a:latin typeface="Consolas" panose="020B0609020204030204" pitchFamily="49" charset="0"/>
              </a:rPr>
              <a:t>[u] = </a:t>
            </a:r>
            <a:r>
              <a:rPr lang="en-US" sz="1500" b="1" dirty="0">
                <a:latin typeface="Consolas" panose="020B0609020204030204" pitchFamily="49" charset="0"/>
              </a:rPr>
              <a:t>true</a:t>
            </a:r>
            <a:endParaRPr lang="ru-RU" sz="15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latin typeface="Consolas" panose="020B0609020204030204" pitchFamily="49" charset="0"/>
              </a:rPr>
              <a:t>dfsData.StartTime</a:t>
            </a:r>
            <a:r>
              <a:rPr lang="en-US" sz="1500" dirty="0">
                <a:latin typeface="Consolas" panose="020B0609020204030204" pitchFamily="49" charset="0"/>
              </a:rPr>
              <a:t>[u] = </a:t>
            </a:r>
            <a:r>
              <a:rPr lang="en-US" sz="1500" dirty="0" err="1">
                <a:latin typeface="Consolas" panose="020B0609020204030204" pitchFamily="49" charset="0"/>
              </a:rPr>
              <a:t>dfsData.Time</a:t>
            </a:r>
            <a:r>
              <a:rPr lang="en-US" sz="1500" dirty="0">
                <a:latin typeface="Consolas" panose="020B0609020204030204" pitchFamily="49" charset="0"/>
              </a:rPr>
              <a:t>++</a:t>
            </a:r>
            <a:br>
              <a:rPr lang="en-US" sz="1500" dirty="0">
                <a:latin typeface="Consolas" panose="020B0609020204030204" pitchFamily="49" charset="0"/>
              </a:rPr>
            </a:br>
            <a:endParaRPr lang="en-US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latin typeface="Consolas" panose="020B0609020204030204" pitchFamily="49" charset="0"/>
              </a:rPr>
              <a:t>visitor.OnFind</a:t>
            </a:r>
            <a:r>
              <a:rPr lang="en-US" sz="1500" dirty="0">
                <a:latin typeface="Consolas" panose="020B0609020204030204" pitchFamily="49" charset="0"/>
              </a:rPr>
              <a:t>(u)</a:t>
            </a:r>
            <a:br>
              <a:rPr lang="en-US" sz="1500" dirty="0">
                <a:latin typeface="Consolas" panose="020B0609020204030204" pitchFamily="49" charset="0"/>
              </a:rPr>
            </a:br>
            <a:endParaRPr lang="en-US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    </a:t>
            </a:r>
            <a:r>
              <a:rPr lang="en-US" sz="1500" b="1" dirty="0">
                <a:latin typeface="Consolas" panose="020B0609020204030204" pitchFamily="49" charset="0"/>
              </a:rPr>
              <a:t>for</a:t>
            </a:r>
            <a:r>
              <a:rPr lang="en-US" sz="1500" dirty="0">
                <a:latin typeface="Consolas" panose="020B0609020204030204" pitchFamily="49" charset="0"/>
              </a:rPr>
              <a:t> (u, v) </a:t>
            </a:r>
            <a:r>
              <a:rPr lang="en-US" sz="1500" dirty="0">
                <a:latin typeface="Consolas" panose="020B0609020204030204" pitchFamily="49" charset="0"/>
                <a:sym typeface="Symbol" panose="05050102010706020507" pitchFamily="18" charset="2"/>
              </a:rPr>
              <a:t>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dirty="0" err="1">
                <a:latin typeface="Consolas" panose="020B0609020204030204" pitchFamily="49" charset="0"/>
              </a:rPr>
              <a:t>dfsData.Graph.Edges</a:t>
            </a:r>
            <a:r>
              <a:rPr lang="en-US" sz="1500" dirty="0">
                <a:latin typeface="Consolas" panose="020B0609020204030204" pitchFamily="49" charset="0"/>
              </a:rPr>
              <a:t>:</a:t>
            </a:r>
            <a:endParaRPr lang="ru-RU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latin typeface="Consolas" panose="020B0609020204030204" pitchFamily="49" charset="0"/>
              </a:rPr>
              <a:t>       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dirty="0" err="1">
                <a:latin typeface="Consolas" panose="020B0609020204030204" pitchFamily="49" charset="0"/>
              </a:rPr>
              <a:t>visitor.OnArcFind</a:t>
            </a:r>
            <a:r>
              <a:rPr lang="en-US" sz="1500" dirty="0">
                <a:latin typeface="Consolas" panose="020B0609020204030204" pitchFamily="49" charset="0"/>
              </a:rPr>
              <a:t>(u, v)</a:t>
            </a:r>
            <a:endParaRPr lang="ru-RU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        </a:t>
            </a:r>
            <a:r>
              <a:rPr lang="en-US" sz="1500" b="1" dirty="0">
                <a:latin typeface="Consolas" panose="020B0609020204030204" pitchFamily="49" charset="0"/>
              </a:rPr>
              <a:t>if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b="1" dirty="0">
                <a:latin typeface="Consolas" panose="020B0609020204030204" pitchFamily="49" charset="0"/>
              </a:rPr>
              <a:t>not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dirty="0" err="1">
                <a:latin typeface="Consolas" panose="020B0609020204030204" pitchFamily="49" charset="0"/>
              </a:rPr>
              <a:t>dfsData.Visited</a:t>
            </a:r>
            <a:r>
              <a:rPr lang="en-US" sz="1500" dirty="0">
                <a:latin typeface="Consolas" panose="020B0609020204030204" pitchFamily="49" charset="0"/>
              </a:rPr>
              <a:t>[v]:</a:t>
            </a:r>
            <a:endParaRPr lang="ru-RU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latin typeface="Consolas" panose="020B0609020204030204" pitchFamily="49" charset="0"/>
              </a:rPr>
              <a:t>dfsData.Parent</a:t>
            </a:r>
            <a:r>
              <a:rPr lang="en-US" sz="1500" dirty="0">
                <a:latin typeface="Consolas" panose="020B0609020204030204" pitchFamily="49" charset="0"/>
              </a:rPr>
              <a:t>[v] = u</a:t>
            </a:r>
            <a:endParaRPr lang="ru-RU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latin typeface="Consolas" panose="020B0609020204030204" pitchFamily="49" charset="0"/>
              </a:rPr>
              <a:t>DepthFirstSearch</a:t>
            </a:r>
            <a:r>
              <a:rPr lang="en-US" sz="1500" dirty="0">
                <a:latin typeface="Consolas" panose="020B0609020204030204" pitchFamily="49" charset="0"/>
              </a:rPr>
              <a:t>(</a:t>
            </a:r>
            <a:r>
              <a:rPr lang="en-US" sz="1500" dirty="0" err="1">
                <a:latin typeface="Consolas" panose="020B0609020204030204" pitchFamily="49" charset="0"/>
              </a:rPr>
              <a:t>dfsData</a:t>
            </a:r>
            <a:r>
              <a:rPr lang="en-US" sz="1500" dirty="0">
                <a:latin typeface="Consolas" panose="020B0609020204030204" pitchFamily="49" charset="0"/>
              </a:rPr>
              <a:t>, v, visitor)</a:t>
            </a:r>
            <a:endParaRPr lang="ru-RU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latin typeface="Consolas" panose="020B0609020204030204" pitchFamily="49" charset="0"/>
              </a:rPr>
              <a:t>       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dirty="0" err="1">
                <a:latin typeface="Consolas" panose="020B0609020204030204" pitchFamily="49" charset="0"/>
              </a:rPr>
              <a:t>visitor.OnArcFinish</a:t>
            </a:r>
            <a:r>
              <a:rPr lang="en-US" sz="1500" dirty="0">
                <a:latin typeface="Consolas" panose="020B0609020204030204" pitchFamily="49" charset="0"/>
              </a:rPr>
              <a:t>(u, v)</a:t>
            </a:r>
            <a:endParaRPr lang="ru-RU" sz="1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latin typeface="Consolas" panose="020B0609020204030204" pitchFamily="49" charset="0"/>
              </a:rPr>
              <a:t>dfsData.EndTime</a:t>
            </a:r>
            <a:r>
              <a:rPr lang="en-US" sz="1500" dirty="0">
                <a:latin typeface="Consolas" panose="020B0609020204030204" pitchFamily="49" charset="0"/>
              </a:rPr>
              <a:t>[u] = </a:t>
            </a:r>
            <a:r>
              <a:rPr lang="en-US" sz="1500" dirty="0" err="1">
                <a:latin typeface="Consolas" panose="020B0609020204030204" pitchFamily="49" charset="0"/>
              </a:rPr>
              <a:t>dfsData.Time</a:t>
            </a:r>
            <a:r>
              <a:rPr lang="en-US" sz="1500" dirty="0">
                <a:latin typeface="Consolas" panose="020B0609020204030204" pitchFamily="49" charset="0"/>
              </a:rPr>
              <a:t>++</a:t>
            </a:r>
          </a:p>
          <a:p>
            <a:pPr marL="0" indent="0">
              <a:buNone/>
            </a:pPr>
            <a:r>
              <a:rPr lang="en-US" sz="1500" dirty="0"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latin typeface="Consolas" panose="020B0609020204030204" pitchFamily="49" charset="0"/>
              </a:rPr>
              <a:t>visitor.OnFinish</a:t>
            </a:r>
            <a:r>
              <a:rPr lang="en-US" sz="1500" dirty="0">
                <a:latin typeface="Consolas" panose="020B0609020204030204" pitchFamily="49" charset="0"/>
              </a:rPr>
              <a:t>(u)</a:t>
            </a:r>
            <a:endParaRPr lang="ru-RU" sz="1500" dirty="0"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36160" y="2722946"/>
            <a:ext cx="717348" cy="190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128936" y="3029776"/>
            <a:ext cx="677120" cy="19141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7945512" y="3480849"/>
            <a:ext cx="944488" cy="190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128935" y="3242452"/>
            <a:ext cx="986821" cy="18654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7945512" y="4564026"/>
            <a:ext cx="1160512" cy="190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2855640" y="3238200"/>
            <a:ext cx="1212528" cy="190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7529413" y="5135480"/>
            <a:ext cx="832197" cy="190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Rectangle 14"/>
          <p:cNvSpPr/>
          <p:nvPr/>
        </p:nvSpPr>
        <p:spPr>
          <a:xfrm>
            <a:off x="2222848" y="3023469"/>
            <a:ext cx="869497" cy="190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942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[a] = 1, Parent[a]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[b] = 2, Parent[b]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[d] = 3, Parent[d]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[d] = 4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[e] = 5, Parent[e]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[e] = 6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[b] = 7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[c] = 8, Parent[c]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[f] = 9, Parent[f] = c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[f] = 10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[c] = 11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[a] = 12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24" name="Овал 6"/>
          <p:cNvSpPr txBox="1">
            <a:spLocks noChangeArrowheads="1"/>
          </p:cNvSpPr>
          <p:nvPr/>
        </p:nvSpPr>
        <p:spPr>
          <a:xfrm>
            <a:off x="10682454" y="5303767"/>
            <a:ext cx="596616" cy="589534"/>
          </a:xfrm>
          <a:prstGeom prst="ellipse">
            <a:avLst/>
          </a:prstGeom>
          <a:ln w="25400" algn="ctr">
            <a:solidFill>
              <a:schemeClr val="tx2"/>
            </a:solidFill>
            <a:round/>
          </a:ln>
        </p:spPr>
        <p:txBody>
          <a:bodyPr vert="horz" anchor="ctr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>
              <a:lnSpc>
                <a:spcPct val="80000"/>
              </a:lnSpc>
              <a:buFont typeface="Arial" charset="0"/>
              <a:buNone/>
            </a:pPr>
            <a:r>
              <a:rPr lang="en-US" sz="2000" dirty="0"/>
              <a:t>f</a:t>
            </a:r>
            <a:endParaRPr lang="ru-RU" sz="2000" dirty="0"/>
          </a:p>
        </p:txBody>
      </p:sp>
      <p:sp>
        <p:nvSpPr>
          <p:cNvPr id="25" name="Овал 3"/>
          <p:cNvSpPr/>
          <p:nvPr/>
        </p:nvSpPr>
        <p:spPr>
          <a:xfrm>
            <a:off x="7336824" y="3844021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6" name="Овал 4"/>
          <p:cNvSpPr/>
          <p:nvPr/>
        </p:nvSpPr>
        <p:spPr>
          <a:xfrm>
            <a:off x="8174496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7" name="Овал 5"/>
          <p:cNvSpPr/>
          <p:nvPr/>
        </p:nvSpPr>
        <p:spPr>
          <a:xfrm>
            <a:off x="8453721" y="1832669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a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8" name="Овал 6"/>
          <p:cNvSpPr/>
          <p:nvPr/>
        </p:nvSpPr>
        <p:spPr>
          <a:xfrm>
            <a:off x="9735340" y="3965396"/>
            <a:ext cx="594607" cy="600371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c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2" name="Shape 24"/>
          <p:cNvCxnSpPr>
            <a:cxnSpLocks noChangeShapeType="1"/>
            <a:stCxn id="27" idx="3"/>
            <a:endCxn id="25" idx="0"/>
          </p:cNvCxnSpPr>
          <p:nvPr/>
        </p:nvCxnSpPr>
        <p:spPr bwMode="auto">
          <a:xfrm flipH="1">
            <a:off x="7634128" y="2345117"/>
            <a:ext cx="906671" cy="1498902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sp>
        <p:nvSpPr>
          <p:cNvPr id="34" name="Овал 17"/>
          <p:cNvSpPr/>
          <p:nvPr/>
        </p:nvSpPr>
        <p:spPr>
          <a:xfrm>
            <a:off x="6617671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d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6" name="Shape 20"/>
          <p:cNvCxnSpPr>
            <a:cxnSpLocks noChangeShapeType="1"/>
            <a:stCxn id="27" idx="5"/>
            <a:endCxn id="28" idx="0"/>
          </p:cNvCxnSpPr>
          <p:nvPr/>
        </p:nvCxnSpPr>
        <p:spPr bwMode="auto">
          <a:xfrm>
            <a:off x="8961250" y="2345117"/>
            <a:ext cx="1071395" cy="162027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7" name="Shape 24"/>
          <p:cNvCxnSpPr>
            <a:cxnSpLocks noChangeShapeType="1"/>
            <a:stCxn id="25" idx="3"/>
            <a:endCxn id="34" idx="0"/>
          </p:cNvCxnSpPr>
          <p:nvPr/>
        </p:nvCxnSpPr>
        <p:spPr bwMode="auto">
          <a:xfrm flipH="1">
            <a:off x="6914975" y="4356469"/>
            <a:ext cx="508927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8" name="Shape 24"/>
          <p:cNvCxnSpPr>
            <a:cxnSpLocks noChangeShapeType="1"/>
            <a:stCxn id="25" idx="5"/>
            <a:endCxn id="26" idx="0"/>
          </p:cNvCxnSpPr>
          <p:nvPr/>
        </p:nvCxnSpPr>
        <p:spPr bwMode="auto">
          <a:xfrm>
            <a:off x="7844353" y="4356469"/>
            <a:ext cx="627446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9" name="Shape 20"/>
          <p:cNvCxnSpPr>
            <a:cxnSpLocks noChangeShapeType="1"/>
            <a:stCxn id="28" idx="5"/>
            <a:endCxn id="24" idx="1"/>
          </p:cNvCxnSpPr>
          <p:nvPr/>
        </p:nvCxnSpPr>
        <p:spPr bwMode="auto">
          <a:xfrm>
            <a:off x="10242869" y="4477846"/>
            <a:ext cx="526957" cy="912257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0" name="Shape 14"/>
          <p:cNvCxnSpPr>
            <a:cxnSpLocks noChangeShapeType="1"/>
            <a:stCxn id="34" idx="1"/>
            <a:endCxn id="27" idx="2"/>
          </p:cNvCxnSpPr>
          <p:nvPr/>
        </p:nvCxnSpPr>
        <p:spPr bwMode="auto">
          <a:xfrm rot="5400000" flipH="1" flipV="1">
            <a:off x="5952527" y="2885077"/>
            <a:ext cx="3253415" cy="1748972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1" name="Shape 14"/>
          <p:cNvCxnSpPr>
            <a:cxnSpLocks noChangeShapeType="1"/>
            <a:stCxn id="26" idx="0"/>
            <a:endCxn id="27" idx="4"/>
          </p:cNvCxnSpPr>
          <p:nvPr/>
        </p:nvCxnSpPr>
        <p:spPr bwMode="auto">
          <a:xfrm flipV="1">
            <a:off x="8471800" y="2433040"/>
            <a:ext cx="279225" cy="286530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2" name="Shape 14"/>
          <p:cNvCxnSpPr>
            <a:cxnSpLocks noChangeShapeType="1"/>
            <a:stCxn id="24" idx="7"/>
            <a:endCxn id="27" idx="6"/>
          </p:cNvCxnSpPr>
          <p:nvPr/>
        </p:nvCxnSpPr>
        <p:spPr bwMode="auto">
          <a:xfrm rot="16200000" flipV="1">
            <a:off x="8491390" y="2689794"/>
            <a:ext cx="3257246" cy="2143370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sp>
        <p:nvSpPr>
          <p:cNvPr id="2" name="Rectangle 1"/>
          <p:cNvSpPr/>
          <p:nvPr/>
        </p:nvSpPr>
        <p:spPr>
          <a:xfrm>
            <a:off x="479376" y="1430716"/>
            <a:ext cx="10945216" cy="46954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[a] = 1, Parent[a]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[b] = 2, Parent[b]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[d] = 3, Parent[d]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[d] = 4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[e] = 5, Parent[e]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[e] = 6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[b] = 7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[c] = 8, Parent[c]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[f] = 9, Parent[f] = c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[f] = 10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[c] = 11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[a] = 12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24" name="Овал 6"/>
          <p:cNvSpPr txBox="1">
            <a:spLocks noChangeArrowheads="1"/>
          </p:cNvSpPr>
          <p:nvPr/>
        </p:nvSpPr>
        <p:spPr>
          <a:xfrm>
            <a:off x="10682454" y="5303767"/>
            <a:ext cx="596616" cy="589534"/>
          </a:xfrm>
          <a:prstGeom prst="ellipse">
            <a:avLst/>
          </a:prstGeom>
          <a:ln w="25400" algn="ctr">
            <a:solidFill>
              <a:schemeClr val="tx2"/>
            </a:solidFill>
            <a:round/>
          </a:ln>
        </p:spPr>
        <p:txBody>
          <a:bodyPr vert="horz" anchor="ctr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>
              <a:lnSpc>
                <a:spcPct val="80000"/>
              </a:lnSpc>
              <a:buFont typeface="Arial" charset="0"/>
              <a:buNone/>
            </a:pPr>
            <a:r>
              <a:rPr lang="en-US" sz="2000" dirty="0"/>
              <a:t>f</a:t>
            </a:r>
            <a:endParaRPr lang="ru-RU" sz="2000" dirty="0"/>
          </a:p>
        </p:txBody>
      </p:sp>
      <p:sp>
        <p:nvSpPr>
          <p:cNvPr id="25" name="Овал 3"/>
          <p:cNvSpPr/>
          <p:nvPr/>
        </p:nvSpPr>
        <p:spPr>
          <a:xfrm>
            <a:off x="7336824" y="3844021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6" name="Овал 4"/>
          <p:cNvSpPr/>
          <p:nvPr/>
        </p:nvSpPr>
        <p:spPr>
          <a:xfrm>
            <a:off x="8174496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7" name="Овал 5"/>
          <p:cNvSpPr/>
          <p:nvPr/>
        </p:nvSpPr>
        <p:spPr>
          <a:xfrm>
            <a:off x="8453721" y="1832669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a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8" name="Овал 6"/>
          <p:cNvSpPr/>
          <p:nvPr/>
        </p:nvSpPr>
        <p:spPr>
          <a:xfrm>
            <a:off x="9735340" y="3965396"/>
            <a:ext cx="594607" cy="600371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c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2" name="Shape 24"/>
          <p:cNvCxnSpPr>
            <a:cxnSpLocks noChangeShapeType="1"/>
            <a:stCxn id="27" idx="3"/>
            <a:endCxn id="25" idx="0"/>
          </p:cNvCxnSpPr>
          <p:nvPr/>
        </p:nvCxnSpPr>
        <p:spPr bwMode="auto">
          <a:xfrm flipH="1">
            <a:off x="7634128" y="2345117"/>
            <a:ext cx="906671" cy="1498902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sp>
        <p:nvSpPr>
          <p:cNvPr id="34" name="Овал 17"/>
          <p:cNvSpPr/>
          <p:nvPr/>
        </p:nvSpPr>
        <p:spPr>
          <a:xfrm>
            <a:off x="6617671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d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6" name="Shape 20"/>
          <p:cNvCxnSpPr>
            <a:cxnSpLocks noChangeShapeType="1"/>
            <a:stCxn id="27" idx="5"/>
            <a:endCxn id="28" idx="0"/>
          </p:cNvCxnSpPr>
          <p:nvPr/>
        </p:nvCxnSpPr>
        <p:spPr bwMode="auto">
          <a:xfrm>
            <a:off x="8961250" y="2345117"/>
            <a:ext cx="1071395" cy="162027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7" name="Shape 24"/>
          <p:cNvCxnSpPr>
            <a:cxnSpLocks noChangeShapeType="1"/>
            <a:stCxn id="25" idx="3"/>
            <a:endCxn id="34" idx="0"/>
          </p:cNvCxnSpPr>
          <p:nvPr/>
        </p:nvCxnSpPr>
        <p:spPr bwMode="auto">
          <a:xfrm flipH="1">
            <a:off x="6914975" y="4356469"/>
            <a:ext cx="508927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8" name="Shape 24"/>
          <p:cNvCxnSpPr>
            <a:cxnSpLocks noChangeShapeType="1"/>
            <a:stCxn id="25" idx="5"/>
            <a:endCxn id="26" idx="0"/>
          </p:cNvCxnSpPr>
          <p:nvPr/>
        </p:nvCxnSpPr>
        <p:spPr bwMode="auto">
          <a:xfrm>
            <a:off x="7844353" y="4356469"/>
            <a:ext cx="627446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9" name="Shape 20"/>
          <p:cNvCxnSpPr>
            <a:cxnSpLocks noChangeShapeType="1"/>
            <a:stCxn id="28" idx="5"/>
            <a:endCxn id="24" idx="1"/>
          </p:cNvCxnSpPr>
          <p:nvPr/>
        </p:nvCxnSpPr>
        <p:spPr bwMode="auto">
          <a:xfrm>
            <a:off x="10242869" y="4477846"/>
            <a:ext cx="526957" cy="912257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0" name="Shape 14"/>
          <p:cNvCxnSpPr>
            <a:cxnSpLocks noChangeShapeType="1"/>
            <a:stCxn id="34" idx="1"/>
            <a:endCxn id="27" idx="2"/>
          </p:cNvCxnSpPr>
          <p:nvPr/>
        </p:nvCxnSpPr>
        <p:spPr bwMode="auto">
          <a:xfrm rot="5400000" flipH="1" flipV="1">
            <a:off x="5952527" y="2885077"/>
            <a:ext cx="3253415" cy="1748972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1" name="Shape 14"/>
          <p:cNvCxnSpPr>
            <a:cxnSpLocks noChangeShapeType="1"/>
            <a:stCxn id="26" idx="0"/>
            <a:endCxn id="27" idx="4"/>
          </p:cNvCxnSpPr>
          <p:nvPr/>
        </p:nvCxnSpPr>
        <p:spPr bwMode="auto">
          <a:xfrm flipV="1">
            <a:off x="8471800" y="2433040"/>
            <a:ext cx="279225" cy="286530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2" name="Shape 14"/>
          <p:cNvCxnSpPr>
            <a:cxnSpLocks noChangeShapeType="1"/>
            <a:stCxn id="24" idx="7"/>
            <a:endCxn id="27" idx="6"/>
          </p:cNvCxnSpPr>
          <p:nvPr/>
        </p:nvCxnSpPr>
        <p:spPr bwMode="auto">
          <a:xfrm rot="16200000" flipV="1">
            <a:off x="8491390" y="2689794"/>
            <a:ext cx="3257246" cy="2143370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sp>
        <p:nvSpPr>
          <p:cNvPr id="18" name="Rectangle 17"/>
          <p:cNvSpPr/>
          <p:nvPr/>
        </p:nvSpPr>
        <p:spPr>
          <a:xfrm>
            <a:off x="479376" y="1430716"/>
            <a:ext cx="5891211" cy="46954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6522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[a] = 1, Parent[a] = a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[b] = 2, Parent[b] = a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[d] = 3, Parent[d] = b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[d] = 4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[e] = 5, Parent[e] = b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[e] = 6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[b] = 7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[c] = 8, Parent[c] = a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[f] = 9, Parent[f] = c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[f] = 10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[c] = 11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[a] = 12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24" name="Овал 6"/>
          <p:cNvSpPr txBox="1">
            <a:spLocks noChangeArrowheads="1"/>
          </p:cNvSpPr>
          <p:nvPr/>
        </p:nvSpPr>
        <p:spPr>
          <a:xfrm>
            <a:off x="10682454" y="5303767"/>
            <a:ext cx="596616" cy="589534"/>
          </a:xfrm>
          <a:prstGeom prst="ellipse">
            <a:avLst/>
          </a:prstGeom>
          <a:ln w="25400" algn="ctr">
            <a:solidFill>
              <a:schemeClr val="tx2"/>
            </a:solidFill>
            <a:round/>
          </a:ln>
        </p:spPr>
        <p:txBody>
          <a:bodyPr vert="horz" anchor="ctr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>
              <a:lnSpc>
                <a:spcPct val="80000"/>
              </a:lnSpc>
              <a:buFont typeface="Arial" charset="0"/>
              <a:buNone/>
            </a:pPr>
            <a:r>
              <a:rPr lang="en-US" sz="2000" dirty="0"/>
              <a:t>f</a:t>
            </a:r>
            <a:endParaRPr lang="ru-RU" sz="2000" dirty="0"/>
          </a:p>
        </p:txBody>
      </p:sp>
      <p:sp>
        <p:nvSpPr>
          <p:cNvPr id="25" name="Овал 3"/>
          <p:cNvSpPr/>
          <p:nvPr/>
        </p:nvSpPr>
        <p:spPr>
          <a:xfrm>
            <a:off x="7336824" y="3844021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6" name="Овал 4"/>
          <p:cNvSpPr/>
          <p:nvPr/>
        </p:nvSpPr>
        <p:spPr>
          <a:xfrm>
            <a:off x="8174496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7" name="Овал 5"/>
          <p:cNvSpPr/>
          <p:nvPr/>
        </p:nvSpPr>
        <p:spPr>
          <a:xfrm>
            <a:off x="8453721" y="1832669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a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8" name="Овал 6"/>
          <p:cNvSpPr/>
          <p:nvPr/>
        </p:nvSpPr>
        <p:spPr>
          <a:xfrm>
            <a:off x="9735340" y="3965396"/>
            <a:ext cx="594607" cy="600371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c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2" name="Shape 24"/>
          <p:cNvCxnSpPr>
            <a:cxnSpLocks noChangeShapeType="1"/>
            <a:stCxn id="27" idx="3"/>
            <a:endCxn id="25" idx="0"/>
          </p:cNvCxnSpPr>
          <p:nvPr/>
        </p:nvCxnSpPr>
        <p:spPr bwMode="auto">
          <a:xfrm flipH="1">
            <a:off x="7634128" y="2345117"/>
            <a:ext cx="906671" cy="1498902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sp>
        <p:nvSpPr>
          <p:cNvPr id="34" name="Овал 17"/>
          <p:cNvSpPr/>
          <p:nvPr/>
        </p:nvSpPr>
        <p:spPr>
          <a:xfrm>
            <a:off x="6617671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d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6" name="Shape 20"/>
          <p:cNvCxnSpPr>
            <a:cxnSpLocks noChangeShapeType="1"/>
            <a:stCxn id="27" idx="5"/>
            <a:endCxn id="28" idx="0"/>
          </p:cNvCxnSpPr>
          <p:nvPr/>
        </p:nvCxnSpPr>
        <p:spPr bwMode="auto">
          <a:xfrm>
            <a:off x="8961250" y="2345117"/>
            <a:ext cx="1071395" cy="162027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7" name="Shape 24"/>
          <p:cNvCxnSpPr>
            <a:cxnSpLocks noChangeShapeType="1"/>
            <a:stCxn id="25" idx="3"/>
            <a:endCxn id="34" idx="0"/>
          </p:cNvCxnSpPr>
          <p:nvPr/>
        </p:nvCxnSpPr>
        <p:spPr bwMode="auto">
          <a:xfrm flipH="1">
            <a:off x="6914975" y="4356469"/>
            <a:ext cx="508927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8" name="Shape 24"/>
          <p:cNvCxnSpPr>
            <a:cxnSpLocks noChangeShapeType="1"/>
            <a:stCxn id="25" idx="5"/>
            <a:endCxn id="26" idx="0"/>
          </p:cNvCxnSpPr>
          <p:nvPr/>
        </p:nvCxnSpPr>
        <p:spPr bwMode="auto">
          <a:xfrm>
            <a:off x="7844353" y="4356469"/>
            <a:ext cx="627446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9" name="Shape 20"/>
          <p:cNvCxnSpPr>
            <a:cxnSpLocks noChangeShapeType="1"/>
            <a:stCxn id="28" idx="5"/>
            <a:endCxn id="24" idx="1"/>
          </p:cNvCxnSpPr>
          <p:nvPr/>
        </p:nvCxnSpPr>
        <p:spPr bwMode="auto">
          <a:xfrm>
            <a:off x="10242869" y="4477846"/>
            <a:ext cx="526957" cy="912257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0" name="Shape 14"/>
          <p:cNvCxnSpPr>
            <a:cxnSpLocks noChangeShapeType="1"/>
            <a:stCxn id="34" idx="1"/>
            <a:endCxn id="27" idx="2"/>
          </p:cNvCxnSpPr>
          <p:nvPr/>
        </p:nvCxnSpPr>
        <p:spPr bwMode="auto">
          <a:xfrm rot="5400000" flipH="1" flipV="1">
            <a:off x="5952527" y="2885077"/>
            <a:ext cx="3253415" cy="1748972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1" name="Shape 14"/>
          <p:cNvCxnSpPr>
            <a:cxnSpLocks noChangeShapeType="1"/>
            <a:stCxn id="26" idx="0"/>
            <a:endCxn id="27" idx="4"/>
          </p:cNvCxnSpPr>
          <p:nvPr/>
        </p:nvCxnSpPr>
        <p:spPr bwMode="auto">
          <a:xfrm flipV="1">
            <a:off x="8471800" y="2433040"/>
            <a:ext cx="279225" cy="286530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2" name="Shape 14"/>
          <p:cNvCxnSpPr>
            <a:cxnSpLocks noChangeShapeType="1"/>
            <a:stCxn id="24" idx="7"/>
            <a:endCxn id="27" idx="6"/>
          </p:cNvCxnSpPr>
          <p:nvPr/>
        </p:nvCxnSpPr>
        <p:spPr bwMode="auto">
          <a:xfrm rot="16200000" flipV="1">
            <a:off x="8491390" y="2689794"/>
            <a:ext cx="3257246" cy="2143370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33930492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[a] = 1, Parent[a]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[b] = 2, Parent[b] = a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[d] = 3, Parent[d] = b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[d] = 4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[e] = 5, Parent[e] = b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[e] = 6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[b] = 7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[c] = 8, Parent[c] = a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[f] = 9, Parent[f] = c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[f] = 10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[c] = 11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[a] = 12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24" name="Овал 6"/>
          <p:cNvSpPr txBox="1">
            <a:spLocks noChangeArrowheads="1"/>
          </p:cNvSpPr>
          <p:nvPr/>
        </p:nvSpPr>
        <p:spPr>
          <a:xfrm>
            <a:off x="10682454" y="5303767"/>
            <a:ext cx="596616" cy="589534"/>
          </a:xfrm>
          <a:prstGeom prst="ellipse">
            <a:avLst/>
          </a:prstGeom>
          <a:ln w="25400" algn="ctr">
            <a:solidFill>
              <a:schemeClr val="tx2"/>
            </a:solidFill>
            <a:round/>
          </a:ln>
        </p:spPr>
        <p:txBody>
          <a:bodyPr vert="horz" anchor="ctr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>
              <a:lnSpc>
                <a:spcPct val="80000"/>
              </a:lnSpc>
              <a:buFont typeface="Arial" charset="0"/>
              <a:buNone/>
            </a:pPr>
            <a:r>
              <a:rPr lang="en-US" sz="2000" dirty="0"/>
              <a:t>f</a:t>
            </a:r>
            <a:endParaRPr lang="ru-RU" sz="2000" dirty="0"/>
          </a:p>
        </p:txBody>
      </p:sp>
      <p:sp>
        <p:nvSpPr>
          <p:cNvPr id="25" name="Овал 3"/>
          <p:cNvSpPr/>
          <p:nvPr/>
        </p:nvSpPr>
        <p:spPr>
          <a:xfrm>
            <a:off x="7336824" y="3844021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6" name="Овал 4"/>
          <p:cNvSpPr/>
          <p:nvPr/>
        </p:nvSpPr>
        <p:spPr>
          <a:xfrm>
            <a:off x="8174496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7" name="Овал 5"/>
          <p:cNvSpPr/>
          <p:nvPr/>
        </p:nvSpPr>
        <p:spPr>
          <a:xfrm>
            <a:off x="8453721" y="1832669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a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8" name="Овал 6"/>
          <p:cNvSpPr/>
          <p:nvPr/>
        </p:nvSpPr>
        <p:spPr>
          <a:xfrm>
            <a:off x="9735340" y="3965396"/>
            <a:ext cx="594607" cy="600371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c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2" name="Shape 24"/>
          <p:cNvCxnSpPr>
            <a:cxnSpLocks noChangeShapeType="1"/>
            <a:stCxn id="27" idx="3"/>
            <a:endCxn id="25" idx="0"/>
          </p:cNvCxnSpPr>
          <p:nvPr/>
        </p:nvCxnSpPr>
        <p:spPr bwMode="auto">
          <a:xfrm flipH="1">
            <a:off x="7634128" y="2345117"/>
            <a:ext cx="906671" cy="1498902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sp>
        <p:nvSpPr>
          <p:cNvPr id="34" name="Овал 17"/>
          <p:cNvSpPr/>
          <p:nvPr/>
        </p:nvSpPr>
        <p:spPr>
          <a:xfrm>
            <a:off x="6617671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d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6" name="Shape 20"/>
          <p:cNvCxnSpPr>
            <a:cxnSpLocks noChangeShapeType="1"/>
            <a:stCxn id="27" idx="5"/>
            <a:endCxn id="28" idx="0"/>
          </p:cNvCxnSpPr>
          <p:nvPr/>
        </p:nvCxnSpPr>
        <p:spPr bwMode="auto">
          <a:xfrm>
            <a:off x="8961250" y="2345117"/>
            <a:ext cx="1071395" cy="162027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7" name="Shape 24"/>
          <p:cNvCxnSpPr>
            <a:cxnSpLocks noChangeShapeType="1"/>
            <a:stCxn id="25" idx="3"/>
            <a:endCxn id="34" idx="0"/>
          </p:cNvCxnSpPr>
          <p:nvPr/>
        </p:nvCxnSpPr>
        <p:spPr bwMode="auto">
          <a:xfrm flipH="1">
            <a:off x="6914975" y="4356469"/>
            <a:ext cx="508927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8" name="Shape 24"/>
          <p:cNvCxnSpPr>
            <a:cxnSpLocks noChangeShapeType="1"/>
            <a:stCxn id="25" idx="5"/>
            <a:endCxn id="26" idx="0"/>
          </p:cNvCxnSpPr>
          <p:nvPr/>
        </p:nvCxnSpPr>
        <p:spPr bwMode="auto">
          <a:xfrm>
            <a:off x="7844353" y="4356469"/>
            <a:ext cx="627446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9" name="Shape 20"/>
          <p:cNvCxnSpPr>
            <a:cxnSpLocks noChangeShapeType="1"/>
            <a:stCxn id="28" idx="5"/>
            <a:endCxn id="24" idx="1"/>
          </p:cNvCxnSpPr>
          <p:nvPr/>
        </p:nvCxnSpPr>
        <p:spPr bwMode="auto">
          <a:xfrm>
            <a:off x="10242869" y="4477846"/>
            <a:ext cx="526957" cy="912257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0" name="Shape 14"/>
          <p:cNvCxnSpPr>
            <a:cxnSpLocks noChangeShapeType="1"/>
            <a:stCxn id="34" idx="1"/>
            <a:endCxn id="27" idx="2"/>
          </p:cNvCxnSpPr>
          <p:nvPr/>
        </p:nvCxnSpPr>
        <p:spPr bwMode="auto">
          <a:xfrm rot="5400000" flipH="1" flipV="1">
            <a:off x="5952527" y="2885077"/>
            <a:ext cx="3253415" cy="1748972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1" name="Shape 14"/>
          <p:cNvCxnSpPr>
            <a:cxnSpLocks noChangeShapeType="1"/>
            <a:stCxn id="26" idx="0"/>
            <a:endCxn id="27" idx="4"/>
          </p:cNvCxnSpPr>
          <p:nvPr/>
        </p:nvCxnSpPr>
        <p:spPr bwMode="auto">
          <a:xfrm flipV="1">
            <a:off x="8471800" y="2433040"/>
            <a:ext cx="279225" cy="286530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2" name="Shape 14"/>
          <p:cNvCxnSpPr>
            <a:cxnSpLocks noChangeShapeType="1"/>
            <a:stCxn id="24" idx="7"/>
            <a:endCxn id="27" idx="6"/>
          </p:cNvCxnSpPr>
          <p:nvPr/>
        </p:nvCxnSpPr>
        <p:spPr bwMode="auto">
          <a:xfrm rot="16200000" flipV="1">
            <a:off x="8491390" y="2689794"/>
            <a:ext cx="3257246" cy="2143370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488344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[a] = 1, Parent[a]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[b] = 2, Parent[b]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[d] = 3, Parent[d] = b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[d] = 4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[e] = 5, Parent[e] = b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[e] = 6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[b] = 7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[c] = 8, Parent[c] = a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[f] = 9, Parent[f] = c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[f] = 10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[c] = 11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[a] = 12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24" name="Овал 6"/>
          <p:cNvSpPr txBox="1">
            <a:spLocks noChangeArrowheads="1"/>
          </p:cNvSpPr>
          <p:nvPr/>
        </p:nvSpPr>
        <p:spPr>
          <a:xfrm>
            <a:off x="10682454" y="5303767"/>
            <a:ext cx="596616" cy="589534"/>
          </a:xfrm>
          <a:prstGeom prst="ellipse">
            <a:avLst/>
          </a:prstGeom>
          <a:ln w="25400" algn="ctr">
            <a:solidFill>
              <a:schemeClr val="tx2"/>
            </a:solidFill>
            <a:round/>
          </a:ln>
        </p:spPr>
        <p:txBody>
          <a:bodyPr vert="horz" anchor="ctr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>
              <a:lnSpc>
                <a:spcPct val="80000"/>
              </a:lnSpc>
              <a:buFont typeface="Arial" charset="0"/>
              <a:buNone/>
            </a:pPr>
            <a:r>
              <a:rPr lang="en-US" sz="2000" dirty="0"/>
              <a:t>f</a:t>
            </a:r>
            <a:endParaRPr lang="ru-RU" sz="2000" dirty="0"/>
          </a:p>
        </p:txBody>
      </p:sp>
      <p:sp>
        <p:nvSpPr>
          <p:cNvPr id="25" name="Овал 3"/>
          <p:cNvSpPr/>
          <p:nvPr/>
        </p:nvSpPr>
        <p:spPr>
          <a:xfrm>
            <a:off x="7336824" y="3844021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6" name="Овал 4"/>
          <p:cNvSpPr/>
          <p:nvPr/>
        </p:nvSpPr>
        <p:spPr>
          <a:xfrm>
            <a:off x="8174496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7" name="Овал 5"/>
          <p:cNvSpPr/>
          <p:nvPr/>
        </p:nvSpPr>
        <p:spPr>
          <a:xfrm>
            <a:off x="8453721" y="1832669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a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8" name="Овал 6"/>
          <p:cNvSpPr/>
          <p:nvPr/>
        </p:nvSpPr>
        <p:spPr>
          <a:xfrm>
            <a:off x="9735340" y="3965396"/>
            <a:ext cx="594607" cy="600371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c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2" name="Shape 24"/>
          <p:cNvCxnSpPr>
            <a:cxnSpLocks noChangeShapeType="1"/>
            <a:stCxn id="27" idx="3"/>
            <a:endCxn id="25" idx="0"/>
          </p:cNvCxnSpPr>
          <p:nvPr/>
        </p:nvCxnSpPr>
        <p:spPr bwMode="auto">
          <a:xfrm flipH="1">
            <a:off x="7634128" y="2345117"/>
            <a:ext cx="906671" cy="1498902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sp>
        <p:nvSpPr>
          <p:cNvPr id="34" name="Овал 17"/>
          <p:cNvSpPr/>
          <p:nvPr/>
        </p:nvSpPr>
        <p:spPr>
          <a:xfrm>
            <a:off x="6617671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d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6" name="Shape 20"/>
          <p:cNvCxnSpPr>
            <a:cxnSpLocks noChangeShapeType="1"/>
            <a:stCxn id="27" idx="5"/>
            <a:endCxn id="28" idx="0"/>
          </p:cNvCxnSpPr>
          <p:nvPr/>
        </p:nvCxnSpPr>
        <p:spPr bwMode="auto">
          <a:xfrm>
            <a:off x="8961250" y="2345117"/>
            <a:ext cx="1071395" cy="162027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7" name="Shape 24"/>
          <p:cNvCxnSpPr>
            <a:cxnSpLocks noChangeShapeType="1"/>
            <a:stCxn id="25" idx="3"/>
            <a:endCxn id="34" idx="0"/>
          </p:cNvCxnSpPr>
          <p:nvPr/>
        </p:nvCxnSpPr>
        <p:spPr bwMode="auto">
          <a:xfrm flipH="1">
            <a:off x="6914975" y="4356469"/>
            <a:ext cx="508927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8" name="Shape 24"/>
          <p:cNvCxnSpPr>
            <a:cxnSpLocks noChangeShapeType="1"/>
            <a:stCxn id="25" idx="5"/>
            <a:endCxn id="26" idx="0"/>
          </p:cNvCxnSpPr>
          <p:nvPr/>
        </p:nvCxnSpPr>
        <p:spPr bwMode="auto">
          <a:xfrm>
            <a:off x="7844353" y="4356469"/>
            <a:ext cx="627446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9" name="Shape 20"/>
          <p:cNvCxnSpPr>
            <a:cxnSpLocks noChangeShapeType="1"/>
            <a:stCxn id="28" idx="5"/>
            <a:endCxn id="24" idx="1"/>
          </p:cNvCxnSpPr>
          <p:nvPr/>
        </p:nvCxnSpPr>
        <p:spPr bwMode="auto">
          <a:xfrm>
            <a:off x="10242869" y="4477846"/>
            <a:ext cx="526957" cy="912257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0" name="Shape 14"/>
          <p:cNvCxnSpPr>
            <a:cxnSpLocks noChangeShapeType="1"/>
            <a:stCxn id="34" idx="1"/>
            <a:endCxn id="27" idx="2"/>
          </p:cNvCxnSpPr>
          <p:nvPr/>
        </p:nvCxnSpPr>
        <p:spPr bwMode="auto">
          <a:xfrm rot="5400000" flipH="1" flipV="1">
            <a:off x="5952527" y="2885077"/>
            <a:ext cx="3253415" cy="1748972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1" name="Shape 14"/>
          <p:cNvCxnSpPr>
            <a:cxnSpLocks noChangeShapeType="1"/>
            <a:stCxn id="26" idx="0"/>
            <a:endCxn id="27" idx="4"/>
          </p:cNvCxnSpPr>
          <p:nvPr/>
        </p:nvCxnSpPr>
        <p:spPr bwMode="auto">
          <a:xfrm flipV="1">
            <a:off x="8471800" y="2433040"/>
            <a:ext cx="279225" cy="286530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2" name="Shape 14"/>
          <p:cNvCxnSpPr>
            <a:cxnSpLocks noChangeShapeType="1"/>
            <a:stCxn id="24" idx="7"/>
            <a:endCxn id="27" idx="6"/>
          </p:cNvCxnSpPr>
          <p:nvPr/>
        </p:nvCxnSpPr>
        <p:spPr bwMode="auto">
          <a:xfrm rot="16200000" flipV="1">
            <a:off x="8491390" y="2689794"/>
            <a:ext cx="3257246" cy="2143370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7039170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[a] = 1, Parent[a]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[b] = 2, Parent[b]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[d] = 3, Parent[d]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[d] = 4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[e] = 5, Parent[e] = b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[e] = 6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[b] = 7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[c] = 8, Parent[c] = a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[f] = 9, Parent[f] = c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[f] = 10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[c] = 11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[a] = 12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24" name="Овал 6"/>
          <p:cNvSpPr txBox="1">
            <a:spLocks noChangeArrowheads="1"/>
          </p:cNvSpPr>
          <p:nvPr/>
        </p:nvSpPr>
        <p:spPr>
          <a:xfrm>
            <a:off x="10682454" y="5303767"/>
            <a:ext cx="596616" cy="589534"/>
          </a:xfrm>
          <a:prstGeom prst="ellipse">
            <a:avLst/>
          </a:prstGeom>
          <a:ln w="25400" algn="ctr">
            <a:solidFill>
              <a:schemeClr val="tx2"/>
            </a:solidFill>
            <a:round/>
          </a:ln>
        </p:spPr>
        <p:txBody>
          <a:bodyPr vert="horz" anchor="ctr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>
              <a:lnSpc>
                <a:spcPct val="80000"/>
              </a:lnSpc>
              <a:buFont typeface="Arial" charset="0"/>
              <a:buNone/>
            </a:pPr>
            <a:r>
              <a:rPr lang="en-US" sz="2000" dirty="0"/>
              <a:t>f</a:t>
            </a:r>
            <a:endParaRPr lang="ru-RU" sz="2000" dirty="0"/>
          </a:p>
        </p:txBody>
      </p:sp>
      <p:sp>
        <p:nvSpPr>
          <p:cNvPr id="25" name="Овал 3"/>
          <p:cNvSpPr/>
          <p:nvPr/>
        </p:nvSpPr>
        <p:spPr>
          <a:xfrm>
            <a:off x="7336824" y="3844021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6" name="Овал 4"/>
          <p:cNvSpPr/>
          <p:nvPr/>
        </p:nvSpPr>
        <p:spPr>
          <a:xfrm>
            <a:off x="8174496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7" name="Овал 5"/>
          <p:cNvSpPr/>
          <p:nvPr/>
        </p:nvSpPr>
        <p:spPr>
          <a:xfrm>
            <a:off x="8453721" y="1832669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a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8" name="Овал 6"/>
          <p:cNvSpPr/>
          <p:nvPr/>
        </p:nvSpPr>
        <p:spPr>
          <a:xfrm>
            <a:off x="9735340" y="3965396"/>
            <a:ext cx="594607" cy="600371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c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2" name="Shape 24"/>
          <p:cNvCxnSpPr>
            <a:cxnSpLocks noChangeShapeType="1"/>
            <a:stCxn id="27" idx="3"/>
            <a:endCxn id="25" idx="0"/>
          </p:cNvCxnSpPr>
          <p:nvPr/>
        </p:nvCxnSpPr>
        <p:spPr bwMode="auto">
          <a:xfrm flipH="1">
            <a:off x="7634128" y="2345117"/>
            <a:ext cx="906671" cy="1498902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sp>
        <p:nvSpPr>
          <p:cNvPr id="34" name="Овал 17"/>
          <p:cNvSpPr/>
          <p:nvPr/>
        </p:nvSpPr>
        <p:spPr>
          <a:xfrm>
            <a:off x="6617671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d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6" name="Shape 20"/>
          <p:cNvCxnSpPr>
            <a:cxnSpLocks noChangeShapeType="1"/>
            <a:stCxn id="27" idx="5"/>
            <a:endCxn id="28" idx="0"/>
          </p:cNvCxnSpPr>
          <p:nvPr/>
        </p:nvCxnSpPr>
        <p:spPr bwMode="auto">
          <a:xfrm>
            <a:off x="8961250" y="2345117"/>
            <a:ext cx="1071395" cy="162027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7" name="Shape 24"/>
          <p:cNvCxnSpPr>
            <a:cxnSpLocks noChangeShapeType="1"/>
            <a:stCxn id="25" idx="3"/>
            <a:endCxn id="34" idx="0"/>
          </p:cNvCxnSpPr>
          <p:nvPr/>
        </p:nvCxnSpPr>
        <p:spPr bwMode="auto">
          <a:xfrm flipH="1">
            <a:off x="6914975" y="4356469"/>
            <a:ext cx="508927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8" name="Shape 24"/>
          <p:cNvCxnSpPr>
            <a:cxnSpLocks noChangeShapeType="1"/>
            <a:stCxn id="25" idx="5"/>
            <a:endCxn id="26" idx="0"/>
          </p:cNvCxnSpPr>
          <p:nvPr/>
        </p:nvCxnSpPr>
        <p:spPr bwMode="auto">
          <a:xfrm>
            <a:off x="7844353" y="4356469"/>
            <a:ext cx="627446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9" name="Shape 20"/>
          <p:cNvCxnSpPr>
            <a:cxnSpLocks noChangeShapeType="1"/>
            <a:stCxn id="28" idx="5"/>
            <a:endCxn id="24" idx="1"/>
          </p:cNvCxnSpPr>
          <p:nvPr/>
        </p:nvCxnSpPr>
        <p:spPr bwMode="auto">
          <a:xfrm>
            <a:off x="10242869" y="4477846"/>
            <a:ext cx="526957" cy="912257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0" name="Shape 14"/>
          <p:cNvCxnSpPr>
            <a:cxnSpLocks noChangeShapeType="1"/>
            <a:stCxn id="34" idx="1"/>
            <a:endCxn id="27" idx="2"/>
          </p:cNvCxnSpPr>
          <p:nvPr/>
        </p:nvCxnSpPr>
        <p:spPr bwMode="auto">
          <a:xfrm rot="5400000" flipH="1" flipV="1">
            <a:off x="5952527" y="2885077"/>
            <a:ext cx="3253415" cy="1748972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1" name="Shape 14"/>
          <p:cNvCxnSpPr>
            <a:cxnSpLocks noChangeShapeType="1"/>
            <a:stCxn id="26" idx="0"/>
            <a:endCxn id="27" idx="4"/>
          </p:cNvCxnSpPr>
          <p:nvPr/>
        </p:nvCxnSpPr>
        <p:spPr bwMode="auto">
          <a:xfrm flipV="1">
            <a:off x="8471800" y="2433040"/>
            <a:ext cx="279225" cy="286530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2" name="Shape 14"/>
          <p:cNvCxnSpPr>
            <a:cxnSpLocks noChangeShapeType="1"/>
            <a:stCxn id="24" idx="7"/>
            <a:endCxn id="27" idx="6"/>
          </p:cNvCxnSpPr>
          <p:nvPr/>
        </p:nvCxnSpPr>
        <p:spPr bwMode="auto">
          <a:xfrm rot="16200000" flipV="1">
            <a:off x="8491390" y="2689794"/>
            <a:ext cx="3257246" cy="2143370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3600327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[a] = 1, Parent[a]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[b] = 2, Parent[b]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[d] = 3, Parent[d]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[d] = 4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[e] = 5, Parent[e] = b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[e] = 6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[b] = 7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[c] = 8, Parent[c] = a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[f] = 9, Parent[f] = c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[f] = 10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[c] = 11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[a] = 12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24" name="Овал 6"/>
          <p:cNvSpPr txBox="1">
            <a:spLocks noChangeArrowheads="1"/>
          </p:cNvSpPr>
          <p:nvPr/>
        </p:nvSpPr>
        <p:spPr>
          <a:xfrm>
            <a:off x="10682454" y="5303767"/>
            <a:ext cx="596616" cy="589534"/>
          </a:xfrm>
          <a:prstGeom prst="ellipse">
            <a:avLst/>
          </a:prstGeom>
          <a:ln w="25400" algn="ctr">
            <a:solidFill>
              <a:schemeClr val="tx2"/>
            </a:solidFill>
            <a:round/>
          </a:ln>
        </p:spPr>
        <p:txBody>
          <a:bodyPr vert="horz" anchor="ctr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>
              <a:lnSpc>
                <a:spcPct val="80000"/>
              </a:lnSpc>
              <a:buFont typeface="Arial" charset="0"/>
              <a:buNone/>
            </a:pPr>
            <a:r>
              <a:rPr lang="en-US" sz="2000" dirty="0"/>
              <a:t>f</a:t>
            </a:r>
            <a:endParaRPr lang="ru-RU" sz="2000" dirty="0"/>
          </a:p>
        </p:txBody>
      </p:sp>
      <p:sp>
        <p:nvSpPr>
          <p:cNvPr id="25" name="Овал 3"/>
          <p:cNvSpPr/>
          <p:nvPr/>
        </p:nvSpPr>
        <p:spPr>
          <a:xfrm>
            <a:off x="7336824" y="3844021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6" name="Овал 4"/>
          <p:cNvSpPr/>
          <p:nvPr/>
        </p:nvSpPr>
        <p:spPr>
          <a:xfrm>
            <a:off x="8174496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7" name="Овал 5"/>
          <p:cNvSpPr/>
          <p:nvPr/>
        </p:nvSpPr>
        <p:spPr>
          <a:xfrm>
            <a:off x="8453721" y="1832669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a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8" name="Овал 6"/>
          <p:cNvSpPr/>
          <p:nvPr/>
        </p:nvSpPr>
        <p:spPr>
          <a:xfrm>
            <a:off x="9735340" y="3965396"/>
            <a:ext cx="594607" cy="600371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c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2" name="Shape 24"/>
          <p:cNvCxnSpPr>
            <a:cxnSpLocks noChangeShapeType="1"/>
            <a:stCxn id="27" idx="3"/>
            <a:endCxn id="25" idx="0"/>
          </p:cNvCxnSpPr>
          <p:nvPr/>
        </p:nvCxnSpPr>
        <p:spPr bwMode="auto">
          <a:xfrm flipH="1">
            <a:off x="7634128" y="2345117"/>
            <a:ext cx="906671" cy="1498902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sp>
        <p:nvSpPr>
          <p:cNvPr id="34" name="Овал 17"/>
          <p:cNvSpPr/>
          <p:nvPr/>
        </p:nvSpPr>
        <p:spPr>
          <a:xfrm>
            <a:off x="6617671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d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6" name="Shape 20"/>
          <p:cNvCxnSpPr>
            <a:cxnSpLocks noChangeShapeType="1"/>
            <a:stCxn id="27" idx="5"/>
            <a:endCxn id="28" idx="0"/>
          </p:cNvCxnSpPr>
          <p:nvPr/>
        </p:nvCxnSpPr>
        <p:spPr bwMode="auto">
          <a:xfrm>
            <a:off x="8961250" y="2345117"/>
            <a:ext cx="1071395" cy="162027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7" name="Shape 24"/>
          <p:cNvCxnSpPr>
            <a:cxnSpLocks noChangeShapeType="1"/>
            <a:stCxn id="25" idx="3"/>
            <a:endCxn id="34" idx="0"/>
          </p:cNvCxnSpPr>
          <p:nvPr/>
        </p:nvCxnSpPr>
        <p:spPr bwMode="auto">
          <a:xfrm flipH="1">
            <a:off x="6914975" y="4356469"/>
            <a:ext cx="508927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8" name="Shape 24"/>
          <p:cNvCxnSpPr>
            <a:cxnSpLocks noChangeShapeType="1"/>
            <a:stCxn id="25" idx="5"/>
            <a:endCxn id="26" idx="0"/>
          </p:cNvCxnSpPr>
          <p:nvPr/>
        </p:nvCxnSpPr>
        <p:spPr bwMode="auto">
          <a:xfrm>
            <a:off x="7844353" y="4356469"/>
            <a:ext cx="627446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9" name="Shape 20"/>
          <p:cNvCxnSpPr>
            <a:cxnSpLocks noChangeShapeType="1"/>
            <a:stCxn id="28" idx="5"/>
            <a:endCxn id="24" idx="1"/>
          </p:cNvCxnSpPr>
          <p:nvPr/>
        </p:nvCxnSpPr>
        <p:spPr bwMode="auto">
          <a:xfrm>
            <a:off x="10242869" y="4477846"/>
            <a:ext cx="526957" cy="912257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0" name="Shape 14"/>
          <p:cNvCxnSpPr>
            <a:cxnSpLocks noChangeShapeType="1"/>
            <a:stCxn id="34" idx="1"/>
            <a:endCxn id="27" idx="2"/>
          </p:cNvCxnSpPr>
          <p:nvPr/>
        </p:nvCxnSpPr>
        <p:spPr bwMode="auto">
          <a:xfrm rot="5400000" flipH="1" flipV="1">
            <a:off x="5952527" y="2885077"/>
            <a:ext cx="3253415" cy="1748972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1" name="Shape 14"/>
          <p:cNvCxnSpPr>
            <a:cxnSpLocks noChangeShapeType="1"/>
            <a:stCxn id="26" idx="0"/>
            <a:endCxn id="27" idx="4"/>
          </p:cNvCxnSpPr>
          <p:nvPr/>
        </p:nvCxnSpPr>
        <p:spPr bwMode="auto">
          <a:xfrm flipV="1">
            <a:off x="8471800" y="2433040"/>
            <a:ext cx="279225" cy="286530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2" name="Shape 14"/>
          <p:cNvCxnSpPr>
            <a:cxnSpLocks noChangeShapeType="1"/>
            <a:stCxn id="24" idx="7"/>
            <a:endCxn id="27" idx="6"/>
          </p:cNvCxnSpPr>
          <p:nvPr/>
        </p:nvCxnSpPr>
        <p:spPr bwMode="auto">
          <a:xfrm rot="16200000" flipV="1">
            <a:off x="8491390" y="2689794"/>
            <a:ext cx="3257246" cy="2143370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40375789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[a] = 1, Parent[a]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[b] = 2, Parent[b]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[d] = 3, Parent[d]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[d] = 4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[e] = 5, Parent[e]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[e] = 6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[b] = 7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[c] = 8, Parent[c] = a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[f] = 9, Parent[f] = c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[f] = 10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[c] = 11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[a] = 12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24" name="Овал 6"/>
          <p:cNvSpPr txBox="1">
            <a:spLocks noChangeArrowheads="1"/>
          </p:cNvSpPr>
          <p:nvPr/>
        </p:nvSpPr>
        <p:spPr>
          <a:xfrm>
            <a:off x="10682454" y="5303767"/>
            <a:ext cx="596616" cy="589534"/>
          </a:xfrm>
          <a:prstGeom prst="ellipse">
            <a:avLst/>
          </a:prstGeom>
          <a:ln w="25400" algn="ctr">
            <a:solidFill>
              <a:schemeClr val="tx2"/>
            </a:solidFill>
            <a:round/>
          </a:ln>
        </p:spPr>
        <p:txBody>
          <a:bodyPr vert="horz" anchor="ctr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>
              <a:lnSpc>
                <a:spcPct val="80000"/>
              </a:lnSpc>
              <a:buFont typeface="Arial" charset="0"/>
              <a:buNone/>
            </a:pPr>
            <a:r>
              <a:rPr lang="en-US" sz="2000" dirty="0"/>
              <a:t>f</a:t>
            </a:r>
            <a:endParaRPr lang="ru-RU" sz="2000" dirty="0"/>
          </a:p>
        </p:txBody>
      </p:sp>
      <p:sp>
        <p:nvSpPr>
          <p:cNvPr id="25" name="Овал 3"/>
          <p:cNvSpPr/>
          <p:nvPr/>
        </p:nvSpPr>
        <p:spPr>
          <a:xfrm>
            <a:off x="7336824" y="3844021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6" name="Овал 4"/>
          <p:cNvSpPr/>
          <p:nvPr/>
        </p:nvSpPr>
        <p:spPr>
          <a:xfrm>
            <a:off x="8174496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7" name="Овал 5"/>
          <p:cNvSpPr/>
          <p:nvPr/>
        </p:nvSpPr>
        <p:spPr>
          <a:xfrm>
            <a:off x="8453721" y="1832669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a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8" name="Овал 6"/>
          <p:cNvSpPr/>
          <p:nvPr/>
        </p:nvSpPr>
        <p:spPr>
          <a:xfrm>
            <a:off x="9735340" y="3965396"/>
            <a:ext cx="594607" cy="600371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c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2" name="Shape 24"/>
          <p:cNvCxnSpPr>
            <a:cxnSpLocks noChangeShapeType="1"/>
            <a:stCxn id="27" idx="3"/>
            <a:endCxn id="25" idx="0"/>
          </p:cNvCxnSpPr>
          <p:nvPr/>
        </p:nvCxnSpPr>
        <p:spPr bwMode="auto">
          <a:xfrm flipH="1">
            <a:off x="7634128" y="2345117"/>
            <a:ext cx="906671" cy="1498902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sp>
        <p:nvSpPr>
          <p:cNvPr id="34" name="Овал 17"/>
          <p:cNvSpPr/>
          <p:nvPr/>
        </p:nvSpPr>
        <p:spPr>
          <a:xfrm>
            <a:off x="6617671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d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6" name="Shape 20"/>
          <p:cNvCxnSpPr>
            <a:cxnSpLocks noChangeShapeType="1"/>
            <a:stCxn id="27" idx="5"/>
            <a:endCxn id="28" idx="0"/>
          </p:cNvCxnSpPr>
          <p:nvPr/>
        </p:nvCxnSpPr>
        <p:spPr bwMode="auto">
          <a:xfrm>
            <a:off x="8961250" y="2345117"/>
            <a:ext cx="1071395" cy="162027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7" name="Shape 24"/>
          <p:cNvCxnSpPr>
            <a:cxnSpLocks noChangeShapeType="1"/>
            <a:stCxn id="25" idx="3"/>
            <a:endCxn id="34" idx="0"/>
          </p:cNvCxnSpPr>
          <p:nvPr/>
        </p:nvCxnSpPr>
        <p:spPr bwMode="auto">
          <a:xfrm flipH="1">
            <a:off x="6914975" y="4356469"/>
            <a:ext cx="508927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8" name="Shape 24"/>
          <p:cNvCxnSpPr>
            <a:cxnSpLocks noChangeShapeType="1"/>
            <a:stCxn id="25" idx="5"/>
            <a:endCxn id="26" idx="0"/>
          </p:cNvCxnSpPr>
          <p:nvPr/>
        </p:nvCxnSpPr>
        <p:spPr bwMode="auto">
          <a:xfrm>
            <a:off x="7844353" y="4356469"/>
            <a:ext cx="627446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9" name="Shape 20"/>
          <p:cNvCxnSpPr>
            <a:cxnSpLocks noChangeShapeType="1"/>
            <a:stCxn id="28" idx="5"/>
            <a:endCxn id="24" idx="1"/>
          </p:cNvCxnSpPr>
          <p:nvPr/>
        </p:nvCxnSpPr>
        <p:spPr bwMode="auto">
          <a:xfrm>
            <a:off x="10242869" y="4477846"/>
            <a:ext cx="526957" cy="912257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0" name="Shape 14"/>
          <p:cNvCxnSpPr>
            <a:cxnSpLocks noChangeShapeType="1"/>
            <a:stCxn id="34" idx="1"/>
            <a:endCxn id="27" idx="2"/>
          </p:cNvCxnSpPr>
          <p:nvPr/>
        </p:nvCxnSpPr>
        <p:spPr bwMode="auto">
          <a:xfrm rot="5400000" flipH="1" flipV="1">
            <a:off x="5952527" y="2885077"/>
            <a:ext cx="3253415" cy="1748972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1" name="Shape 14"/>
          <p:cNvCxnSpPr>
            <a:cxnSpLocks noChangeShapeType="1"/>
            <a:stCxn id="26" idx="0"/>
            <a:endCxn id="27" idx="4"/>
          </p:cNvCxnSpPr>
          <p:nvPr/>
        </p:nvCxnSpPr>
        <p:spPr bwMode="auto">
          <a:xfrm flipV="1">
            <a:off x="8471800" y="2433040"/>
            <a:ext cx="279225" cy="286530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2" name="Shape 14"/>
          <p:cNvCxnSpPr>
            <a:cxnSpLocks noChangeShapeType="1"/>
            <a:stCxn id="24" idx="7"/>
            <a:endCxn id="27" idx="6"/>
          </p:cNvCxnSpPr>
          <p:nvPr/>
        </p:nvCxnSpPr>
        <p:spPr bwMode="auto">
          <a:xfrm rot="16200000" flipV="1">
            <a:off x="8491390" y="2689794"/>
            <a:ext cx="3257246" cy="2143370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6178412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[a] = 1, Parent[a]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[b] = 2, Parent[b]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[d] = 3, Parent[d]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[d] = 4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[e] = 5, Parent[e]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[e] = 6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[b] = 7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[c] = 8, Parent[c] = a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[f] = 9, Parent[f] = c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[f] = 10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[c] = 11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[a] = 12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24" name="Овал 6"/>
          <p:cNvSpPr txBox="1">
            <a:spLocks noChangeArrowheads="1"/>
          </p:cNvSpPr>
          <p:nvPr/>
        </p:nvSpPr>
        <p:spPr>
          <a:xfrm>
            <a:off x="10682454" y="5303767"/>
            <a:ext cx="596616" cy="589534"/>
          </a:xfrm>
          <a:prstGeom prst="ellipse">
            <a:avLst/>
          </a:prstGeom>
          <a:ln w="25400" algn="ctr">
            <a:solidFill>
              <a:schemeClr val="tx2"/>
            </a:solidFill>
            <a:round/>
          </a:ln>
        </p:spPr>
        <p:txBody>
          <a:bodyPr vert="horz" anchor="ctr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>
              <a:lnSpc>
                <a:spcPct val="80000"/>
              </a:lnSpc>
              <a:buFont typeface="Arial" charset="0"/>
              <a:buNone/>
            </a:pPr>
            <a:r>
              <a:rPr lang="en-US" sz="2000" dirty="0"/>
              <a:t>f</a:t>
            </a:r>
            <a:endParaRPr lang="ru-RU" sz="2000" dirty="0"/>
          </a:p>
        </p:txBody>
      </p:sp>
      <p:sp>
        <p:nvSpPr>
          <p:cNvPr id="25" name="Овал 3"/>
          <p:cNvSpPr/>
          <p:nvPr/>
        </p:nvSpPr>
        <p:spPr>
          <a:xfrm>
            <a:off x="7336824" y="3844021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6" name="Овал 4"/>
          <p:cNvSpPr/>
          <p:nvPr/>
        </p:nvSpPr>
        <p:spPr>
          <a:xfrm>
            <a:off x="8174496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7" name="Овал 5"/>
          <p:cNvSpPr/>
          <p:nvPr/>
        </p:nvSpPr>
        <p:spPr>
          <a:xfrm>
            <a:off x="8453721" y="1832669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a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8" name="Овал 6"/>
          <p:cNvSpPr/>
          <p:nvPr/>
        </p:nvSpPr>
        <p:spPr>
          <a:xfrm>
            <a:off x="9735340" y="3965396"/>
            <a:ext cx="594607" cy="600371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c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2" name="Shape 24"/>
          <p:cNvCxnSpPr>
            <a:cxnSpLocks noChangeShapeType="1"/>
            <a:stCxn id="27" idx="3"/>
            <a:endCxn id="25" idx="0"/>
          </p:cNvCxnSpPr>
          <p:nvPr/>
        </p:nvCxnSpPr>
        <p:spPr bwMode="auto">
          <a:xfrm flipH="1">
            <a:off x="7634128" y="2345117"/>
            <a:ext cx="906671" cy="1498902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sp>
        <p:nvSpPr>
          <p:cNvPr id="34" name="Овал 17"/>
          <p:cNvSpPr/>
          <p:nvPr/>
        </p:nvSpPr>
        <p:spPr>
          <a:xfrm>
            <a:off x="6617671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d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6" name="Shape 20"/>
          <p:cNvCxnSpPr>
            <a:cxnSpLocks noChangeShapeType="1"/>
            <a:stCxn id="27" idx="5"/>
            <a:endCxn id="28" idx="0"/>
          </p:cNvCxnSpPr>
          <p:nvPr/>
        </p:nvCxnSpPr>
        <p:spPr bwMode="auto">
          <a:xfrm>
            <a:off x="8961250" y="2345117"/>
            <a:ext cx="1071395" cy="162027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7" name="Shape 24"/>
          <p:cNvCxnSpPr>
            <a:cxnSpLocks noChangeShapeType="1"/>
            <a:stCxn id="25" idx="3"/>
            <a:endCxn id="34" idx="0"/>
          </p:cNvCxnSpPr>
          <p:nvPr/>
        </p:nvCxnSpPr>
        <p:spPr bwMode="auto">
          <a:xfrm flipH="1">
            <a:off x="6914975" y="4356469"/>
            <a:ext cx="508927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8" name="Shape 24"/>
          <p:cNvCxnSpPr>
            <a:cxnSpLocks noChangeShapeType="1"/>
            <a:stCxn id="25" idx="5"/>
            <a:endCxn id="26" idx="0"/>
          </p:cNvCxnSpPr>
          <p:nvPr/>
        </p:nvCxnSpPr>
        <p:spPr bwMode="auto">
          <a:xfrm>
            <a:off x="7844353" y="4356469"/>
            <a:ext cx="627446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9" name="Shape 20"/>
          <p:cNvCxnSpPr>
            <a:cxnSpLocks noChangeShapeType="1"/>
            <a:stCxn id="28" idx="5"/>
            <a:endCxn id="24" idx="1"/>
          </p:cNvCxnSpPr>
          <p:nvPr/>
        </p:nvCxnSpPr>
        <p:spPr bwMode="auto">
          <a:xfrm>
            <a:off x="10242869" y="4477846"/>
            <a:ext cx="526957" cy="912257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0" name="Shape 14"/>
          <p:cNvCxnSpPr>
            <a:cxnSpLocks noChangeShapeType="1"/>
            <a:stCxn id="34" idx="1"/>
            <a:endCxn id="27" idx="2"/>
          </p:cNvCxnSpPr>
          <p:nvPr/>
        </p:nvCxnSpPr>
        <p:spPr bwMode="auto">
          <a:xfrm rot="5400000" flipH="1" flipV="1">
            <a:off x="5952527" y="2885077"/>
            <a:ext cx="3253415" cy="1748972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1" name="Shape 14"/>
          <p:cNvCxnSpPr>
            <a:cxnSpLocks noChangeShapeType="1"/>
            <a:stCxn id="26" idx="0"/>
            <a:endCxn id="27" idx="4"/>
          </p:cNvCxnSpPr>
          <p:nvPr/>
        </p:nvCxnSpPr>
        <p:spPr bwMode="auto">
          <a:xfrm flipV="1">
            <a:off x="8471800" y="2433040"/>
            <a:ext cx="279225" cy="286530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2" name="Shape 14"/>
          <p:cNvCxnSpPr>
            <a:cxnSpLocks noChangeShapeType="1"/>
            <a:stCxn id="24" idx="7"/>
            <a:endCxn id="27" idx="6"/>
          </p:cNvCxnSpPr>
          <p:nvPr/>
        </p:nvCxnSpPr>
        <p:spPr bwMode="auto">
          <a:xfrm rot="16200000" flipV="1">
            <a:off x="8491390" y="2689794"/>
            <a:ext cx="3257246" cy="2143370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31983505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[a] = 1, Parent[a]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[b] = 2, Parent[b]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[d] = 3, Parent[d]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[d] = 4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[e] = 5, Parent[e]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[e] = 6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[b] = 7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[c] = 8, Parent[c] = a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StartTime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[f] = 9, Parent[f] = c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[f] = 10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[c] = 11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[a] = 12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24" name="Овал 6"/>
          <p:cNvSpPr txBox="1">
            <a:spLocks noChangeArrowheads="1"/>
          </p:cNvSpPr>
          <p:nvPr/>
        </p:nvSpPr>
        <p:spPr>
          <a:xfrm>
            <a:off x="10682454" y="5303767"/>
            <a:ext cx="596616" cy="589534"/>
          </a:xfrm>
          <a:prstGeom prst="ellipse">
            <a:avLst/>
          </a:prstGeom>
          <a:ln w="25400" algn="ctr">
            <a:solidFill>
              <a:schemeClr val="tx2"/>
            </a:solidFill>
            <a:round/>
          </a:ln>
        </p:spPr>
        <p:txBody>
          <a:bodyPr vert="horz" anchor="ctr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>
              <a:lnSpc>
                <a:spcPct val="80000"/>
              </a:lnSpc>
              <a:buFont typeface="Arial" charset="0"/>
              <a:buNone/>
            </a:pPr>
            <a:r>
              <a:rPr lang="en-US" sz="2000" dirty="0"/>
              <a:t>f</a:t>
            </a:r>
            <a:endParaRPr lang="ru-RU" sz="2000" dirty="0"/>
          </a:p>
        </p:txBody>
      </p:sp>
      <p:sp>
        <p:nvSpPr>
          <p:cNvPr id="25" name="Овал 3"/>
          <p:cNvSpPr/>
          <p:nvPr/>
        </p:nvSpPr>
        <p:spPr>
          <a:xfrm>
            <a:off x="7336824" y="3844021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6" name="Овал 4"/>
          <p:cNvSpPr/>
          <p:nvPr/>
        </p:nvSpPr>
        <p:spPr>
          <a:xfrm>
            <a:off x="8174496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7" name="Овал 5"/>
          <p:cNvSpPr/>
          <p:nvPr/>
        </p:nvSpPr>
        <p:spPr>
          <a:xfrm>
            <a:off x="8453721" y="1832669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a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8" name="Овал 6"/>
          <p:cNvSpPr/>
          <p:nvPr/>
        </p:nvSpPr>
        <p:spPr>
          <a:xfrm>
            <a:off x="9735340" y="3965396"/>
            <a:ext cx="594607" cy="600371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c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2" name="Shape 24"/>
          <p:cNvCxnSpPr>
            <a:cxnSpLocks noChangeShapeType="1"/>
            <a:stCxn id="27" idx="3"/>
            <a:endCxn id="25" idx="0"/>
          </p:cNvCxnSpPr>
          <p:nvPr/>
        </p:nvCxnSpPr>
        <p:spPr bwMode="auto">
          <a:xfrm flipH="1">
            <a:off x="7634128" y="2345117"/>
            <a:ext cx="906671" cy="1498902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sp>
        <p:nvSpPr>
          <p:cNvPr id="34" name="Овал 17"/>
          <p:cNvSpPr/>
          <p:nvPr/>
        </p:nvSpPr>
        <p:spPr>
          <a:xfrm>
            <a:off x="6617671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d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6" name="Shape 20"/>
          <p:cNvCxnSpPr>
            <a:cxnSpLocks noChangeShapeType="1"/>
            <a:stCxn id="27" idx="5"/>
            <a:endCxn id="28" idx="0"/>
          </p:cNvCxnSpPr>
          <p:nvPr/>
        </p:nvCxnSpPr>
        <p:spPr bwMode="auto">
          <a:xfrm>
            <a:off x="8961250" y="2345117"/>
            <a:ext cx="1071395" cy="162027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7" name="Shape 24"/>
          <p:cNvCxnSpPr>
            <a:cxnSpLocks noChangeShapeType="1"/>
            <a:stCxn id="25" idx="3"/>
            <a:endCxn id="34" idx="0"/>
          </p:cNvCxnSpPr>
          <p:nvPr/>
        </p:nvCxnSpPr>
        <p:spPr bwMode="auto">
          <a:xfrm flipH="1">
            <a:off x="6914975" y="4356469"/>
            <a:ext cx="508927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8" name="Shape 24"/>
          <p:cNvCxnSpPr>
            <a:cxnSpLocks noChangeShapeType="1"/>
            <a:stCxn id="25" idx="5"/>
            <a:endCxn id="26" idx="0"/>
          </p:cNvCxnSpPr>
          <p:nvPr/>
        </p:nvCxnSpPr>
        <p:spPr bwMode="auto">
          <a:xfrm>
            <a:off x="7844353" y="4356469"/>
            <a:ext cx="627446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9" name="Shape 20"/>
          <p:cNvCxnSpPr>
            <a:cxnSpLocks noChangeShapeType="1"/>
            <a:stCxn id="28" idx="5"/>
            <a:endCxn id="24" idx="1"/>
          </p:cNvCxnSpPr>
          <p:nvPr/>
        </p:nvCxnSpPr>
        <p:spPr bwMode="auto">
          <a:xfrm>
            <a:off x="10242869" y="4477846"/>
            <a:ext cx="526957" cy="912257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0" name="Shape 14"/>
          <p:cNvCxnSpPr>
            <a:cxnSpLocks noChangeShapeType="1"/>
            <a:stCxn id="34" idx="1"/>
            <a:endCxn id="27" idx="2"/>
          </p:cNvCxnSpPr>
          <p:nvPr/>
        </p:nvCxnSpPr>
        <p:spPr bwMode="auto">
          <a:xfrm rot="5400000" flipH="1" flipV="1">
            <a:off x="5952527" y="2885077"/>
            <a:ext cx="3253415" cy="1748972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1" name="Shape 14"/>
          <p:cNvCxnSpPr>
            <a:cxnSpLocks noChangeShapeType="1"/>
            <a:stCxn id="26" idx="0"/>
            <a:endCxn id="27" idx="4"/>
          </p:cNvCxnSpPr>
          <p:nvPr/>
        </p:nvCxnSpPr>
        <p:spPr bwMode="auto">
          <a:xfrm flipV="1">
            <a:off x="8471800" y="2433040"/>
            <a:ext cx="279225" cy="286530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2" name="Shape 14"/>
          <p:cNvCxnSpPr>
            <a:cxnSpLocks noChangeShapeType="1"/>
            <a:stCxn id="24" idx="7"/>
            <a:endCxn id="27" idx="6"/>
          </p:cNvCxnSpPr>
          <p:nvPr/>
        </p:nvCxnSpPr>
        <p:spPr bwMode="auto">
          <a:xfrm rot="16200000" flipV="1">
            <a:off x="8491390" y="2689794"/>
            <a:ext cx="3257246" cy="2143370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3388596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[a] = 1, Parent[a]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[b] = 2, Parent[b]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[d] = 3, Parent[d]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[d] = 4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[e] = 5, Parent[e]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[e] = 6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[b] = 7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[c] = 8, Parent[c]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[f] = 9, Parent[f] = c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[f] = 10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[c] = 11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[a] = 12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24" name="Овал 6"/>
          <p:cNvSpPr txBox="1">
            <a:spLocks noChangeArrowheads="1"/>
          </p:cNvSpPr>
          <p:nvPr/>
        </p:nvSpPr>
        <p:spPr>
          <a:xfrm>
            <a:off x="10682454" y="5303767"/>
            <a:ext cx="596616" cy="589534"/>
          </a:xfrm>
          <a:prstGeom prst="ellipse">
            <a:avLst/>
          </a:prstGeom>
          <a:ln w="25400" algn="ctr">
            <a:solidFill>
              <a:schemeClr val="tx2"/>
            </a:solidFill>
            <a:round/>
          </a:ln>
        </p:spPr>
        <p:txBody>
          <a:bodyPr vert="horz" anchor="ctr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>
              <a:lnSpc>
                <a:spcPct val="80000"/>
              </a:lnSpc>
              <a:buFont typeface="Arial" charset="0"/>
              <a:buNone/>
            </a:pPr>
            <a:r>
              <a:rPr lang="en-US" sz="2000" dirty="0"/>
              <a:t>f</a:t>
            </a:r>
            <a:endParaRPr lang="ru-RU" sz="2000" dirty="0"/>
          </a:p>
        </p:txBody>
      </p:sp>
      <p:sp>
        <p:nvSpPr>
          <p:cNvPr id="25" name="Овал 3"/>
          <p:cNvSpPr/>
          <p:nvPr/>
        </p:nvSpPr>
        <p:spPr>
          <a:xfrm>
            <a:off x="7336824" y="3844021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6" name="Овал 4"/>
          <p:cNvSpPr/>
          <p:nvPr/>
        </p:nvSpPr>
        <p:spPr>
          <a:xfrm>
            <a:off x="8174496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7" name="Овал 5"/>
          <p:cNvSpPr/>
          <p:nvPr/>
        </p:nvSpPr>
        <p:spPr>
          <a:xfrm>
            <a:off x="8453721" y="1832669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a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8" name="Овал 6"/>
          <p:cNvSpPr/>
          <p:nvPr/>
        </p:nvSpPr>
        <p:spPr>
          <a:xfrm>
            <a:off x="9735340" y="3965396"/>
            <a:ext cx="594607" cy="600371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c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2" name="Shape 24"/>
          <p:cNvCxnSpPr>
            <a:cxnSpLocks noChangeShapeType="1"/>
            <a:stCxn id="27" idx="3"/>
            <a:endCxn id="25" idx="0"/>
          </p:cNvCxnSpPr>
          <p:nvPr/>
        </p:nvCxnSpPr>
        <p:spPr bwMode="auto">
          <a:xfrm flipH="1">
            <a:off x="7634128" y="2345117"/>
            <a:ext cx="906671" cy="1498902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sp>
        <p:nvSpPr>
          <p:cNvPr id="34" name="Овал 17"/>
          <p:cNvSpPr/>
          <p:nvPr/>
        </p:nvSpPr>
        <p:spPr>
          <a:xfrm>
            <a:off x="6617671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d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6" name="Shape 20"/>
          <p:cNvCxnSpPr>
            <a:cxnSpLocks noChangeShapeType="1"/>
            <a:stCxn id="27" idx="5"/>
            <a:endCxn id="28" idx="0"/>
          </p:cNvCxnSpPr>
          <p:nvPr/>
        </p:nvCxnSpPr>
        <p:spPr bwMode="auto">
          <a:xfrm>
            <a:off x="8961250" y="2345117"/>
            <a:ext cx="1071395" cy="162027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7" name="Shape 24"/>
          <p:cNvCxnSpPr>
            <a:cxnSpLocks noChangeShapeType="1"/>
            <a:stCxn id="25" idx="3"/>
            <a:endCxn id="34" idx="0"/>
          </p:cNvCxnSpPr>
          <p:nvPr/>
        </p:nvCxnSpPr>
        <p:spPr bwMode="auto">
          <a:xfrm flipH="1">
            <a:off x="6914975" y="4356469"/>
            <a:ext cx="508927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8" name="Shape 24"/>
          <p:cNvCxnSpPr>
            <a:cxnSpLocks noChangeShapeType="1"/>
            <a:stCxn id="25" idx="5"/>
            <a:endCxn id="26" idx="0"/>
          </p:cNvCxnSpPr>
          <p:nvPr/>
        </p:nvCxnSpPr>
        <p:spPr bwMode="auto">
          <a:xfrm>
            <a:off x="7844353" y="4356469"/>
            <a:ext cx="627446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9" name="Shape 20"/>
          <p:cNvCxnSpPr>
            <a:cxnSpLocks noChangeShapeType="1"/>
            <a:stCxn id="28" idx="5"/>
            <a:endCxn id="24" idx="1"/>
          </p:cNvCxnSpPr>
          <p:nvPr/>
        </p:nvCxnSpPr>
        <p:spPr bwMode="auto">
          <a:xfrm>
            <a:off x="10242869" y="4477846"/>
            <a:ext cx="526957" cy="912257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0" name="Shape 14"/>
          <p:cNvCxnSpPr>
            <a:cxnSpLocks noChangeShapeType="1"/>
            <a:stCxn id="34" idx="1"/>
            <a:endCxn id="27" idx="2"/>
          </p:cNvCxnSpPr>
          <p:nvPr/>
        </p:nvCxnSpPr>
        <p:spPr bwMode="auto">
          <a:xfrm rot="5400000" flipH="1" flipV="1">
            <a:off x="5952527" y="2885077"/>
            <a:ext cx="3253415" cy="1748972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1" name="Shape 14"/>
          <p:cNvCxnSpPr>
            <a:cxnSpLocks noChangeShapeType="1"/>
            <a:stCxn id="26" idx="0"/>
            <a:endCxn id="27" idx="4"/>
          </p:cNvCxnSpPr>
          <p:nvPr/>
        </p:nvCxnSpPr>
        <p:spPr bwMode="auto">
          <a:xfrm flipV="1">
            <a:off x="8471800" y="2433040"/>
            <a:ext cx="279225" cy="286530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2" name="Shape 14"/>
          <p:cNvCxnSpPr>
            <a:cxnSpLocks noChangeShapeType="1"/>
            <a:stCxn id="24" idx="7"/>
            <a:endCxn id="27" idx="6"/>
          </p:cNvCxnSpPr>
          <p:nvPr/>
        </p:nvCxnSpPr>
        <p:spPr bwMode="auto">
          <a:xfrm rot="16200000" flipV="1">
            <a:off x="8491390" y="2689794"/>
            <a:ext cx="3257246" cy="2143370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4086916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[a] = 1, Parent[a]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[b] = 2, Parent[b]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[d] = 3, Parent[d]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[d] = 4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[e] = 5, Parent[e]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[e] = 6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[b] = 7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[c] = 8, Parent[c]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[f] = 9, Parent[f] = c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[f] = 10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[c] = 11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[a] = 12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24" name="Овал 6"/>
          <p:cNvSpPr txBox="1">
            <a:spLocks noChangeArrowheads="1"/>
          </p:cNvSpPr>
          <p:nvPr/>
        </p:nvSpPr>
        <p:spPr>
          <a:xfrm>
            <a:off x="10682454" y="5303767"/>
            <a:ext cx="596616" cy="589534"/>
          </a:xfrm>
          <a:prstGeom prst="ellipse">
            <a:avLst/>
          </a:prstGeom>
          <a:ln w="25400" algn="ctr">
            <a:solidFill>
              <a:schemeClr val="tx2"/>
            </a:solidFill>
            <a:round/>
          </a:ln>
        </p:spPr>
        <p:txBody>
          <a:bodyPr vert="horz" anchor="ctr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>
              <a:lnSpc>
                <a:spcPct val="80000"/>
              </a:lnSpc>
              <a:buFont typeface="Arial" charset="0"/>
              <a:buNone/>
            </a:pPr>
            <a:r>
              <a:rPr lang="en-US" sz="2000" dirty="0"/>
              <a:t>f</a:t>
            </a:r>
            <a:endParaRPr lang="ru-RU" sz="2000" dirty="0"/>
          </a:p>
        </p:txBody>
      </p:sp>
      <p:sp>
        <p:nvSpPr>
          <p:cNvPr id="25" name="Овал 3"/>
          <p:cNvSpPr/>
          <p:nvPr/>
        </p:nvSpPr>
        <p:spPr>
          <a:xfrm>
            <a:off x="7336824" y="3844021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6" name="Овал 4"/>
          <p:cNvSpPr/>
          <p:nvPr/>
        </p:nvSpPr>
        <p:spPr>
          <a:xfrm>
            <a:off x="8174496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7" name="Овал 5"/>
          <p:cNvSpPr/>
          <p:nvPr/>
        </p:nvSpPr>
        <p:spPr>
          <a:xfrm>
            <a:off x="8453721" y="1832669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a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8" name="Овал 6"/>
          <p:cNvSpPr/>
          <p:nvPr/>
        </p:nvSpPr>
        <p:spPr>
          <a:xfrm>
            <a:off x="9735340" y="3965396"/>
            <a:ext cx="594607" cy="600371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c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2" name="Shape 24"/>
          <p:cNvCxnSpPr>
            <a:cxnSpLocks noChangeShapeType="1"/>
            <a:stCxn id="27" idx="3"/>
            <a:endCxn id="25" idx="0"/>
          </p:cNvCxnSpPr>
          <p:nvPr/>
        </p:nvCxnSpPr>
        <p:spPr bwMode="auto">
          <a:xfrm flipH="1">
            <a:off x="7634128" y="2345117"/>
            <a:ext cx="906671" cy="1498902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sp>
        <p:nvSpPr>
          <p:cNvPr id="34" name="Овал 17"/>
          <p:cNvSpPr/>
          <p:nvPr/>
        </p:nvSpPr>
        <p:spPr>
          <a:xfrm>
            <a:off x="6617671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d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6" name="Shape 20"/>
          <p:cNvCxnSpPr>
            <a:cxnSpLocks noChangeShapeType="1"/>
            <a:stCxn id="27" idx="5"/>
            <a:endCxn id="28" idx="0"/>
          </p:cNvCxnSpPr>
          <p:nvPr/>
        </p:nvCxnSpPr>
        <p:spPr bwMode="auto">
          <a:xfrm>
            <a:off x="8961250" y="2345117"/>
            <a:ext cx="1071395" cy="162027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7" name="Shape 24"/>
          <p:cNvCxnSpPr>
            <a:cxnSpLocks noChangeShapeType="1"/>
            <a:stCxn id="25" idx="3"/>
            <a:endCxn id="34" idx="0"/>
          </p:cNvCxnSpPr>
          <p:nvPr/>
        </p:nvCxnSpPr>
        <p:spPr bwMode="auto">
          <a:xfrm flipH="1">
            <a:off x="6914975" y="4356469"/>
            <a:ext cx="508927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8" name="Shape 24"/>
          <p:cNvCxnSpPr>
            <a:cxnSpLocks noChangeShapeType="1"/>
            <a:stCxn id="25" idx="5"/>
            <a:endCxn id="26" idx="0"/>
          </p:cNvCxnSpPr>
          <p:nvPr/>
        </p:nvCxnSpPr>
        <p:spPr bwMode="auto">
          <a:xfrm>
            <a:off x="7844353" y="4356469"/>
            <a:ext cx="627446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9" name="Shape 20"/>
          <p:cNvCxnSpPr>
            <a:cxnSpLocks noChangeShapeType="1"/>
            <a:stCxn id="28" idx="5"/>
            <a:endCxn id="24" idx="1"/>
          </p:cNvCxnSpPr>
          <p:nvPr/>
        </p:nvCxnSpPr>
        <p:spPr bwMode="auto">
          <a:xfrm>
            <a:off x="10242869" y="4477846"/>
            <a:ext cx="526957" cy="912257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0" name="Shape 14"/>
          <p:cNvCxnSpPr>
            <a:cxnSpLocks noChangeShapeType="1"/>
            <a:stCxn id="34" idx="1"/>
            <a:endCxn id="27" idx="2"/>
          </p:cNvCxnSpPr>
          <p:nvPr/>
        </p:nvCxnSpPr>
        <p:spPr bwMode="auto">
          <a:xfrm rot="5400000" flipH="1" flipV="1">
            <a:off x="5952527" y="2885077"/>
            <a:ext cx="3253415" cy="1748972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1" name="Shape 14"/>
          <p:cNvCxnSpPr>
            <a:cxnSpLocks noChangeShapeType="1"/>
            <a:stCxn id="26" idx="0"/>
            <a:endCxn id="27" idx="4"/>
          </p:cNvCxnSpPr>
          <p:nvPr/>
        </p:nvCxnSpPr>
        <p:spPr bwMode="auto">
          <a:xfrm flipV="1">
            <a:off x="8471800" y="2433040"/>
            <a:ext cx="279225" cy="286530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2" name="Shape 14"/>
          <p:cNvCxnSpPr>
            <a:cxnSpLocks noChangeShapeType="1"/>
            <a:stCxn id="24" idx="7"/>
            <a:endCxn id="27" idx="6"/>
          </p:cNvCxnSpPr>
          <p:nvPr/>
        </p:nvCxnSpPr>
        <p:spPr bwMode="auto">
          <a:xfrm rot="16200000" flipV="1">
            <a:off x="8491390" y="2689794"/>
            <a:ext cx="3257246" cy="2143370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2316799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[a] = 1, Parent[a]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[b] = 2, Parent[b]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[d] = 3, Parent[d]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[d] = 4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[e] = 5, Parent[e]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[e] = 6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[b] = 7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[c] = 8, Parent[c]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[f] = 9, Parent[f] = c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[f] = 10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[c] = 11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EndTime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[a] = 12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24" name="Овал 6"/>
          <p:cNvSpPr txBox="1">
            <a:spLocks noChangeArrowheads="1"/>
          </p:cNvSpPr>
          <p:nvPr/>
        </p:nvSpPr>
        <p:spPr>
          <a:xfrm>
            <a:off x="10682454" y="5303767"/>
            <a:ext cx="596616" cy="589534"/>
          </a:xfrm>
          <a:prstGeom prst="ellipse">
            <a:avLst/>
          </a:prstGeom>
          <a:ln w="25400" algn="ctr">
            <a:solidFill>
              <a:schemeClr val="tx2"/>
            </a:solidFill>
            <a:round/>
          </a:ln>
        </p:spPr>
        <p:txBody>
          <a:bodyPr vert="horz" anchor="ctr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>
              <a:lnSpc>
                <a:spcPct val="80000"/>
              </a:lnSpc>
              <a:buFont typeface="Arial" charset="0"/>
              <a:buNone/>
            </a:pPr>
            <a:r>
              <a:rPr lang="en-US" sz="2000" dirty="0"/>
              <a:t>f</a:t>
            </a:r>
            <a:endParaRPr lang="ru-RU" sz="2000" dirty="0"/>
          </a:p>
        </p:txBody>
      </p:sp>
      <p:sp>
        <p:nvSpPr>
          <p:cNvPr id="25" name="Овал 3"/>
          <p:cNvSpPr/>
          <p:nvPr/>
        </p:nvSpPr>
        <p:spPr>
          <a:xfrm>
            <a:off x="7336824" y="3844021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6" name="Овал 4"/>
          <p:cNvSpPr/>
          <p:nvPr/>
        </p:nvSpPr>
        <p:spPr>
          <a:xfrm>
            <a:off x="8174496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7" name="Овал 5"/>
          <p:cNvSpPr/>
          <p:nvPr/>
        </p:nvSpPr>
        <p:spPr>
          <a:xfrm>
            <a:off x="8453721" y="1832669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a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8" name="Овал 6"/>
          <p:cNvSpPr/>
          <p:nvPr/>
        </p:nvSpPr>
        <p:spPr>
          <a:xfrm>
            <a:off x="9735340" y="3965396"/>
            <a:ext cx="594607" cy="600371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c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2" name="Shape 24"/>
          <p:cNvCxnSpPr>
            <a:cxnSpLocks noChangeShapeType="1"/>
            <a:stCxn id="27" idx="3"/>
            <a:endCxn id="25" idx="0"/>
          </p:cNvCxnSpPr>
          <p:nvPr/>
        </p:nvCxnSpPr>
        <p:spPr bwMode="auto">
          <a:xfrm flipH="1">
            <a:off x="7634128" y="2345117"/>
            <a:ext cx="906671" cy="1498902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sp>
        <p:nvSpPr>
          <p:cNvPr id="34" name="Овал 17"/>
          <p:cNvSpPr/>
          <p:nvPr/>
        </p:nvSpPr>
        <p:spPr>
          <a:xfrm>
            <a:off x="6617671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d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6" name="Shape 20"/>
          <p:cNvCxnSpPr>
            <a:cxnSpLocks noChangeShapeType="1"/>
            <a:stCxn id="27" idx="5"/>
            <a:endCxn id="28" idx="0"/>
          </p:cNvCxnSpPr>
          <p:nvPr/>
        </p:nvCxnSpPr>
        <p:spPr bwMode="auto">
          <a:xfrm>
            <a:off x="8961250" y="2345117"/>
            <a:ext cx="1071395" cy="162027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7" name="Shape 24"/>
          <p:cNvCxnSpPr>
            <a:cxnSpLocks noChangeShapeType="1"/>
            <a:stCxn id="25" idx="3"/>
            <a:endCxn id="34" idx="0"/>
          </p:cNvCxnSpPr>
          <p:nvPr/>
        </p:nvCxnSpPr>
        <p:spPr bwMode="auto">
          <a:xfrm flipH="1">
            <a:off x="6914975" y="4356469"/>
            <a:ext cx="508927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8" name="Shape 24"/>
          <p:cNvCxnSpPr>
            <a:cxnSpLocks noChangeShapeType="1"/>
            <a:stCxn id="25" idx="5"/>
            <a:endCxn id="26" idx="0"/>
          </p:cNvCxnSpPr>
          <p:nvPr/>
        </p:nvCxnSpPr>
        <p:spPr bwMode="auto">
          <a:xfrm>
            <a:off x="7844353" y="4356469"/>
            <a:ext cx="627446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9" name="Shape 20"/>
          <p:cNvCxnSpPr>
            <a:cxnSpLocks noChangeShapeType="1"/>
            <a:stCxn id="28" idx="5"/>
            <a:endCxn id="24" idx="1"/>
          </p:cNvCxnSpPr>
          <p:nvPr/>
        </p:nvCxnSpPr>
        <p:spPr bwMode="auto">
          <a:xfrm>
            <a:off x="10242869" y="4477846"/>
            <a:ext cx="526957" cy="912257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0" name="Shape 14"/>
          <p:cNvCxnSpPr>
            <a:cxnSpLocks noChangeShapeType="1"/>
            <a:stCxn id="34" idx="1"/>
            <a:endCxn id="27" idx="2"/>
          </p:cNvCxnSpPr>
          <p:nvPr/>
        </p:nvCxnSpPr>
        <p:spPr bwMode="auto">
          <a:xfrm rot="5400000" flipH="1" flipV="1">
            <a:off x="5952527" y="2885077"/>
            <a:ext cx="3253415" cy="1748972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1" name="Shape 14"/>
          <p:cNvCxnSpPr>
            <a:cxnSpLocks noChangeShapeType="1"/>
            <a:stCxn id="26" idx="0"/>
            <a:endCxn id="27" idx="4"/>
          </p:cNvCxnSpPr>
          <p:nvPr/>
        </p:nvCxnSpPr>
        <p:spPr bwMode="auto">
          <a:xfrm flipV="1">
            <a:off x="8471800" y="2433040"/>
            <a:ext cx="279225" cy="286530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2" name="Shape 14"/>
          <p:cNvCxnSpPr>
            <a:cxnSpLocks noChangeShapeType="1"/>
            <a:stCxn id="24" idx="7"/>
            <a:endCxn id="27" idx="6"/>
          </p:cNvCxnSpPr>
          <p:nvPr/>
        </p:nvCxnSpPr>
        <p:spPr bwMode="auto">
          <a:xfrm rot="16200000" flipV="1">
            <a:off x="8491390" y="2689794"/>
            <a:ext cx="3257246" cy="2143370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29733267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[a] = 1, Parent[a]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[b] = 2, Parent[b]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[d] = 3, Parent[d]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[d] = 4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[e] = 5, Parent[e] = b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[e] = 6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[b] = 7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[c] = 8, Parent[c] = a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StartTime</a:t>
            </a:r>
            <a:r>
              <a:rPr lang="en-US" dirty="0">
                <a:latin typeface="Consolas" panose="020B0609020204030204" pitchFamily="49" charset="0"/>
              </a:rPr>
              <a:t>[f] = 9, Parent[f] = c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[f] = 10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[c] = 11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EndTime</a:t>
            </a:r>
            <a:r>
              <a:rPr lang="en-US" dirty="0">
                <a:latin typeface="Consolas" panose="020B0609020204030204" pitchFamily="49" charset="0"/>
              </a:rPr>
              <a:t>[a] = 12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24" name="Овал 6"/>
          <p:cNvSpPr txBox="1">
            <a:spLocks noChangeArrowheads="1"/>
          </p:cNvSpPr>
          <p:nvPr/>
        </p:nvSpPr>
        <p:spPr>
          <a:xfrm>
            <a:off x="10682454" y="5303767"/>
            <a:ext cx="596616" cy="589534"/>
          </a:xfrm>
          <a:prstGeom prst="ellipse">
            <a:avLst/>
          </a:prstGeom>
          <a:ln w="25400" algn="ctr">
            <a:solidFill>
              <a:schemeClr val="tx2"/>
            </a:solidFill>
            <a:round/>
          </a:ln>
        </p:spPr>
        <p:txBody>
          <a:bodyPr vert="horz" anchor="ctr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>
              <a:lnSpc>
                <a:spcPct val="80000"/>
              </a:lnSpc>
              <a:buFont typeface="Arial" charset="0"/>
              <a:buNone/>
            </a:pPr>
            <a:r>
              <a:rPr lang="en-US" sz="2000" dirty="0"/>
              <a:t>f</a:t>
            </a:r>
            <a:endParaRPr lang="ru-RU" sz="2000" dirty="0"/>
          </a:p>
        </p:txBody>
      </p:sp>
      <p:sp>
        <p:nvSpPr>
          <p:cNvPr id="25" name="Овал 3"/>
          <p:cNvSpPr/>
          <p:nvPr/>
        </p:nvSpPr>
        <p:spPr>
          <a:xfrm>
            <a:off x="7336824" y="3844021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b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6" name="Овал 4"/>
          <p:cNvSpPr/>
          <p:nvPr/>
        </p:nvSpPr>
        <p:spPr>
          <a:xfrm>
            <a:off x="8174496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7" name="Овал 5"/>
          <p:cNvSpPr/>
          <p:nvPr/>
        </p:nvSpPr>
        <p:spPr>
          <a:xfrm>
            <a:off x="8453721" y="1832669"/>
            <a:ext cx="594607" cy="6003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a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8" name="Овал 6"/>
          <p:cNvSpPr/>
          <p:nvPr/>
        </p:nvSpPr>
        <p:spPr>
          <a:xfrm>
            <a:off x="9735340" y="3965396"/>
            <a:ext cx="594607" cy="600371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c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2" name="Shape 24"/>
          <p:cNvCxnSpPr>
            <a:cxnSpLocks noChangeShapeType="1"/>
            <a:stCxn id="27" idx="3"/>
            <a:endCxn id="25" idx="0"/>
          </p:cNvCxnSpPr>
          <p:nvPr/>
        </p:nvCxnSpPr>
        <p:spPr bwMode="auto">
          <a:xfrm flipH="1">
            <a:off x="7634128" y="2345117"/>
            <a:ext cx="906671" cy="1498902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sp>
        <p:nvSpPr>
          <p:cNvPr id="34" name="Овал 17"/>
          <p:cNvSpPr/>
          <p:nvPr/>
        </p:nvSpPr>
        <p:spPr>
          <a:xfrm>
            <a:off x="6617671" y="5298348"/>
            <a:ext cx="594607" cy="6003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tx1"/>
                </a:solidFill>
              </a:rPr>
              <a:t>d</a:t>
            </a:r>
            <a:endParaRPr lang="ru-RU" sz="2000" dirty="0">
              <a:solidFill>
                <a:schemeClr val="tx1"/>
              </a:solidFill>
            </a:endParaRPr>
          </a:p>
        </p:txBody>
      </p:sp>
      <p:cxnSp>
        <p:nvCxnSpPr>
          <p:cNvPr id="36" name="Shape 20"/>
          <p:cNvCxnSpPr>
            <a:cxnSpLocks noChangeShapeType="1"/>
            <a:stCxn id="27" idx="5"/>
            <a:endCxn id="28" idx="0"/>
          </p:cNvCxnSpPr>
          <p:nvPr/>
        </p:nvCxnSpPr>
        <p:spPr bwMode="auto">
          <a:xfrm>
            <a:off x="8961250" y="2345117"/>
            <a:ext cx="1071395" cy="162027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7" name="Shape 24"/>
          <p:cNvCxnSpPr>
            <a:cxnSpLocks noChangeShapeType="1"/>
            <a:stCxn id="25" idx="3"/>
            <a:endCxn id="34" idx="0"/>
          </p:cNvCxnSpPr>
          <p:nvPr/>
        </p:nvCxnSpPr>
        <p:spPr bwMode="auto">
          <a:xfrm flipH="1">
            <a:off x="6914975" y="4356469"/>
            <a:ext cx="508927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8" name="Shape 24"/>
          <p:cNvCxnSpPr>
            <a:cxnSpLocks noChangeShapeType="1"/>
            <a:stCxn id="25" idx="5"/>
            <a:endCxn id="26" idx="0"/>
          </p:cNvCxnSpPr>
          <p:nvPr/>
        </p:nvCxnSpPr>
        <p:spPr bwMode="auto">
          <a:xfrm>
            <a:off x="7844353" y="4356469"/>
            <a:ext cx="627446" cy="941879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39" name="Shape 20"/>
          <p:cNvCxnSpPr>
            <a:cxnSpLocks noChangeShapeType="1"/>
            <a:stCxn id="28" idx="5"/>
            <a:endCxn id="24" idx="1"/>
          </p:cNvCxnSpPr>
          <p:nvPr/>
        </p:nvCxnSpPr>
        <p:spPr bwMode="auto">
          <a:xfrm>
            <a:off x="10242869" y="4477846"/>
            <a:ext cx="526957" cy="912257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0" name="Shape 14"/>
          <p:cNvCxnSpPr>
            <a:cxnSpLocks noChangeShapeType="1"/>
            <a:stCxn id="34" idx="1"/>
            <a:endCxn id="27" idx="2"/>
          </p:cNvCxnSpPr>
          <p:nvPr/>
        </p:nvCxnSpPr>
        <p:spPr bwMode="auto">
          <a:xfrm rot="5400000" flipH="1" flipV="1">
            <a:off x="5952527" y="2885077"/>
            <a:ext cx="3253415" cy="1748972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1" name="Shape 14"/>
          <p:cNvCxnSpPr>
            <a:cxnSpLocks noChangeShapeType="1"/>
            <a:stCxn id="26" idx="0"/>
            <a:endCxn id="27" idx="4"/>
          </p:cNvCxnSpPr>
          <p:nvPr/>
        </p:nvCxnSpPr>
        <p:spPr bwMode="auto">
          <a:xfrm flipV="1">
            <a:off x="8471800" y="2433040"/>
            <a:ext cx="279225" cy="2865308"/>
          </a:xfrm>
          <a:prstGeom prst="straightConnector1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  <p:cxnSp>
        <p:nvCxnSpPr>
          <p:cNvPr id="42" name="Shape 14"/>
          <p:cNvCxnSpPr>
            <a:cxnSpLocks noChangeShapeType="1"/>
            <a:stCxn id="24" idx="7"/>
            <a:endCxn id="27" idx="6"/>
          </p:cNvCxnSpPr>
          <p:nvPr/>
        </p:nvCxnSpPr>
        <p:spPr bwMode="auto">
          <a:xfrm rot="16200000" flipV="1">
            <a:off x="8491390" y="2689794"/>
            <a:ext cx="3257246" cy="2143370"/>
          </a:xfrm>
          <a:prstGeom prst="curvedConnector2">
            <a:avLst/>
          </a:prstGeom>
          <a:noFill/>
          <a:ln w="38100" algn="ctr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4503752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Подграф предшествования</a:t>
            </a:r>
          </a:p>
        </p:txBody>
      </p:sp>
      <p:sp>
        <p:nvSpPr>
          <p:cNvPr id="24577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Подграф предшествования графа G – это граф G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dfs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= (V,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)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где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структура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dfsData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получена обходом в глубину графа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</a:t>
            </a: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		E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= { (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dfsData.Parent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[v], v) |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dfsData.Parent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 ≠ v }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itchFamily="18" charset="2"/>
              </a:rPr>
              <a:t>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является связным, то G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называется каркасом (остовным деревом) графа G</a:t>
            </a: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endParaRPr lang="ru-RU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Число каркасов графа равно числу различных обходов графа в глубину</a:t>
            </a:r>
          </a:p>
          <a:p>
            <a:pPr marL="811530" lvl="1">
              <a:lnSpc>
                <a:spcPct val="90000"/>
              </a:lnSpc>
            </a:pP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Обычно намного больше одного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Подграф предшествования</a:t>
            </a:r>
          </a:p>
        </p:txBody>
      </p:sp>
      <p:sp>
        <p:nvSpPr>
          <p:cNvPr id="24577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Подграф предшествования графа G – это граф G</a:t>
            </a:r>
            <a:r>
              <a:rPr lang="en-US" sz="2800" baseline="-25000" dirty="0" err="1">
                <a:latin typeface="Calibri" pitchFamily="34" charset="0"/>
                <a:cs typeface="Calibri" pitchFamily="34" charset="0"/>
              </a:rPr>
              <a:t>dfs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= (V,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E</a:t>
            </a:r>
            <a:r>
              <a:rPr lang="en-US" sz="2800" baseline="-25000" dirty="0" err="1"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)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, где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структура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dfsData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получена обходом в глубину графа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G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и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		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= { (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dfsData.Parent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[v], v) |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dfsData.Parent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 ≠ v }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itchFamily="18" charset="2"/>
              </a:rPr>
              <a:t>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является связным, то G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называется каркасом (остовным деревом) графа G</a:t>
            </a: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endParaRPr lang="ru-RU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Число каркасов графа равно числу различных обходов графа в глубину</a:t>
            </a:r>
          </a:p>
          <a:p>
            <a:pPr marL="811530" lvl="1">
              <a:lnSpc>
                <a:spcPct val="90000"/>
              </a:lnSpc>
            </a:pP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Обычно намного больше одного</a:t>
            </a:r>
          </a:p>
        </p:txBody>
      </p:sp>
    </p:spTree>
    <p:extLst>
      <p:ext uri="{BB962C8B-B14F-4D97-AF65-F5344CB8AC3E}">
        <p14:creationId xmlns:p14="http://schemas.microsoft.com/office/powerpoint/2010/main" val="8447629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Подграф предшествования</a:t>
            </a:r>
          </a:p>
        </p:txBody>
      </p:sp>
      <p:sp>
        <p:nvSpPr>
          <p:cNvPr id="24577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Подграф предшествования графа G – это граф G</a:t>
            </a:r>
            <a:r>
              <a:rPr lang="en-US" sz="2800" baseline="-25000" dirty="0" err="1">
                <a:latin typeface="Calibri" pitchFamily="34" charset="0"/>
                <a:cs typeface="Calibri" pitchFamily="34" charset="0"/>
              </a:rPr>
              <a:t>dfs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= (V,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E</a:t>
            </a:r>
            <a:r>
              <a:rPr lang="en-US" sz="2800" baseline="-25000" dirty="0" err="1"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)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, где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структура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dfsData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получена обходом в глубину графа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G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и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		E</a:t>
            </a:r>
            <a:r>
              <a:rPr lang="en-US" sz="2800" baseline="-25000" dirty="0" err="1"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baseline="-25000" dirty="0">
                <a:latin typeface="Calibri" pitchFamily="34" charset="0"/>
                <a:cs typeface="Calibri" pitchFamily="34" charset="0"/>
              </a:rPr>
              <a:t> 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= { (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dfsData.Parent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[v], v) |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dfsData.Parent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 ≠ v }</a:t>
            </a:r>
            <a:r>
              <a:rPr lang="ru-RU" sz="2800" dirty="0">
                <a:latin typeface="Calibri" pitchFamily="34" charset="0"/>
                <a:cs typeface="Calibri" pitchFamily="34" charset="0"/>
                <a:sym typeface="Symbol" pitchFamily="18" charset="2"/>
              </a:rPr>
              <a:t>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является связным, то G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называется каркасом (остовным деревом) графа G</a:t>
            </a: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endParaRPr lang="ru-RU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Число каркасов графа равно числу различных обходов графа в глубину</a:t>
            </a:r>
          </a:p>
          <a:p>
            <a:pPr marL="811530" lvl="1">
              <a:lnSpc>
                <a:spcPct val="90000"/>
              </a:lnSpc>
            </a:pP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Обычно намного больше одного</a:t>
            </a:r>
          </a:p>
        </p:txBody>
      </p:sp>
    </p:spTree>
    <p:extLst>
      <p:ext uri="{BB962C8B-B14F-4D97-AF65-F5344CB8AC3E}">
        <p14:creationId xmlns:p14="http://schemas.microsoft.com/office/powerpoint/2010/main" val="31512061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Подграф предшествования</a:t>
            </a:r>
          </a:p>
        </p:txBody>
      </p:sp>
      <p:sp>
        <p:nvSpPr>
          <p:cNvPr id="24577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Подграф предшествования графа G – это граф G</a:t>
            </a:r>
            <a:r>
              <a:rPr lang="en-US" sz="2800" baseline="-25000" dirty="0" err="1">
                <a:latin typeface="Calibri" pitchFamily="34" charset="0"/>
                <a:cs typeface="Calibri" pitchFamily="34" charset="0"/>
              </a:rPr>
              <a:t>dfs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= (V,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E</a:t>
            </a:r>
            <a:r>
              <a:rPr lang="en-US" sz="2800" baseline="-25000" dirty="0" err="1"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)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, где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структура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dfsData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получена обходом в глубину графа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G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и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		E</a:t>
            </a:r>
            <a:r>
              <a:rPr lang="en-US" sz="2800" baseline="-25000" dirty="0" err="1"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baseline="-25000" dirty="0">
                <a:latin typeface="Calibri" pitchFamily="34" charset="0"/>
                <a:cs typeface="Calibri" pitchFamily="34" charset="0"/>
              </a:rPr>
              <a:t> 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= { (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dfsData.Parent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[v], v) |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dfsData.Parent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 ≠ v }</a:t>
            </a:r>
            <a:r>
              <a:rPr lang="ru-RU" sz="2800" dirty="0">
                <a:latin typeface="Calibri" pitchFamily="34" charset="0"/>
                <a:cs typeface="Calibri" pitchFamily="34" charset="0"/>
                <a:sym typeface="Symbol" pitchFamily="18" charset="2"/>
              </a:rPr>
              <a:t>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G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является связным, то G</a:t>
            </a:r>
            <a:r>
              <a:rPr lang="en-US" sz="2800" baseline="-25000" dirty="0" err="1"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называется каркасом (остовным деревом) графа G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Число каркасов графа равно числу различных обходов графа в глубину</a:t>
            </a:r>
          </a:p>
          <a:p>
            <a:pPr marL="811530" lvl="1">
              <a:lnSpc>
                <a:spcPct val="90000"/>
              </a:lnSpc>
            </a:pP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Обычно намного больше одного</a:t>
            </a:r>
          </a:p>
        </p:txBody>
      </p:sp>
    </p:spTree>
    <p:extLst>
      <p:ext uri="{BB962C8B-B14F-4D97-AF65-F5344CB8AC3E}">
        <p14:creationId xmlns:p14="http://schemas.microsoft.com/office/powerpoint/2010/main" val="40328172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Подграф предшествования</a:t>
            </a:r>
          </a:p>
        </p:txBody>
      </p:sp>
      <p:sp>
        <p:nvSpPr>
          <p:cNvPr id="24577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Подграф предшествования графа G – это граф G</a:t>
            </a:r>
            <a:r>
              <a:rPr lang="en-US" sz="2800" baseline="-25000" dirty="0" err="1">
                <a:latin typeface="Calibri" pitchFamily="34" charset="0"/>
                <a:cs typeface="Calibri" pitchFamily="34" charset="0"/>
              </a:rPr>
              <a:t>dfs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= (V,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E</a:t>
            </a:r>
            <a:r>
              <a:rPr lang="en-US" sz="2800" baseline="-25000" dirty="0" err="1"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)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, где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структура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dfsData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получена обходом в глубину графа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G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и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		E</a:t>
            </a:r>
            <a:r>
              <a:rPr lang="en-US" sz="2800" baseline="-25000" dirty="0" err="1"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baseline="-25000" dirty="0">
                <a:latin typeface="Calibri" pitchFamily="34" charset="0"/>
                <a:cs typeface="Calibri" pitchFamily="34" charset="0"/>
              </a:rPr>
              <a:t> 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= { (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dfsData.Parent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[v], v) |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dfsData.Parent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 ≠ v }</a:t>
            </a:r>
            <a:r>
              <a:rPr lang="ru-RU" sz="2800" dirty="0">
                <a:latin typeface="Calibri" pitchFamily="34" charset="0"/>
                <a:cs typeface="Calibri" pitchFamily="34" charset="0"/>
                <a:sym typeface="Symbol" pitchFamily="18" charset="2"/>
              </a:rPr>
              <a:t>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G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является связным, то G</a:t>
            </a:r>
            <a:r>
              <a:rPr lang="en-US" sz="2800" baseline="-25000" dirty="0" err="1"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называется каркасом (остовным деревом) графа G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Число каркасов графа равно числу различных обходов графа в глубину</a:t>
            </a:r>
          </a:p>
          <a:p>
            <a:pPr marL="811530" lvl="1">
              <a:lnSpc>
                <a:spcPct val="90000"/>
              </a:lnSpc>
            </a:pP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Обычно намного больше одного</a:t>
            </a:r>
          </a:p>
        </p:txBody>
      </p:sp>
    </p:spTree>
    <p:extLst>
      <p:ext uri="{BB962C8B-B14F-4D97-AF65-F5344CB8AC3E}">
        <p14:creationId xmlns:p14="http://schemas.microsoft.com/office/powerpoint/2010/main" val="3035750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Подграф предшествования</a:t>
            </a:r>
          </a:p>
        </p:txBody>
      </p:sp>
      <p:sp>
        <p:nvSpPr>
          <p:cNvPr id="24577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Подграф предшествования графа G – это граф G</a:t>
            </a:r>
            <a:r>
              <a:rPr lang="en-US" sz="2800" baseline="-25000" dirty="0" err="1">
                <a:latin typeface="Calibri" pitchFamily="34" charset="0"/>
                <a:cs typeface="Calibri" pitchFamily="34" charset="0"/>
              </a:rPr>
              <a:t>dfs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= (V,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E</a:t>
            </a:r>
            <a:r>
              <a:rPr lang="en-US" sz="2800" baseline="-25000" dirty="0" err="1"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)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, где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структура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dfsData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получена обходом в глубину графа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G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и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		E</a:t>
            </a:r>
            <a:r>
              <a:rPr lang="en-US" sz="2800" baseline="-25000" dirty="0" err="1"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baseline="-25000" dirty="0">
                <a:latin typeface="Calibri" pitchFamily="34" charset="0"/>
                <a:cs typeface="Calibri" pitchFamily="34" charset="0"/>
              </a:rPr>
              <a:t> 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= { (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dfsData.Parent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[v], v) |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dfsData.Parent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 ≠ v }</a:t>
            </a:r>
            <a:r>
              <a:rPr lang="ru-RU" sz="2800" dirty="0">
                <a:latin typeface="Calibri" pitchFamily="34" charset="0"/>
                <a:cs typeface="Calibri" pitchFamily="34" charset="0"/>
                <a:sym typeface="Symbol" pitchFamily="18" charset="2"/>
              </a:rPr>
              <a:t>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G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является связным, то G</a:t>
            </a:r>
            <a:r>
              <a:rPr lang="en-US" sz="2800" baseline="-25000" dirty="0" err="1">
                <a:latin typeface="Calibri" pitchFamily="34" charset="0"/>
                <a:cs typeface="Calibri" pitchFamily="34" charset="0"/>
              </a:rPr>
              <a:t>dfs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называется каркасом (остовным деревом) графа G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 marL="411480">
              <a:lnSpc>
                <a:spcPct val="9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Число каркасов графа равно числу различных обходов графа в глубину</a:t>
            </a:r>
          </a:p>
          <a:p>
            <a:pPr marL="811530" lvl="1">
              <a:lnSpc>
                <a:spcPct val="90000"/>
              </a:lnSpc>
            </a:pPr>
            <a:r>
              <a:rPr lang="ru-RU" sz="2400" dirty="0">
                <a:latin typeface="Calibri" pitchFamily="34" charset="0"/>
                <a:cs typeface="Calibri" pitchFamily="34" charset="0"/>
              </a:rPr>
              <a:t>Обычно намного больше одного</a:t>
            </a:r>
          </a:p>
        </p:txBody>
      </p:sp>
    </p:spTree>
    <p:extLst>
      <p:ext uri="{BB962C8B-B14F-4D97-AF65-F5344CB8AC3E}">
        <p14:creationId xmlns:p14="http://schemas.microsoft.com/office/powerpoint/2010/main" val="11792872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11" name="Группа 10"/>
          <p:cNvGrpSpPr/>
          <p:nvPr/>
        </p:nvGrpSpPr>
        <p:grpSpPr>
          <a:xfrm>
            <a:off x="6622255" y="2125336"/>
            <a:ext cx="4535489" cy="3475691"/>
            <a:chOff x="5953000" y="2545598"/>
            <a:chExt cx="4535489" cy="3475691"/>
          </a:xfrm>
        </p:grpSpPr>
        <p:sp>
          <p:nvSpPr>
            <p:cNvPr id="4" name="Овал 3"/>
            <p:cNvSpPr/>
            <p:nvPr/>
          </p:nvSpPr>
          <p:spPr>
            <a:xfrm>
              <a:off x="6745163" y="3854352"/>
              <a:ext cx="469900" cy="43973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5" name="Овал 4"/>
            <p:cNvSpPr/>
            <p:nvPr/>
          </p:nvSpPr>
          <p:spPr>
            <a:xfrm>
              <a:off x="5953000" y="5581552"/>
              <a:ext cx="469900" cy="43973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6745163" y="2630388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7" name="Овал 6"/>
            <p:cNvSpPr/>
            <p:nvPr/>
          </p:nvSpPr>
          <p:spPr>
            <a:xfrm>
              <a:off x="7392863" y="4862413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32773" name="TextBox 7"/>
            <p:cNvSpPr txBox="1">
              <a:spLocks noChangeArrowheads="1"/>
            </p:cNvSpPr>
            <p:nvPr/>
          </p:nvSpPr>
          <p:spPr bwMode="auto">
            <a:xfrm>
              <a:off x="6745164" y="3854352"/>
              <a:ext cx="41433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Z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4" name="TextBox 8"/>
            <p:cNvSpPr txBox="1">
              <a:spLocks noChangeArrowheads="1"/>
            </p:cNvSpPr>
            <p:nvPr/>
          </p:nvSpPr>
          <p:spPr bwMode="auto">
            <a:xfrm>
              <a:off x="7392864" y="4862414"/>
              <a:ext cx="3651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w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5" name="TextBox 9"/>
            <p:cNvSpPr txBox="1">
              <a:spLocks noChangeArrowheads="1"/>
            </p:cNvSpPr>
            <p:nvPr/>
          </p:nvSpPr>
          <p:spPr bwMode="auto">
            <a:xfrm>
              <a:off x="6816601" y="2630389"/>
              <a:ext cx="3016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S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6" name="TextBox 16"/>
            <p:cNvSpPr txBox="1">
              <a:spLocks noChangeArrowheads="1"/>
            </p:cNvSpPr>
            <p:nvPr/>
          </p:nvSpPr>
          <p:spPr bwMode="auto">
            <a:xfrm>
              <a:off x="5953001" y="5581552"/>
              <a:ext cx="3587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 x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8" name="Овал 17"/>
            <p:cNvSpPr/>
            <p:nvPr/>
          </p:nvSpPr>
          <p:spPr>
            <a:xfrm>
              <a:off x="5953000" y="4789388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32778" name="TextBox 18"/>
            <p:cNvSpPr txBox="1">
              <a:spLocks noChangeArrowheads="1"/>
            </p:cNvSpPr>
            <p:nvPr/>
          </p:nvSpPr>
          <p:spPr bwMode="auto">
            <a:xfrm>
              <a:off x="6024438" y="4789389"/>
              <a:ext cx="2984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y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32779" name="Shape 20"/>
            <p:cNvCxnSpPr>
              <a:cxnSpLocks noChangeShapeType="1"/>
            </p:cNvCxnSpPr>
            <p:nvPr/>
          </p:nvCxnSpPr>
          <p:spPr bwMode="auto">
            <a:xfrm>
              <a:off x="6168901" y="5221189"/>
              <a:ext cx="3175" cy="358775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0" name="Shape 20"/>
            <p:cNvCxnSpPr>
              <a:cxnSpLocks noChangeShapeType="1"/>
              <a:stCxn id="32775" idx="2"/>
              <a:endCxn id="32773" idx="0"/>
            </p:cNvCxnSpPr>
            <p:nvPr/>
          </p:nvCxnSpPr>
          <p:spPr bwMode="auto">
            <a:xfrm flipH="1">
              <a:off x="6953125" y="3027263"/>
              <a:ext cx="14288" cy="827088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1" name="Shape 20"/>
            <p:cNvCxnSpPr>
              <a:cxnSpLocks noChangeShapeType="1"/>
              <a:stCxn id="32773" idx="2"/>
              <a:endCxn id="32774" idx="0"/>
            </p:cNvCxnSpPr>
            <p:nvPr/>
          </p:nvCxnSpPr>
          <p:spPr bwMode="auto">
            <a:xfrm>
              <a:off x="6953125" y="4251227"/>
              <a:ext cx="622300" cy="611187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2" name="Shape 20"/>
            <p:cNvCxnSpPr>
              <a:cxnSpLocks noChangeShapeType="1"/>
              <a:stCxn id="32773" idx="2"/>
              <a:endCxn id="18" idx="7"/>
            </p:cNvCxnSpPr>
            <p:nvPr/>
          </p:nvCxnSpPr>
          <p:spPr bwMode="auto">
            <a:xfrm flipH="1">
              <a:off x="6354639" y="4251226"/>
              <a:ext cx="598487" cy="590550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sp>
          <p:nvSpPr>
            <p:cNvPr id="3" name="Овал 4"/>
            <p:cNvSpPr/>
            <p:nvPr/>
          </p:nvSpPr>
          <p:spPr>
            <a:xfrm>
              <a:off x="10128126" y="3709889"/>
              <a:ext cx="360363" cy="36036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>
                  <a:solidFill>
                    <a:srgbClr val="FFFFFF"/>
                  </a:solidFill>
                </a:rPr>
                <a:t>u</a:t>
              </a: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8" name="Овал 4"/>
            <p:cNvSpPr/>
            <p:nvPr/>
          </p:nvSpPr>
          <p:spPr>
            <a:xfrm>
              <a:off x="8761288" y="3709889"/>
              <a:ext cx="360362" cy="35877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cxnSp>
          <p:nvCxnSpPr>
            <p:cNvPr id="32786" name="Shape 20"/>
            <p:cNvCxnSpPr>
              <a:cxnSpLocks noChangeShapeType="1"/>
              <a:endCxn id="8" idx="0"/>
            </p:cNvCxnSpPr>
            <p:nvPr/>
          </p:nvCxnSpPr>
          <p:spPr bwMode="auto">
            <a:xfrm flipH="1">
              <a:off x="8942263" y="2878038"/>
              <a:ext cx="519112" cy="819150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7" name="Shape 20"/>
            <p:cNvCxnSpPr>
              <a:cxnSpLocks noChangeShapeType="1"/>
              <a:endCxn id="3" idx="1"/>
            </p:cNvCxnSpPr>
            <p:nvPr/>
          </p:nvCxnSpPr>
          <p:spPr bwMode="auto">
            <a:xfrm>
              <a:off x="9716963" y="2878038"/>
              <a:ext cx="463550" cy="871538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8" name="Shape 20"/>
            <p:cNvCxnSpPr>
              <a:cxnSpLocks noChangeShapeType="1"/>
              <a:stCxn id="3" idx="2"/>
              <a:endCxn id="8" idx="6"/>
            </p:cNvCxnSpPr>
            <p:nvPr/>
          </p:nvCxnSpPr>
          <p:spPr bwMode="auto">
            <a:xfrm flipH="1" flipV="1">
              <a:off x="9134351" y="3889277"/>
              <a:ext cx="981075" cy="1587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32789" name="Text Box 22"/>
            <p:cNvSpPr txBox="1">
              <a:spLocks noChangeArrowheads="1"/>
            </p:cNvSpPr>
            <p:nvPr/>
          </p:nvSpPr>
          <p:spPr bwMode="auto">
            <a:xfrm>
              <a:off x="8885113" y="3657501"/>
              <a:ext cx="2476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 </a:t>
              </a:r>
              <a:endParaRPr lang="ru-RU"/>
            </a:p>
          </p:txBody>
        </p:sp>
        <p:sp>
          <p:nvSpPr>
            <p:cNvPr id="32792" name="Text Box 25"/>
            <p:cNvSpPr txBox="1">
              <a:spLocks noChangeArrowheads="1"/>
            </p:cNvSpPr>
            <p:nvPr/>
          </p:nvSpPr>
          <p:spPr bwMode="auto">
            <a:xfrm>
              <a:off x="8761288" y="3709889"/>
              <a:ext cx="2984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v</a:t>
              </a:r>
              <a:endParaRPr lang="ru-RU"/>
            </a:p>
          </p:txBody>
        </p:sp>
        <p:cxnSp>
          <p:nvCxnSpPr>
            <p:cNvPr id="32793" name="Shape 20"/>
            <p:cNvCxnSpPr>
              <a:cxnSpLocks noChangeShapeType="1"/>
              <a:stCxn id="32792" idx="1"/>
              <a:endCxn id="7" idx="7"/>
            </p:cNvCxnSpPr>
            <p:nvPr/>
          </p:nvCxnSpPr>
          <p:spPr bwMode="auto">
            <a:xfrm flipH="1">
              <a:off x="7794500" y="3894039"/>
              <a:ext cx="966788" cy="1020763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2794" name="Shape 20"/>
            <p:cNvCxnSpPr>
              <a:cxnSpLocks noChangeShapeType="1"/>
              <a:stCxn id="32792" idx="0"/>
              <a:endCxn id="6" idx="6"/>
            </p:cNvCxnSpPr>
            <p:nvPr/>
          </p:nvCxnSpPr>
          <p:spPr bwMode="auto">
            <a:xfrm flipH="1" flipV="1">
              <a:off x="7227763" y="2851052"/>
              <a:ext cx="1682750" cy="858837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2795" name="Shape 20"/>
            <p:cNvCxnSpPr>
              <a:cxnSpLocks noChangeShapeType="1"/>
              <a:endCxn id="32774" idx="0"/>
            </p:cNvCxnSpPr>
            <p:nvPr/>
          </p:nvCxnSpPr>
          <p:spPr bwMode="auto">
            <a:xfrm>
              <a:off x="7191251" y="2989163"/>
              <a:ext cx="384175" cy="1873250"/>
            </a:xfrm>
            <a:prstGeom prst="straightConnector1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 type="arrow" w="med" len="med"/>
            </a:ln>
          </p:spPr>
        </p:cxnSp>
        <p:cxnSp>
          <p:nvCxnSpPr>
            <p:cNvPr id="32796" name="Shape 20"/>
            <p:cNvCxnSpPr>
              <a:cxnSpLocks noChangeShapeType="1"/>
            </p:cNvCxnSpPr>
            <p:nvPr/>
          </p:nvCxnSpPr>
          <p:spPr bwMode="auto">
            <a:xfrm rot="5400000" flipH="1">
              <a:off x="9585200" y="2935188"/>
              <a:ext cx="971550" cy="577850"/>
            </a:xfrm>
            <a:prstGeom prst="curvedConnector2">
              <a:avLst/>
            </a:prstGeom>
            <a:noFill/>
            <a:ln w="190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cxnSp>
          <p:nvCxnSpPr>
            <p:cNvPr id="32797" name="Shape 20"/>
            <p:cNvCxnSpPr>
              <a:cxnSpLocks noChangeShapeType="1"/>
              <a:stCxn id="32776" idx="1"/>
              <a:endCxn id="32773" idx="1"/>
            </p:cNvCxnSpPr>
            <p:nvPr/>
          </p:nvCxnSpPr>
          <p:spPr bwMode="auto">
            <a:xfrm rot="10800000" flipH="1">
              <a:off x="5953001" y="4052788"/>
              <a:ext cx="792163" cy="1727200"/>
            </a:xfrm>
            <a:prstGeom prst="curvedConnector3">
              <a:avLst>
                <a:gd name="adj1" fmla="val -28856"/>
              </a:avLst>
            </a:prstGeom>
            <a:noFill/>
            <a:ln w="19050" algn="ctr">
              <a:solidFill>
                <a:schemeClr val="accent1"/>
              </a:solidFill>
              <a:round/>
              <a:headEnd/>
              <a:tailEnd type="arrow" w="med" len="med"/>
            </a:ln>
          </p:spPr>
        </p:cxnSp>
        <p:sp>
          <p:nvSpPr>
            <p:cNvPr id="32" name="Овал 4"/>
            <p:cNvSpPr/>
            <p:nvPr/>
          </p:nvSpPr>
          <p:spPr>
            <a:xfrm>
              <a:off x="9421688" y="2545598"/>
              <a:ext cx="360363" cy="36036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rgbClr val="FFFFFF"/>
                  </a:solidFill>
                </a:rPr>
                <a:t>T</a:t>
              </a:r>
              <a:endParaRPr lang="ru-RU" sz="2000" dirty="0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Классификация дуг графа при обходе в глубину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1731F5"/>
                </a:solidFill>
                <a:latin typeface="Calibri" pitchFamily="34" charset="0"/>
              </a:rPr>
              <a:t>Древесные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входят в граф предшествования</a:t>
            </a:r>
          </a:p>
          <a:p>
            <a:r>
              <a:rPr lang="ru-RU" sz="2400" dirty="0">
                <a:solidFill>
                  <a:schemeClr val="accent2"/>
                </a:solidFill>
                <a:latin typeface="Calibri" pitchFamily="34" charset="0"/>
              </a:rPr>
              <a:t>Прямые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соединяют вершину с её потомком, но не входят в граф предшествования</a:t>
            </a:r>
          </a:p>
          <a:p>
            <a:r>
              <a:rPr lang="ru-RU" sz="2400" dirty="0">
                <a:solidFill>
                  <a:schemeClr val="accent1"/>
                </a:solidFill>
                <a:latin typeface="Calibri" pitchFamily="34" charset="0"/>
              </a:rPr>
              <a:t>Обратные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соединяют вершину с её предком в графе предшествования</a:t>
            </a:r>
          </a:p>
          <a:p>
            <a:r>
              <a:rPr lang="ru-RU" sz="2400" dirty="0">
                <a:latin typeface="Calibri" pitchFamily="34" charset="0"/>
              </a:rPr>
              <a:t>Перекрёстные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все остальные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9376" y="1430716"/>
            <a:ext cx="11305256" cy="46954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11" name="Группа 10"/>
          <p:cNvGrpSpPr/>
          <p:nvPr/>
        </p:nvGrpSpPr>
        <p:grpSpPr>
          <a:xfrm>
            <a:off x="6622255" y="2125336"/>
            <a:ext cx="4535489" cy="3475691"/>
            <a:chOff x="5953000" y="2545598"/>
            <a:chExt cx="4535489" cy="3475691"/>
          </a:xfrm>
        </p:grpSpPr>
        <p:sp>
          <p:nvSpPr>
            <p:cNvPr id="4" name="Овал 3"/>
            <p:cNvSpPr/>
            <p:nvPr/>
          </p:nvSpPr>
          <p:spPr>
            <a:xfrm>
              <a:off x="6745163" y="3854352"/>
              <a:ext cx="469900" cy="43973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5" name="Овал 4"/>
            <p:cNvSpPr/>
            <p:nvPr/>
          </p:nvSpPr>
          <p:spPr>
            <a:xfrm>
              <a:off x="5953000" y="5581552"/>
              <a:ext cx="469900" cy="43973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6745163" y="2630388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7" name="Овал 6"/>
            <p:cNvSpPr/>
            <p:nvPr/>
          </p:nvSpPr>
          <p:spPr>
            <a:xfrm>
              <a:off x="7392863" y="4862413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32773" name="TextBox 7"/>
            <p:cNvSpPr txBox="1">
              <a:spLocks noChangeArrowheads="1"/>
            </p:cNvSpPr>
            <p:nvPr/>
          </p:nvSpPr>
          <p:spPr bwMode="auto">
            <a:xfrm>
              <a:off x="6745164" y="3854352"/>
              <a:ext cx="41433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Z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4" name="TextBox 8"/>
            <p:cNvSpPr txBox="1">
              <a:spLocks noChangeArrowheads="1"/>
            </p:cNvSpPr>
            <p:nvPr/>
          </p:nvSpPr>
          <p:spPr bwMode="auto">
            <a:xfrm>
              <a:off x="7392864" y="4862414"/>
              <a:ext cx="3651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w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5" name="TextBox 9"/>
            <p:cNvSpPr txBox="1">
              <a:spLocks noChangeArrowheads="1"/>
            </p:cNvSpPr>
            <p:nvPr/>
          </p:nvSpPr>
          <p:spPr bwMode="auto">
            <a:xfrm>
              <a:off x="6816601" y="2630389"/>
              <a:ext cx="3016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S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6" name="TextBox 16"/>
            <p:cNvSpPr txBox="1">
              <a:spLocks noChangeArrowheads="1"/>
            </p:cNvSpPr>
            <p:nvPr/>
          </p:nvSpPr>
          <p:spPr bwMode="auto">
            <a:xfrm>
              <a:off x="5953001" y="5581552"/>
              <a:ext cx="3587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 x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8" name="Овал 17"/>
            <p:cNvSpPr/>
            <p:nvPr/>
          </p:nvSpPr>
          <p:spPr>
            <a:xfrm>
              <a:off x="5953000" y="4789388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32778" name="TextBox 18"/>
            <p:cNvSpPr txBox="1">
              <a:spLocks noChangeArrowheads="1"/>
            </p:cNvSpPr>
            <p:nvPr/>
          </p:nvSpPr>
          <p:spPr bwMode="auto">
            <a:xfrm>
              <a:off x="6024438" y="4789389"/>
              <a:ext cx="2984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y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32779" name="Shape 20"/>
            <p:cNvCxnSpPr>
              <a:cxnSpLocks noChangeShapeType="1"/>
            </p:cNvCxnSpPr>
            <p:nvPr/>
          </p:nvCxnSpPr>
          <p:spPr bwMode="auto">
            <a:xfrm>
              <a:off x="6168901" y="5221189"/>
              <a:ext cx="3175" cy="358775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0" name="Shape 20"/>
            <p:cNvCxnSpPr>
              <a:cxnSpLocks noChangeShapeType="1"/>
              <a:stCxn id="32775" idx="2"/>
              <a:endCxn id="32773" idx="0"/>
            </p:cNvCxnSpPr>
            <p:nvPr/>
          </p:nvCxnSpPr>
          <p:spPr bwMode="auto">
            <a:xfrm flipH="1">
              <a:off x="6953125" y="3027263"/>
              <a:ext cx="14288" cy="827088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1" name="Shape 20"/>
            <p:cNvCxnSpPr>
              <a:cxnSpLocks noChangeShapeType="1"/>
              <a:stCxn id="32773" idx="2"/>
              <a:endCxn id="32774" idx="0"/>
            </p:cNvCxnSpPr>
            <p:nvPr/>
          </p:nvCxnSpPr>
          <p:spPr bwMode="auto">
            <a:xfrm>
              <a:off x="6953125" y="4251227"/>
              <a:ext cx="622300" cy="611187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2" name="Shape 20"/>
            <p:cNvCxnSpPr>
              <a:cxnSpLocks noChangeShapeType="1"/>
              <a:stCxn id="32773" idx="2"/>
              <a:endCxn id="18" idx="7"/>
            </p:cNvCxnSpPr>
            <p:nvPr/>
          </p:nvCxnSpPr>
          <p:spPr bwMode="auto">
            <a:xfrm flipH="1">
              <a:off x="6354639" y="4251226"/>
              <a:ext cx="598487" cy="590550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sp>
          <p:nvSpPr>
            <p:cNvPr id="3" name="Овал 4"/>
            <p:cNvSpPr/>
            <p:nvPr/>
          </p:nvSpPr>
          <p:spPr>
            <a:xfrm>
              <a:off x="10128126" y="3709889"/>
              <a:ext cx="360363" cy="36036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>
                  <a:solidFill>
                    <a:srgbClr val="FFFFFF"/>
                  </a:solidFill>
                </a:rPr>
                <a:t>u</a:t>
              </a: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8" name="Овал 4"/>
            <p:cNvSpPr/>
            <p:nvPr/>
          </p:nvSpPr>
          <p:spPr>
            <a:xfrm>
              <a:off x="8761288" y="3709889"/>
              <a:ext cx="360362" cy="35877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cxnSp>
          <p:nvCxnSpPr>
            <p:cNvPr id="32786" name="Shape 20"/>
            <p:cNvCxnSpPr>
              <a:cxnSpLocks noChangeShapeType="1"/>
              <a:endCxn id="8" idx="0"/>
            </p:cNvCxnSpPr>
            <p:nvPr/>
          </p:nvCxnSpPr>
          <p:spPr bwMode="auto">
            <a:xfrm flipH="1">
              <a:off x="8942263" y="2878038"/>
              <a:ext cx="519112" cy="819150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7" name="Shape 20"/>
            <p:cNvCxnSpPr>
              <a:cxnSpLocks noChangeShapeType="1"/>
              <a:endCxn id="3" idx="1"/>
            </p:cNvCxnSpPr>
            <p:nvPr/>
          </p:nvCxnSpPr>
          <p:spPr bwMode="auto">
            <a:xfrm>
              <a:off x="9716963" y="2878038"/>
              <a:ext cx="463550" cy="871538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8" name="Shape 20"/>
            <p:cNvCxnSpPr>
              <a:cxnSpLocks noChangeShapeType="1"/>
              <a:stCxn id="3" idx="2"/>
              <a:endCxn id="8" idx="6"/>
            </p:cNvCxnSpPr>
            <p:nvPr/>
          </p:nvCxnSpPr>
          <p:spPr bwMode="auto">
            <a:xfrm flipH="1" flipV="1">
              <a:off x="9134351" y="3889277"/>
              <a:ext cx="981075" cy="1587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32789" name="Text Box 22"/>
            <p:cNvSpPr txBox="1">
              <a:spLocks noChangeArrowheads="1"/>
            </p:cNvSpPr>
            <p:nvPr/>
          </p:nvSpPr>
          <p:spPr bwMode="auto">
            <a:xfrm>
              <a:off x="8885113" y="3657501"/>
              <a:ext cx="2476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 </a:t>
              </a:r>
              <a:endParaRPr lang="ru-RU"/>
            </a:p>
          </p:txBody>
        </p:sp>
        <p:sp>
          <p:nvSpPr>
            <p:cNvPr id="32792" name="Text Box 25"/>
            <p:cNvSpPr txBox="1">
              <a:spLocks noChangeArrowheads="1"/>
            </p:cNvSpPr>
            <p:nvPr/>
          </p:nvSpPr>
          <p:spPr bwMode="auto">
            <a:xfrm>
              <a:off x="8761288" y="3709889"/>
              <a:ext cx="2984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v</a:t>
              </a:r>
              <a:endParaRPr lang="ru-RU"/>
            </a:p>
          </p:txBody>
        </p:sp>
        <p:cxnSp>
          <p:nvCxnSpPr>
            <p:cNvPr id="32793" name="Shape 20"/>
            <p:cNvCxnSpPr>
              <a:cxnSpLocks noChangeShapeType="1"/>
              <a:stCxn id="32792" idx="1"/>
              <a:endCxn id="7" idx="7"/>
            </p:cNvCxnSpPr>
            <p:nvPr/>
          </p:nvCxnSpPr>
          <p:spPr bwMode="auto">
            <a:xfrm flipH="1">
              <a:off x="7794500" y="3894039"/>
              <a:ext cx="966788" cy="1020763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2794" name="Shape 20"/>
            <p:cNvCxnSpPr>
              <a:cxnSpLocks noChangeShapeType="1"/>
              <a:stCxn id="32792" idx="0"/>
              <a:endCxn id="6" idx="6"/>
            </p:cNvCxnSpPr>
            <p:nvPr/>
          </p:nvCxnSpPr>
          <p:spPr bwMode="auto">
            <a:xfrm flipH="1" flipV="1">
              <a:off x="7227763" y="2851052"/>
              <a:ext cx="1682750" cy="858837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2795" name="Shape 20"/>
            <p:cNvCxnSpPr>
              <a:cxnSpLocks noChangeShapeType="1"/>
              <a:endCxn id="32774" idx="0"/>
            </p:cNvCxnSpPr>
            <p:nvPr/>
          </p:nvCxnSpPr>
          <p:spPr bwMode="auto">
            <a:xfrm>
              <a:off x="7191251" y="2989163"/>
              <a:ext cx="384175" cy="1873250"/>
            </a:xfrm>
            <a:prstGeom prst="straightConnector1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 type="arrow" w="med" len="med"/>
            </a:ln>
          </p:spPr>
        </p:cxnSp>
        <p:cxnSp>
          <p:nvCxnSpPr>
            <p:cNvPr id="32796" name="Shape 20"/>
            <p:cNvCxnSpPr>
              <a:cxnSpLocks noChangeShapeType="1"/>
            </p:cNvCxnSpPr>
            <p:nvPr/>
          </p:nvCxnSpPr>
          <p:spPr bwMode="auto">
            <a:xfrm rot="5400000" flipH="1">
              <a:off x="9585200" y="2935188"/>
              <a:ext cx="971550" cy="577850"/>
            </a:xfrm>
            <a:prstGeom prst="curvedConnector2">
              <a:avLst/>
            </a:prstGeom>
            <a:noFill/>
            <a:ln w="190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cxnSp>
          <p:nvCxnSpPr>
            <p:cNvPr id="32797" name="Shape 20"/>
            <p:cNvCxnSpPr>
              <a:cxnSpLocks noChangeShapeType="1"/>
              <a:stCxn id="32776" idx="1"/>
              <a:endCxn id="32773" idx="1"/>
            </p:cNvCxnSpPr>
            <p:nvPr/>
          </p:nvCxnSpPr>
          <p:spPr bwMode="auto">
            <a:xfrm rot="10800000" flipH="1">
              <a:off x="5953001" y="4052788"/>
              <a:ext cx="792163" cy="1727200"/>
            </a:xfrm>
            <a:prstGeom prst="curvedConnector3">
              <a:avLst>
                <a:gd name="adj1" fmla="val -28856"/>
              </a:avLst>
            </a:prstGeom>
            <a:noFill/>
            <a:ln w="19050" algn="ctr">
              <a:solidFill>
                <a:schemeClr val="accent1"/>
              </a:solidFill>
              <a:round/>
              <a:headEnd/>
              <a:tailEnd type="arrow" w="med" len="med"/>
            </a:ln>
          </p:spPr>
        </p:cxnSp>
        <p:sp>
          <p:nvSpPr>
            <p:cNvPr id="32" name="Овал 4"/>
            <p:cNvSpPr/>
            <p:nvPr/>
          </p:nvSpPr>
          <p:spPr>
            <a:xfrm>
              <a:off x="9421688" y="2545598"/>
              <a:ext cx="360363" cy="36036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rgbClr val="FFFFFF"/>
                  </a:solidFill>
                </a:rPr>
                <a:t>T</a:t>
              </a:r>
              <a:endParaRPr lang="ru-RU" sz="2000" dirty="0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Классификация дуг графа при обходе в глубину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1731F5"/>
                </a:solidFill>
                <a:latin typeface="Calibri" pitchFamily="34" charset="0"/>
              </a:rPr>
              <a:t>Древесные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входят в граф предшествования</a:t>
            </a:r>
          </a:p>
          <a:p>
            <a:r>
              <a:rPr lang="ru-RU" sz="2400" dirty="0">
                <a:solidFill>
                  <a:schemeClr val="accent2"/>
                </a:solidFill>
                <a:latin typeface="Calibri" pitchFamily="34" charset="0"/>
              </a:rPr>
              <a:t>Прямые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соединяют вершину с её потомком, но не входят в граф предшествования</a:t>
            </a:r>
          </a:p>
          <a:p>
            <a:r>
              <a:rPr lang="ru-RU" sz="2400" dirty="0">
                <a:solidFill>
                  <a:schemeClr val="accent1"/>
                </a:solidFill>
                <a:latin typeface="Calibri" pitchFamily="34" charset="0"/>
              </a:rPr>
              <a:t>Обратные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соединяют вершину с её предком в графе предшествования</a:t>
            </a:r>
          </a:p>
          <a:p>
            <a:r>
              <a:rPr lang="ru-RU" sz="2400" dirty="0">
                <a:latin typeface="Calibri" pitchFamily="34" charset="0"/>
              </a:rPr>
              <a:t>Перекрёстные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все остальные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3352" y="1430716"/>
            <a:ext cx="5723111" cy="46954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2578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11" name="Группа 10"/>
          <p:cNvGrpSpPr/>
          <p:nvPr/>
        </p:nvGrpSpPr>
        <p:grpSpPr>
          <a:xfrm>
            <a:off x="6622255" y="2125336"/>
            <a:ext cx="4535489" cy="3475691"/>
            <a:chOff x="5953000" y="2545598"/>
            <a:chExt cx="4535489" cy="3475691"/>
          </a:xfrm>
        </p:grpSpPr>
        <p:sp>
          <p:nvSpPr>
            <p:cNvPr id="4" name="Овал 3"/>
            <p:cNvSpPr/>
            <p:nvPr/>
          </p:nvSpPr>
          <p:spPr>
            <a:xfrm>
              <a:off x="6745163" y="3854352"/>
              <a:ext cx="469900" cy="43973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5" name="Овал 4"/>
            <p:cNvSpPr/>
            <p:nvPr/>
          </p:nvSpPr>
          <p:spPr>
            <a:xfrm>
              <a:off x="5953000" y="5581552"/>
              <a:ext cx="469900" cy="43973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6745163" y="2630388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7" name="Овал 6"/>
            <p:cNvSpPr/>
            <p:nvPr/>
          </p:nvSpPr>
          <p:spPr>
            <a:xfrm>
              <a:off x="7392863" y="4862413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32773" name="TextBox 7"/>
            <p:cNvSpPr txBox="1">
              <a:spLocks noChangeArrowheads="1"/>
            </p:cNvSpPr>
            <p:nvPr/>
          </p:nvSpPr>
          <p:spPr bwMode="auto">
            <a:xfrm>
              <a:off x="6745164" y="3854352"/>
              <a:ext cx="41433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Z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4" name="TextBox 8"/>
            <p:cNvSpPr txBox="1">
              <a:spLocks noChangeArrowheads="1"/>
            </p:cNvSpPr>
            <p:nvPr/>
          </p:nvSpPr>
          <p:spPr bwMode="auto">
            <a:xfrm>
              <a:off x="7392864" y="4862414"/>
              <a:ext cx="3651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w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5" name="TextBox 9"/>
            <p:cNvSpPr txBox="1">
              <a:spLocks noChangeArrowheads="1"/>
            </p:cNvSpPr>
            <p:nvPr/>
          </p:nvSpPr>
          <p:spPr bwMode="auto">
            <a:xfrm>
              <a:off x="6816601" y="2630389"/>
              <a:ext cx="3016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S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6" name="TextBox 16"/>
            <p:cNvSpPr txBox="1">
              <a:spLocks noChangeArrowheads="1"/>
            </p:cNvSpPr>
            <p:nvPr/>
          </p:nvSpPr>
          <p:spPr bwMode="auto">
            <a:xfrm>
              <a:off x="5953001" y="5581552"/>
              <a:ext cx="3587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 x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8" name="Овал 17"/>
            <p:cNvSpPr/>
            <p:nvPr/>
          </p:nvSpPr>
          <p:spPr>
            <a:xfrm>
              <a:off x="5953000" y="4789388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32778" name="TextBox 18"/>
            <p:cNvSpPr txBox="1">
              <a:spLocks noChangeArrowheads="1"/>
            </p:cNvSpPr>
            <p:nvPr/>
          </p:nvSpPr>
          <p:spPr bwMode="auto">
            <a:xfrm>
              <a:off x="6024438" y="4789389"/>
              <a:ext cx="2984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y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32779" name="Shape 20"/>
            <p:cNvCxnSpPr>
              <a:cxnSpLocks noChangeShapeType="1"/>
            </p:cNvCxnSpPr>
            <p:nvPr/>
          </p:nvCxnSpPr>
          <p:spPr bwMode="auto">
            <a:xfrm>
              <a:off x="6168901" y="5221189"/>
              <a:ext cx="3175" cy="358775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0" name="Shape 20"/>
            <p:cNvCxnSpPr>
              <a:cxnSpLocks noChangeShapeType="1"/>
              <a:stCxn id="32775" idx="2"/>
              <a:endCxn id="32773" idx="0"/>
            </p:cNvCxnSpPr>
            <p:nvPr/>
          </p:nvCxnSpPr>
          <p:spPr bwMode="auto">
            <a:xfrm flipH="1">
              <a:off x="6953125" y="3027263"/>
              <a:ext cx="14288" cy="827088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1" name="Shape 20"/>
            <p:cNvCxnSpPr>
              <a:cxnSpLocks noChangeShapeType="1"/>
              <a:stCxn id="32773" idx="2"/>
              <a:endCxn id="32774" idx="0"/>
            </p:cNvCxnSpPr>
            <p:nvPr/>
          </p:nvCxnSpPr>
          <p:spPr bwMode="auto">
            <a:xfrm>
              <a:off x="6953125" y="4251227"/>
              <a:ext cx="622300" cy="611187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2" name="Shape 20"/>
            <p:cNvCxnSpPr>
              <a:cxnSpLocks noChangeShapeType="1"/>
              <a:stCxn id="32773" idx="2"/>
              <a:endCxn id="18" idx="7"/>
            </p:cNvCxnSpPr>
            <p:nvPr/>
          </p:nvCxnSpPr>
          <p:spPr bwMode="auto">
            <a:xfrm flipH="1">
              <a:off x="6354639" y="4251226"/>
              <a:ext cx="598487" cy="590550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sp>
          <p:nvSpPr>
            <p:cNvPr id="3" name="Овал 4"/>
            <p:cNvSpPr/>
            <p:nvPr/>
          </p:nvSpPr>
          <p:spPr>
            <a:xfrm>
              <a:off x="10128126" y="3709889"/>
              <a:ext cx="360363" cy="36036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>
                  <a:solidFill>
                    <a:srgbClr val="FFFFFF"/>
                  </a:solidFill>
                </a:rPr>
                <a:t>u</a:t>
              </a: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8" name="Овал 4"/>
            <p:cNvSpPr/>
            <p:nvPr/>
          </p:nvSpPr>
          <p:spPr>
            <a:xfrm>
              <a:off x="8761288" y="3709889"/>
              <a:ext cx="360362" cy="35877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cxnSp>
          <p:nvCxnSpPr>
            <p:cNvPr id="32786" name="Shape 20"/>
            <p:cNvCxnSpPr>
              <a:cxnSpLocks noChangeShapeType="1"/>
              <a:endCxn id="8" idx="0"/>
            </p:cNvCxnSpPr>
            <p:nvPr/>
          </p:nvCxnSpPr>
          <p:spPr bwMode="auto">
            <a:xfrm flipH="1">
              <a:off x="8942263" y="2878038"/>
              <a:ext cx="519112" cy="819150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7" name="Shape 20"/>
            <p:cNvCxnSpPr>
              <a:cxnSpLocks noChangeShapeType="1"/>
              <a:endCxn id="3" idx="1"/>
            </p:cNvCxnSpPr>
            <p:nvPr/>
          </p:nvCxnSpPr>
          <p:spPr bwMode="auto">
            <a:xfrm>
              <a:off x="9716963" y="2878038"/>
              <a:ext cx="463550" cy="871538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8" name="Shape 20"/>
            <p:cNvCxnSpPr>
              <a:cxnSpLocks noChangeShapeType="1"/>
              <a:stCxn id="3" idx="2"/>
              <a:endCxn id="8" idx="6"/>
            </p:cNvCxnSpPr>
            <p:nvPr/>
          </p:nvCxnSpPr>
          <p:spPr bwMode="auto">
            <a:xfrm flipH="1" flipV="1">
              <a:off x="9134351" y="3889277"/>
              <a:ext cx="981075" cy="1587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32789" name="Text Box 22"/>
            <p:cNvSpPr txBox="1">
              <a:spLocks noChangeArrowheads="1"/>
            </p:cNvSpPr>
            <p:nvPr/>
          </p:nvSpPr>
          <p:spPr bwMode="auto">
            <a:xfrm>
              <a:off x="8885113" y="3657501"/>
              <a:ext cx="2476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 </a:t>
              </a:r>
              <a:endParaRPr lang="ru-RU"/>
            </a:p>
          </p:txBody>
        </p:sp>
        <p:sp>
          <p:nvSpPr>
            <p:cNvPr id="32792" name="Text Box 25"/>
            <p:cNvSpPr txBox="1">
              <a:spLocks noChangeArrowheads="1"/>
            </p:cNvSpPr>
            <p:nvPr/>
          </p:nvSpPr>
          <p:spPr bwMode="auto">
            <a:xfrm>
              <a:off x="8761288" y="3709889"/>
              <a:ext cx="2984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v</a:t>
              </a:r>
              <a:endParaRPr lang="ru-RU"/>
            </a:p>
          </p:txBody>
        </p:sp>
        <p:cxnSp>
          <p:nvCxnSpPr>
            <p:cNvPr id="32793" name="Shape 20"/>
            <p:cNvCxnSpPr>
              <a:cxnSpLocks noChangeShapeType="1"/>
              <a:stCxn id="32792" idx="1"/>
              <a:endCxn id="7" idx="7"/>
            </p:cNvCxnSpPr>
            <p:nvPr/>
          </p:nvCxnSpPr>
          <p:spPr bwMode="auto">
            <a:xfrm flipH="1">
              <a:off x="7794500" y="3894039"/>
              <a:ext cx="966788" cy="1020763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2794" name="Shape 20"/>
            <p:cNvCxnSpPr>
              <a:cxnSpLocks noChangeShapeType="1"/>
              <a:stCxn id="32792" idx="0"/>
              <a:endCxn id="6" idx="6"/>
            </p:cNvCxnSpPr>
            <p:nvPr/>
          </p:nvCxnSpPr>
          <p:spPr bwMode="auto">
            <a:xfrm flipH="1" flipV="1">
              <a:off x="7227763" y="2851052"/>
              <a:ext cx="1682750" cy="858837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2795" name="Shape 20"/>
            <p:cNvCxnSpPr>
              <a:cxnSpLocks noChangeShapeType="1"/>
              <a:endCxn id="32774" idx="0"/>
            </p:cNvCxnSpPr>
            <p:nvPr/>
          </p:nvCxnSpPr>
          <p:spPr bwMode="auto">
            <a:xfrm>
              <a:off x="7191251" y="2989163"/>
              <a:ext cx="384175" cy="1873250"/>
            </a:xfrm>
            <a:prstGeom prst="straightConnector1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 type="arrow" w="med" len="med"/>
            </a:ln>
          </p:spPr>
        </p:cxnSp>
        <p:cxnSp>
          <p:nvCxnSpPr>
            <p:cNvPr id="32796" name="Shape 20"/>
            <p:cNvCxnSpPr>
              <a:cxnSpLocks noChangeShapeType="1"/>
            </p:cNvCxnSpPr>
            <p:nvPr/>
          </p:nvCxnSpPr>
          <p:spPr bwMode="auto">
            <a:xfrm rot="5400000" flipH="1">
              <a:off x="9585200" y="2935188"/>
              <a:ext cx="971550" cy="577850"/>
            </a:xfrm>
            <a:prstGeom prst="curvedConnector2">
              <a:avLst/>
            </a:prstGeom>
            <a:noFill/>
            <a:ln w="190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cxnSp>
          <p:nvCxnSpPr>
            <p:cNvPr id="32797" name="Shape 20"/>
            <p:cNvCxnSpPr>
              <a:cxnSpLocks noChangeShapeType="1"/>
              <a:stCxn id="32776" idx="1"/>
              <a:endCxn id="32773" idx="1"/>
            </p:cNvCxnSpPr>
            <p:nvPr/>
          </p:nvCxnSpPr>
          <p:spPr bwMode="auto">
            <a:xfrm rot="10800000" flipH="1">
              <a:off x="5953001" y="4052788"/>
              <a:ext cx="792163" cy="1727200"/>
            </a:xfrm>
            <a:prstGeom prst="curvedConnector3">
              <a:avLst>
                <a:gd name="adj1" fmla="val -28856"/>
              </a:avLst>
            </a:prstGeom>
            <a:noFill/>
            <a:ln w="19050" algn="ctr">
              <a:solidFill>
                <a:schemeClr val="accent1"/>
              </a:solidFill>
              <a:round/>
              <a:headEnd/>
              <a:tailEnd type="arrow" w="med" len="med"/>
            </a:ln>
          </p:spPr>
        </p:cxnSp>
        <p:sp>
          <p:nvSpPr>
            <p:cNvPr id="32" name="Овал 4"/>
            <p:cNvSpPr/>
            <p:nvPr/>
          </p:nvSpPr>
          <p:spPr>
            <a:xfrm>
              <a:off x="9421688" y="2545598"/>
              <a:ext cx="360363" cy="36036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rgbClr val="FFFFFF"/>
                  </a:solidFill>
                </a:rPr>
                <a:t>T</a:t>
              </a:r>
              <a:endParaRPr lang="ru-RU" sz="2000" dirty="0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Классификация дуг графа при обходе в глубину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1731F5"/>
                </a:solidFill>
                <a:latin typeface="Calibri" pitchFamily="34" charset="0"/>
              </a:rPr>
              <a:t>Древесные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входят в граф предшествования</a:t>
            </a:r>
          </a:p>
          <a:p>
            <a:r>
              <a:rPr lang="ru-RU" sz="2400" dirty="0">
                <a:solidFill>
                  <a:schemeClr val="bg1"/>
                </a:solidFill>
                <a:latin typeface="Calibri" pitchFamily="34" charset="0"/>
              </a:rPr>
              <a:t>Прямые рёбра</a:t>
            </a:r>
          </a:p>
          <a:p>
            <a:pPr marL="672084" lvl="1"/>
            <a:r>
              <a:rPr lang="ru-RU" sz="2000" dirty="0">
                <a:solidFill>
                  <a:schemeClr val="bg1"/>
                </a:solidFill>
                <a:latin typeface="Calibri" pitchFamily="34" charset="0"/>
              </a:rPr>
              <a:t>соединяют вершину с её потомком, но не входят в граф предшествования</a:t>
            </a:r>
          </a:p>
          <a:p>
            <a:r>
              <a:rPr lang="ru-RU" sz="2400" dirty="0">
                <a:solidFill>
                  <a:schemeClr val="bg1"/>
                </a:solidFill>
                <a:latin typeface="Calibri" pitchFamily="34" charset="0"/>
              </a:rPr>
              <a:t>Обратные рёбра</a:t>
            </a:r>
          </a:p>
          <a:p>
            <a:pPr marL="672084" lvl="1"/>
            <a:r>
              <a:rPr lang="ru-RU" sz="2000" dirty="0">
                <a:solidFill>
                  <a:schemeClr val="bg1"/>
                </a:solidFill>
                <a:latin typeface="Calibri" pitchFamily="34" charset="0"/>
              </a:rPr>
              <a:t>соединяют вершину с её предком в графе предшествования</a:t>
            </a:r>
          </a:p>
          <a:p>
            <a:r>
              <a:rPr lang="ru-RU" sz="2400" dirty="0">
                <a:solidFill>
                  <a:schemeClr val="bg1"/>
                </a:solidFill>
                <a:latin typeface="Calibri" pitchFamily="34" charset="0"/>
              </a:rPr>
              <a:t>Перекрёстные рёбра</a:t>
            </a:r>
          </a:p>
          <a:p>
            <a:pPr marL="672084" lvl="1"/>
            <a:r>
              <a:rPr lang="ru-RU" sz="2000" dirty="0">
                <a:solidFill>
                  <a:schemeClr val="bg1"/>
                </a:solidFill>
                <a:latin typeface="Calibri" pitchFamily="34" charset="0"/>
              </a:rPr>
              <a:t>все остальные</a:t>
            </a:r>
          </a:p>
        </p:txBody>
      </p:sp>
    </p:spTree>
    <p:extLst>
      <p:ext uri="{BB962C8B-B14F-4D97-AF65-F5344CB8AC3E}">
        <p14:creationId xmlns:p14="http://schemas.microsoft.com/office/powerpoint/2010/main" val="15528870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11" name="Группа 10"/>
          <p:cNvGrpSpPr/>
          <p:nvPr/>
        </p:nvGrpSpPr>
        <p:grpSpPr>
          <a:xfrm>
            <a:off x="6622255" y="2125336"/>
            <a:ext cx="4535489" cy="3475691"/>
            <a:chOff x="5953000" y="2545598"/>
            <a:chExt cx="4535489" cy="3475691"/>
          </a:xfrm>
        </p:grpSpPr>
        <p:sp>
          <p:nvSpPr>
            <p:cNvPr id="4" name="Овал 3"/>
            <p:cNvSpPr/>
            <p:nvPr/>
          </p:nvSpPr>
          <p:spPr>
            <a:xfrm>
              <a:off x="6745163" y="3854352"/>
              <a:ext cx="469900" cy="43973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5" name="Овал 4"/>
            <p:cNvSpPr/>
            <p:nvPr/>
          </p:nvSpPr>
          <p:spPr>
            <a:xfrm>
              <a:off x="5953000" y="5581552"/>
              <a:ext cx="469900" cy="43973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6745163" y="2630388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7" name="Овал 6"/>
            <p:cNvSpPr/>
            <p:nvPr/>
          </p:nvSpPr>
          <p:spPr>
            <a:xfrm>
              <a:off x="7392863" y="4862413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32773" name="TextBox 7"/>
            <p:cNvSpPr txBox="1">
              <a:spLocks noChangeArrowheads="1"/>
            </p:cNvSpPr>
            <p:nvPr/>
          </p:nvSpPr>
          <p:spPr bwMode="auto">
            <a:xfrm>
              <a:off x="6745164" y="3854352"/>
              <a:ext cx="41433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Z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4" name="TextBox 8"/>
            <p:cNvSpPr txBox="1">
              <a:spLocks noChangeArrowheads="1"/>
            </p:cNvSpPr>
            <p:nvPr/>
          </p:nvSpPr>
          <p:spPr bwMode="auto">
            <a:xfrm>
              <a:off x="7392864" y="4862414"/>
              <a:ext cx="3651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w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5" name="TextBox 9"/>
            <p:cNvSpPr txBox="1">
              <a:spLocks noChangeArrowheads="1"/>
            </p:cNvSpPr>
            <p:nvPr/>
          </p:nvSpPr>
          <p:spPr bwMode="auto">
            <a:xfrm>
              <a:off x="6816601" y="2630389"/>
              <a:ext cx="3016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S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6" name="TextBox 16"/>
            <p:cNvSpPr txBox="1">
              <a:spLocks noChangeArrowheads="1"/>
            </p:cNvSpPr>
            <p:nvPr/>
          </p:nvSpPr>
          <p:spPr bwMode="auto">
            <a:xfrm>
              <a:off x="5953001" y="5581552"/>
              <a:ext cx="3587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 x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8" name="Овал 17"/>
            <p:cNvSpPr/>
            <p:nvPr/>
          </p:nvSpPr>
          <p:spPr>
            <a:xfrm>
              <a:off x="5953000" y="4789388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32778" name="TextBox 18"/>
            <p:cNvSpPr txBox="1">
              <a:spLocks noChangeArrowheads="1"/>
            </p:cNvSpPr>
            <p:nvPr/>
          </p:nvSpPr>
          <p:spPr bwMode="auto">
            <a:xfrm>
              <a:off x="6024438" y="4789389"/>
              <a:ext cx="2984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y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32779" name="Shape 20"/>
            <p:cNvCxnSpPr>
              <a:cxnSpLocks noChangeShapeType="1"/>
            </p:cNvCxnSpPr>
            <p:nvPr/>
          </p:nvCxnSpPr>
          <p:spPr bwMode="auto">
            <a:xfrm>
              <a:off x="6168901" y="5221189"/>
              <a:ext cx="3175" cy="358775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0" name="Shape 20"/>
            <p:cNvCxnSpPr>
              <a:cxnSpLocks noChangeShapeType="1"/>
              <a:stCxn id="32775" idx="2"/>
              <a:endCxn id="32773" idx="0"/>
            </p:cNvCxnSpPr>
            <p:nvPr/>
          </p:nvCxnSpPr>
          <p:spPr bwMode="auto">
            <a:xfrm flipH="1">
              <a:off x="6953125" y="3027263"/>
              <a:ext cx="14288" cy="827088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1" name="Shape 20"/>
            <p:cNvCxnSpPr>
              <a:cxnSpLocks noChangeShapeType="1"/>
              <a:stCxn id="32773" idx="2"/>
              <a:endCxn id="32774" idx="0"/>
            </p:cNvCxnSpPr>
            <p:nvPr/>
          </p:nvCxnSpPr>
          <p:spPr bwMode="auto">
            <a:xfrm>
              <a:off x="6953125" y="4251227"/>
              <a:ext cx="622300" cy="611187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2" name="Shape 20"/>
            <p:cNvCxnSpPr>
              <a:cxnSpLocks noChangeShapeType="1"/>
              <a:stCxn id="32773" idx="2"/>
              <a:endCxn id="18" idx="7"/>
            </p:cNvCxnSpPr>
            <p:nvPr/>
          </p:nvCxnSpPr>
          <p:spPr bwMode="auto">
            <a:xfrm flipH="1">
              <a:off x="6354639" y="4251226"/>
              <a:ext cx="598487" cy="590550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sp>
          <p:nvSpPr>
            <p:cNvPr id="3" name="Овал 4"/>
            <p:cNvSpPr/>
            <p:nvPr/>
          </p:nvSpPr>
          <p:spPr>
            <a:xfrm>
              <a:off x="10128126" y="3709889"/>
              <a:ext cx="360363" cy="36036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>
                  <a:solidFill>
                    <a:srgbClr val="FFFFFF"/>
                  </a:solidFill>
                </a:rPr>
                <a:t>u</a:t>
              </a: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8" name="Овал 4"/>
            <p:cNvSpPr/>
            <p:nvPr/>
          </p:nvSpPr>
          <p:spPr>
            <a:xfrm>
              <a:off x="8761288" y="3709889"/>
              <a:ext cx="360362" cy="35877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cxnSp>
          <p:nvCxnSpPr>
            <p:cNvPr id="32786" name="Shape 20"/>
            <p:cNvCxnSpPr>
              <a:cxnSpLocks noChangeShapeType="1"/>
              <a:endCxn id="8" idx="0"/>
            </p:cNvCxnSpPr>
            <p:nvPr/>
          </p:nvCxnSpPr>
          <p:spPr bwMode="auto">
            <a:xfrm flipH="1">
              <a:off x="8942263" y="2878038"/>
              <a:ext cx="519112" cy="819150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7" name="Shape 20"/>
            <p:cNvCxnSpPr>
              <a:cxnSpLocks noChangeShapeType="1"/>
              <a:endCxn id="3" idx="1"/>
            </p:cNvCxnSpPr>
            <p:nvPr/>
          </p:nvCxnSpPr>
          <p:spPr bwMode="auto">
            <a:xfrm>
              <a:off x="9716963" y="2878038"/>
              <a:ext cx="463550" cy="871538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8" name="Shape 20"/>
            <p:cNvCxnSpPr>
              <a:cxnSpLocks noChangeShapeType="1"/>
              <a:stCxn id="3" idx="2"/>
              <a:endCxn id="8" idx="6"/>
            </p:cNvCxnSpPr>
            <p:nvPr/>
          </p:nvCxnSpPr>
          <p:spPr bwMode="auto">
            <a:xfrm flipH="1" flipV="1">
              <a:off x="9134351" y="3889277"/>
              <a:ext cx="981075" cy="1587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32789" name="Text Box 22"/>
            <p:cNvSpPr txBox="1">
              <a:spLocks noChangeArrowheads="1"/>
            </p:cNvSpPr>
            <p:nvPr/>
          </p:nvSpPr>
          <p:spPr bwMode="auto">
            <a:xfrm>
              <a:off x="8885113" y="3657501"/>
              <a:ext cx="2476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 </a:t>
              </a:r>
              <a:endParaRPr lang="ru-RU"/>
            </a:p>
          </p:txBody>
        </p:sp>
        <p:sp>
          <p:nvSpPr>
            <p:cNvPr id="32792" name="Text Box 25"/>
            <p:cNvSpPr txBox="1">
              <a:spLocks noChangeArrowheads="1"/>
            </p:cNvSpPr>
            <p:nvPr/>
          </p:nvSpPr>
          <p:spPr bwMode="auto">
            <a:xfrm>
              <a:off x="8761288" y="3709889"/>
              <a:ext cx="2984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v</a:t>
              </a:r>
              <a:endParaRPr lang="ru-RU"/>
            </a:p>
          </p:txBody>
        </p:sp>
        <p:cxnSp>
          <p:nvCxnSpPr>
            <p:cNvPr id="32793" name="Shape 20"/>
            <p:cNvCxnSpPr>
              <a:cxnSpLocks noChangeShapeType="1"/>
              <a:stCxn id="32792" idx="1"/>
              <a:endCxn id="7" idx="7"/>
            </p:cNvCxnSpPr>
            <p:nvPr/>
          </p:nvCxnSpPr>
          <p:spPr bwMode="auto">
            <a:xfrm flipH="1">
              <a:off x="7794500" y="3894039"/>
              <a:ext cx="966788" cy="1020763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2794" name="Shape 20"/>
            <p:cNvCxnSpPr>
              <a:cxnSpLocks noChangeShapeType="1"/>
              <a:stCxn id="32792" idx="0"/>
              <a:endCxn id="6" idx="6"/>
            </p:cNvCxnSpPr>
            <p:nvPr/>
          </p:nvCxnSpPr>
          <p:spPr bwMode="auto">
            <a:xfrm flipH="1" flipV="1">
              <a:off x="7227763" y="2851052"/>
              <a:ext cx="1682750" cy="858837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2795" name="Shape 20"/>
            <p:cNvCxnSpPr>
              <a:cxnSpLocks noChangeShapeType="1"/>
              <a:endCxn id="32774" idx="0"/>
            </p:cNvCxnSpPr>
            <p:nvPr/>
          </p:nvCxnSpPr>
          <p:spPr bwMode="auto">
            <a:xfrm>
              <a:off x="7191251" y="2989163"/>
              <a:ext cx="384175" cy="1873250"/>
            </a:xfrm>
            <a:prstGeom prst="straightConnector1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 type="arrow" w="med" len="med"/>
            </a:ln>
          </p:spPr>
        </p:cxnSp>
        <p:cxnSp>
          <p:nvCxnSpPr>
            <p:cNvPr id="32796" name="Shape 20"/>
            <p:cNvCxnSpPr>
              <a:cxnSpLocks noChangeShapeType="1"/>
            </p:cNvCxnSpPr>
            <p:nvPr/>
          </p:nvCxnSpPr>
          <p:spPr bwMode="auto">
            <a:xfrm rot="5400000" flipH="1">
              <a:off x="9585200" y="2935188"/>
              <a:ext cx="971550" cy="577850"/>
            </a:xfrm>
            <a:prstGeom prst="curvedConnector2">
              <a:avLst/>
            </a:prstGeom>
            <a:noFill/>
            <a:ln w="190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cxnSp>
          <p:nvCxnSpPr>
            <p:cNvPr id="32797" name="Shape 20"/>
            <p:cNvCxnSpPr>
              <a:cxnSpLocks noChangeShapeType="1"/>
              <a:stCxn id="32776" idx="1"/>
              <a:endCxn id="32773" idx="1"/>
            </p:cNvCxnSpPr>
            <p:nvPr/>
          </p:nvCxnSpPr>
          <p:spPr bwMode="auto">
            <a:xfrm rot="10800000" flipH="1">
              <a:off x="5953001" y="4052788"/>
              <a:ext cx="792163" cy="1727200"/>
            </a:xfrm>
            <a:prstGeom prst="curvedConnector3">
              <a:avLst>
                <a:gd name="adj1" fmla="val -28856"/>
              </a:avLst>
            </a:prstGeom>
            <a:noFill/>
            <a:ln w="19050" algn="ctr">
              <a:solidFill>
                <a:schemeClr val="accent1"/>
              </a:solidFill>
              <a:round/>
              <a:headEnd/>
              <a:tailEnd type="arrow" w="med" len="med"/>
            </a:ln>
          </p:spPr>
        </p:cxnSp>
        <p:sp>
          <p:nvSpPr>
            <p:cNvPr id="32" name="Овал 4"/>
            <p:cNvSpPr/>
            <p:nvPr/>
          </p:nvSpPr>
          <p:spPr>
            <a:xfrm>
              <a:off x="9421688" y="2545598"/>
              <a:ext cx="360363" cy="36036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rgbClr val="FFFFFF"/>
                  </a:solidFill>
                </a:rPr>
                <a:t>T</a:t>
              </a:r>
              <a:endParaRPr lang="ru-RU" sz="2000" dirty="0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Классификация дуг графа при обходе в глубину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1731F5"/>
                </a:solidFill>
                <a:latin typeface="Calibri" pitchFamily="34" charset="0"/>
              </a:rPr>
              <a:t>Древесные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входят в граф предшествования</a:t>
            </a:r>
          </a:p>
          <a:p>
            <a:r>
              <a:rPr lang="ru-RU" sz="2400" dirty="0">
                <a:solidFill>
                  <a:schemeClr val="accent2"/>
                </a:solidFill>
                <a:latin typeface="Calibri" pitchFamily="34" charset="0"/>
              </a:rPr>
              <a:t>Прямые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соединяют вершину с её потомком, но не входят в граф предшествования</a:t>
            </a:r>
          </a:p>
          <a:p>
            <a:r>
              <a:rPr lang="ru-RU" sz="2400" dirty="0">
                <a:solidFill>
                  <a:schemeClr val="bg1"/>
                </a:solidFill>
                <a:latin typeface="Calibri" pitchFamily="34" charset="0"/>
              </a:rPr>
              <a:t>Обратные рёбра</a:t>
            </a:r>
          </a:p>
          <a:p>
            <a:pPr marL="672084" lvl="1"/>
            <a:r>
              <a:rPr lang="ru-RU" sz="2000" dirty="0">
                <a:solidFill>
                  <a:schemeClr val="bg1"/>
                </a:solidFill>
                <a:latin typeface="Calibri" pitchFamily="34" charset="0"/>
              </a:rPr>
              <a:t>соединяют вершину с её предком в графе предшествования</a:t>
            </a:r>
          </a:p>
          <a:p>
            <a:r>
              <a:rPr lang="ru-RU" sz="2400" dirty="0">
                <a:solidFill>
                  <a:schemeClr val="bg1"/>
                </a:solidFill>
                <a:latin typeface="Calibri" pitchFamily="34" charset="0"/>
              </a:rPr>
              <a:t>Перекрёстные рёбра</a:t>
            </a:r>
          </a:p>
          <a:p>
            <a:pPr marL="672084" lvl="1"/>
            <a:r>
              <a:rPr lang="ru-RU" sz="2000" dirty="0">
                <a:solidFill>
                  <a:schemeClr val="bg1"/>
                </a:solidFill>
                <a:latin typeface="Calibri" pitchFamily="34" charset="0"/>
              </a:rPr>
              <a:t>все остальные</a:t>
            </a:r>
          </a:p>
        </p:txBody>
      </p:sp>
    </p:spTree>
    <p:extLst>
      <p:ext uri="{BB962C8B-B14F-4D97-AF65-F5344CB8AC3E}">
        <p14:creationId xmlns:p14="http://schemas.microsoft.com/office/powerpoint/2010/main" val="5376226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11" name="Группа 10"/>
          <p:cNvGrpSpPr/>
          <p:nvPr/>
        </p:nvGrpSpPr>
        <p:grpSpPr>
          <a:xfrm>
            <a:off x="6622255" y="2125336"/>
            <a:ext cx="4535489" cy="3475691"/>
            <a:chOff x="5953000" y="2545598"/>
            <a:chExt cx="4535489" cy="3475691"/>
          </a:xfrm>
        </p:grpSpPr>
        <p:sp>
          <p:nvSpPr>
            <p:cNvPr id="4" name="Овал 3"/>
            <p:cNvSpPr/>
            <p:nvPr/>
          </p:nvSpPr>
          <p:spPr>
            <a:xfrm>
              <a:off x="6745163" y="3854352"/>
              <a:ext cx="469900" cy="43973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5" name="Овал 4"/>
            <p:cNvSpPr/>
            <p:nvPr/>
          </p:nvSpPr>
          <p:spPr>
            <a:xfrm>
              <a:off x="5953000" y="5581552"/>
              <a:ext cx="469900" cy="43973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6745163" y="2630388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7" name="Овал 6"/>
            <p:cNvSpPr/>
            <p:nvPr/>
          </p:nvSpPr>
          <p:spPr>
            <a:xfrm>
              <a:off x="7392863" y="4862413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32773" name="TextBox 7"/>
            <p:cNvSpPr txBox="1">
              <a:spLocks noChangeArrowheads="1"/>
            </p:cNvSpPr>
            <p:nvPr/>
          </p:nvSpPr>
          <p:spPr bwMode="auto">
            <a:xfrm>
              <a:off x="6745164" y="3854352"/>
              <a:ext cx="41433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Z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4" name="TextBox 8"/>
            <p:cNvSpPr txBox="1">
              <a:spLocks noChangeArrowheads="1"/>
            </p:cNvSpPr>
            <p:nvPr/>
          </p:nvSpPr>
          <p:spPr bwMode="auto">
            <a:xfrm>
              <a:off x="7392864" y="4862414"/>
              <a:ext cx="3651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w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5" name="TextBox 9"/>
            <p:cNvSpPr txBox="1">
              <a:spLocks noChangeArrowheads="1"/>
            </p:cNvSpPr>
            <p:nvPr/>
          </p:nvSpPr>
          <p:spPr bwMode="auto">
            <a:xfrm>
              <a:off x="6816601" y="2630389"/>
              <a:ext cx="3016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S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6" name="TextBox 16"/>
            <p:cNvSpPr txBox="1">
              <a:spLocks noChangeArrowheads="1"/>
            </p:cNvSpPr>
            <p:nvPr/>
          </p:nvSpPr>
          <p:spPr bwMode="auto">
            <a:xfrm>
              <a:off x="5953001" y="5581552"/>
              <a:ext cx="3587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 x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8" name="Овал 17"/>
            <p:cNvSpPr/>
            <p:nvPr/>
          </p:nvSpPr>
          <p:spPr>
            <a:xfrm>
              <a:off x="5953000" y="4789388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32778" name="TextBox 18"/>
            <p:cNvSpPr txBox="1">
              <a:spLocks noChangeArrowheads="1"/>
            </p:cNvSpPr>
            <p:nvPr/>
          </p:nvSpPr>
          <p:spPr bwMode="auto">
            <a:xfrm>
              <a:off x="6024438" y="4789389"/>
              <a:ext cx="2984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y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32779" name="Shape 20"/>
            <p:cNvCxnSpPr>
              <a:cxnSpLocks noChangeShapeType="1"/>
            </p:cNvCxnSpPr>
            <p:nvPr/>
          </p:nvCxnSpPr>
          <p:spPr bwMode="auto">
            <a:xfrm>
              <a:off x="6168901" y="5221189"/>
              <a:ext cx="3175" cy="358775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0" name="Shape 20"/>
            <p:cNvCxnSpPr>
              <a:cxnSpLocks noChangeShapeType="1"/>
              <a:stCxn id="32775" idx="2"/>
              <a:endCxn id="32773" idx="0"/>
            </p:cNvCxnSpPr>
            <p:nvPr/>
          </p:nvCxnSpPr>
          <p:spPr bwMode="auto">
            <a:xfrm flipH="1">
              <a:off x="6953125" y="3027263"/>
              <a:ext cx="14288" cy="827088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1" name="Shape 20"/>
            <p:cNvCxnSpPr>
              <a:cxnSpLocks noChangeShapeType="1"/>
              <a:stCxn id="32773" idx="2"/>
              <a:endCxn id="32774" idx="0"/>
            </p:cNvCxnSpPr>
            <p:nvPr/>
          </p:nvCxnSpPr>
          <p:spPr bwMode="auto">
            <a:xfrm>
              <a:off x="6953125" y="4251227"/>
              <a:ext cx="622300" cy="611187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2" name="Shape 20"/>
            <p:cNvCxnSpPr>
              <a:cxnSpLocks noChangeShapeType="1"/>
              <a:stCxn id="32773" idx="2"/>
              <a:endCxn id="18" idx="7"/>
            </p:cNvCxnSpPr>
            <p:nvPr/>
          </p:nvCxnSpPr>
          <p:spPr bwMode="auto">
            <a:xfrm flipH="1">
              <a:off x="6354639" y="4251226"/>
              <a:ext cx="598487" cy="590550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sp>
          <p:nvSpPr>
            <p:cNvPr id="3" name="Овал 4"/>
            <p:cNvSpPr/>
            <p:nvPr/>
          </p:nvSpPr>
          <p:spPr>
            <a:xfrm>
              <a:off x="10128126" y="3709889"/>
              <a:ext cx="360363" cy="36036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>
                  <a:solidFill>
                    <a:srgbClr val="FFFFFF"/>
                  </a:solidFill>
                </a:rPr>
                <a:t>u</a:t>
              </a: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8" name="Овал 4"/>
            <p:cNvSpPr/>
            <p:nvPr/>
          </p:nvSpPr>
          <p:spPr>
            <a:xfrm>
              <a:off x="8761288" y="3709889"/>
              <a:ext cx="360362" cy="35877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cxnSp>
          <p:nvCxnSpPr>
            <p:cNvPr id="32786" name="Shape 20"/>
            <p:cNvCxnSpPr>
              <a:cxnSpLocks noChangeShapeType="1"/>
              <a:endCxn id="8" idx="0"/>
            </p:cNvCxnSpPr>
            <p:nvPr/>
          </p:nvCxnSpPr>
          <p:spPr bwMode="auto">
            <a:xfrm flipH="1">
              <a:off x="8942263" y="2878038"/>
              <a:ext cx="519112" cy="819150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7" name="Shape 20"/>
            <p:cNvCxnSpPr>
              <a:cxnSpLocks noChangeShapeType="1"/>
              <a:endCxn id="3" idx="1"/>
            </p:cNvCxnSpPr>
            <p:nvPr/>
          </p:nvCxnSpPr>
          <p:spPr bwMode="auto">
            <a:xfrm>
              <a:off x="9716963" y="2878038"/>
              <a:ext cx="463550" cy="871538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8" name="Shape 20"/>
            <p:cNvCxnSpPr>
              <a:cxnSpLocks noChangeShapeType="1"/>
              <a:stCxn id="3" idx="2"/>
              <a:endCxn id="8" idx="6"/>
            </p:cNvCxnSpPr>
            <p:nvPr/>
          </p:nvCxnSpPr>
          <p:spPr bwMode="auto">
            <a:xfrm flipH="1" flipV="1">
              <a:off x="9134351" y="3889277"/>
              <a:ext cx="981075" cy="1587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32789" name="Text Box 22"/>
            <p:cNvSpPr txBox="1">
              <a:spLocks noChangeArrowheads="1"/>
            </p:cNvSpPr>
            <p:nvPr/>
          </p:nvSpPr>
          <p:spPr bwMode="auto">
            <a:xfrm>
              <a:off x="8885113" y="3657501"/>
              <a:ext cx="2476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 </a:t>
              </a:r>
              <a:endParaRPr lang="ru-RU"/>
            </a:p>
          </p:txBody>
        </p:sp>
        <p:sp>
          <p:nvSpPr>
            <p:cNvPr id="32792" name="Text Box 25"/>
            <p:cNvSpPr txBox="1">
              <a:spLocks noChangeArrowheads="1"/>
            </p:cNvSpPr>
            <p:nvPr/>
          </p:nvSpPr>
          <p:spPr bwMode="auto">
            <a:xfrm>
              <a:off x="8761288" y="3709889"/>
              <a:ext cx="2984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v</a:t>
              </a:r>
              <a:endParaRPr lang="ru-RU"/>
            </a:p>
          </p:txBody>
        </p:sp>
        <p:cxnSp>
          <p:nvCxnSpPr>
            <p:cNvPr id="32793" name="Shape 20"/>
            <p:cNvCxnSpPr>
              <a:cxnSpLocks noChangeShapeType="1"/>
              <a:stCxn id="32792" idx="1"/>
              <a:endCxn id="7" idx="7"/>
            </p:cNvCxnSpPr>
            <p:nvPr/>
          </p:nvCxnSpPr>
          <p:spPr bwMode="auto">
            <a:xfrm flipH="1">
              <a:off x="7794500" y="3894039"/>
              <a:ext cx="966788" cy="1020763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2794" name="Shape 20"/>
            <p:cNvCxnSpPr>
              <a:cxnSpLocks noChangeShapeType="1"/>
              <a:stCxn id="32792" idx="0"/>
              <a:endCxn id="6" idx="6"/>
            </p:cNvCxnSpPr>
            <p:nvPr/>
          </p:nvCxnSpPr>
          <p:spPr bwMode="auto">
            <a:xfrm flipH="1" flipV="1">
              <a:off x="7227763" y="2851052"/>
              <a:ext cx="1682750" cy="858837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2795" name="Shape 20"/>
            <p:cNvCxnSpPr>
              <a:cxnSpLocks noChangeShapeType="1"/>
              <a:endCxn id="32774" idx="0"/>
            </p:cNvCxnSpPr>
            <p:nvPr/>
          </p:nvCxnSpPr>
          <p:spPr bwMode="auto">
            <a:xfrm>
              <a:off x="7191251" y="2989163"/>
              <a:ext cx="384175" cy="1873250"/>
            </a:xfrm>
            <a:prstGeom prst="straightConnector1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 type="arrow" w="med" len="med"/>
            </a:ln>
          </p:spPr>
        </p:cxnSp>
        <p:cxnSp>
          <p:nvCxnSpPr>
            <p:cNvPr id="32796" name="Shape 20"/>
            <p:cNvCxnSpPr>
              <a:cxnSpLocks noChangeShapeType="1"/>
            </p:cNvCxnSpPr>
            <p:nvPr/>
          </p:nvCxnSpPr>
          <p:spPr bwMode="auto">
            <a:xfrm rot="5400000" flipH="1">
              <a:off x="9585200" y="2935188"/>
              <a:ext cx="971550" cy="577850"/>
            </a:xfrm>
            <a:prstGeom prst="curvedConnector2">
              <a:avLst/>
            </a:prstGeom>
            <a:noFill/>
            <a:ln w="190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cxnSp>
          <p:nvCxnSpPr>
            <p:cNvPr id="32797" name="Shape 20"/>
            <p:cNvCxnSpPr>
              <a:cxnSpLocks noChangeShapeType="1"/>
              <a:stCxn id="32776" idx="1"/>
              <a:endCxn id="32773" idx="1"/>
            </p:cNvCxnSpPr>
            <p:nvPr/>
          </p:nvCxnSpPr>
          <p:spPr bwMode="auto">
            <a:xfrm rot="10800000" flipH="1">
              <a:off x="5953001" y="4052788"/>
              <a:ext cx="792163" cy="1727200"/>
            </a:xfrm>
            <a:prstGeom prst="curvedConnector3">
              <a:avLst>
                <a:gd name="adj1" fmla="val -28856"/>
              </a:avLst>
            </a:prstGeom>
            <a:noFill/>
            <a:ln w="19050" algn="ctr">
              <a:solidFill>
                <a:schemeClr val="accent1"/>
              </a:solidFill>
              <a:round/>
              <a:headEnd/>
              <a:tailEnd type="arrow" w="med" len="med"/>
            </a:ln>
          </p:spPr>
        </p:cxnSp>
        <p:sp>
          <p:nvSpPr>
            <p:cNvPr id="32" name="Овал 4"/>
            <p:cNvSpPr/>
            <p:nvPr/>
          </p:nvSpPr>
          <p:spPr>
            <a:xfrm>
              <a:off x="9421688" y="2545598"/>
              <a:ext cx="360363" cy="36036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rgbClr val="FFFFFF"/>
                  </a:solidFill>
                </a:rPr>
                <a:t>T</a:t>
              </a:r>
              <a:endParaRPr lang="ru-RU" sz="2000" dirty="0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Классификация дуг графа при обходе в глубину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1731F5"/>
                </a:solidFill>
                <a:latin typeface="Calibri" pitchFamily="34" charset="0"/>
              </a:rPr>
              <a:t>Древесные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входят в граф предшествования</a:t>
            </a:r>
          </a:p>
          <a:p>
            <a:r>
              <a:rPr lang="ru-RU" sz="2400" dirty="0">
                <a:solidFill>
                  <a:schemeClr val="accent2"/>
                </a:solidFill>
                <a:latin typeface="Calibri" pitchFamily="34" charset="0"/>
              </a:rPr>
              <a:t>Прямые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соединяют вершину с её потомком, но не входят в граф предшествования</a:t>
            </a:r>
          </a:p>
          <a:p>
            <a:r>
              <a:rPr lang="ru-RU" sz="2400" dirty="0">
                <a:solidFill>
                  <a:schemeClr val="accent1"/>
                </a:solidFill>
                <a:latin typeface="Calibri" pitchFamily="34" charset="0"/>
              </a:rPr>
              <a:t>Обратные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соединяют вершину с её предком в графе предшествования</a:t>
            </a:r>
          </a:p>
          <a:p>
            <a:r>
              <a:rPr lang="ru-RU" sz="2400" dirty="0">
                <a:solidFill>
                  <a:schemeClr val="bg1"/>
                </a:solidFill>
                <a:latin typeface="Calibri" pitchFamily="34" charset="0"/>
              </a:rPr>
              <a:t>Перекрёстные рёбра</a:t>
            </a:r>
          </a:p>
          <a:p>
            <a:pPr marL="672084" lvl="1"/>
            <a:r>
              <a:rPr lang="ru-RU" sz="2000" dirty="0">
                <a:solidFill>
                  <a:schemeClr val="bg1"/>
                </a:solidFill>
                <a:latin typeface="Calibri" pitchFamily="34" charset="0"/>
              </a:rPr>
              <a:t>все остальные</a:t>
            </a:r>
          </a:p>
        </p:txBody>
      </p:sp>
    </p:spTree>
    <p:extLst>
      <p:ext uri="{BB962C8B-B14F-4D97-AF65-F5344CB8AC3E}">
        <p14:creationId xmlns:p14="http://schemas.microsoft.com/office/powerpoint/2010/main" val="31659876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11" name="Группа 10"/>
          <p:cNvGrpSpPr/>
          <p:nvPr/>
        </p:nvGrpSpPr>
        <p:grpSpPr>
          <a:xfrm>
            <a:off x="6622255" y="2125336"/>
            <a:ext cx="4535489" cy="3475691"/>
            <a:chOff x="5953000" y="2545598"/>
            <a:chExt cx="4535489" cy="3475691"/>
          </a:xfrm>
        </p:grpSpPr>
        <p:sp>
          <p:nvSpPr>
            <p:cNvPr id="4" name="Овал 3"/>
            <p:cNvSpPr/>
            <p:nvPr/>
          </p:nvSpPr>
          <p:spPr>
            <a:xfrm>
              <a:off x="6745163" y="3854352"/>
              <a:ext cx="469900" cy="43973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5" name="Овал 4"/>
            <p:cNvSpPr/>
            <p:nvPr/>
          </p:nvSpPr>
          <p:spPr>
            <a:xfrm>
              <a:off x="5953000" y="5581552"/>
              <a:ext cx="469900" cy="43973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6" name="Овал 5"/>
            <p:cNvSpPr/>
            <p:nvPr/>
          </p:nvSpPr>
          <p:spPr>
            <a:xfrm>
              <a:off x="6745163" y="2630388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7" name="Овал 6"/>
            <p:cNvSpPr/>
            <p:nvPr/>
          </p:nvSpPr>
          <p:spPr>
            <a:xfrm>
              <a:off x="7392863" y="4862413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32773" name="TextBox 7"/>
            <p:cNvSpPr txBox="1">
              <a:spLocks noChangeArrowheads="1"/>
            </p:cNvSpPr>
            <p:nvPr/>
          </p:nvSpPr>
          <p:spPr bwMode="auto">
            <a:xfrm>
              <a:off x="6745164" y="3854352"/>
              <a:ext cx="41433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Z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4" name="TextBox 8"/>
            <p:cNvSpPr txBox="1">
              <a:spLocks noChangeArrowheads="1"/>
            </p:cNvSpPr>
            <p:nvPr/>
          </p:nvSpPr>
          <p:spPr bwMode="auto">
            <a:xfrm>
              <a:off x="7392864" y="4862414"/>
              <a:ext cx="3651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w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5" name="TextBox 9"/>
            <p:cNvSpPr txBox="1">
              <a:spLocks noChangeArrowheads="1"/>
            </p:cNvSpPr>
            <p:nvPr/>
          </p:nvSpPr>
          <p:spPr bwMode="auto">
            <a:xfrm>
              <a:off x="6816601" y="2630389"/>
              <a:ext cx="3016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S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32776" name="TextBox 16"/>
            <p:cNvSpPr txBox="1">
              <a:spLocks noChangeArrowheads="1"/>
            </p:cNvSpPr>
            <p:nvPr/>
          </p:nvSpPr>
          <p:spPr bwMode="auto">
            <a:xfrm>
              <a:off x="5953001" y="5581552"/>
              <a:ext cx="3587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 x</a:t>
              </a:r>
              <a:endParaRPr lang="ru-RU" sz="2000">
                <a:latin typeface="Calibri" pitchFamily="34" charset="0"/>
              </a:endParaRPr>
            </a:p>
          </p:txBody>
        </p:sp>
        <p:sp>
          <p:nvSpPr>
            <p:cNvPr id="18" name="Овал 17"/>
            <p:cNvSpPr/>
            <p:nvPr/>
          </p:nvSpPr>
          <p:spPr>
            <a:xfrm>
              <a:off x="5953000" y="4789388"/>
              <a:ext cx="469900" cy="4397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32778" name="TextBox 18"/>
            <p:cNvSpPr txBox="1">
              <a:spLocks noChangeArrowheads="1"/>
            </p:cNvSpPr>
            <p:nvPr/>
          </p:nvSpPr>
          <p:spPr bwMode="auto">
            <a:xfrm>
              <a:off x="6024438" y="4789389"/>
              <a:ext cx="2984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latin typeface="Calibri" pitchFamily="34" charset="0"/>
                </a:rPr>
                <a:t>y</a:t>
              </a:r>
              <a:endParaRPr lang="ru-RU" sz="2000">
                <a:latin typeface="Calibri" pitchFamily="34" charset="0"/>
              </a:endParaRPr>
            </a:p>
          </p:txBody>
        </p:sp>
        <p:cxnSp>
          <p:nvCxnSpPr>
            <p:cNvPr id="32779" name="Shape 20"/>
            <p:cNvCxnSpPr>
              <a:cxnSpLocks noChangeShapeType="1"/>
            </p:cNvCxnSpPr>
            <p:nvPr/>
          </p:nvCxnSpPr>
          <p:spPr bwMode="auto">
            <a:xfrm>
              <a:off x="6168901" y="5221189"/>
              <a:ext cx="3175" cy="358775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0" name="Shape 20"/>
            <p:cNvCxnSpPr>
              <a:cxnSpLocks noChangeShapeType="1"/>
              <a:stCxn id="32775" idx="2"/>
              <a:endCxn id="32773" idx="0"/>
            </p:cNvCxnSpPr>
            <p:nvPr/>
          </p:nvCxnSpPr>
          <p:spPr bwMode="auto">
            <a:xfrm flipH="1">
              <a:off x="6953125" y="3027263"/>
              <a:ext cx="14288" cy="827088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1" name="Shape 20"/>
            <p:cNvCxnSpPr>
              <a:cxnSpLocks noChangeShapeType="1"/>
              <a:stCxn id="32773" idx="2"/>
              <a:endCxn id="32774" idx="0"/>
            </p:cNvCxnSpPr>
            <p:nvPr/>
          </p:nvCxnSpPr>
          <p:spPr bwMode="auto">
            <a:xfrm>
              <a:off x="6953125" y="4251227"/>
              <a:ext cx="622300" cy="611187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2" name="Shape 20"/>
            <p:cNvCxnSpPr>
              <a:cxnSpLocks noChangeShapeType="1"/>
              <a:stCxn id="32773" idx="2"/>
              <a:endCxn id="18" idx="7"/>
            </p:cNvCxnSpPr>
            <p:nvPr/>
          </p:nvCxnSpPr>
          <p:spPr bwMode="auto">
            <a:xfrm flipH="1">
              <a:off x="6354639" y="4251226"/>
              <a:ext cx="598487" cy="590550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sp>
          <p:nvSpPr>
            <p:cNvPr id="3" name="Овал 4"/>
            <p:cNvSpPr/>
            <p:nvPr/>
          </p:nvSpPr>
          <p:spPr>
            <a:xfrm>
              <a:off x="10128126" y="3709889"/>
              <a:ext cx="360363" cy="36036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>
                  <a:solidFill>
                    <a:srgbClr val="FFFFFF"/>
                  </a:solidFill>
                </a:rPr>
                <a:t>u</a:t>
              </a:r>
              <a:endParaRPr lang="ru-RU" sz="2000">
                <a:solidFill>
                  <a:srgbClr val="FFFFFF"/>
                </a:solidFill>
              </a:endParaRPr>
            </a:p>
          </p:txBody>
        </p:sp>
        <p:sp>
          <p:nvSpPr>
            <p:cNvPr id="8" name="Овал 4"/>
            <p:cNvSpPr/>
            <p:nvPr/>
          </p:nvSpPr>
          <p:spPr>
            <a:xfrm>
              <a:off x="8761288" y="3709889"/>
              <a:ext cx="360362" cy="35877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 sz="2000">
                <a:solidFill>
                  <a:srgbClr val="FFFFFF"/>
                </a:solidFill>
              </a:endParaRPr>
            </a:p>
          </p:txBody>
        </p:sp>
        <p:cxnSp>
          <p:nvCxnSpPr>
            <p:cNvPr id="32786" name="Shape 20"/>
            <p:cNvCxnSpPr>
              <a:cxnSpLocks noChangeShapeType="1"/>
              <a:endCxn id="8" idx="0"/>
            </p:cNvCxnSpPr>
            <p:nvPr/>
          </p:nvCxnSpPr>
          <p:spPr bwMode="auto">
            <a:xfrm flipH="1">
              <a:off x="8942263" y="2878038"/>
              <a:ext cx="519112" cy="819150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7" name="Shape 20"/>
            <p:cNvCxnSpPr>
              <a:cxnSpLocks noChangeShapeType="1"/>
              <a:endCxn id="3" idx="1"/>
            </p:cNvCxnSpPr>
            <p:nvPr/>
          </p:nvCxnSpPr>
          <p:spPr bwMode="auto">
            <a:xfrm>
              <a:off x="9716963" y="2878038"/>
              <a:ext cx="463550" cy="871538"/>
            </a:xfrm>
            <a:prstGeom prst="straightConnector1">
              <a:avLst/>
            </a:prstGeom>
            <a:noFill/>
            <a:ln w="38100" algn="ctr">
              <a:solidFill>
                <a:srgbClr val="0000FF"/>
              </a:solidFill>
              <a:round/>
              <a:headEnd/>
              <a:tailEnd type="arrow" w="med" len="med"/>
            </a:ln>
          </p:spPr>
        </p:cxnSp>
        <p:cxnSp>
          <p:nvCxnSpPr>
            <p:cNvPr id="32788" name="Shape 20"/>
            <p:cNvCxnSpPr>
              <a:cxnSpLocks noChangeShapeType="1"/>
              <a:stCxn id="3" idx="2"/>
              <a:endCxn id="8" idx="6"/>
            </p:cNvCxnSpPr>
            <p:nvPr/>
          </p:nvCxnSpPr>
          <p:spPr bwMode="auto">
            <a:xfrm flipH="1" flipV="1">
              <a:off x="9134351" y="3889277"/>
              <a:ext cx="981075" cy="1587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32789" name="Text Box 22"/>
            <p:cNvSpPr txBox="1">
              <a:spLocks noChangeArrowheads="1"/>
            </p:cNvSpPr>
            <p:nvPr/>
          </p:nvSpPr>
          <p:spPr bwMode="auto">
            <a:xfrm>
              <a:off x="8885113" y="3657501"/>
              <a:ext cx="2476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 </a:t>
              </a:r>
              <a:endParaRPr lang="ru-RU"/>
            </a:p>
          </p:txBody>
        </p:sp>
        <p:sp>
          <p:nvSpPr>
            <p:cNvPr id="32792" name="Text Box 25"/>
            <p:cNvSpPr txBox="1">
              <a:spLocks noChangeArrowheads="1"/>
            </p:cNvSpPr>
            <p:nvPr/>
          </p:nvSpPr>
          <p:spPr bwMode="auto">
            <a:xfrm>
              <a:off x="8761288" y="3709889"/>
              <a:ext cx="2984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v</a:t>
              </a:r>
              <a:endParaRPr lang="ru-RU"/>
            </a:p>
          </p:txBody>
        </p:sp>
        <p:cxnSp>
          <p:nvCxnSpPr>
            <p:cNvPr id="32793" name="Shape 20"/>
            <p:cNvCxnSpPr>
              <a:cxnSpLocks noChangeShapeType="1"/>
              <a:stCxn id="32792" idx="1"/>
              <a:endCxn id="7" idx="7"/>
            </p:cNvCxnSpPr>
            <p:nvPr/>
          </p:nvCxnSpPr>
          <p:spPr bwMode="auto">
            <a:xfrm flipH="1">
              <a:off x="7794500" y="3894039"/>
              <a:ext cx="966788" cy="1020763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2794" name="Shape 20"/>
            <p:cNvCxnSpPr>
              <a:cxnSpLocks noChangeShapeType="1"/>
              <a:stCxn id="32792" idx="0"/>
              <a:endCxn id="6" idx="6"/>
            </p:cNvCxnSpPr>
            <p:nvPr/>
          </p:nvCxnSpPr>
          <p:spPr bwMode="auto">
            <a:xfrm flipH="1" flipV="1">
              <a:off x="7227763" y="2851052"/>
              <a:ext cx="1682750" cy="858837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32795" name="Shape 20"/>
            <p:cNvCxnSpPr>
              <a:cxnSpLocks noChangeShapeType="1"/>
              <a:endCxn id="32774" idx="0"/>
            </p:cNvCxnSpPr>
            <p:nvPr/>
          </p:nvCxnSpPr>
          <p:spPr bwMode="auto">
            <a:xfrm>
              <a:off x="7191251" y="2989163"/>
              <a:ext cx="384175" cy="1873250"/>
            </a:xfrm>
            <a:prstGeom prst="straightConnector1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 type="arrow" w="med" len="med"/>
            </a:ln>
          </p:spPr>
        </p:cxnSp>
        <p:cxnSp>
          <p:nvCxnSpPr>
            <p:cNvPr id="32796" name="Shape 20"/>
            <p:cNvCxnSpPr>
              <a:cxnSpLocks noChangeShapeType="1"/>
            </p:cNvCxnSpPr>
            <p:nvPr/>
          </p:nvCxnSpPr>
          <p:spPr bwMode="auto">
            <a:xfrm rot="5400000" flipH="1">
              <a:off x="9585200" y="2935188"/>
              <a:ext cx="971550" cy="577850"/>
            </a:xfrm>
            <a:prstGeom prst="curvedConnector2">
              <a:avLst/>
            </a:prstGeom>
            <a:noFill/>
            <a:ln w="19050" algn="ctr">
              <a:solidFill>
                <a:srgbClr val="4A7EBB"/>
              </a:solidFill>
              <a:round/>
              <a:headEnd/>
              <a:tailEnd type="arrow" w="med" len="med"/>
            </a:ln>
          </p:spPr>
        </p:cxnSp>
        <p:cxnSp>
          <p:nvCxnSpPr>
            <p:cNvPr id="32797" name="Shape 20"/>
            <p:cNvCxnSpPr>
              <a:cxnSpLocks noChangeShapeType="1"/>
              <a:stCxn id="32776" idx="1"/>
              <a:endCxn id="32773" idx="1"/>
            </p:cNvCxnSpPr>
            <p:nvPr/>
          </p:nvCxnSpPr>
          <p:spPr bwMode="auto">
            <a:xfrm rot="10800000" flipH="1">
              <a:off x="5953001" y="4052788"/>
              <a:ext cx="792163" cy="1727200"/>
            </a:xfrm>
            <a:prstGeom prst="curvedConnector3">
              <a:avLst>
                <a:gd name="adj1" fmla="val -28856"/>
              </a:avLst>
            </a:prstGeom>
            <a:noFill/>
            <a:ln w="19050" algn="ctr">
              <a:solidFill>
                <a:schemeClr val="accent1"/>
              </a:solidFill>
              <a:round/>
              <a:headEnd/>
              <a:tailEnd type="arrow" w="med" len="med"/>
            </a:ln>
          </p:spPr>
        </p:cxnSp>
        <p:sp>
          <p:nvSpPr>
            <p:cNvPr id="32" name="Овал 4"/>
            <p:cNvSpPr/>
            <p:nvPr/>
          </p:nvSpPr>
          <p:spPr>
            <a:xfrm>
              <a:off x="9421688" y="2545598"/>
              <a:ext cx="360363" cy="36036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rgbClr val="FFFFFF"/>
                  </a:solidFill>
                </a:rPr>
                <a:t>T</a:t>
              </a:r>
              <a:endParaRPr lang="ru-RU" sz="2000" dirty="0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Классификация дуг графа при обходе в глубину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1731F5"/>
                </a:solidFill>
                <a:latin typeface="Calibri" pitchFamily="34" charset="0"/>
              </a:rPr>
              <a:t>Древесные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входят в граф предшествования</a:t>
            </a:r>
          </a:p>
          <a:p>
            <a:r>
              <a:rPr lang="ru-RU" sz="2400" dirty="0">
                <a:solidFill>
                  <a:schemeClr val="accent2"/>
                </a:solidFill>
                <a:latin typeface="Calibri" pitchFamily="34" charset="0"/>
              </a:rPr>
              <a:t>Прямые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соединяют вершину с её потомком, но не входят в граф предшествования</a:t>
            </a:r>
          </a:p>
          <a:p>
            <a:r>
              <a:rPr lang="ru-RU" sz="2400" dirty="0">
                <a:solidFill>
                  <a:schemeClr val="accent1"/>
                </a:solidFill>
                <a:latin typeface="Calibri" pitchFamily="34" charset="0"/>
              </a:rPr>
              <a:t>Обратные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соединяют вершину с её предком в графе предшествования</a:t>
            </a:r>
          </a:p>
          <a:p>
            <a:r>
              <a:rPr lang="ru-RU" sz="2400" dirty="0">
                <a:latin typeface="Calibri" pitchFamily="34" charset="0"/>
              </a:rPr>
              <a:t>Перекрёстные рёбра</a:t>
            </a:r>
          </a:p>
          <a:p>
            <a:pPr marL="672084" lvl="1"/>
            <a:r>
              <a:rPr lang="ru-RU" sz="2000" dirty="0">
                <a:latin typeface="Calibri" pitchFamily="34" charset="0"/>
              </a:rPr>
              <a:t>все остальные</a:t>
            </a:r>
          </a:p>
        </p:txBody>
      </p:sp>
    </p:spTree>
    <p:extLst>
      <p:ext uri="{BB962C8B-B14F-4D97-AF65-F5344CB8AC3E}">
        <p14:creationId xmlns:p14="http://schemas.microsoft.com/office/powerpoint/2010/main" val="31710242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Число операций при обходе в глубину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Считаем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число (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#)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присваиваний, сравнений, доступов к элементам массивов</a:t>
                </a:r>
              </a:p>
              <a:p>
                <a:endParaRPr lang="ru-RU" sz="24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операций при обходе в глубину =</a:t>
                </a:r>
              </a:p>
              <a:p>
                <a:pPr marL="0" indent="0">
                  <a:buNone/>
                </a:pPr>
                <a:r>
                  <a:rPr lang="ru-RU" sz="22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	= </a:t>
                </a:r>
                <a:r>
                  <a:rPr lang="en-US" sz="22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</a:t>
                </a:r>
                <a:r>
                  <a:rPr lang="ru-RU" sz="22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операций в </a:t>
                </a:r>
                <a:r>
                  <a:rPr lang="en-US" sz="22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2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(d, v, </a:t>
                </a:r>
                <a:r>
                  <a:rPr lang="en-US" sz="22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2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  <m:t>𝑢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200" b="0" i="0" dirty="0" smtClean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#</m:t>
                        </m:r>
                        <m:r>
                          <m:rPr>
                            <m:nor/>
                          </m:rPr>
                          <a:rPr lang="ru-RU" sz="22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 операций в 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DepthFirstSearch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vd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)</m:t>
                        </m:r>
                      </m:e>
                    </m:nary>
                  </m:oMath>
                </a14:m>
                <a:endParaRPr lang="ru-RU" sz="22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pPr lvl="1"/>
                <a:r>
                  <a:rPr lang="ru-RU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Почему для каждой вершины </a:t>
                </a:r>
                <a:r>
                  <a:rPr lang="ru-RU" sz="20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ru-RU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(</a:t>
                </a:r>
                <a:r>
                  <a:rPr lang="en-US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d</a:t>
                </a:r>
                <a:r>
                  <a:rPr lang="ru-RU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, u, </a:t>
                </a:r>
                <a:r>
                  <a:rPr lang="en-US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v, </a:t>
                </a:r>
                <a:r>
                  <a:rPr lang="en-US" sz="20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ru-RU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 исполняется 1 раз?</a:t>
                </a:r>
                <a:endParaRPr lang="en-US" sz="20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endParaRPr lang="ru-RU" sz="24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операций в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(d, v,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 = O(#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вершин графа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</a:t>
                </a:r>
                <a:endParaRPr lang="ru-RU" sz="24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endParaRPr lang="ru-RU" sz="24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операций в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(d, u, v,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=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O(#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соседей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u)</a:t>
                </a:r>
              </a:p>
              <a:p>
                <a:endParaRPr lang="ru-RU" sz="24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операций при обходе в глубину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=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	= O(#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вершин графа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  <m:t>𝑢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(# </m:t>
                        </m:r>
                        <m:r>
                          <m:rPr>
                            <m:nor/>
                          </m:rPr>
                          <a:rPr lang="ru-RU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соседей 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= O(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вершин графа +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дуг графа)</a:t>
                </a:r>
                <a:endParaRPr lang="en-US" sz="28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pPr>
                  <a:buFont typeface="Arial" charset="0"/>
                  <a:buNone/>
                </a:pPr>
                <a:endParaRPr lang="ru-RU" sz="28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mc:Choice>
        <mc:Fallback xmlns="">
          <p:sp>
            <p:nvSpPr>
              <p:cNvPr id="2662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11" t="-1752" b="-145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Число операций при обходе в глубину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Считаем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число (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#)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присваиваний, сравнений, доступов к элементам массивов</a:t>
                </a:r>
              </a:p>
              <a:p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операций при обходе в глубину =</a:t>
                </a:r>
              </a:p>
              <a:p>
                <a:pPr marL="0" indent="0">
                  <a:buNone/>
                </a:pPr>
                <a:r>
                  <a:rPr lang="ru-RU" sz="22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	= </a:t>
                </a:r>
                <a:r>
                  <a:rPr lang="en-US" sz="22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</a:t>
                </a:r>
                <a:r>
                  <a:rPr lang="ru-RU" sz="22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операций в </a:t>
                </a:r>
                <a:r>
                  <a:rPr lang="en-US" sz="22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2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(d, v, </a:t>
                </a:r>
                <a:r>
                  <a:rPr lang="en-US" sz="22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2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  <m:t>𝑢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200" b="0" i="0" dirty="0" smtClean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#</m:t>
                        </m:r>
                        <m:r>
                          <m:rPr>
                            <m:nor/>
                          </m:rPr>
                          <a:rPr lang="ru-RU" sz="22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 операций в 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DepthFirstSearch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vd</m:t>
                        </m:r>
                        <m:r>
                          <m:rPr>
                            <m:nor/>
                          </m:rPr>
                          <a:rPr lang="en-US" sz="22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)</m:t>
                        </m:r>
                      </m:e>
                    </m:nary>
                  </m:oMath>
                </a14:m>
                <a:endParaRPr lang="ru-RU" sz="22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pPr lvl="1"/>
                <a:r>
                  <a:rPr lang="ru-RU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Почему для каждой вершины </a:t>
                </a:r>
                <a:r>
                  <a:rPr lang="ru-RU" sz="20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ru-RU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(</a:t>
                </a:r>
                <a:r>
                  <a:rPr lang="en-US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d</a:t>
                </a:r>
                <a:r>
                  <a:rPr lang="ru-RU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, u, </a:t>
                </a:r>
                <a:r>
                  <a:rPr lang="en-US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v, </a:t>
                </a:r>
                <a:r>
                  <a:rPr lang="en-US" sz="20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ru-RU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 исполняется 1 раз?</a:t>
                </a:r>
                <a:endParaRPr lang="en-US" sz="20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endParaRPr lang="ru-RU" sz="24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операций в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(d, v,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 = O(#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вершин графа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</a:t>
                </a:r>
                <a:endParaRPr lang="ru-RU" sz="24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endParaRPr lang="ru-RU" sz="24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операций в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(d, u, v,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=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O(#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соседей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u)</a:t>
                </a:r>
              </a:p>
              <a:p>
                <a:endParaRPr lang="ru-RU" sz="24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операций при обходе в глубину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=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	= O(#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вершин графа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  <m:t>𝑢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(# </m:t>
                        </m:r>
                        <m:r>
                          <m:rPr>
                            <m:nor/>
                          </m:rPr>
                          <a:rPr lang="ru-RU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соседей 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= O(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вершин графа +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дуг графа)</a:t>
                </a:r>
                <a:endParaRPr lang="en-US" sz="28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pPr>
                  <a:buFont typeface="Arial" charset="0"/>
                  <a:buNone/>
                </a:pPr>
                <a:endParaRPr lang="ru-RU" sz="28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mc:Choice>
        <mc:Fallback xmlns="">
          <p:sp>
            <p:nvSpPr>
              <p:cNvPr id="2662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11" t="-1752" b="-145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35500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Число операций при обходе в глубину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Считаем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число (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#)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присваиваний, сравнений, доступов к элементам массивов</a:t>
                </a:r>
              </a:p>
              <a:p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операций при обходе в глубину =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Calibri" pitchFamily="34" charset="0"/>
                    <a:cs typeface="Calibri" pitchFamily="34" charset="0"/>
                  </a:rPr>
                  <a:t>	= </a:t>
                </a:r>
                <a:r>
                  <a:rPr lang="en-US" sz="2200" dirty="0">
                    <a:latin typeface="Calibri" pitchFamily="34" charset="0"/>
                    <a:cs typeface="Calibri" pitchFamily="34" charset="0"/>
                  </a:rPr>
                  <a:t>#</a:t>
                </a:r>
                <a:r>
                  <a:rPr lang="ru-RU" sz="2200" dirty="0">
                    <a:latin typeface="Calibri" pitchFamily="34" charset="0"/>
                    <a:cs typeface="Calibri" pitchFamily="34" charset="0"/>
                  </a:rPr>
                  <a:t> операций в </a:t>
                </a:r>
                <a:r>
                  <a:rPr lang="en-US" sz="2200" dirty="0" err="1"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200" dirty="0">
                    <a:latin typeface="Calibri" pitchFamily="34" charset="0"/>
                    <a:cs typeface="Calibri" pitchFamily="34" charset="0"/>
                  </a:rPr>
                  <a:t>(d, v, </a:t>
                </a:r>
                <a:r>
                  <a:rPr lang="en-US" sz="2200" dirty="0" err="1"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200" dirty="0">
                    <a:latin typeface="Calibri" pitchFamily="34" charset="0"/>
                    <a:cs typeface="Calibri" pitchFamily="34" charset="0"/>
                  </a:rPr>
                  <a:t>)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200" i="1" smtClean="0">
                            <a:latin typeface="Cambria Math" panose="02040503050406030204" pitchFamily="18" charset="0"/>
                            <a:cs typeface="Calibri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Calibri" pitchFamily="34" charset="0"/>
                          </a:rPr>
                          <m:t>𝑢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#</m:t>
                        </m:r>
                        <m:r>
                          <m:rPr>
                            <m:nor/>
                          </m:rPr>
                          <a:rPr lang="ru-RU" sz="2200" dirty="0">
                            <a:latin typeface="Calibri" pitchFamily="34" charset="0"/>
                            <a:cs typeface="Calibri" pitchFamily="34" charset="0"/>
                          </a:rPr>
                          <m:t> операций в 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DepthFirstSearch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vd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)</m:t>
                        </m:r>
                      </m:e>
                    </m:nary>
                  </m:oMath>
                </a14:m>
                <a:endParaRPr lang="ru-RU" sz="2200" dirty="0">
                  <a:latin typeface="Calibri" pitchFamily="34" charset="0"/>
                  <a:cs typeface="Calibri" pitchFamily="34" charset="0"/>
                </a:endParaRPr>
              </a:p>
              <a:p>
                <a:pPr lvl="1"/>
                <a:r>
                  <a:rPr lang="ru-RU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Почему для каждой вершины </a:t>
                </a:r>
                <a:r>
                  <a:rPr lang="ru-RU" sz="20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ru-RU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(</a:t>
                </a:r>
                <a:r>
                  <a:rPr lang="en-US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d</a:t>
                </a:r>
                <a:r>
                  <a:rPr lang="ru-RU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, u, </a:t>
                </a:r>
                <a:r>
                  <a:rPr lang="en-US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v, </a:t>
                </a:r>
                <a:r>
                  <a:rPr lang="en-US" sz="20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ru-RU" sz="20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 исполняется 1 раз?</a:t>
                </a:r>
                <a:endParaRPr lang="en-US" sz="20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endParaRPr lang="ru-RU" sz="24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операций в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(d, v,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 = O(#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вершин графа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</a:t>
                </a:r>
                <a:endParaRPr lang="ru-RU" sz="24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endParaRPr lang="ru-RU" sz="24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операций в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(d, u, v,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=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O(#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соседей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u)</a:t>
                </a:r>
              </a:p>
              <a:p>
                <a:endParaRPr lang="ru-RU" sz="24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операций при обходе в глубину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=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	= O(#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вершин графа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  <m:t>𝑢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(# </m:t>
                        </m:r>
                        <m:r>
                          <m:rPr>
                            <m:nor/>
                          </m:rPr>
                          <a:rPr lang="ru-RU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соседей 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= O(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вершин графа +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дуг графа)</a:t>
                </a:r>
                <a:endParaRPr lang="en-US" sz="28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pPr>
                  <a:buFont typeface="Arial" charset="0"/>
                  <a:buNone/>
                </a:pPr>
                <a:endParaRPr lang="ru-RU" sz="28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mc:Choice>
        <mc:Fallback xmlns="">
          <p:sp>
            <p:nvSpPr>
              <p:cNvPr id="2662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11" t="-1752" b="-145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27362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Число операций при обходе в глубину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Считаем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число (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#)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присваиваний, сравнений, доступов к элементам массивов</a:t>
                </a:r>
              </a:p>
              <a:p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операций при обходе в глубину =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Calibri" pitchFamily="34" charset="0"/>
                    <a:cs typeface="Calibri" pitchFamily="34" charset="0"/>
                  </a:rPr>
                  <a:t>	= </a:t>
                </a:r>
                <a:r>
                  <a:rPr lang="en-US" sz="2200" dirty="0">
                    <a:latin typeface="Calibri" pitchFamily="34" charset="0"/>
                    <a:cs typeface="Calibri" pitchFamily="34" charset="0"/>
                  </a:rPr>
                  <a:t>#</a:t>
                </a:r>
                <a:r>
                  <a:rPr lang="ru-RU" sz="2200" dirty="0">
                    <a:latin typeface="Calibri" pitchFamily="34" charset="0"/>
                    <a:cs typeface="Calibri" pitchFamily="34" charset="0"/>
                  </a:rPr>
                  <a:t> операций в </a:t>
                </a:r>
                <a:r>
                  <a:rPr lang="en-US" sz="2200" dirty="0" err="1"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200" dirty="0">
                    <a:latin typeface="Calibri" pitchFamily="34" charset="0"/>
                    <a:cs typeface="Calibri" pitchFamily="34" charset="0"/>
                  </a:rPr>
                  <a:t>(d, v, </a:t>
                </a:r>
                <a:r>
                  <a:rPr lang="en-US" sz="2200" dirty="0" err="1"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200" dirty="0">
                    <a:latin typeface="Calibri" pitchFamily="34" charset="0"/>
                    <a:cs typeface="Calibri" pitchFamily="34" charset="0"/>
                  </a:rPr>
                  <a:t>)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200" i="1" smtClean="0">
                            <a:latin typeface="Cambria Math" panose="02040503050406030204" pitchFamily="18" charset="0"/>
                            <a:cs typeface="Calibri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Calibri" pitchFamily="34" charset="0"/>
                          </a:rPr>
                          <m:t>𝑢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#</m:t>
                        </m:r>
                        <m:r>
                          <m:rPr>
                            <m:nor/>
                          </m:rPr>
                          <a:rPr lang="ru-RU" sz="2200" dirty="0">
                            <a:latin typeface="Calibri" pitchFamily="34" charset="0"/>
                            <a:cs typeface="Calibri" pitchFamily="34" charset="0"/>
                          </a:rPr>
                          <m:t> операций в 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DepthFirstSearch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vd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)</m:t>
                        </m:r>
                      </m:e>
                    </m:nary>
                  </m:oMath>
                </a14:m>
                <a:endParaRPr lang="ru-RU" sz="2200" dirty="0">
                  <a:latin typeface="Calibri" pitchFamily="34" charset="0"/>
                  <a:cs typeface="Calibri" pitchFamily="34" charset="0"/>
                </a:endParaRPr>
              </a:p>
              <a:p>
                <a:pPr lvl="1"/>
                <a:r>
                  <a:rPr lang="ru-RU" sz="2000" dirty="0">
                    <a:latin typeface="Calibri" pitchFamily="34" charset="0"/>
                    <a:cs typeface="Calibri" pitchFamily="34" charset="0"/>
                  </a:rPr>
                  <a:t>Почему для каждой вершины </a:t>
                </a:r>
                <a:r>
                  <a:rPr lang="ru-RU" sz="2000" dirty="0" err="1"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ru-RU" sz="2000" dirty="0">
                    <a:latin typeface="Calibri" pitchFamily="34" charset="0"/>
                    <a:cs typeface="Calibri" pitchFamily="34" charset="0"/>
                  </a:rPr>
                  <a:t>(</a:t>
                </a:r>
                <a:r>
                  <a:rPr lang="en-US" sz="2000" dirty="0">
                    <a:latin typeface="Calibri" pitchFamily="34" charset="0"/>
                    <a:cs typeface="Calibri" pitchFamily="34" charset="0"/>
                  </a:rPr>
                  <a:t>d</a:t>
                </a:r>
                <a:r>
                  <a:rPr lang="ru-RU" sz="2000" dirty="0">
                    <a:latin typeface="Calibri" pitchFamily="34" charset="0"/>
                    <a:cs typeface="Calibri" pitchFamily="34" charset="0"/>
                  </a:rPr>
                  <a:t>, u, </a:t>
                </a:r>
                <a:r>
                  <a:rPr lang="en-US" sz="2000" dirty="0">
                    <a:latin typeface="Calibri" pitchFamily="34" charset="0"/>
                    <a:cs typeface="Calibri" pitchFamily="34" charset="0"/>
                  </a:rPr>
                  <a:t>v, </a:t>
                </a:r>
                <a:r>
                  <a:rPr lang="en-US" sz="2000" dirty="0" err="1"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ru-RU" sz="2000" dirty="0">
                    <a:latin typeface="Calibri" pitchFamily="34" charset="0"/>
                    <a:cs typeface="Calibri" pitchFamily="34" charset="0"/>
                  </a:rPr>
                  <a:t>) исполняется 1 раз?</a:t>
                </a:r>
                <a:endParaRPr lang="en-US" sz="2000" dirty="0">
                  <a:latin typeface="Calibri" pitchFamily="34" charset="0"/>
                  <a:cs typeface="Calibri" pitchFamily="34" charset="0"/>
                </a:endParaRPr>
              </a:p>
              <a:p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операций в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(d, v,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 = O(#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вершин графа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</a:t>
                </a:r>
                <a:endParaRPr lang="ru-RU" sz="24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endParaRPr lang="ru-RU" sz="24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операций в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(d, u, v,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=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O(#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соседей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u)</a:t>
                </a:r>
              </a:p>
              <a:p>
                <a:endParaRPr lang="ru-RU" sz="24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операций при обходе в глубину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=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	= O(#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вершин графа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  <m:t>𝑢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(# </m:t>
                        </m:r>
                        <m:r>
                          <m:rPr>
                            <m:nor/>
                          </m:rPr>
                          <a:rPr lang="ru-RU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соседей 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= O(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вершин графа +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дуг графа)</a:t>
                </a:r>
                <a:endParaRPr lang="en-US" sz="28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pPr>
                  <a:buFont typeface="Arial" charset="0"/>
                  <a:buNone/>
                </a:pPr>
                <a:endParaRPr lang="ru-RU" sz="28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mc:Choice>
        <mc:Fallback xmlns="">
          <p:sp>
            <p:nvSpPr>
              <p:cNvPr id="2662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11" t="-1752" b="-145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88141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Число операций при обходе в глубину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Считаем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число (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#)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присваиваний, сравнений, доступов к элементам массивов</a:t>
                </a:r>
              </a:p>
              <a:p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операций при обходе в глубину =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Calibri" pitchFamily="34" charset="0"/>
                    <a:cs typeface="Calibri" pitchFamily="34" charset="0"/>
                  </a:rPr>
                  <a:t>	= </a:t>
                </a:r>
                <a:r>
                  <a:rPr lang="en-US" sz="2200" dirty="0">
                    <a:latin typeface="Calibri" pitchFamily="34" charset="0"/>
                    <a:cs typeface="Calibri" pitchFamily="34" charset="0"/>
                  </a:rPr>
                  <a:t>#</a:t>
                </a:r>
                <a:r>
                  <a:rPr lang="ru-RU" sz="2200" dirty="0">
                    <a:latin typeface="Calibri" pitchFamily="34" charset="0"/>
                    <a:cs typeface="Calibri" pitchFamily="34" charset="0"/>
                  </a:rPr>
                  <a:t> операций в </a:t>
                </a:r>
                <a:r>
                  <a:rPr lang="en-US" sz="2200" dirty="0" err="1"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200" dirty="0">
                    <a:latin typeface="Calibri" pitchFamily="34" charset="0"/>
                    <a:cs typeface="Calibri" pitchFamily="34" charset="0"/>
                  </a:rPr>
                  <a:t>(d, v, </a:t>
                </a:r>
                <a:r>
                  <a:rPr lang="en-US" sz="2200" dirty="0" err="1"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200" dirty="0">
                    <a:latin typeface="Calibri" pitchFamily="34" charset="0"/>
                    <a:cs typeface="Calibri" pitchFamily="34" charset="0"/>
                  </a:rPr>
                  <a:t>)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200" i="1" smtClean="0">
                            <a:latin typeface="Cambria Math" panose="02040503050406030204" pitchFamily="18" charset="0"/>
                            <a:cs typeface="Calibri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Calibri" pitchFamily="34" charset="0"/>
                          </a:rPr>
                          <m:t>𝑢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#</m:t>
                        </m:r>
                        <m:r>
                          <m:rPr>
                            <m:nor/>
                          </m:rPr>
                          <a:rPr lang="ru-RU" sz="2200" dirty="0">
                            <a:latin typeface="Calibri" pitchFamily="34" charset="0"/>
                            <a:cs typeface="Calibri" pitchFamily="34" charset="0"/>
                          </a:rPr>
                          <m:t> операций в 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DepthFirstSearch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vd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)</m:t>
                        </m:r>
                      </m:e>
                    </m:nary>
                  </m:oMath>
                </a14:m>
                <a:endParaRPr lang="ru-RU" sz="2200" dirty="0">
                  <a:latin typeface="Calibri" pitchFamily="34" charset="0"/>
                  <a:cs typeface="Calibri" pitchFamily="34" charset="0"/>
                </a:endParaRPr>
              </a:p>
              <a:p>
                <a:pPr lvl="1"/>
                <a:r>
                  <a:rPr lang="ru-RU" sz="2000" dirty="0">
                    <a:latin typeface="Calibri" pitchFamily="34" charset="0"/>
                    <a:cs typeface="Calibri" pitchFamily="34" charset="0"/>
                  </a:rPr>
                  <a:t>Почему для каждой вершины </a:t>
                </a:r>
                <a:r>
                  <a:rPr lang="ru-RU" sz="2000" dirty="0" err="1"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ru-RU" sz="2000" dirty="0">
                    <a:latin typeface="Calibri" pitchFamily="34" charset="0"/>
                    <a:cs typeface="Calibri" pitchFamily="34" charset="0"/>
                  </a:rPr>
                  <a:t>(</a:t>
                </a:r>
                <a:r>
                  <a:rPr lang="en-US" sz="2000" dirty="0">
                    <a:latin typeface="Calibri" pitchFamily="34" charset="0"/>
                    <a:cs typeface="Calibri" pitchFamily="34" charset="0"/>
                  </a:rPr>
                  <a:t>d</a:t>
                </a:r>
                <a:r>
                  <a:rPr lang="ru-RU" sz="2000" dirty="0">
                    <a:latin typeface="Calibri" pitchFamily="34" charset="0"/>
                    <a:cs typeface="Calibri" pitchFamily="34" charset="0"/>
                  </a:rPr>
                  <a:t>, u, </a:t>
                </a:r>
                <a:r>
                  <a:rPr lang="en-US" sz="2000" dirty="0">
                    <a:latin typeface="Calibri" pitchFamily="34" charset="0"/>
                    <a:cs typeface="Calibri" pitchFamily="34" charset="0"/>
                  </a:rPr>
                  <a:t>v, </a:t>
                </a:r>
                <a:r>
                  <a:rPr lang="en-US" sz="2000" dirty="0" err="1"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ru-RU" sz="2000" dirty="0">
                    <a:latin typeface="Calibri" pitchFamily="34" charset="0"/>
                    <a:cs typeface="Calibri" pitchFamily="34" charset="0"/>
                  </a:rPr>
                  <a:t>) исполняется 1 раз?</a:t>
                </a:r>
                <a:endParaRPr lang="en-US" sz="2000" dirty="0">
                  <a:latin typeface="Calibri" pitchFamily="34" charset="0"/>
                  <a:cs typeface="Calibri" pitchFamily="34" charset="0"/>
                </a:endParaRPr>
              </a:p>
              <a:p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операций в </a:t>
                </a:r>
                <a:r>
                  <a:rPr lang="en-US" sz="2400" dirty="0" err="1"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(d, v, </a:t>
                </a:r>
                <a:r>
                  <a:rPr lang="en-US" sz="2400" dirty="0" err="1"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) = O(#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вершин графа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)</a:t>
                </a:r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операций в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(d, u, v, </a:t>
                </a:r>
                <a:r>
                  <a:rPr lang="en-US" sz="2400" dirty="0" err="1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=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O(#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соседей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u)</a:t>
                </a:r>
              </a:p>
              <a:p>
                <a:endParaRPr lang="ru-RU" sz="24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операций при обходе в глубину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=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	= O(#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вершин графа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  <m:t>𝑢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(# </m:t>
                        </m:r>
                        <m:r>
                          <m:rPr>
                            <m:nor/>
                          </m:rPr>
                          <a:rPr lang="ru-RU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соседей 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= O(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вершин графа +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дуг графа)</a:t>
                </a:r>
                <a:endParaRPr lang="en-US" sz="28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pPr>
                  <a:buFont typeface="Arial" charset="0"/>
                  <a:buNone/>
                </a:pPr>
                <a:endParaRPr lang="ru-RU" sz="28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mc:Choice>
        <mc:Fallback xmlns="">
          <p:sp>
            <p:nvSpPr>
              <p:cNvPr id="2662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11" t="-1752" b="-145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5525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Число операций при обходе в глубину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Считаем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число (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#)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присваиваний, сравнений, доступов к элементам массивов</a:t>
                </a:r>
              </a:p>
              <a:p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операций при обходе в глубину =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Calibri" pitchFamily="34" charset="0"/>
                    <a:cs typeface="Calibri" pitchFamily="34" charset="0"/>
                  </a:rPr>
                  <a:t>	= </a:t>
                </a:r>
                <a:r>
                  <a:rPr lang="en-US" sz="2200" dirty="0">
                    <a:latin typeface="Calibri" pitchFamily="34" charset="0"/>
                    <a:cs typeface="Calibri" pitchFamily="34" charset="0"/>
                  </a:rPr>
                  <a:t>#</a:t>
                </a:r>
                <a:r>
                  <a:rPr lang="ru-RU" sz="2200" dirty="0">
                    <a:latin typeface="Calibri" pitchFamily="34" charset="0"/>
                    <a:cs typeface="Calibri" pitchFamily="34" charset="0"/>
                  </a:rPr>
                  <a:t> операций в </a:t>
                </a:r>
                <a:r>
                  <a:rPr lang="en-US" sz="2200" dirty="0" err="1"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200" dirty="0">
                    <a:latin typeface="Calibri" pitchFamily="34" charset="0"/>
                    <a:cs typeface="Calibri" pitchFamily="34" charset="0"/>
                  </a:rPr>
                  <a:t>(d, v, </a:t>
                </a:r>
                <a:r>
                  <a:rPr lang="en-US" sz="2200" dirty="0" err="1"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200" dirty="0">
                    <a:latin typeface="Calibri" pitchFamily="34" charset="0"/>
                    <a:cs typeface="Calibri" pitchFamily="34" charset="0"/>
                  </a:rPr>
                  <a:t>)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200" i="1" smtClean="0">
                            <a:latin typeface="Cambria Math" panose="02040503050406030204" pitchFamily="18" charset="0"/>
                            <a:cs typeface="Calibri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Calibri" pitchFamily="34" charset="0"/>
                          </a:rPr>
                          <m:t>𝑢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#</m:t>
                        </m:r>
                        <m:r>
                          <m:rPr>
                            <m:nor/>
                          </m:rPr>
                          <a:rPr lang="ru-RU" sz="2200" dirty="0">
                            <a:latin typeface="Calibri" pitchFamily="34" charset="0"/>
                            <a:cs typeface="Calibri" pitchFamily="34" charset="0"/>
                          </a:rPr>
                          <m:t> операций в 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DepthFirstSearch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vd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)</m:t>
                        </m:r>
                      </m:e>
                    </m:nary>
                  </m:oMath>
                </a14:m>
                <a:endParaRPr lang="ru-RU" sz="2200" dirty="0">
                  <a:latin typeface="Calibri" pitchFamily="34" charset="0"/>
                  <a:cs typeface="Calibri" pitchFamily="34" charset="0"/>
                </a:endParaRPr>
              </a:p>
              <a:p>
                <a:pPr lvl="1"/>
                <a:r>
                  <a:rPr lang="ru-RU" sz="2000" dirty="0">
                    <a:latin typeface="Calibri" pitchFamily="34" charset="0"/>
                    <a:cs typeface="Calibri" pitchFamily="34" charset="0"/>
                  </a:rPr>
                  <a:t>Почему для каждой вершины </a:t>
                </a:r>
                <a:r>
                  <a:rPr lang="ru-RU" sz="2000" dirty="0" err="1"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ru-RU" sz="2000" dirty="0">
                    <a:latin typeface="Calibri" pitchFamily="34" charset="0"/>
                    <a:cs typeface="Calibri" pitchFamily="34" charset="0"/>
                  </a:rPr>
                  <a:t>(</a:t>
                </a:r>
                <a:r>
                  <a:rPr lang="en-US" sz="2000" dirty="0">
                    <a:latin typeface="Calibri" pitchFamily="34" charset="0"/>
                    <a:cs typeface="Calibri" pitchFamily="34" charset="0"/>
                  </a:rPr>
                  <a:t>d</a:t>
                </a:r>
                <a:r>
                  <a:rPr lang="ru-RU" sz="2000" dirty="0">
                    <a:latin typeface="Calibri" pitchFamily="34" charset="0"/>
                    <a:cs typeface="Calibri" pitchFamily="34" charset="0"/>
                  </a:rPr>
                  <a:t>, u, </a:t>
                </a:r>
                <a:r>
                  <a:rPr lang="en-US" sz="2000" dirty="0">
                    <a:latin typeface="Calibri" pitchFamily="34" charset="0"/>
                    <a:cs typeface="Calibri" pitchFamily="34" charset="0"/>
                  </a:rPr>
                  <a:t>v, </a:t>
                </a:r>
                <a:r>
                  <a:rPr lang="en-US" sz="2000" dirty="0" err="1"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ru-RU" sz="2000" dirty="0">
                    <a:latin typeface="Calibri" pitchFamily="34" charset="0"/>
                    <a:cs typeface="Calibri" pitchFamily="34" charset="0"/>
                  </a:rPr>
                  <a:t>) исполняется 1 раз?</a:t>
                </a:r>
                <a:endParaRPr lang="en-US" sz="2000" dirty="0">
                  <a:latin typeface="Calibri" pitchFamily="34" charset="0"/>
                  <a:cs typeface="Calibri" pitchFamily="34" charset="0"/>
                </a:endParaRPr>
              </a:p>
              <a:p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операций в </a:t>
                </a:r>
                <a:r>
                  <a:rPr lang="en-US" sz="2400" dirty="0" err="1"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(d, v, </a:t>
                </a:r>
                <a:r>
                  <a:rPr lang="en-US" sz="2400" dirty="0" err="1"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) = O(#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вершин графа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)</a:t>
                </a:r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операций в </a:t>
                </a:r>
                <a:r>
                  <a:rPr lang="en-US" sz="2400" dirty="0" err="1"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(d, u, v, </a:t>
                </a:r>
                <a:r>
                  <a:rPr lang="en-US" sz="2400" dirty="0" err="1"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)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 = 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O(#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соседей 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u)</a:t>
                </a:r>
              </a:p>
              <a:p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операций при обходе в глубину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=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	= O(#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вершин графа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)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Calibri" pitchFamily="34" charset="0"/>
                          </a:rPr>
                          <m:t>𝑢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(# </m:t>
                        </m:r>
                        <m:r>
                          <m:rPr>
                            <m:nor/>
                          </m:rPr>
                          <a:rPr lang="ru-RU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соседей 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libri" pitchFamily="34" charset="0"/>
                            <a:cs typeface="Calibri" pitchFamily="34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= O(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вершин графа + </a:t>
                </a:r>
                <a:r>
                  <a:rPr lang="en-US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solidFill>
                      <a:schemeClr val="bg1"/>
                    </a:solidFill>
                    <a:latin typeface="Calibri" pitchFamily="34" charset="0"/>
                    <a:cs typeface="Calibri" pitchFamily="34" charset="0"/>
                  </a:rPr>
                  <a:t>дуг графа)</a:t>
                </a:r>
                <a:endParaRPr lang="en-US" sz="28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  <a:p>
                <a:pPr>
                  <a:buFont typeface="Arial" charset="0"/>
                  <a:buNone/>
                </a:pPr>
                <a:endParaRPr lang="ru-RU" sz="2800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</mc:Choice>
        <mc:Fallback xmlns="">
          <p:sp>
            <p:nvSpPr>
              <p:cNvPr id="2662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11" t="-1752" b="-145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63944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Число операций при обходе в глубину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Считаем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число (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#)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присваиваний, сравнений, доступов к элементам массивов</a:t>
                </a:r>
              </a:p>
              <a:p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операций при обходе в глубину =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Calibri" pitchFamily="34" charset="0"/>
                    <a:cs typeface="Calibri" pitchFamily="34" charset="0"/>
                  </a:rPr>
                  <a:t>	= </a:t>
                </a:r>
                <a:r>
                  <a:rPr lang="en-US" sz="2200" dirty="0">
                    <a:latin typeface="Calibri" pitchFamily="34" charset="0"/>
                    <a:cs typeface="Calibri" pitchFamily="34" charset="0"/>
                  </a:rPr>
                  <a:t>#</a:t>
                </a:r>
                <a:r>
                  <a:rPr lang="ru-RU" sz="2200" dirty="0">
                    <a:latin typeface="Calibri" pitchFamily="34" charset="0"/>
                    <a:cs typeface="Calibri" pitchFamily="34" charset="0"/>
                  </a:rPr>
                  <a:t> операций в </a:t>
                </a:r>
                <a:r>
                  <a:rPr lang="en-US" sz="2200" dirty="0" err="1"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200" dirty="0">
                    <a:latin typeface="Calibri" pitchFamily="34" charset="0"/>
                    <a:cs typeface="Calibri" pitchFamily="34" charset="0"/>
                  </a:rPr>
                  <a:t>(d, v, </a:t>
                </a:r>
                <a:r>
                  <a:rPr lang="en-US" sz="2200" dirty="0" err="1"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200" dirty="0">
                    <a:latin typeface="Calibri" pitchFamily="34" charset="0"/>
                    <a:cs typeface="Calibri" pitchFamily="34" charset="0"/>
                  </a:rPr>
                  <a:t>)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200" i="1" smtClean="0">
                            <a:latin typeface="Cambria Math" panose="02040503050406030204" pitchFamily="18" charset="0"/>
                            <a:cs typeface="Calibri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Calibri" pitchFamily="34" charset="0"/>
                          </a:rPr>
                          <m:t>𝑢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#</m:t>
                        </m:r>
                        <m:r>
                          <m:rPr>
                            <m:nor/>
                          </m:rPr>
                          <a:rPr lang="ru-RU" sz="2200" dirty="0">
                            <a:latin typeface="Calibri" pitchFamily="34" charset="0"/>
                            <a:cs typeface="Calibri" pitchFamily="34" charset="0"/>
                          </a:rPr>
                          <m:t> операций в 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DepthFirstSearch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libri" pitchFamily="34" charset="0"/>
                            <a:cs typeface="Calibri" pitchFamily="34" charset="0"/>
                          </a:rPr>
                          <m:t>vd</m:t>
                        </m:r>
                        <m:r>
                          <m:rPr>
                            <m:nor/>
                          </m:rPr>
                          <a:rPr lang="en-US" sz="2200" dirty="0">
                            <a:latin typeface="Calibri" pitchFamily="34" charset="0"/>
                            <a:cs typeface="Calibri" pitchFamily="34" charset="0"/>
                          </a:rPr>
                          <m:t>)</m:t>
                        </m:r>
                      </m:e>
                    </m:nary>
                  </m:oMath>
                </a14:m>
                <a:endParaRPr lang="ru-RU" sz="2200" dirty="0">
                  <a:latin typeface="Calibri" pitchFamily="34" charset="0"/>
                  <a:cs typeface="Calibri" pitchFamily="34" charset="0"/>
                </a:endParaRPr>
              </a:p>
              <a:p>
                <a:pPr lvl="1"/>
                <a:r>
                  <a:rPr lang="ru-RU" sz="2000" dirty="0">
                    <a:latin typeface="Calibri" pitchFamily="34" charset="0"/>
                    <a:cs typeface="Calibri" pitchFamily="34" charset="0"/>
                  </a:rPr>
                  <a:t>Почему для каждой вершины </a:t>
                </a:r>
                <a:r>
                  <a:rPr lang="ru-RU" sz="2000" dirty="0" err="1"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ru-RU" sz="2000" dirty="0">
                    <a:latin typeface="Calibri" pitchFamily="34" charset="0"/>
                    <a:cs typeface="Calibri" pitchFamily="34" charset="0"/>
                  </a:rPr>
                  <a:t>(</a:t>
                </a:r>
                <a:r>
                  <a:rPr lang="en-US" sz="2000" dirty="0">
                    <a:latin typeface="Calibri" pitchFamily="34" charset="0"/>
                    <a:cs typeface="Calibri" pitchFamily="34" charset="0"/>
                  </a:rPr>
                  <a:t>d</a:t>
                </a:r>
                <a:r>
                  <a:rPr lang="ru-RU" sz="2000" dirty="0">
                    <a:latin typeface="Calibri" pitchFamily="34" charset="0"/>
                    <a:cs typeface="Calibri" pitchFamily="34" charset="0"/>
                  </a:rPr>
                  <a:t>, u, </a:t>
                </a:r>
                <a:r>
                  <a:rPr lang="en-US" sz="2000" dirty="0">
                    <a:latin typeface="Calibri" pitchFamily="34" charset="0"/>
                    <a:cs typeface="Calibri" pitchFamily="34" charset="0"/>
                  </a:rPr>
                  <a:t>v, </a:t>
                </a:r>
                <a:r>
                  <a:rPr lang="en-US" sz="2000" dirty="0" err="1"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ru-RU" sz="2000" dirty="0">
                    <a:latin typeface="Calibri" pitchFamily="34" charset="0"/>
                    <a:cs typeface="Calibri" pitchFamily="34" charset="0"/>
                  </a:rPr>
                  <a:t>) исполняется 1 раз?</a:t>
                </a:r>
                <a:endParaRPr lang="en-US" sz="2000" dirty="0">
                  <a:latin typeface="Calibri" pitchFamily="34" charset="0"/>
                  <a:cs typeface="Calibri" pitchFamily="34" charset="0"/>
                </a:endParaRPr>
              </a:p>
              <a:p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операций в </a:t>
                </a:r>
                <a:r>
                  <a:rPr lang="en-US" sz="2400" dirty="0" err="1"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(d, v, </a:t>
                </a:r>
                <a:r>
                  <a:rPr lang="en-US" sz="2400" dirty="0" err="1"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) = O(#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вершин графа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)</a:t>
                </a:r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операций в </a:t>
                </a:r>
                <a:r>
                  <a:rPr lang="en-US" sz="2400" dirty="0" err="1">
                    <a:latin typeface="Calibri" pitchFamily="34" charset="0"/>
                    <a:cs typeface="Calibri" pitchFamily="34" charset="0"/>
                  </a:rPr>
                  <a:t>DepthFirstSearch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(d, u, v, </a:t>
                </a:r>
                <a:r>
                  <a:rPr lang="en-US" sz="2400" dirty="0" err="1">
                    <a:latin typeface="Calibri" pitchFamily="34" charset="0"/>
                    <a:cs typeface="Calibri" pitchFamily="34" charset="0"/>
                  </a:rPr>
                  <a:t>vd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)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 = 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O(#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соседей 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u)</a:t>
                </a:r>
              </a:p>
              <a:p>
                <a:endParaRPr lang="ru-RU" sz="2400" dirty="0">
                  <a:latin typeface="Calibri" pitchFamily="34" charset="0"/>
                  <a:cs typeface="Calibri" pitchFamily="34" charset="0"/>
                </a:endParaRPr>
              </a:p>
              <a:p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 операций при обходе в глубину 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=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	= O(#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вершин графа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) 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Calibri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Calibri" pitchFamily="34" charset="0"/>
                          </a:rPr>
                          <m:t>𝑢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Calibri" pitchFamily="34" charset="0"/>
                            <a:cs typeface="Calibri" pitchFamily="34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alibri" pitchFamily="34" charset="0"/>
                            <a:cs typeface="Calibri" pitchFamily="34" charset="0"/>
                          </a:rPr>
                          <m:t>(# </m:t>
                        </m:r>
                        <m:r>
                          <m:rPr>
                            <m:nor/>
                          </m:rPr>
                          <a:rPr lang="ru-RU" sz="2400" dirty="0">
                            <a:latin typeface="Calibri" pitchFamily="34" charset="0"/>
                            <a:cs typeface="Calibri" pitchFamily="34" charset="0"/>
                          </a:rPr>
                          <m:t>соседей 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alibri" pitchFamily="34" charset="0"/>
                            <a:cs typeface="Calibri" pitchFamily="34" charset="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alibri" pitchFamily="34" charset="0"/>
                            <a:cs typeface="Calibri" pitchFamily="34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= O(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вершин графа + </a:t>
                </a: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# </a:t>
                </a:r>
                <a:r>
                  <a:rPr lang="ru-RU" sz="2400" dirty="0">
                    <a:latin typeface="Calibri" pitchFamily="34" charset="0"/>
                    <a:cs typeface="Calibri" pitchFamily="34" charset="0"/>
                  </a:rPr>
                  <a:t>дуг графа)</a:t>
                </a:r>
                <a:endParaRPr lang="en-US" sz="2800" dirty="0">
                  <a:latin typeface="Calibri" pitchFamily="34" charset="0"/>
                  <a:cs typeface="Calibri" pitchFamily="34" charset="0"/>
                </a:endParaRPr>
              </a:p>
              <a:p>
                <a:pPr>
                  <a:buFont typeface="Arial" charset="0"/>
                  <a:buNone/>
                </a:pPr>
                <a:endParaRPr lang="ru-RU" sz="2800" dirty="0">
                  <a:latin typeface="Calibri" pitchFamily="34" charset="0"/>
                  <a:cs typeface="Calibri" pitchFamily="34" charset="0"/>
                </a:endParaRPr>
              </a:p>
            </p:txBody>
          </p:sp>
        </mc:Choice>
        <mc:Fallback xmlns="">
          <p:sp>
            <p:nvSpPr>
              <p:cNvPr id="2662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11" t="-1752" b="-145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36020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Свойства поиска в глубину</a:t>
            </a:r>
          </a:p>
        </p:txBody>
      </p:sp>
      <p:sp>
        <p:nvSpPr>
          <p:cNvPr id="30722" name="Rectangle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Для любых двух вершин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графа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времена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[v],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записанные при обходе в глубину, удовлетворяют одному из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условий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:</a:t>
            </a:r>
          </a:p>
          <a:p>
            <a:pPr marL="609600" indent="-609600">
              <a:buNone/>
            </a:pPr>
            <a:endParaRPr lang="ru-RU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[u]]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[v]]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не пересекаются</a:t>
            </a:r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609600" indent="-609600">
              <a:buNone/>
            </a:pPr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 startAt="2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[u]]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/>
              </a:rPr>
              <a:t>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[v]]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есть потомок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в подграфе предшествования графа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</a:t>
            </a:r>
          </a:p>
          <a:p>
            <a:pPr marL="609600" indent="-609600">
              <a:buNone/>
            </a:pPr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 startAt="3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[v]]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/>
              </a:rPr>
              <a:t>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[u]]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есть потомок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в подграфе предшествования графа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</a:t>
            </a:r>
            <a:endParaRPr lang="ru-RU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 startAt="2"/>
            </a:pPr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609600" indent="-609600">
              <a:buNone/>
            </a:pPr>
            <a:endParaRPr lang="ru-RU" sz="20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Свойства поиска в глубину</a:t>
            </a:r>
          </a:p>
        </p:txBody>
      </p:sp>
      <p:sp>
        <p:nvSpPr>
          <p:cNvPr id="30722" name="Rectangle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latin typeface="Calibri" pitchFamily="34" charset="0"/>
                <a:cs typeface="Calibri" pitchFamily="34" charset="0"/>
              </a:rPr>
              <a:t>Для любых двух вершин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u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v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графа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G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времена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[v],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записанные при обходе в глубину, удовлетворяют одному из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условий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:</a:t>
            </a:r>
          </a:p>
          <a:p>
            <a:pPr marL="609600" indent="-609600">
              <a:buNone/>
            </a:pPr>
            <a:endParaRPr lang="ru-RU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[u]]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[v]]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не пересекаются</a:t>
            </a:r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609600" indent="-609600">
              <a:buNone/>
            </a:pPr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 startAt="2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[u]]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/>
              </a:rPr>
              <a:t>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[v]]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есть потомок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в подграфе предшествования графа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</a:t>
            </a:r>
          </a:p>
          <a:p>
            <a:pPr marL="609600" indent="-609600">
              <a:buNone/>
            </a:pPr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 startAt="3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[v]]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/>
              </a:rPr>
              <a:t>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[u]]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есть потомок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в подграфе предшествования графа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</a:t>
            </a:r>
            <a:endParaRPr lang="ru-RU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 startAt="2"/>
            </a:pPr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609600" indent="-609600">
              <a:buNone/>
            </a:pPr>
            <a:endParaRPr lang="ru-RU" sz="20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3958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Свойства поиска в глубину</a:t>
            </a:r>
          </a:p>
        </p:txBody>
      </p:sp>
      <p:sp>
        <p:nvSpPr>
          <p:cNvPr id="30722" name="Rectangle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latin typeface="Calibri" pitchFamily="34" charset="0"/>
                <a:cs typeface="Calibri" pitchFamily="34" charset="0"/>
              </a:rPr>
              <a:t>Для любых двух вершин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u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v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графа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G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времена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[v],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записанные при обходе в глубину, удовлетворяют одному из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условий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:</a:t>
            </a:r>
          </a:p>
          <a:p>
            <a:pPr marL="609600" indent="-609600">
              <a:buNone/>
            </a:pPr>
            <a:endParaRPr lang="ru-RU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[u]]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[v]]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не пересекаются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buNone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 startAt="2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[u]]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/>
              </a:rPr>
              <a:t>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[v]]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есть потомок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в подграфе предшествования графа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</a:t>
            </a:r>
          </a:p>
          <a:p>
            <a:pPr marL="609600" indent="-609600">
              <a:buNone/>
            </a:pPr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 startAt="3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[v]]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/>
              </a:rPr>
              <a:t>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[u]]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есть потомок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в подграфе предшествования графа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</a:t>
            </a:r>
            <a:endParaRPr lang="ru-RU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 startAt="2"/>
            </a:pPr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609600" indent="-609600">
              <a:buNone/>
            </a:pPr>
            <a:endParaRPr lang="ru-RU" sz="20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1212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Свойства поиска в глубину</a:t>
            </a:r>
          </a:p>
        </p:txBody>
      </p:sp>
      <p:sp>
        <p:nvSpPr>
          <p:cNvPr id="30722" name="Rectangle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latin typeface="Calibri" pitchFamily="34" charset="0"/>
                <a:cs typeface="Calibri" pitchFamily="34" charset="0"/>
              </a:rPr>
              <a:t>Для любых двух вершин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u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v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графа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G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времена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[v],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записанные при обходе в глубину, удовлетворяют одному из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условий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:</a:t>
            </a:r>
          </a:p>
          <a:p>
            <a:pPr marL="609600" indent="-609600">
              <a:buNone/>
            </a:pPr>
            <a:endParaRPr lang="ru-RU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[u]]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[v]]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не пересекаются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buNone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 startAt="2"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[u]] </a:t>
            </a:r>
            <a:r>
              <a:rPr lang="ru-RU" sz="2400" dirty="0">
                <a:latin typeface="Calibri" pitchFamily="34" charset="0"/>
                <a:cs typeface="Calibri" pitchFamily="34" charset="0"/>
                <a:sym typeface="Symbol"/>
              </a:rPr>
              <a:t>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[v]]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 и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u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есть потомок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v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в подграфе предшествования графа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G</a:t>
            </a:r>
          </a:p>
          <a:p>
            <a:pPr marL="609600" indent="-609600">
              <a:buNone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 startAt="3"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[v]]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/>
              </a:rPr>
              <a:t>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[u]]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есть потомок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в подграфе предшествования графа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</a:t>
            </a:r>
            <a:endParaRPr lang="ru-RU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 startAt="2"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buNone/>
            </a:pPr>
            <a:endParaRPr lang="ru-RU" sz="20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3968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Свойства поиска в глубину</a:t>
            </a:r>
          </a:p>
        </p:txBody>
      </p:sp>
      <p:sp>
        <p:nvSpPr>
          <p:cNvPr id="30722" name="Rectangle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latin typeface="Calibri" pitchFamily="34" charset="0"/>
                <a:cs typeface="Calibri" pitchFamily="34" charset="0"/>
              </a:rPr>
              <a:t>Для любых двух вершин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u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v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графа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G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времена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[v],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записанные при обходе в глубину, удовлетворяют одному из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условий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:</a:t>
            </a:r>
          </a:p>
          <a:p>
            <a:pPr marL="609600" indent="-609600">
              <a:buNone/>
            </a:pPr>
            <a:endParaRPr lang="ru-RU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[u]]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[v]]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не пересекаются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buNone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 startAt="2"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[u]] </a:t>
            </a:r>
            <a:r>
              <a:rPr lang="ru-RU" sz="2400" dirty="0">
                <a:latin typeface="Calibri" pitchFamily="34" charset="0"/>
                <a:cs typeface="Calibri" pitchFamily="34" charset="0"/>
                <a:sym typeface="Symbol"/>
              </a:rPr>
              <a:t>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[v]]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 и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u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есть потомок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v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в подграфе предшествования графа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G</a:t>
            </a:r>
          </a:p>
          <a:p>
            <a:pPr marL="609600" indent="-609600">
              <a:buNone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 startAt="3"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[v]] </a:t>
            </a:r>
            <a:r>
              <a:rPr lang="ru-RU" sz="2400" dirty="0">
                <a:latin typeface="Calibri" pitchFamily="34" charset="0"/>
                <a:cs typeface="Calibri" pitchFamily="34" charset="0"/>
                <a:sym typeface="Symbol"/>
              </a:rPr>
              <a:t>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StartTime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EndTime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[u]]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 и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v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есть потомок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u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в подграфе предшествования графа 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G</a:t>
            </a:r>
            <a:endParaRPr lang="ru-RU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buFont typeface="Arial" charset="0"/>
              <a:buAutoNum type="arabicParenR" startAt="2"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609600" indent="-609600">
              <a:buNone/>
            </a:pPr>
            <a:endParaRPr lang="ru-RU" sz="20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8862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ширину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Обработка вершин по мере удаления от стартовой вершины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Компьютерное моделирование, графические интерфейсы, анализ пропускной способности транспортных, электрических и т.п. цепей и сетей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Алгоритмы обработки графов</a:t>
            </a:r>
          </a:p>
          <a:p>
            <a:pPr lvl="1"/>
            <a:r>
              <a:rPr lang="ru-RU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Поиск кратчайших путей</a:t>
            </a:r>
            <a:endParaRPr lang="en-US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lvl="1"/>
            <a:r>
              <a:rPr lang="ru-RU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Вычисление максимального потока в сети</a:t>
            </a:r>
          </a:p>
          <a:p>
            <a:pPr lvl="1"/>
            <a:r>
              <a:rPr lang="ru-RU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Проверка связности</a:t>
            </a:r>
          </a:p>
          <a:p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457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ширину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Обработка вершин по мере удаления от стартовой вершины</a:t>
            </a:r>
          </a:p>
          <a:p>
            <a:endParaRPr lang="ru-RU" dirty="0"/>
          </a:p>
          <a:p>
            <a:r>
              <a:rPr lang="ru-RU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Компьютерное моделирование, графические интерфейсы, анализ пропускной способности транспортных, электрических и т.п. цепей и сетей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Алгоритмы обработки графов</a:t>
            </a:r>
          </a:p>
          <a:p>
            <a:pPr lvl="1"/>
            <a:r>
              <a:rPr lang="ru-RU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Поиск кратчайших путей</a:t>
            </a:r>
            <a:endParaRPr lang="en-US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lvl="1"/>
            <a:r>
              <a:rPr lang="ru-RU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Вычисление максимального потока в сети</a:t>
            </a:r>
          </a:p>
          <a:p>
            <a:pPr lvl="1"/>
            <a:r>
              <a:rPr lang="ru-RU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Проверка связности</a:t>
            </a:r>
          </a:p>
          <a:p>
            <a:endParaRPr lang="ru-RU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6511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ширину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Обработка вершин по мере удаления от стартовой вершины</a:t>
            </a:r>
          </a:p>
          <a:p>
            <a:endParaRPr lang="ru-RU" dirty="0"/>
          </a:p>
          <a:p>
            <a:r>
              <a:rPr lang="ru-RU" dirty="0">
                <a:latin typeface="Calibri" pitchFamily="34" charset="0"/>
                <a:cs typeface="Calibri" pitchFamily="34" charset="0"/>
              </a:rPr>
              <a:t>Компьютерное моделирование, графические интерфейсы, анализ пропускной способности транспортных, электрических и т.п. цепей и сетей</a:t>
            </a:r>
          </a:p>
          <a:p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Алгоритмы обработки графов</a:t>
            </a:r>
          </a:p>
          <a:p>
            <a:pPr lvl="1"/>
            <a:r>
              <a:rPr lang="ru-RU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Поиск кратчайших путей</a:t>
            </a:r>
            <a:endParaRPr lang="en-US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lvl="1"/>
            <a:r>
              <a:rPr lang="ru-RU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Вычисление максимального потока в сети</a:t>
            </a:r>
          </a:p>
          <a:p>
            <a:pPr lvl="1"/>
            <a:r>
              <a:rPr lang="ru-RU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Проверка связности</a:t>
            </a:r>
          </a:p>
          <a:p>
            <a:endParaRPr lang="ru-RU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798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ширину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Обработка вершин по мере удаления от стартовой вершины</a:t>
            </a:r>
          </a:p>
          <a:p>
            <a:endParaRPr lang="ru-RU" dirty="0"/>
          </a:p>
          <a:p>
            <a:r>
              <a:rPr lang="ru-RU" dirty="0">
                <a:latin typeface="Calibri" pitchFamily="34" charset="0"/>
                <a:cs typeface="Calibri" pitchFamily="34" charset="0"/>
              </a:rPr>
              <a:t>Компьютерное моделирование, графические интерфейсы, анализ пропускной способности транспортных, электрических и т.п. цепей и сетей</a:t>
            </a:r>
          </a:p>
          <a:p>
            <a:endParaRPr lang="ru-RU" dirty="0"/>
          </a:p>
          <a:p>
            <a:r>
              <a:rPr lang="ru-RU" dirty="0"/>
              <a:t>Алгоритмы обработки графов</a:t>
            </a:r>
          </a:p>
          <a:p>
            <a:pPr lvl="1"/>
            <a:r>
              <a:rPr lang="ru-RU" dirty="0">
                <a:latin typeface="Calibri" pitchFamily="34" charset="0"/>
                <a:cs typeface="Calibri" pitchFamily="34" charset="0"/>
              </a:rPr>
              <a:t>Поиск кратчайших путей</a:t>
            </a:r>
            <a:endParaRPr lang="en-US" dirty="0">
              <a:latin typeface="Calibri" pitchFamily="34" charset="0"/>
              <a:cs typeface="Calibri" pitchFamily="34" charset="0"/>
            </a:endParaRPr>
          </a:p>
          <a:p>
            <a:pPr lvl="1"/>
            <a:r>
              <a:rPr lang="ru-RU" dirty="0">
                <a:latin typeface="Calibri" pitchFamily="34" charset="0"/>
                <a:cs typeface="Calibri" pitchFamily="34" charset="0"/>
              </a:rPr>
              <a:t>Вычисление максимального потока в сети</a:t>
            </a:r>
          </a:p>
          <a:p>
            <a:pPr lvl="1"/>
            <a:r>
              <a:rPr lang="ru-RU" dirty="0">
                <a:latin typeface="Calibri" pitchFamily="34" charset="0"/>
                <a:cs typeface="Calibri" pitchFamily="34" charset="0"/>
              </a:rPr>
              <a:t>Проверка связности</a:t>
            </a:r>
          </a:p>
          <a:p>
            <a:endParaRPr lang="ru-RU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9711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ширину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{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Graph, Parent[], Distance[]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}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visitor 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OnFind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(u),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OnFinish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(u),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OnArcFind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(u, v),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OnArcFinish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(u, v)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Data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BreadthFirstSearch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start, visitor):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bfsData.Graph.Vertices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bfsData.Parent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u] = u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[u] = ∞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bfsData.Parent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[start] = start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[start] = 0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Enqueue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(start,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IsEmpty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):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u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Dequeue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visitor.OnFind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(u)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bfsData.Graph.Edges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visitor.OnArcFind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(u, v)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 == ∞: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bfsData.Parent</a:t>
            </a:r>
            <a:r>
              <a:rPr lang="el-GR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v]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= u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 =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[u]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+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1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Enqueue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(v,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visitor.OnArcFinish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(u, v)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visitor.OnFinish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(u)</a:t>
            </a:r>
            <a:endParaRPr lang="ru-RU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7719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ширину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 err="1">
                <a:latin typeface="Consolas" panose="020B0609020204030204" pitchFamily="49" charset="0"/>
                <a:cs typeface="Calibri" pitchFamily="34" charset="0"/>
              </a:rPr>
              <a:t>bfsData</a:t>
            </a:r>
            <a:r>
              <a:rPr lang="en-US" sz="2800" dirty="0">
                <a:latin typeface="Consolas" panose="020B0609020204030204" pitchFamily="49" charset="0"/>
                <a:cs typeface="Calibri" pitchFamily="34" charset="0"/>
              </a:rPr>
              <a:t> {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800" dirty="0">
                <a:latin typeface="Consolas" panose="020B0609020204030204" pitchFamily="49" charset="0"/>
                <a:cs typeface="Calibri" pitchFamily="34" charset="0"/>
              </a:rPr>
              <a:t>Graph, Parent[], Distance[]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latin typeface="Consolas" panose="020B0609020204030204" pitchFamily="49" charset="0"/>
                <a:cs typeface="Calibri" pitchFamily="34" charset="0"/>
              </a:rPr>
              <a:t>}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visitor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OnFind</a:t>
            </a:r>
            <a:r>
              <a:rPr lang="en-US" dirty="0">
                <a:latin typeface="Consolas" panose="020B0609020204030204" pitchFamily="49" charset="0"/>
              </a:rPr>
              <a:t>(u), </a:t>
            </a:r>
            <a:r>
              <a:rPr lang="en-US" dirty="0" err="1">
                <a:latin typeface="Consolas" panose="020B0609020204030204" pitchFamily="49" charset="0"/>
              </a:rPr>
              <a:t>OnFinish</a:t>
            </a:r>
            <a:r>
              <a:rPr lang="en-US" dirty="0">
                <a:latin typeface="Consolas" panose="020B0609020204030204" pitchFamily="49" charset="0"/>
              </a:rPr>
              <a:t>(u),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OnArcFind</a:t>
            </a:r>
            <a:r>
              <a:rPr lang="en-US" dirty="0">
                <a:latin typeface="Consolas" panose="020B0609020204030204" pitchFamily="49" charset="0"/>
              </a:rPr>
              <a:t>(u, v), </a:t>
            </a:r>
            <a:r>
              <a:rPr lang="en-US" dirty="0" err="1">
                <a:latin typeface="Consolas" panose="020B0609020204030204" pitchFamily="49" charset="0"/>
              </a:rPr>
              <a:t>OnArcFinish</a:t>
            </a:r>
            <a:r>
              <a:rPr lang="en-US" dirty="0">
                <a:latin typeface="Consolas" panose="020B0609020204030204" pitchFamily="49" charset="0"/>
              </a:rPr>
              <a:t>(u, v)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Data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BreadthFirstSearch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start, visitor):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bfsData.Graph.Vertices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bfsData.Parent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u] = u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[u] = ∞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bfsData.Parent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[start] = start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[start] = 0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Enqueue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(start,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IsEmpty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):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u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Dequeue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visitor.OnFind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(u)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bfsData.Graph.Edges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visitor.OnArcFind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(u, v)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 == ∞: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bfsData.Parent</a:t>
            </a:r>
            <a:r>
              <a:rPr lang="el-GR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v]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= u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 =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[u]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+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1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Enqueue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(v,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visitor.OnArcFinish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(u, v)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visitor.OnFinish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(u)</a:t>
            </a:r>
            <a:endParaRPr lang="ru-RU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102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ширину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 err="1">
                <a:latin typeface="Consolas" panose="020B0609020204030204" pitchFamily="49" charset="0"/>
                <a:cs typeface="Calibri" pitchFamily="34" charset="0"/>
              </a:rPr>
              <a:t>bfsData</a:t>
            </a:r>
            <a:r>
              <a:rPr lang="en-US" sz="2800" dirty="0">
                <a:latin typeface="Consolas" panose="020B0609020204030204" pitchFamily="49" charset="0"/>
                <a:cs typeface="Calibri" pitchFamily="34" charset="0"/>
              </a:rPr>
              <a:t> {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800" dirty="0">
                <a:latin typeface="Consolas" panose="020B0609020204030204" pitchFamily="49" charset="0"/>
                <a:cs typeface="Calibri" pitchFamily="34" charset="0"/>
              </a:rPr>
              <a:t>Graph, Parent[], Distance[]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latin typeface="Consolas" panose="020B0609020204030204" pitchFamily="49" charset="0"/>
                <a:cs typeface="Calibri" pitchFamily="34" charset="0"/>
              </a:rPr>
              <a:t>}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visitor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OnFind</a:t>
            </a:r>
            <a:r>
              <a:rPr lang="en-US" dirty="0">
                <a:latin typeface="Consolas" panose="020B0609020204030204" pitchFamily="49" charset="0"/>
              </a:rPr>
              <a:t>(u), </a:t>
            </a:r>
            <a:r>
              <a:rPr lang="en-US" dirty="0" err="1">
                <a:latin typeface="Consolas" panose="020B0609020204030204" pitchFamily="49" charset="0"/>
              </a:rPr>
              <a:t>OnFinish</a:t>
            </a:r>
            <a:r>
              <a:rPr lang="en-US" dirty="0">
                <a:latin typeface="Consolas" panose="020B0609020204030204" pitchFamily="49" charset="0"/>
              </a:rPr>
              <a:t>(u),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OnArcFind</a:t>
            </a:r>
            <a:r>
              <a:rPr lang="en-US" dirty="0">
                <a:latin typeface="Consolas" panose="020B0609020204030204" pitchFamily="49" charset="0"/>
              </a:rPr>
              <a:t>(u, v), </a:t>
            </a:r>
            <a:r>
              <a:rPr lang="en-US" dirty="0" err="1">
                <a:latin typeface="Consolas" panose="020B0609020204030204" pitchFamily="49" charset="0"/>
              </a:rPr>
              <a:t>OnArcFinish</a:t>
            </a:r>
            <a:r>
              <a:rPr lang="en-US" dirty="0">
                <a:latin typeface="Consolas" panose="020B0609020204030204" pitchFamily="49" charset="0"/>
              </a:rPr>
              <a:t>(u, v)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Data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BreadthFirstSearch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start, visitor):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bfsData.Graph.Vertices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bfsData.Parent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[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u] = u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[u] = ∞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bfsData.Parent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[start] = start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[start] = 0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Enqueue(start,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lnSpc>
                <a:spcPct val="110000"/>
              </a:lnSpc>
              <a:buNone/>
            </a:pP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IsEmpty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):</a:t>
            </a:r>
          </a:p>
          <a:p>
            <a:pPr marL="0" indent="0">
              <a:lnSpc>
                <a:spcPct val="110000"/>
              </a:lnSpc>
              <a:buNone/>
            </a:pP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u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Dequeue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visitor.OnFind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(u)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bfsData.Graph.Edges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visitor.OnArcFind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(u, v)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 == ∞: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bfsData.Parent</a:t>
            </a:r>
            <a:r>
              <a:rPr lang="el-GR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v]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= u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 =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[u]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+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1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Enqueue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(v,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visitor.OnArcFinish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(u, v)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</a:b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visitor.OnFinish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(u)</a:t>
            </a:r>
            <a:endParaRPr lang="ru-RU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9559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ширину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 err="1">
                <a:latin typeface="Consolas" panose="020B0609020204030204" pitchFamily="49" charset="0"/>
                <a:cs typeface="Calibri" pitchFamily="34" charset="0"/>
              </a:rPr>
              <a:t>bfsData</a:t>
            </a:r>
            <a:r>
              <a:rPr lang="en-US" sz="2800" dirty="0">
                <a:latin typeface="Consolas" panose="020B0609020204030204" pitchFamily="49" charset="0"/>
                <a:cs typeface="Calibri" pitchFamily="34" charset="0"/>
              </a:rPr>
              <a:t> {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800" dirty="0">
                <a:latin typeface="Consolas" panose="020B0609020204030204" pitchFamily="49" charset="0"/>
                <a:cs typeface="Calibri" pitchFamily="34" charset="0"/>
              </a:rPr>
              <a:t>Graph, Parent[], Distance[]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latin typeface="Consolas" panose="020B0609020204030204" pitchFamily="49" charset="0"/>
                <a:cs typeface="Calibri" pitchFamily="34" charset="0"/>
              </a:rPr>
              <a:t>}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visitor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OnFind</a:t>
            </a:r>
            <a:r>
              <a:rPr lang="en-US" dirty="0">
                <a:latin typeface="Consolas" panose="020B0609020204030204" pitchFamily="49" charset="0"/>
              </a:rPr>
              <a:t>(u), </a:t>
            </a:r>
            <a:r>
              <a:rPr lang="en-US" dirty="0" err="1">
                <a:latin typeface="Consolas" panose="020B0609020204030204" pitchFamily="49" charset="0"/>
              </a:rPr>
              <a:t>OnFinish</a:t>
            </a:r>
            <a:r>
              <a:rPr lang="en-US" dirty="0">
                <a:latin typeface="Consolas" panose="020B0609020204030204" pitchFamily="49" charset="0"/>
              </a:rPr>
              <a:t>(u),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OnArcFind</a:t>
            </a:r>
            <a:r>
              <a:rPr lang="en-US" dirty="0">
                <a:latin typeface="Consolas" panose="020B0609020204030204" pitchFamily="49" charset="0"/>
              </a:rPr>
              <a:t>(u, v), </a:t>
            </a:r>
            <a:r>
              <a:rPr lang="en-US" dirty="0" err="1">
                <a:latin typeface="Consolas" panose="020B0609020204030204" pitchFamily="49" charset="0"/>
              </a:rPr>
              <a:t>OnArcFinish</a:t>
            </a:r>
            <a:r>
              <a:rPr lang="en-US" dirty="0">
                <a:latin typeface="Consolas" panose="020B0609020204030204" pitchFamily="49" charset="0"/>
              </a:rPr>
              <a:t>(u, v)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Data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BreadthFirstSearch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start, visitor):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bfsData.Graph.Vertices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bfsData.Parent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[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u] = u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[u] = ∞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bfsData.Parent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[start] = start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[start] = 0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Enqueue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(start,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IsEmpty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):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u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Dequeue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visitor.OnFind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(u)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visitor.OnArcFind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(u, v)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[v] == ∞: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bfsData.Parent</a:t>
            </a:r>
            <a:r>
              <a:rPr lang="el-GR" dirty="0">
                <a:latin typeface="Consolas" panose="020B0609020204030204" pitchFamily="49" charset="0"/>
                <a:cs typeface="Calibri" pitchFamily="34" charset="0"/>
              </a:rPr>
              <a:t>[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v]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= u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[v] =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[u]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+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1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Enqueue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(v,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visitor.OnArcFinish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(u, v)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visitor.OnFinish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(u)</a:t>
            </a:r>
            <a:endParaRPr lang="ru-RU" dirty="0">
              <a:latin typeface="Consolas" panose="020B0609020204030204" pitchFamily="49" charset="0"/>
              <a:cs typeface="Calibri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36112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ширину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 err="1">
                <a:latin typeface="Consolas" panose="020B0609020204030204" pitchFamily="49" charset="0"/>
                <a:cs typeface="Calibri" pitchFamily="34" charset="0"/>
              </a:rPr>
              <a:t>bfsData</a:t>
            </a:r>
            <a:r>
              <a:rPr lang="en-US" sz="2800" dirty="0">
                <a:latin typeface="Consolas" panose="020B0609020204030204" pitchFamily="49" charset="0"/>
                <a:cs typeface="Calibri" pitchFamily="34" charset="0"/>
              </a:rPr>
              <a:t> {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800" dirty="0">
                <a:latin typeface="Consolas" panose="020B0609020204030204" pitchFamily="49" charset="0"/>
                <a:cs typeface="Calibri" pitchFamily="34" charset="0"/>
              </a:rPr>
              <a:t>Graph, Parent[], Distance[]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>
                <a:latin typeface="Consolas" panose="020B0609020204030204" pitchFamily="49" charset="0"/>
                <a:cs typeface="Calibri" pitchFamily="34" charset="0"/>
              </a:rPr>
              <a:t>}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visitor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OnFind</a:t>
            </a:r>
            <a:r>
              <a:rPr lang="en-US" dirty="0">
                <a:latin typeface="Consolas" panose="020B0609020204030204" pitchFamily="49" charset="0"/>
              </a:rPr>
              <a:t>(u), </a:t>
            </a:r>
            <a:r>
              <a:rPr lang="en-US" dirty="0" err="1">
                <a:latin typeface="Consolas" panose="020B0609020204030204" pitchFamily="49" charset="0"/>
              </a:rPr>
              <a:t>OnFinish</a:t>
            </a:r>
            <a:r>
              <a:rPr lang="en-US" dirty="0">
                <a:latin typeface="Consolas" panose="020B0609020204030204" pitchFamily="49" charset="0"/>
              </a:rPr>
              <a:t>(u),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OnArcFind</a:t>
            </a:r>
            <a:r>
              <a:rPr lang="en-US" dirty="0">
                <a:latin typeface="Consolas" panose="020B0609020204030204" pitchFamily="49" charset="0"/>
              </a:rPr>
              <a:t>(u, v), </a:t>
            </a:r>
            <a:r>
              <a:rPr lang="en-US" dirty="0" err="1">
                <a:latin typeface="Consolas" panose="020B0609020204030204" pitchFamily="49" charset="0"/>
              </a:rPr>
              <a:t>OnArcFinish</a:t>
            </a:r>
            <a:r>
              <a:rPr lang="en-US" dirty="0">
                <a:latin typeface="Consolas" panose="020B0609020204030204" pitchFamily="49" charset="0"/>
              </a:rPr>
              <a:t>(u, v)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Data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BreadthFirstSearch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start, visitor):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bfsData.Graph.Vertices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bfsData.Parent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[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u] = u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[u] = ∞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bfsData.Parent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[start] = start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[start] = 0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Enqueue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(start,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IsEmpty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):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u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Dequeue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visitor.OnFind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(u)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visitor.OnArcFind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(u, v)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[v] == ∞: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bfsData.Parent</a:t>
            </a:r>
            <a:r>
              <a:rPr lang="el-GR" dirty="0">
                <a:latin typeface="Consolas" panose="020B0609020204030204" pitchFamily="49" charset="0"/>
                <a:cs typeface="Calibri" pitchFamily="34" charset="0"/>
              </a:rPr>
              <a:t>[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v]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= u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[v] =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bfsData.Distance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[u]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+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1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Enqueue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(v,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verticesToVisit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visitor.OnArcFinish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(u, v)</a:t>
            </a:r>
            <a:br>
              <a:rPr lang="en-US" dirty="0">
                <a:latin typeface="Consolas" panose="020B0609020204030204" pitchFamily="49" charset="0"/>
                <a:cs typeface="Calibri" pitchFamily="34" charset="0"/>
              </a:rPr>
            </a:b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visitor.OnFinish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(u)</a:t>
            </a:r>
            <a:endParaRPr lang="ru-RU" dirty="0">
              <a:latin typeface="Consolas" panose="020B0609020204030204" pitchFamily="49" charset="0"/>
              <a:cs typeface="Calibri" pitchFamily="34" charset="0"/>
            </a:endParaRPr>
          </a:p>
          <a:p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1C99A8-2772-9E22-8DF8-F2CC25EF22B5}"/>
              </a:ext>
            </a:extLst>
          </p:cNvPr>
          <p:cNvSpPr/>
          <p:nvPr/>
        </p:nvSpPr>
        <p:spPr>
          <a:xfrm>
            <a:off x="7957575" y="2327614"/>
            <a:ext cx="648072" cy="190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697AAE-B97F-7339-8E89-6CA98C3A996C}"/>
              </a:ext>
            </a:extLst>
          </p:cNvPr>
          <p:cNvSpPr/>
          <p:nvPr/>
        </p:nvSpPr>
        <p:spPr>
          <a:xfrm>
            <a:off x="1106182" y="2863569"/>
            <a:ext cx="648072" cy="19141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9234F3-3CE7-F736-B1B8-EAFA1D9C601E}"/>
              </a:ext>
            </a:extLst>
          </p:cNvPr>
          <p:cNvSpPr/>
          <p:nvPr/>
        </p:nvSpPr>
        <p:spPr>
          <a:xfrm>
            <a:off x="8381413" y="2733578"/>
            <a:ext cx="944488" cy="190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72B6F8-7B11-48D9-580D-6EA3C9B0678B}"/>
              </a:ext>
            </a:extLst>
          </p:cNvPr>
          <p:cNvSpPr/>
          <p:nvPr/>
        </p:nvSpPr>
        <p:spPr>
          <a:xfrm>
            <a:off x="1119238" y="3119702"/>
            <a:ext cx="944488" cy="18654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4C75B4-C404-C301-32CF-2BD69BC24999}"/>
              </a:ext>
            </a:extLst>
          </p:cNvPr>
          <p:cNvSpPr/>
          <p:nvPr/>
        </p:nvSpPr>
        <p:spPr>
          <a:xfrm>
            <a:off x="8381413" y="4553940"/>
            <a:ext cx="1160512" cy="190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F0F17C-6C85-1055-62E0-BBC12423FE38}"/>
              </a:ext>
            </a:extLst>
          </p:cNvPr>
          <p:cNvSpPr/>
          <p:nvPr/>
        </p:nvSpPr>
        <p:spPr>
          <a:xfrm>
            <a:off x="2868551" y="3081759"/>
            <a:ext cx="1160512" cy="190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64C8F6-D275-E48A-F362-477DF81BCA01}"/>
              </a:ext>
            </a:extLst>
          </p:cNvPr>
          <p:cNvSpPr/>
          <p:nvPr/>
        </p:nvSpPr>
        <p:spPr>
          <a:xfrm>
            <a:off x="7956958" y="5009732"/>
            <a:ext cx="832197" cy="190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7205C6-95E2-2369-E169-36EEECFA9DD0}"/>
              </a:ext>
            </a:extLst>
          </p:cNvPr>
          <p:cNvSpPr/>
          <p:nvPr/>
        </p:nvSpPr>
        <p:spPr>
          <a:xfrm>
            <a:off x="2282909" y="2883577"/>
            <a:ext cx="832197" cy="1908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18385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Свойства поиска в ширину</a:t>
            </a:r>
          </a:p>
        </p:txBody>
      </p:sp>
      <p:sp>
        <p:nvSpPr>
          <p:cNvPr id="45058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Пусть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и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verticesToVisit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–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это состояние поиска в ширину и очередь вершин на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произвольном шаге работы алгоритма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и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 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!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= ∞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для некоторой вершины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v.</a:t>
            </a:r>
          </a:p>
          <a:p>
            <a:pPr marL="0" indent="0">
              <a:buNone/>
            </a:pPr>
            <a:endParaRPr lang="ru-RU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≤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 + 1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для любого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(u, v)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bfsData.G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raph.Edges</a:t>
            </a: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 != start,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то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=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bfsData.Parent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[v]] + 1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очередь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verticesToVisit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имеет вид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u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…,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x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v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v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…,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y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]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i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] =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const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j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] =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const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+ 1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ru-RU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ru-RU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Свойства поиска в ширину</a:t>
            </a:r>
          </a:p>
        </p:txBody>
      </p:sp>
      <p:sp>
        <p:nvSpPr>
          <p:cNvPr id="45058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Пусть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и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verticesToVisit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–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это состояние поиска в ширину и очередь вершин на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произвольном шаге работы алгоритма </a:t>
            </a:r>
            <a:r>
              <a:rPr lang="ru-RU" sz="2800" dirty="0"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и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 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!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= ∞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для некоторой вершины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v.</a:t>
            </a:r>
          </a:p>
          <a:p>
            <a:pPr marL="0" indent="0">
              <a:buNone/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≤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[u] + 1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для любого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(u, v)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bfsData.G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raph.Edges</a:t>
            </a: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 != start,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то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=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bfsData.Parent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[v]] + 1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очередь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verticesToVisit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имеет вид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u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…,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x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v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v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…,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y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]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i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] =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const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j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] =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const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+ 1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ru-RU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6326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Свойства поиска в ширину</a:t>
            </a:r>
          </a:p>
        </p:txBody>
      </p:sp>
      <p:sp>
        <p:nvSpPr>
          <p:cNvPr id="45058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Пусть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и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verticesToVisit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–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это состояние поиска в ширину и очередь вершин на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произвольном шаге работы алгоритма </a:t>
            </a:r>
            <a:r>
              <a:rPr lang="ru-RU" sz="2800" dirty="0"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и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 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!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= ∞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для некоторой вершины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v.</a:t>
            </a:r>
          </a:p>
          <a:p>
            <a:pPr marL="0" indent="0">
              <a:buNone/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≤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[u] + 1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для любого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(u, v) </a:t>
            </a:r>
            <a:r>
              <a:rPr lang="en-US" sz="2800" dirty="0"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bfsData.G</a:t>
            </a:r>
            <a:r>
              <a:rPr lang="en-US" sz="2800" dirty="0" err="1"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raph.Edges</a:t>
            </a:r>
            <a:endParaRPr lang="en-US" sz="2800" dirty="0"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 != start,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то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=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bfsData.Parent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[v]] + 1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очередь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verticesToVisit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имеет вид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u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…,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x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v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v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…,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y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]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i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] =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const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j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] =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const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+ 1</a:t>
            </a:r>
          </a:p>
          <a:p>
            <a:pPr marL="0" indent="0">
              <a:buNone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ru-RU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7705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Свойства поиска в ширину</a:t>
            </a:r>
          </a:p>
        </p:txBody>
      </p:sp>
      <p:sp>
        <p:nvSpPr>
          <p:cNvPr id="45058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Пусть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и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verticesToVisit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–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это состояние поиска в ширину и очередь вершин на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произвольном шаге работы алгоритма </a:t>
            </a:r>
            <a:r>
              <a:rPr lang="ru-RU" sz="2800" dirty="0"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и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 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!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= ∞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для некоторой вершины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v.</a:t>
            </a:r>
          </a:p>
          <a:p>
            <a:pPr marL="0" indent="0">
              <a:buNone/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≤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[u] + 1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для любого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(u, v) </a:t>
            </a:r>
            <a:r>
              <a:rPr lang="en-US" sz="2800" dirty="0"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bfsData.G</a:t>
            </a:r>
            <a:r>
              <a:rPr lang="en-US" sz="2800" dirty="0" err="1"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raph.Edges</a:t>
            </a:r>
            <a:endParaRPr lang="en-US" sz="2800" dirty="0"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v != start,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то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=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bfsData.Parent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[v]] + 1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очередь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verticesToVisit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имеет вид 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[u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u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…,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x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v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v</a:t>
            </a:r>
            <a:r>
              <a:rPr lang="en-US" sz="28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…,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y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]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u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i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] =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const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[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</a:t>
            </a:r>
            <a:r>
              <a:rPr lang="en-US" sz="28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j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] =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const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+ 1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ru-RU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0543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Свойства поиска в ширину</a:t>
            </a:r>
          </a:p>
        </p:txBody>
      </p:sp>
      <p:sp>
        <p:nvSpPr>
          <p:cNvPr id="45058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Пусть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и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verticesToVisit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–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это состояние поиска в ширину и очередь вершин на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произвольном шаге работы алгоритма </a:t>
            </a:r>
            <a:r>
              <a:rPr lang="ru-RU" sz="2800" dirty="0"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и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 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!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= ∞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для некоторой вершины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v.</a:t>
            </a:r>
          </a:p>
          <a:p>
            <a:pPr marL="0" indent="0">
              <a:buNone/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≤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[u] + 1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для любого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(u, v) </a:t>
            </a:r>
            <a:r>
              <a:rPr lang="en-US" sz="2800" dirty="0"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bfsData.G</a:t>
            </a:r>
            <a:r>
              <a:rPr lang="en-US" sz="2800" dirty="0" err="1"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raph.Edges</a:t>
            </a:r>
            <a:endParaRPr lang="en-US" sz="2800" dirty="0"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v != start,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то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=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bfsData.Parent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[v]] + 1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очередь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verticesToVisit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имеет вид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</a:t>
            </a:r>
            <a:r>
              <a:rPr lang="en-US" sz="2800" dirty="0">
                <a:highlight>
                  <a:srgbClr val="00FFFF"/>
                </a:highlight>
                <a:latin typeface="Calibri" pitchFamily="34" charset="0"/>
                <a:cs typeface="Calibri" pitchFamily="34" charset="0"/>
              </a:rPr>
              <a:t>u</a:t>
            </a:r>
            <a:r>
              <a:rPr lang="en-US" sz="2800" baseline="-25000" dirty="0">
                <a:highlight>
                  <a:srgbClr val="00FFFF"/>
                </a:highlight>
                <a:latin typeface="Calibri" pitchFamily="34" charset="0"/>
                <a:cs typeface="Calibri" pitchFamily="34" charset="0"/>
              </a:rPr>
              <a:t>1</a:t>
            </a:r>
            <a:r>
              <a:rPr lang="en-US" sz="2800" dirty="0">
                <a:highlight>
                  <a:srgbClr val="00FFFF"/>
                </a:highlight>
                <a:latin typeface="Calibri" pitchFamily="34" charset="0"/>
                <a:cs typeface="Calibri" pitchFamily="34" charset="0"/>
              </a:rPr>
              <a:t>, u</a:t>
            </a:r>
            <a:r>
              <a:rPr lang="en-US" sz="2800" baseline="-25000" dirty="0">
                <a:highlight>
                  <a:srgbClr val="00FFFF"/>
                </a:highlight>
                <a:latin typeface="Calibri" pitchFamily="34" charset="0"/>
                <a:cs typeface="Calibri" pitchFamily="34" charset="0"/>
              </a:rPr>
              <a:t>2</a:t>
            </a:r>
            <a:r>
              <a:rPr lang="en-US" sz="2800" dirty="0">
                <a:highlight>
                  <a:srgbClr val="00FFFF"/>
                </a:highlight>
                <a:latin typeface="Calibri" pitchFamily="34" charset="0"/>
                <a:cs typeface="Calibri" pitchFamily="34" charset="0"/>
              </a:rPr>
              <a:t>, …, </a:t>
            </a:r>
            <a:r>
              <a:rPr lang="en-US" sz="2800" dirty="0" err="1">
                <a:highlight>
                  <a:srgbClr val="00FFFF"/>
                </a:highlight>
                <a:latin typeface="Calibri" pitchFamily="34" charset="0"/>
                <a:cs typeface="Calibri" pitchFamily="34" charset="0"/>
              </a:rPr>
              <a:t>u</a:t>
            </a:r>
            <a:r>
              <a:rPr lang="en-US" sz="2800" baseline="-25000" dirty="0" err="1">
                <a:highlight>
                  <a:srgbClr val="00FFFF"/>
                </a:highlight>
                <a:latin typeface="Calibri" pitchFamily="34" charset="0"/>
                <a:cs typeface="Calibri" pitchFamily="34" charset="0"/>
              </a:rPr>
              <a:t>x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800" dirty="0">
                <a:highlight>
                  <a:srgbClr val="FF00FF"/>
                </a:highlight>
                <a:latin typeface="Calibri" pitchFamily="34" charset="0"/>
                <a:cs typeface="Calibri" pitchFamily="34" charset="0"/>
              </a:rPr>
              <a:t>v</a:t>
            </a:r>
            <a:r>
              <a:rPr lang="en-US" sz="2800" baseline="-25000" dirty="0">
                <a:highlight>
                  <a:srgbClr val="FF00FF"/>
                </a:highlight>
                <a:latin typeface="Calibri" pitchFamily="34" charset="0"/>
                <a:cs typeface="Calibri" pitchFamily="34" charset="0"/>
              </a:rPr>
              <a:t>1</a:t>
            </a:r>
            <a:r>
              <a:rPr lang="en-US" sz="2800" dirty="0">
                <a:highlight>
                  <a:srgbClr val="FF00FF"/>
                </a:highlight>
                <a:latin typeface="Calibri" pitchFamily="34" charset="0"/>
                <a:cs typeface="Calibri" pitchFamily="34" charset="0"/>
              </a:rPr>
              <a:t>, v</a:t>
            </a:r>
            <a:r>
              <a:rPr lang="en-US" sz="2800" baseline="-25000" dirty="0">
                <a:highlight>
                  <a:srgbClr val="FF00FF"/>
                </a:highlight>
                <a:latin typeface="Calibri" pitchFamily="34" charset="0"/>
                <a:cs typeface="Calibri" pitchFamily="34" charset="0"/>
              </a:rPr>
              <a:t>2</a:t>
            </a:r>
            <a:r>
              <a:rPr lang="en-US" sz="2800" dirty="0">
                <a:highlight>
                  <a:srgbClr val="FF00FF"/>
                </a:highlight>
                <a:latin typeface="Calibri" pitchFamily="34" charset="0"/>
                <a:cs typeface="Calibri" pitchFamily="34" charset="0"/>
              </a:rPr>
              <a:t>, …, </a:t>
            </a:r>
            <a:r>
              <a:rPr lang="en-US" sz="2800" dirty="0" err="1">
                <a:highlight>
                  <a:srgbClr val="FF00FF"/>
                </a:highlight>
                <a:latin typeface="Calibri" pitchFamily="34" charset="0"/>
                <a:cs typeface="Calibri" pitchFamily="34" charset="0"/>
              </a:rPr>
              <a:t>v</a:t>
            </a:r>
            <a:r>
              <a:rPr lang="en-US" sz="2800" baseline="-25000" dirty="0" err="1">
                <a:highlight>
                  <a:srgbClr val="FF00FF"/>
                </a:highlight>
                <a:latin typeface="Calibri" pitchFamily="34" charset="0"/>
                <a:cs typeface="Calibri" pitchFamily="34" charset="0"/>
              </a:rPr>
              <a:t>y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]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и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</a:t>
            </a:r>
            <a:r>
              <a:rPr lang="en-US" sz="2800" dirty="0" err="1">
                <a:highlight>
                  <a:srgbClr val="00FFFF"/>
                </a:highlight>
                <a:latin typeface="Calibri" pitchFamily="34" charset="0"/>
                <a:cs typeface="Calibri" pitchFamily="34" charset="0"/>
              </a:rPr>
              <a:t>u</a:t>
            </a:r>
            <a:r>
              <a:rPr lang="en-US" sz="2800" baseline="-25000" dirty="0" err="1">
                <a:highlight>
                  <a:srgbClr val="00FFFF"/>
                </a:highlight>
                <a:latin typeface="Calibri" pitchFamily="34" charset="0"/>
                <a:cs typeface="Calibri" pitchFamily="34" charset="0"/>
              </a:rPr>
              <a:t>i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] =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const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bfsData.Distance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[</a:t>
            </a:r>
            <a:r>
              <a:rPr lang="en-US" sz="2800" dirty="0" err="1">
                <a:highlight>
                  <a:srgbClr val="FF00FF"/>
                </a:highlight>
                <a:latin typeface="Calibri" pitchFamily="34" charset="0"/>
                <a:cs typeface="Calibri" pitchFamily="34" charset="0"/>
              </a:rPr>
              <a:t>v</a:t>
            </a:r>
            <a:r>
              <a:rPr lang="en-US" sz="2800" baseline="-25000" dirty="0" err="1">
                <a:highlight>
                  <a:srgbClr val="FF00FF"/>
                </a:highlight>
                <a:latin typeface="Calibri" pitchFamily="34" charset="0"/>
                <a:cs typeface="Calibri" pitchFamily="34" charset="0"/>
              </a:rPr>
              <a:t>j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] =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const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+ 1</a:t>
            </a:r>
          </a:p>
          <a:p>
            <a:pPr marL="0" indent="0">
              <a:buNone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ru-RU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2828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Компонента связности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Компонента связности неориентированного графа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= (V, E)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– это максимальное по включению множество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 V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ru-RU" sz="24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т.ч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любые две вершины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соединяются в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путем,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проходящим только по вершинам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</a:p>
          <a:p>
            <a:pPr lvl="0"/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lvl="0"/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–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разные компоненты связности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G,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то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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=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</a:t>
            </a:r>
            <a:endParaRPr lang="en-US" sz="2400" baseline="-25000" dirty="0">
              <a:solidFill>
                <a:prstClr val="black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V = W</a:t>
            </a:r>
            <a:r>
              <a:rPr lang="en-US" sz="2400" baseline="-250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W</a:t>
            </a:r>
            <a:r>
              <a:rPr lang="en-US" sz="2400" baseline="-250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…  </a:t>
            </a:r>
            <a:r>
              <a:rPr lang="en-US" sz="24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W</a:t>
            </a:r>
            <a:r>
              <a:rPr lang="en-US" sz="2400" baseline="-250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x</a:t>
            </a:r>
            <a:endParaRPr lang="ru-RU" sz="2400" baseline="-25000" dirty="0">
              <a:solidFill>
                <a:prstClr val="black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2324708"/>
            <a:ext cx="4518889" cy="3076947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9" name="Freeform 8"/>
          <p:cNvSpPr/>
          <p:nvPr/>
        </p:nvSpPr>
        <p:spPr>
          <a:xfrm>
            <a:off x="6479427" y="2144588"/>
            <a:ext cx="4217935" cy="2567756"/>
          </a:xfrm>
          <a:custGeom>
            <a:avLst/>
            <a:gdLst>
              <a:gd name="connsiteX0" fmla="*/ 395826 w 4217935"/>
              <a:gd name="connsiteY0" fmla="*/ 2358401 h 2567756"/>
              <a:gd name="connsiteX1" fmla="*/ 1379237 w 4217935"/>
              <a:gd name="connsiteY1" fmla="*/ 2427412 h 2567756"/>
              <a:gd name="connsiteX2" fmla="*/ 3855018 w 4217935"/>
              <a:gd name="connsiteY2" fmla="*/ 986801 h 2567756"/>
              <a:gd name="connsiteX3" fmla="*/ 3889524 w 4217935"/>
              <a:gd name="connsiteY3" fmla="*/ 132786 h 2567756"/>
              <a:gd name="connsiteX4" fmla="*/ 870279 w 4217935"/>
              <a:gd name="connsiteY4" fmla="*/ 98280 h 2567756"/>
              <a:gd name="connsiteX5" fmla="*/ 16264 w 4217935"/>
              <a:gd name="connsiteY5" fmla="*/ 1064438 h 2567756"/>
              <a:gd name="connsiteX6" fmla="*/ 395826 w 4217935"/>
              <a:gd name="connsiteY6" fmla="*/ 2358401 h 2567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17935" h="2567756">
                <a:moveTo>
                  <a:pt x="395826" y="2358401"/>
                </a:moveTo>
                <a:cubicBezTo>
                  <a:pt x="622988" y="2585563"/>
                  <a:pt x="802705" y="2656012"/>
                  <a:pt x="1379237" y="2427412"/>
                </a:cubicBezTo>
                <a:cubicBezTo>
                  <a:pt x="1955769" y="2198812"/>
                  <a:pt x="3436637" y="1369239"/>
                  <a:pt x="3855018" y="986801"/>
                </a:cubicBezTo>
                <a:cubicBezTo>
                  <a:pt x="4273399" y="604363"/>
                  <a:pt x="4386981" y="280873"/>
                  <a:pt x="3889524" y="132786"/>
                </a:cubicBezTo>
                <a:cubicBezTo>
                  <a:pt x="3392068" y="-15301"/>
                  <a:pt x="1515822" y="-56995"/>
                  <a:pt x="870279" y="98280"/>
                </a:cubicBezTo>
                <a:cubicBezTo>
                  <a:pt x="224736" y="253555"/>
                  <a:pt x="96777" y="687751"/>
                  <a:pt x="16264" y="1064438"/>
                </a:cubicBezTo>
                <a:cubicBezTo>
                  <a:pt x="-64249" y="1441125"/>
                  <a:pt x="168664" y="2131239"/>
                  <a:pt x="395826" y="235840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Freeform 9"/>
          <p:cNvSpPr/>
          <p:nvPr/>
        </p:nvSpPr>
        <p:spPr>
          <a:xfrm>
            <a:off x="8184232" y="4581128"/>
            <a:ext cx="925740" cy="775831"/>
          </a:xfrm>
          <a:custGeom>
            <a:avLst/>
            <a:gdLst>
              <a:gd name="connsiteX0" fmla="*/ 91734 w 925740"/>
              <a:gd name="connsiteY0" fmla="*/ 688253 h 775831"/>
              <a:gd name="connsiteX1" fmla="*/ 91734 w 925740"/>
              <a:gd name="connsiteY1" fmla="*/ 101657 h 775831"/>
              <a:gd name="connsiteX2" fmla="*/ 868111 w 925740"/>
              <a:gd name="connsiteY2" fmla="*/ 58525 h 775831"/>
              <a:gd name="connsiteX3" fmla="*/ 781847 w 925740"/>
              <a:gd name="connsiteY3" fmla="*/ 705506 h 775831"/>
              <a:gd name="connsiteX4" fmla="*/ 91734 w 925740"/>
              <a:gd name="connsiteY4" fmla="*/ 688253 h 77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740" h="775831">
                <a:moveTo>
                  <a:pt x="91734" y="688253"/>
                </a:moveTo>
                <a:cubicBezTo>
                  <a:pt x="-23285" y="587612"/>
                  <a:pt x="-37662" y="206612"/>
                  <a:pt x="91734" y="101657"/>
                </a:cubicBezTo>
                <a:cubicBezTo>
                  <a:pt x="221130" y="-3298"/>
                  <a:pt x="753092" y="-42116"/>
                  <a:pt x="868111" y="58525"/>
                </a:cubicBezTo>
                <a:cubicBezTo>
                  <a:pt x="983130" y="159166"/>
                  <a:pt x="911243" y="597676"/>
                  <a:pt x="781847" y="705506"/>
                </a:cubicBezTo>
                <a:cubicBezTo>
                  <a:pt x="652451" y="813336"/>
                  <a:pt x="206753" y="788894"/>
                  <a:pt x="91734" y="688253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Freeform 10"/>
          <p:cNvSpPr/>
          <p:nvPr/>
        </p:nvSpPr>
        <p:spPr>
          <a:xfrm>
            <a:off x="9426867" y="3399351"/>
            <a:ext cx="1602384" cy="1583582"/>
          </a:xfrm>
          <a:custGeom>
            <a:avLst/>
            <a:gdLst>
              <a:gd name="connsiteX0" fmla="*/ 1131865 w 1602384"/>
              <a:gd name="connsiteY0" fmla="*/ 1534958 h 1583582"/>
              <a:gd name="connsiteX1" fmla="*/ 1597691 w 1602384"/>
              <a:gd name="connsiteY1" fmla="*/ 801713 h 1583582"/>
              <a:gd name="connsiteX2" fmla="*/ 864446 w 1602384"/>
              <a:gd name="connsiteY2" fmla="*/ 33962 h 1583582"/>
              <a:gd name="connsiteX3" fmla="*/ 459005 w 1602384"/>
              <a:gd name="connsiteY3" fmla="*/ 206491 h 1583582"/>
              <a:gd name="connsiteX4" fmla="*/ 10431 w 1602384"/>
              <a:gd name="connsiteY4" fmla="*/ 844845 h 1583582"/>
              <a:gd name="connsiteX5" fmla="*/ 226091 w 1602384"/>
              <a:gd name="connsiteY5" fmla="*/ 1440068 h 1583582"/>
              <a:gd name="connsiteX6" fmla="*/ 1131865 w 1602384"/>
              <a:gd name="connsiteY6" fmla="*/ 1534958 h 158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2384" h="1583582">
                <a:moveTo>
                  <a:pt x="1131865" y="1534958"/>
                </a:moveTo>
                <a:cubicBezTo>
                  <a:pt x="1360465" y="1428565"/>
                  <a:pt x="1642261" y="1051879"/>
                  <a:pt x="1597691" y="801713"/>
                </a:cubicBezTo>
                <a:cubicBezTo>
                  <a:pt x="1553121" y="551547"/>
                  <a:pt x="1054227" y="133166"/>
                  <a:pt x="864446" y="33962"/>
                </a:cubicBezTo>
                <a:cubicBezTo>
                  <a:pt x="674665" y="-65242"/>
                  <a:pt x="601341" y="71344"/>
                  <a:pt x="459005" y="206491"/>
                </a:cubicBezTo>
                <a:cubicBezTo>
                  <a:pt x="316669" y="341638"/>
                  <a:pt x="49250" y="639249"/>
                  <a:pt x="10431" y="844845"/>
                </a:cubicBezTo>
                <a:cubicBezTo>
                  <a:pt x="-28388" y="1050441"/>
                  <a:pt x="40623" y="1323611"/>
                  <a:pt x="226091" y="1440068"/>
                </a:cubicBezTo>
                <a:cubicBezTo>
                  <a:pt x="411559" y="1556525"/>
                  <a:pt x="903265" y="1641351"/>
                  <a:pt x="1131865" y="1534958"/>
                </a:cubicBezTo>
                <a:close/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3691" y="2256120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1</a:t>
            </a:r>
            <a:endParaRPr lang="ru-RU" baseline="-250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7799" y="4581128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2</a:t>
            </a:r>
            <a:endParaRPr lang="ru-RU" baseline="-25000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8374" y="4527217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3</a:t>
            </a:r>
            <a:endParaRPr lang="ru-RU" baseline="-25000" dirty="0">
              <a:latin typeface="+mn-lt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6190212" y="1845744"/>
            <a:ext cx="5460285" cy="4374298"/>
          </a:xfrm>
          <a:custGeom>
            <a:avLst/>
            <a:gdLst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38761 w 5214270"/>
              <a:gd name="connsiteY0" fmla="*/ 462101 h 3971622"/>
              <a:gd name="connsiteX1" fmla="*/ 2182501 w 5214270"/>
              <a:gd name="connsiteY1" fmla="*/ 47431 h 3971622"/>
              <a:gd name="connsiteX2" fmla="*/ 4617357 w 5214270"/>
              <a:gd name="connsiteY2" fmla="*/ 228185 h 3971622"/>
              <a:gd name="connsiteX3" fmla="*/ 5212780 w 5214270"/>
              <a:gd name="connsiteY3" fmla="*/ 1993189 h 3971622"/>
              <a:gd name="connsiteX4" fmla="*/ 4521663 w 5214270"/>
              <a:gd name="connsiteY4" fmla="*/ 3726296 h 3971622"/>
              <a:gd name="connsiteX5" fmla="*/ 1597710 w 5214270"/>
              <a:gd name="connsiteY5" fmla="*/ 3832622 h 3971622"/>
              <a:gd name="connsiteX6" fmla="*/ 183580 w 5214270"/>
              <a:gd name="connsiteY6" fmla="*/ 2524817 h 3971622"/>
              <a:gd name="connsiteX7" fmla="*/ 151682 w 5214270"/>
              <a:gd name="connsiteY7" fmla="*/ 834241 h 3971622"/>
              <a:gd name="connsiteX8" fmla="*/ 438761 w 5214270"/>
              <a:gd name="connsiteY8" fmla="*/ 462101 h 3971622"/>
              <a:gd name="connsiteX0" fmla="*/ 438761 w 5214270"/>
              <a:gd name="connsiteY0" fmla="*/ 462101 h 4094819"/>
              <a:gd name="connsiteX1" fmla="*/ 2182501 w 5214270"/>
              <a:gd name="connsiteY1" fmla="*/ 47431 h 4094819"/>
              <a:gd name="connsiteX2" fmla="*/ 4617357 w 5214270"/>
              <a:gd name="connsiteY2" fmla="*/ 228185 h 4094819"/>
              <a:gd name="connsiteX3" fmla="*/ 5212780 w 5214270"/>
              <a:gd name="connsiteY3" fmla="*/ 1993189 h 4094819"/>
              <a:gd name="connsiteX4" fmla="*/ 4521663 w 5214270"/>
              <a:gd name="connsiteY4" fmla="*/ 3726296 h 4094819"/>
              <a:gd name="connsiteX5" fmla="*/ 1544548 w 5214270"/>
              <a:gd name="connsiteY5" fmla="*/ 4002743 h 4094819"/>
              <a:gd name="connsiteX6" fmla="*/ 183580 w 5214270"/>
              <a:gd name="connsiteY6" fmla="*/ 2524817 h 4094819"/>
              <a:gd name="connsiteX7" fmla="*/ 151682 w 5214270"/>
              <a:gd name="connsiteY7" fmla="*/ 834241 h 4094819"/>
              <a:gd name="connsiteX8" fmla="*/ 438761 w 5214270"/>
              <a:gd name="connsiteY8" fmla="*/ 462101 h 4094819"/>
              <a:gd name="connsiteX0" fmla="*/ 454664 w 5230173"/>
              <a:gd name="connsiteY0" fmla="*/ 462101 h 4076758"/>
              <a:gd name="connsiteX1" fmla="*/ 2198404 w 5230173"/>
              <a:gd name="connsiteY1" fmla="*/ 47431 h 4076758"/>
              <a:gd name="connsiteX2" fmla="*/ 4633260 w 5230173"/>
              <a:gd name="connsiteY2" fmla="*/ 228185 h 4076758"/>
              <a:gd name="connsiteX3" fmla="*/ 5228683 w 5230173"/>
              <a:gd name="connsiteY3" fmla="*/ 1993189 h 4076758"/>
              <a:gd name="connsiteX4" fmla="*/ 4537566 w 5230173"/>
              <a:gd name="connsiteY4" fmla="*/ 3726296 h 4076758"/>
              <a:gd name="connsiteX5" fmla="*/ 1560451 w 5230173"/>
              <a:gd name="connsiteY5" fmla="*/ 4002743 h 4076758"/>
              <a:gd name="connsiteX6" fmla="*/ 103790 w 5230173"/>
              <a:gd name="connsiteY6" fmla="*/ 2769366 h 4076758"/>
              <a:gd name="connsiteX7" fmla="*/ 167585 w 5230173"/>
              <a:gd name="connsiteY7" fmla="*/ 834241 h 4076758"/>
              <a:gd name="connsiteX8" fmla="*/ 454664 w 5230173"/>
              <a:gd name="connsiteY8" fmla="*/ 462101 h 4076758"/>
              <a:gd name="connsiteX0" fmla="*/ 423238 w 5198747"/>
              <a:gd name="connsiteY0" fmla="*/ 462101 h 4076758"/>
              <a:gd name="connsiteX1" fmla="*/ 2166978 w 5198747"/>
              <a:gd name="connsiteY1" fmla="*/ 47431 h 4076758"/>
              <a:gd name="connsiteX2" fmla="*/ 4601834 w 5198747"/>
              <a:gd name="connsiteY2" fmla="*/ 228185 h 4076758"/>
              <a:gd name="connsiteX3" fmla="*/ 5197257 w 5198747"/>
              <a:gd name="connsiteY3" fmla="*/ 1993189 h 4076758"/>
              <a:gd name="connsiteX4" fmla="*/ 4506140 w 5198747"/>
              <a:gd name="connsiteY4" fmla="*/ 3726296 h 4076758"/>
              <a:gd name="connsiteX5" fmla="*/ 1529025 w 5198747"/>
              <a:gd name="connsiteY5" fmla="*/ 4002743 h 4076758"/>
              <a:gd name="connsiteX6" fmla="*/ 72364 w 5198747"/>
              <a:gd name="connsiteY6" fmla="*/ 2769366 h 4076758"/>
              <a:gd name="connsiteX7" fmla="*/ 423238 w 5198747"/>
              <a:gd name="connsiteY7" fmla="*/ 462101 h 4076758"/>
              <a:gd name="connsiteX0" fmla="*/ 423238 w 5198747"/>
              <a:gd name="connsiteY0" fmla="*/ 462101 h 4213202"/>
              <a:gd name="connsiteX1" fmla="*/ 2166978 w 5198747"/>
              <a:gd name="connsiteY1" fmla="*/ 47431 h 4213202"/>
              <a:gd name="connsiteX2" fmla="*/ 4601834 w 5198747"/>
              <a:gd name="connsiteY2" fmla="*/ 228185 h 4213202"/>
              <a:gd name="connsiteX3" fmla="*/ 5197257 w 5198747"/>
              <a:gd name="connsiteY3" fmla="*/ 1993189 h 4213202"/>
              <a:gd name="connsiteX4" fmla="*/ 4506140 w 5198747"/>
              <a:gd name="connsiteY4" fmla="*/ 3726296 h 4213202"/>
              <a:gd name="connsiteX5" fmla="*/ 1529025 w 5198747"/>
              <a:gd name="connsiteY5" fmla="*/ 4162231 h 4213202"/>
              <a:gd name="connsiteX6" fmla="*/ 72364 w 5198747"/>
              <a:gd name="connsiteY6" fmla="*/ 2769366 h 4213202"/>
              <a:gd name="connsiteX7" fmla="*/ 423238 w 5198747"/>
              <a:gd name="connsiteY7" fmla="*/ 462101 h 4213202"/>
              <a:gd name="connsiteX0" fmla="*/ 423238 w 5201267"/>
              <a:gd name="connsiteY0" fmla="*/ 462101 h 4299589"/>
              <a:gd name="connsiteX1" fmla="*/ 2166978 w 5201267"/>
              <a:gd name="connsiteY1" fmla="*/ 47431 h 4299589"/>
              <a:gd name="connsiteX2" fmla="*/ 4601834 w 5201267"/>
              <a:gd name="connsiteY2" fmla="*/ 228185 h 4299589"/>
              <a:gd name="connsiteX3" fmla="*/ 5197257 w 5201267"/>
              <a:gd name="connsiteY3" fmla="*/ 1993189 h 4299589"/>
              <a:gd name="connsiteX4" fmla="*/ 4644363 w 5201267"/>
              <a:gd name="connsiteY4" fmla="*/ 4002743 h 4299589"/>
              <a:gd name="connsiteX5" fmla="*/ 1529025 w 5201267"/>
              <a:gd name="connsiteY5" fmla="*/ 4162231 h 4299589"/>
              <a:gd name="connsiteX6" fmla="*/ 72364 w 5201267"/>
              <a:gd name="connsiteY6" fmla="*/ 2769366 h 4299589"/>
              <a:gd name="connsiteX7" fmla="*/ 423238 w 5201267"/>
              <a:gd name="connsiteY7" fmla="*/ 462101 h 4299589"/>
              <a:gd name="connsiteX0" fmla="*/ 423238 w 5452658"/>
              <a:gd name="connsiteY0" fmla="*/ 461522 h 4299566"/>
              <a:gd name="connsiteX1" fmla="*/ 2166978 w 5452658"/>
              <a:gd name="connsiteY1" fmla="*/ 46852 h 4299566"/>
              <a:gd name="connsiteX2" fmla="*/ 4601834 w 5452658"/>
              <a:gd name="connsiteY2" fmla="*/ 227606 h 4299566"/>
              <a:gd name="connsiteX3" fmla="*/ 5452438 w 5452658"/>
              <a:gd name="connsiteY3" fmla="*/ 1981978 h 4299566"/>
              <a:gd name="connsiteX4" fmla="*/ 4644363 w 5452658"/>
              <a:gd name="connsiteY4" fmla="*/ 4002164 h 4299566"/>
              <a:gd name="connsiteX5" fmla="*/ 1529025 w 5452658"/>
              <a:gd name="connsiteY5" fmla="*/ 4161652 h 4299566"/>
              <a:gd name="connsiteX6" fmla="*/ 72364 w 5452658"/>
              <a:gd name="connsiteY6" fmla="*/ 2768787 h 4299566"/>
              <a:gd name="connsiteX7" fmla="*/ 423238 w 5452658"/>
              <a:gd name="connsiteY7" fmla="*/ 461522 h 4299566"/>
              <a:gd name="connsiteX0" fmla="*/ 423238 w 5460285"/>
              <a:gd name="connsiteY0" fmla="*/ 461522 h 4374298"/>
              <a:gd name="connsiteX1" fmla="*/ 2166978 w 5460285"/>
              <a:gd name="connsiteY1" fmla="*/ 46852 h 4374298"/>
              <a:gd name="connsiteX2" fmla="*/ 4601834 w 5460285"/>
              <a:gd name="connsiteY2" fmla="*/ 227606 h 4374298"/>
              <a:gd name="connsiteX3" fmla="*/ 5452438 w 5460285"/>
              <a:gd name="connsiteY3" fmla="*/ 1981978 h 4374298"/>
              <a:gd name="connsiteX4" fmla="*/ 4793219 w 5460285"/>
              <a:gd name="connsiteY4" fmla="*/ 4140387 h 4374298"/>
              <a:gd name="connsiteX5" fmla="*/ 1529025 w 5460285"/>
              <a:gd name="connsiteY5" fmla="*/ 4161652 h 4374298"/>
              <a:gd name="connsiteX6" fmla="*/ 72364 w 5460285"/>
              <a:gd name="connsiteY6" fmla="*/ 2768787 h 4374298"/>
              <a:gd name="connsiteX7" fmla="*/ 423238 w 5460285"/>
              <a:gd name="connsiteY7" fmla="*/ 461522 h 4374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60285" h="4374298">
                <a:moveTo>
                  <a:pt x="423238" y="461522"/>
                </a:moveTo>
                <a:cubicBezTo>
                  <a:pt x="772340" y="7866"/>
                  <a:pt x="1470545" y="85838"/>
                  <a:pt x="2166978" y="46852"/>
                </a:cubicBezTo>
                <a:cubicBezTo>
                  <a:pt x="2863411" y="7866"/>
                  <a:pt x="4054257" y="-94915"/>
                  <a:pt x="4601834" y="227606"/>
                </a:cubicBezTo>
                <a:cubicBezTo>
                  <a:pt x="5149411" y="550127"/>
                  <a:pt x="5420540" y="1329848"/>
                  <a:pt x="5452438" y="1981978"/>
                </a:cubicBezTo>
                <a:cubicBezTo>
                  <a:pt x="5484336" y="2634108"/>
                  <a:pt x="5447121" y="3777108"/>
                  <a:pt x="4793219" y="4140387"/>
                </a:cubicBezTo>
                <a:cubicBezTo>
                  <a:pt x="4139317" y="4503666"/>
                  <a:pt x="2315834" y="4390252"/>
                  <a:pt x="1529025" y="4161652"/>
                </a:cubicBezTo>
                <a:cubicBezTo>
                  <a:pt x="742216" y="3933052"/>
                  <a:pt x="313369" y="3268517"/>
                  <a:pt x="72364" y="2768787"/>
                </a:cubicBezTo>
                <a:cubicBezTo>
                  <a:pt x="-111934" y="2178680"/>
                  <a:pt x="74136" y="915178"/>
                  <a:pt x="423238" y="461522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9048328" y="5085184"/>
            <a:ext cx="21002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G= (V, E)</a:t>
            </a:r>
          </a:p>
          <a:p>
            <a:endParaRPr lang="en-US" dirty="0">
              <a:latin typeface="+mn-lt"/>
            </a:endParaRPr>
          </a:p>
          <a:p>
            <a:r>
              <a:rPr lang="en-US" dirty="0"/>
              <a:t>V = W</a:t>
            </a:r>
            <a:r>
              <a:rPr lang="en-US" baseline="-25000" dirty="0"/>
              <a:t>1</a:t>
            </a:r>
            <a:r>
              <a:rPr lang="en-US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</a:t>
            </a:r>
            <a:r>
              <a:rPr lang="en-US" dirty="0"/>
              <a:t> W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 </a:t>
            </a:r>
            <a:r>
              <a:rPr lang="en-US" dirty="0"/>
              <a:t>W</a:t>
            </a:r>
            <a:r>
              <a:rPr lang="en-US" baseline="-25000" dirty="0"/>
              <a:t>3</a:t>
            </a:r>
            <a:endParaRPr lang="ru-RU" baseline="-25000" dirty="0"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5360" y="1600201"/>
            <a:ext cx="11665296" cy="47085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2770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Компонента связности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Компонента связности неориентированного графа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= (V, E)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– это максимальное по включению множество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 V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ru-RU" sz="24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т.ч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любые две вершины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соединяются в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путем,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проходящим только по вершинам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</a:p>
          <a:p>
            <a:pPr lvl="0"/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lvl="0"/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–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разные компоненты связности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G,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то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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</a:t>
            </a:r>
            <a:endParaRPr lang="en-US" sz="2400" baseline="-25000" dirty="0">
              <a:solidFill>
                <a:schemeClr val="bg1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V = 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… 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W</a:t>
            </a:r>
            <a:r>
              <a:rPr lang="en-US" sz="24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x</a:t>
            </a:r>
            <a:endParaRPr lang="ru-RU" sz="2400" baseline="-25000" dirty="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2324708"/>
            <a:ext cx="4518889" cy="3076947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9" name="Freeform 8"/>
          <p:cNvSpPr/>
          <p:nvPr/>
        </p:nvSpPr>
        <p:spPr>
          <a:xfrm>
            <a:off x="6479427" y="2144588"/>
            <a:ext cx="4217935" cy="2567756"/>
          </a:xfrm>
          <a:custGeom>
            <a:avLst/>
            <a:gdLst>
              <a:gd name="connsiteX0" fmla="*/ 395826 w 4217935"/>
              <a:gd name="connsiteY0" fmla="*/ 2358401 h 2567756"/>
              <a:gd name="connsiteX1" fmla="*/ 1379237 w 4217935"/>
              <a:gd name="connsiteY1" fmla="*/ 2427412 h 2567756"/>
              <a:gd name="connsiteX2" fmla="*/ 3855018 w 4217935"/>
              <a:gd name="connsiteY2" fmla="*/ 986801 h 2567756"/>
              <a:gd name="connsiteX3" fmla="*/ 3889524 w 4217935"/>
              <a:gd name="connsiteY3" fmla="*/ 132786 h 2567756"/>
              <a:gd name="connsiteX4" fmla="*/ 870279 w 4217935"/>
              <a:gd name="connsiteY4" fmla="*/ 98280 h 2567756"/>
              <a:gd name="connsiteX5" fmla="*/ 16264 w 4217935"/>
              <a:gd name="connsiteY5" fmla="*/ 1064438 h 2567756"/>
              <a:gd name="connsiteX6" fmla="*/ 395826 w 4217935"/>
              <a:gd name="connsiteY6" fmla="*/ 2358401 h 2567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17935" h="2567756">
                <a:moveTo>
                  <a:pt x="395826" y="2358401"/>
                </a:moveTo>
                <a:cubicBezTo>
                  <a:pt x="622988" y="2585563"/>
                  <a:pt x="802705" y="2656012"/>
                  <a:pt x="1379237" y="2427412"/>
                </a:cubicBezTo>
                <a:cubicBezTo>
                  <a:pt x="1955769" y="2198812"/>
                  <a:pt x="3436637" y="1369239"/>
                  <a:pt x="3855018" y="986801"/>
                </a:cubicBezTo>
                <a:cubicBezTo>
                  <a:pt x="4273399" y="604363"/>
                  <a:pt x="4386981" y="280873"/>
                  <a:pt x="3889524" y="132786"/>
                </a:cubicBezTo>
                <a:cubicBezTo>
                  <a:pt x="3392068" y="-15301"/>
                  <a:pt x="1515822" y="-56995"/>
                  <a:pt x="870279" y="98280"/>
                </a:cubicBezTo>
                <a:cubicBezTo>
                  <a:pt x="224736" y="253555"/>
                  <a:pt x="96777" y="687751"/>
                  <a:pt x="16264" y="1064438"/>
                </a:cubicBezTo>
                <a:cubicBezTo>
                  <a:pt x="-64249" y="1441125"/>
                  <a:pt x="168664" y="2131239"/>
                  <a:pt x="395826" y="235840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Freeform 9"/>
          <p:cNvSpPr/>
          <p:nvPr/>
        </p:nvSpPr>
        <p:spPr>
          <a:xfrm>
            <a:off x="8184232" y="4581128"/>
            <a:ext cx="925740" cy="775831"/>
          </a:xfrm>
          <a:custGeom>
            <a:avLst/>
            <a:gdLst>
              <a:gd name="connsiteX0" fmla="*/ 91734 w 925740"/>
              <a:gd name="connsiteY0" fmla="*/ 688253 h 775831"/>
              <a:gd name="connsiteX1" fmla="*/ 91734 w 925740"/>
              <a:gd name="connsiteY1" fmla="*/ 101657 h 775831"/>
              <a:gd name="connsiteX2" fmla="*/ 868111 w 925740"/>
              <a:gd name="connsiteY2" fmla="*/ 58525 h 775831"/>
              <a:gd name="connsiteX3" fmla="*/ 781847 w 925740"/>
              <a:gd name="connsiteY3" fmla="*/ 705506 h 775831"/>
              <a:gd name="connsiteX4" fmla="*/ 91734 w 925740"/>
              <a:gd name="connsiteY4" fmla="*/ 688253 h 77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740" h="775831">
                <a:moveTo>
                  <a:pt x="91734" y="688253"/>
                </a:moveTo>
                <a:cubicBezTo>
                  <a:pt x="-23285" y="587612"/>
                  <a:pt x="-37662" y="206612"/>
                  <a:pt x="91734" y="101657"/>
                </a:cubicBezTo>
                <a:cubicBezTo>
                  <a:pt x="221130" y="-3298"/>
                  <a:pt x="753092" y="-42116"/>
                  <a:pt x="868111" y="58525"/>
                </a:cubicBezTo>
                <a:cubicBezTo>
                  <a:pt x="983130" y="159166"/>
                  <a:pt x="911243" y="597676"/>
                  <a:pt x="781847" y="705506"/>
                </a:cubicBezTo>
                <a:cubicBezTo>
                  <a:pt x="652451" y="813336"/>
                  <a:pt x="206753" y="788894"/>
                  <a:pt x="91734" y="688253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Freeform 10"/>
          <p:cNvSpPr/>
          <p:nvPr/>
        </p:nvSpPr>
        <p:spPr>
          <a:xfrm>
            <a:off x="9426867" y="3399351"/>
            <a:ext cx="1602384" cy="1583582"/>
          </a:xfrm>
          <a:custGeom>
            <a:avLst/>
            <a:gdLst>
              <a:gd name="connsiteX0" fmla="*/ 1131865 w 1602384"/>
              <a:gd name="connsiteY0" fmla="*/ 1534958 h 1583582"/>
              <a:gd name="connsiteX1" fmla="*/ 1597691 w 1602384"/>
              <a:gd name="connsiteY1" fmla="*/ 801713 h 1583582"/>
              <a:gd name="connsiteX2" fmla="*/ 864446 w 1602384"/>
              <a:gd name="connsiteY2" fmla="*/ 33962 h 1583582"/>
              <a:gd name="connsiteX3" fmla="*/ 459005 w 1602384"/>
              <a:gd name="connsiteY3" fmla="*/ 206491 h 1583582"/>
              <a:gd name="connsiteX4" fmla="*/ 10431 w 1602384"/>
              <a:gd name="connsiteY4" fmla="*/ 844845 h 1583582"/>
              <a:gd name="connsiteX5" fmla="*/ 226091 w 1602384"/>
              <a:gd name="connsiteY5" fmla="*/ 1440068 h 1583582"/>
              <a:gd name="connsiteX6" fmla="*/ 1131865 w 1602384"/>
              <a:gd name="connsiteY6" fmla="*/ 1534958 h 158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2384" h="1583582">
                <a:moveTo>
                  <a:pt x="1131865" y="1534958"/>
                </a:moveTo>
                <a:cubicBezTo>
                  <a:pt x="1360465" y="1428565"/>
                  <a:pt x="1642261" y="1051879"/>
                  <a:pt x="1597691" y="801713"/>
                </a:cubicBezTo>
                <a:cubicBezTo>
                  <a:pt x="1553121" y="551547"/>
                  <a:pt x="1054227" y="133166"/>
                  <a:pt x="864446" y="33962"/>
                </a:cubicBezTo>
                <a:cubicBezTo>
                  <a:pt x="674665" y="-65242"/>
                  <a:pt x="601341" y="71344"/>
                  <a:pt x="459005" y="206491"/>
                </a:cubicBezTo>
                <a:cubicBezTo>
                  <a:pt x="316669" y="341638"/>
                  <a:pt x="49250" y="639249"/>
                  <a:pt x="10431" y="844845"/>
                </a:cubicBezTo>
                <a:cubicBezTo>
                  <a:pt x="-28388" y="1050441"/>
                  <a:pt x="40623" y="1323611"/>
                  <a:pt x="226091" y="1440068"/>
                </a:cubicBezTo>
                <a:cubicBezTo>
                  <a:pt x="411559" y="1556525"/>
                  <a:pt x="903265" y="1641351"/>
                  <a:pt x="1131865" y="1534958"/>
                </a:cubicBezTo>
                <a:close/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3691" y="2256120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1</a:t>
            </a:r>
            <a:endParaRPr lang="ru-RU" baseline="-250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7799" y="4581128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2</a:t>
            </a:r>
            <a:endParaRPr lang="ru-RU" baseline="-25000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8374" y="4527217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3</a:t>
            </a:r>
            <a:endParaRPr lang="ru-RU" baseline="-25000" dirty="0">
              <a:latin typeface="+mn-lt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6190212" y="1845744"/>
            <a:ext cx="5460285" cy="4374298"/>
          </a:xfrm>
          <a:custGeom>
            <a:avLst/>
            <a:gdLst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38761 w 5214270"/>
              <a:gd name="connsiteY0" fmla="*/ 462101 h 3971622"/>
              <a:gd name="connsiteX1" fmla="*/ 2182501 w 5214270"/>
              <a:gd name="connsiteY1" fmla="*/ 47431 h 3971622"/>
              <a:gd name="connsiteX2" fmla="*/ 4617357 w 5214270"/>
              <a:gd name="connsiteY2" fmla="*/ 228185 h 3971622"/>
              <a:gd name="connsiteX3" fmla="*/ 5212780 w 5214270"/>
              <a:gd name="connsiteY3" fmla="*/ 1993189 h 3971622"/>
              <a:gd name="connsiteX4" fmla="*/ 4521663 w 5214270"/>
              <a:gd name="connsiteY4" fmla="*/ 3726296 h 3971622"/>
              <a:gd name="connsiteX5" fmla="*/ 1597710 w 5214270"/>
              <a:gd name="connsiteY5" fmla="*/ 3832622 h 3971622"/>
              <a:gd name="connsiteX6" fmla="*/ 183580 w 5214270"/>
              <a:gd name="connsiteY6" fmla="*/ 2524817 h 3971622"/>
              <a:gd name="connsiteX7" fmla="*/ 151682 w 5214270"/>
              <a:gd name="connsiteY7" fmla="*/ 834241 h 3971622"/>
              <a:gd name="connsiteX8" fmla="*/ 438761 w 5214270"/>
              <a:gd name="connsiteY8" fmla="*/ 462101 h 3971622"/>
              <a:gd name="connsiteX0" fmla="*/ 438761 w 5214270"/>
              <a:gd name="connsiteY0" fmla="*/ 462101 h 4094819"/>
              <a:gd name="connsiteX1" fmla="*/ 2182501 w 5214270"/>
              <a:gd name="connsiteY1" fmla="*/ 47431 h 4094819"/>
              <a:gd name="connsiteX2" fmla="*/ 4617357 w 5214270"/>
              <a:gd name="connsiteY2" fmla="*/ 228185 h 4094819"/>
              <a:gd name="connsiteX3" fmla="*/ 5212780 w 5214270"/>
              <a:gd name="connsiteY3" fmla="*/ 1993189 h 4094819"/>
              <a:gd name="connsiteX4" fmla="*/ 4521663 w 5214270"/>
              <a:gd name="connsiteY4" fmla="*/ 3726296 h 4094819"/>
              <a:gd name="connsiteX5" fmla="*/ 1544548 w 5214270"/>
              <a:gd name="connsiteY5" fmla="*/ 4002743 h 4094819"/>
              <a:gd name="connsiteX6" fmla="*/ 183580 w 5214270"/>
              <a:gd name="connsiteY6" fmla="*/ 2524817 h 4094819"/>
              <a:gd name="connsiteX7" fmla="*/ 151682 w 5214270"/>
              <a:gd name="connsiteY7" fmla="*/ 834241 h 4094819"/>
              <a:gd name="connsiteX8" fmla="*/ 438761 w 5214270"/>
              <a:gd name="connsiteY8" fmla="*/ 462101 h 4094819"/>
              <a:gd name="connsiteX0" fmla="*/ 454664 w 5230173"/>
              <a:gd name="connsiteY0" fmla="*/ 462101 h 4076758"/>
              <a:gd name="connsiteX1" fmla="*/ 2198404 w 5230173"/>
              <a:gd name="connsiteY1" fmla="*/ 47431 h 4076758"/>
              <a:gd name="connsiteX2" fmla="*/ 4633260 w 5230173"/>
              <a:gd name="connsiteY2" fmla="*/ 228185 h 4076758"/>
              <a:gd name="connsiteX3" fmla="*/ 5228683 w 5230173"/>
              <a:gd name="connsiteY3" fmla="*/ 1993189 h 4076758"/>
              <a:gd name="connsiteX4" fmla="*/ 4537566 w 5230173"/>
              <a:gd name="connsiteY4" fmla="*/ 3726296 h 4076758"/>
              <a:gd name="connsiteX5" fmla="*/ 1560451 w 5230173"/>
              <a:gd name="connsiteY5" fmla="*/ 4002743 h 4076758"/>
              <a:gd name="connsiteX6" fmla="*/ 103790 w 5230173"/>
              <a:gd name="connsiteY6" fmla="*/ 2769366 h 4076758"/>
              <a:gd name="connsiteX7" fmla="*/ 167585 w 5230173"/>
              <a:gd name="connsiteY7" fmla="*/ 834241 h 4076758"/>
              <a:gd name="connsiteX8" fmla="*/ 454664 w 5230173"/>
              <a:gd name="connsiteY8" fmla="*/ 462101 h 4076758"/>
              <a:gd name="connsiteX0" fmla="*/ 423238 w 5198747"/>
              <a:gd name="connsiteY0" fmla="*/ 462101 h 4076758"/>
              <a:gd name="connsiteX1" fmla="*/ 2166978 w 5198747"/>
              <a:gd name="connsiteY1" fmla="*/ 47431 h 4076758"/>
              <a:gd name="connsiteX2" fmla="*/ 4601834 w 5198747"/>
              <a:gd name="connsiteY2" fmla="*/ 228185 h 4076758"/>
              <a:gd name="connsiteX3" fmla="*/ 5197257 w 5198747"/>
              <a:gd name="connsiteY3" fmla="*/ 1993189 h 4076758"/>
              <a:gd name="connsiteX4" fmla="*/ 4506140 w 5198747"/>
              <a:gd name="connsiteY4" fmla="*/ 3726296 h 4076758"/>
              <a:gd name="connsiteX5" fmla="*/ 1529025 w 5198747"/>
              <a:gd name="connsiteY5" fmla="*/ 4002743 h 4076758"/>
              <a:gd name="connsiteX6" fmla="*/ 72364 w 5198747"/>
              <a:gd name="connsiteY6" fmla="*/ 2769366 h 4076758"/>
              <a:gd name="connsiteX7" fmla="*/ 423238 w 5198747"/>
              <a:gd name="connsiteY7" fmla="*/ 462101 h 4076758"/>
              <a:gd name="connsiteX0" fmla="*/ 423238 w 5198747"/>
              <a:gd name="connsiteY0" fmla="*/ 462101 h 4213202"/>
              <a:gd name="connsiteX1" fmla="*/ 2166978 w 5198747"/>
              <a:gd name="connsiteY1" fmla="*/ 47431 h 4213202"/>
              <a:gd name="connsiteX2" fmla="*/ 4601834 w 5198747"/>
              <a:gd name="connsiteY2" fmla="*/ 228185 h 4213202"/>
              <a:gd name="connsiteX3" fmla="*/ 5197257 w 5198747"/>
              <a:gd name="connsiteY3" fmla="*/ 1993189 h 4213202"/>
              <a:gd name="connsiteX4" fmla="*/ 4506140 w 5198747"/>
              <a:gd name="connsiteY4" fmla="*/ 3726296 h 4213202"/>
              <a:gd name="connsiteX5" fmla="*/ 1529025 w 5198747"/>
              <a:gd name="connsiteY5" fmla="*/ 4162231 h 4213202"/>
              <a:gd name="connsiteX6" fmla="*/ 72364 w 5198747"/>
              <a:gd name="connsiteY6" fmla="*/ 2769366 h 4213202"/>
              <a:gd name="connsiteX7" fmla="*/ 423238 w 5198747"/>
              <a:gd name="connsiteY7" fmla="*/ 462101 h 4213202"/>
              <a:gd name="connsiteX0" fmla="*/ 423238 w 5201267"/>
              <a:gd name="connsiteY0" fmla="*/ 462101 h 4299589"/>
              <a:gd name="connsiteX1" fmla="*/ 2166978 w 5201267"/>
              <a:gd name="connsiteY1" fmla="*/ 47431 h 4299589"/>
              <a:gd name="connsiteX2" fmla="*/ 4601834 w 5201267"/>
              <a:gd name="connsiteY2" fmla="*/ 228185 h 4299589"/>
              <a:gd name="connsiteX3" fmla="*/ 5197257 w 5201267"/>
              <a:gd name="connsiteY3" fmla="*/ 1993189 h 4299589"/>
              <a:gd name="connsiteX4" fmla="*/ 4644363 w 5201267"/>
              <a:gd name="connsiteY4" fmla="*/ 4002743 h 4299589"/>
              <a:gd name="connsiteX5" fmla="*/ 1529025 w 5201267"/>
              <a:gd name="connsiteY5" fmla="*/ 4162231 h 4299589"/>
              <a:gd name="connsiteX6" fmla="*/ 72364 w 5201267"/>
              <a:gd name="connsiteY6" fmla="*/ 2769366 h 4299589"/>
              <a:gd name="connsiteX7" fmla="*/ 423238 w 5201267"/>
              <a:gd name="connsiteY7" fmla="*/ 462101 h 4299589"/>
              <a:gd name="connsiteX0" fmla="*/ 423238 w 5452658"/>
              <a:gd name="connsiteY0" fmla="*/ 461522 h 4299566"/>
              <a:gd name="connsiteX1" fmla="*/ 2166978 w 5452658"/>
              <a:gd name="connsiteY1" fmla="*/ 46852 h 4299566"/>
              <a:gd name="connsiteX2" fmla="*/ 4601834 w 5452658"/>
              <a:gd name="connsiteY2" fmla="*/ 227606 h 4299566"/>
              <a:gd name="connsiteX3" fmla="*/ 5452438 w 5452658"/>
              <a:gd name="connsiteY3" fmla="*/ 1981978 h 4299566"/>
              <a:gd name="connsiteX4" fmla="*/ 4644363 w 5452658"/>
              <a:gd name="connsiteY4" fmla="*/ 4002164 h 4299566"/>
              <a:gd name="connsiteX5" fmla="*/ 1529025 w 5452658"/>
              <a:gd name="connsiteY5" fmla="*/ 4161652 h 4299566"/>
              <a:gd name="connsiteX6" fmla="*/ 72364 w 5452658"/>
              <a:gd name="connsiteY6" fmla="*/ 2768787 h 4299566"/>
              <a:gd name="connsiteX7" fmla="*/ 423238 w 5452658"/>
              <a:gd name="connsiteY7" fmla="*/ 461522 h 4299566"/>
              <a:gd name="connsiteX0" fmla="*/ 423238 w 5460285"/>
              <a:gd name="connsiteY0" fmla="*/ 461522 h 4374298"/>
              <a:gd name="connsiteX1" fmla="*/ 2166978 w 5460285"/>
              <a:gd name="connsiteY1" fmla="*/ 46852 h 4374298"/>
              <a:gd name="connsiteX2" fmla="*/ 4601834 w 5460285"/>
              <a:gd name="connsiteY2" fmla="*/ 227606 h 4374298"/>
              <a:gd name="connsiteX3" fmla="*/ 5452438 w 5460285"/>
              <a:gd name="connsiteY3" fmla="*/ 1981978 h 4374298"/>
              <a:gd name="connsiteX4" fmla="*/ 4793219 w 5460285"/>
              <a:gd name="connsiteY4" fmla="*/ 4140387 h 4374298"/>
              <a:gd name="connsiteX5" fmla="*/ 1529025 w 5460285"/>
              <a:gd name="connsiteY5" fmla="*/ 4161652 h 4374298"/>
              <a:gd name="connsiteX6" fmla="*/ 72364 w 5460285"/>
              <a:gd name="connsiteY6" fmla="*/ 2768787 h 4374298"/>
              <a:gd name="connsiteX7" fmla="*/ 423238 w 5460285"/>
              <a:gd name="connsiteY7" fmla="*/ 461522 h 4374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60285" h="4374298">
                <a:moveTo>
                  <a:pt x="423238" y="461522"/>
                </a:moveTo>
                <a:cubicBezTo>
                  <a:pt x="772340" y="7866"/>
                  <a:pt x="1470545" y="85838"/>
                  <a:pt x="2166978" y="46852"/>
                </a:cubicBezTo>
                <a:cubicBezTo>
                  <a:pt x="2863411" y="7866"/>
                  <a:pt x="4054257" y="-94915"/>
                  <a:pt x="4601834" y="227606"/>
                </a:cubicBezTo>
                <a:cubicBezTo>
                  <a:pt x="5149411" y="550127"/>
                  <a:pt x="5420540" y="1329848"/>
                  <a:pt x="5452438" y="1981978"/>
                </a:cubicBezTo>
                <a:cubicBezTo>
                  <a:pt x="5484336" y="2634108"/>
                  <a:pt x="5447121" y="3777108"/>
                  <a:pt x="4793219" y="4140387"/>
                </a:cubicBezTo>
                <a:cubicBezTo>
                  <a:pt x="4139317" y="4503666"/>
                  <a:pt x="2315834" y="4390252"/>
                  <a:pt x="1529025" y="4161652"/>
                </a:cubicBezTo>
                <a:cubicBezTo>
                  <a:pt x="742216" y="3933052"/>
                  <a:pt x="313369" y="3268517"/>
                  <a:pt x="72364" y="2768787"/>
                </a:cubicBezTo>
                <a:cubicBezTo>
                  <a:pt x="-111934" y="2178680"/>
                  <a:pt x="74136" y="915178"/>
                  <a:pt x="423238" y="461522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9048328" y="5085184"/>
            <a:ext cx="21002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G= (V, E)</a:t>
            </a:r>
          </a:p>
          <a:p>
            <a:endParaRPr lang="en-US" dirty="0">
              <a:latin typeface="+mn-lt"/>
            </a:endParaRPr>
          </a:p>
          <a:p>
            <a:r>
              <a:rPr lang="en-US" dirty="0"/>
              <a:t>V = W</a:t>
            </a:r>
            <a:r>
              <a:rPr lang="en-US" baseline="-25000" dirty="0"/>
              <a:t>1</a:t>
            </a:r>
            <a:r>
              <a:rPr lang="en-US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</a:t>
            </a:r>
            <a:r>
              <a:rPr lang="en-US" dirty="0"/>
              <a:t> W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 </a:t>
            </a:r>
            <a:r>
              <a:rPr lang="en-US" dirty="0"/>
              <a:t>W</a:t>
            </a:r>
            <a:r>
              <a:rPr lang="en-US" baseline="-25000" dirty="0"/>
              <a:t>3</a:t>
            </a:r>
            <a:endParaRPr lang="ru-RU" baseline="-25000" dirty="0">
              <a:latin typeface="+mn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79976" y="1600201"/>
            <a:ext cx="6120680" cy="47085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367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Компонента связности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Компонента связности неориентированного графа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= (V, E)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– это максимальное по включению множество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 V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ru-RU" sz="24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т.ч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любые две вершины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соединяются в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путем,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проходящим только по вершинам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</a:p>
          <a:p>
            <a:pPr lvl="0"/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lvl="0"/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–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разные компоненты связности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G,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то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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</a:t>
            </a:r>
            <a:endParaRPr lang="en-US" sz="2400" baseline="-25000" dirty="0">
              <a:solidFill>
                <a:schemeClr val="bg1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V = 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… 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W</a:t>
            </a:r>
            <a:r>
              <a:rPr lang="en-US" sz="24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x</a:t>
            </a:r>
            <a:endParaRPr lang="ru-RU" sz="2400" baseline="-25000" dirty="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2324708"/>
            <a:ext cx="4518889" cy="3076947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15" name="Freeform 14"/>
          <p:cNvSpPr/>
          <p:nvPr/>
        </p:nvSpPr>
        <p:spPr>
          <a:xfrm>
            <a:off x="6190212" y="1845744"/>
            <a:ext cx="5460285" cy="4374298"/>
          </a:xfrm>
          <a:custGeom>
            <a:avLst/>
            <a:gdLst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38761 w 5214270"/>
              <a:gd name="connsiteY0" fmla="*/ 462101 h 3971622"/>
              <a:gd name="connsiteX1" fmla="*/ 2182501 w 5214270"/>
              <a:gd name="connsiteY1" fmla="*/ 47431 h 3971622"/>
              <a:gd name="connsiteX2" fmla="*/ 4617357 w 5214270"/>
              <a:gd name="connsiteY2" fmla="*/ 228185 h 3971622"/>
              <a:gd name="connsiteX3" fmla="*/ 5212780 w 5214270"/>
              <a:gd name="connsiteY3" fmla="*/ 1993189 h 3971622"/>
              <a:gd name="connsiteX4" fmla="*/ 4521663 w 5214270"/>
              <a:gd name="connsiteY4" fmla="*/ 3726296 h 3971622"/>
              <a:gd name="connsiteX5" fmla="*/ 1597710 w 5214270"/>
              <a:gd name="connsiteY5" fmla="*/ 3832622 h 3971622"/>
              <a:gd name="connsiteX6" fmla="*/ 183580 w 5214270"/>
              <a:gd name="connsiteY6" fmla="*/ 2524817 h 3971622"/>
              <a:gd name="connsiteX7" fmla="*/ 151682 w 5214270"/>
              <a:gd name="connsiteY7" fmla="*/ 834241 h 3971622"/>
              <a:gd name="connsiteX8" fmla="*/ 438761 w 5214270"/>
              <a:gd name="connsiteY8" fmla="*/ 462101 h 3971622"/>
              <a:gd name="connsiteX0" fmla="*/ 438761 w 5214270"/>
              <a:gd name="connsiteY0" fmla="*/ 462101 h 4094819"/>
              <a:gd name="connsiteX1" fmla="*/ 2182501 w 5214270"/>
              <a:gd name="connsiteY1" fmla="*/ 47431 h 4094819"/>
              <a:gd name="connsiteX2" fmla="*/ 4617357 w 5214270"/>
              <a:gd name="connsiteY2" fmla="*/ 228185 h 4094819"/>
              <a:gd name="connsiteX3" fmla="*/ 5212780 w 5214270"/>
              <a:gd name="connsiteY3" fmla="*/ 1993189 h 4094819"/>
              <a:gd name="connsiteX4" fmla="*/ 4521663 w 5214270"/>
              <a:gd name="connsiteY4" fmla="*/ 3726296 h 4094819"/>
              <a:gd name="connsiteX5" fmla="*/ 1544548 w 5214270"/>
              <a:gd name="connsiteY5" fmla="*/ 4002743 h 4094819"/>
              <a:gd name="connsiteX6" fmla="*/ 183580 w 5214270"/>
              <a:gd name="connsiteY6" fmla="*/ 2524817 h 4094819"/>
              <a:gd name="connsiteX7" fmla="*/ 151682 w 5214270"/>
              <a:gd name="connsiteY7" fmla="*/ 834241 h 4094819"/>
              <a:gd name="connsiteX8" fmla="*/ 438761 w 5214270"/>
              <a:gd name="connsiteY8" fmla="*/ 462101 h 4094819"/>
              <a:gd name="connsiteX0" fmla="*/ 454664 w 5230173"/>
              <a:gd name="connsiteY0" fmla="*/ 462101 h 4076758"/>
              <a:gd name="connsiteX1" fmla="*/ 2198404 w 5230173"/>
              <a:gd name="connsiteY1" fmla="*/ 47431 h 4076758"/>
              <a:gd name="connsiteX2" fmla="*/ 4633260 w 5230173"/>
              <a:gd name="connsiteY2" fmla="*/ 228185 h 4076758"/>
              <a:gd name="connsiteX3" fmla="*/ 5228683 w 5230173"/>
              <a:gd name="connsiteY3" fmla="*/ 1993189 h 4076758"/>
              <a:gd name="connsiteX4" fmla="*/ 4537566 w 5230173"/>
              <a:gd name="connsiteY4" fmla="*/ 3726296 h 4076758"/>
              <a:gd name="connsiteX5" fmla="*/ 1560451 w 5230173"/>
              <a:gd name="connsiteY5" fmla="*/ 4002743 h 4076758"/>
              <a:gd name="connsiteX6" fmla="*/ 103790 w 5230173"/>
              <a:gd name="connsiteY6" fmla="*/ 2769366 h 4076758"/>
              <a:gd name="connsiteX7" fmla="*/ 167585 w 5230173"/>
              <a:gd name="connsiteY7" fmla="*/ 834241 h 4076758"/>
              <a:gd name="connsiteX8" fmla="*/ 454664 w 5230173"/>
              <a:gd name="connsiteY8" fmla="*/ 462101 h 4076758"/>
              <a:gd name="connsiteX0" fmla="*/ 423238 w 5198747"/>
              <a:gd name="connsiteY0" fmla="*/ 462101 h 4076758"/>
              <a:gd name="connsiteX1" fmla="*/ 2166978 w 5198747"/>
              <a:gd name="connsiteY1" fmla="*/ 47431 h 4076758"/>
              <a:gd name="connsiteX2" fmla="*/ 4601834 w 5198747"/>
              <a:gd name="connsiteY2" fmla="*/ 228185 h 4076758"/>
              <a:gd name="connsiteX3" fmla="*/ 5197257 w 5198747"/>
              <a:gd name="connsiteY3" fmla="*/ 1993189 h 4076758"/>
              <a:gd name="connsiteX4" fmla="*/ 4506140 w 5198747"/>
              <a:gd name="connsiteY4" fmla="*/ 3726296 h 4076758"/>
              <a:gd name="connsiteX5" fmla="*/ 1529025 w 5198747"/>
              <a:gd name="connsiteY5" fmla="*/ 4002743 h 4076758"/>
              <a:gd name="connsiteX6" fmla="*/ 72364 w 5198747"/>
              <a:gd name="connsiteY6" fmla="*/ 2769366 h 4076758"/>
              <a:gd name="connsiteX7" fmla="*/ 423238 w 5198747"/>
              <a:gd name="connsiteY7" fmla="*/ 462101 h 4076758"/>
              <a:gd name="connsiteX0" fmla="*/ 423238 w 5198747"/>
              <a:gd name="connsiteY0" fmla="*/ 462101 h 4213202"/>
              <a:gd name="connsiteX1" fmla="*/ 2166978 w 5198747"/>
              <a:gd name="connsiteY1" fmla="*/ 47431 h 4213202"/>
              <a:gd name="connsiteX2" fmla="*/ 4601834 w 5198747"/>
              <a:gd name="connsiteY2" fmla="*/ 228185 h 4213202"/>
              <a:gd name="connsiteX3" fmla="*/ 5197257 w 5198747"/>
              <a:gd name="connsiteY3" fmla="*/ 1993189 h 4213202"/>
              <a:gd name="connsiteX4" fmla="*/ 4506140 w 5198747"/>
              <a:gd name="connsiteY4" fmla="*/ 3726296 h 4213202"/>
              <a:gd name="connsiteX5" fmla="*/ 1529025 w 5198747"/>
              <a:gd name="connsiteY5" fmla="*/ 4162231 h 4213202"/>
              <a:gd name="connsiteX6" fmla="*/ 72364 w 5198747"/>
              <a:gd name="connsiteY6" fmla="*/ 2769366 h 4213202"/>
              <a:gd name="connsiteX7" fmla="*/ 423238 w 5198747"/>
              <a:gd name="connsiteY7" fmla="*/ 462101 h 4213202"/>
              <a:gd name="connsiteX0" fmla="*/ 423238 w 5201267"/>
              <a:gd name="connsiteY0" fmla="*/ 462101 h 4299589"/>
              <a:gd name="connsiteX1" fmla="*/ 2166978 w 5201267"/>
              <a:gd name="connsiteY1" fmla="*/ 47431 h 4299589"/>
              <a:gd name="connsiteX2" fmla="*/ 4601834 w 5201267"/>
              <a:gd name="connsiteY2" fmla="*/ 228185 h 4299589"/>
              <a:gd name="connsiteX3" fmla="*/ 5197257 w 5201267"/>
              <a:gd name="connsiteY3" fmla="*/ 1993189 h 4299589"/>
              <a:gd name="connsiteX4" fmla="*/ 4644363 w 5201267"/>
              <a:gd name="connsiteY4" fmla="*/ 4002743 h 4299589"/>
              <a:gd name="connsiteX5" fmla="*/ 1529025 w 5201267"/>
              <a:gd name="connsiteY5" fmla="*/ 4162231 h 4299589"/>
              <a:gd name="connsiteX6" fmla="*/ 72364 w 5201267"/>
              <a:gd name="connsiteY6" fmla="*/ 2769366 h 4299589"/>
              <a:gd name="connsiteX7" fmla="*/ 423238 w 5201267"/>
              <a:gd name="connsiteY7" fmla="*/ 462101 h 4299589"/>
              <a:gd name="connsiteX0" fmla="*/ 423238 w 5452658"/>
              <a:gd name="connsiteY0" fmla="*/ 461522 h 4299566"/>
              <a:gd name="connsiteX1" fmla="*/ 2166978 w 5452658"/>
              <a:gd name="connsiteY1" fmla="*/ 46852 h 4299566"/>
              <a:gd name="connsiteX2" fmla="*/ 4601834 w 5452658"/>
              <a:gd name="connsiteY2" fmla="*/ 227606 h 4299566"/>
              <a:gd name="connsiteX3" fmla="*/ 5452438 w 5452658"/>
              <a:gd name="connsiteY3" fmla="*/ 1981978 h 4299566"/>
              <a:gd name="connsiteX4" fmla="*/ 4644363 w 5452658"/>
              <a:gd name="connsiteY4" fmla="*/ 4002164 h 4299566"/>
              <a:gd name="connsiteX5" fmla="*/ 1529025 w 5452658"/>
              <a:gd name="connsiteY5" fmla="*/ 4161652 h 4299566"/>
              <a:gd name="connsiteX6" fmla="*/ 72364 w 5452658"/>
              <a:gd name="connsiteY6" fmla="*/ 2768787 h 4299566"/>
              <a:gd name="connsiteX7" fmla="*/ 423238 w 5452658"/>
              <a:gd name="connsiteY7" fmla="*/ 461522 h 4299566"/>
              <a:gd name="connsiteX0" fmla="*/ 423238 w 5460285"/>
              <a:gd name="connsiteY0" fmla="*/ 461522 h 4374298"/>
              <a:gd name="connsiteX1" fmla="*/ 2166978 w 5460285"/>
              <a:gd name="connsiteY1" fmla="*/ 46852 h 4374298"/>
              <a:gd name="connsiteX2" fmla="*/ 4601834 w 5460285"/>
              <a:gd name="connsiteY2" fmla="*/ 227606 h 4374298"/>
              <a:gd name="connsiteX3" fmla="*/ 5452438 w 5460285"/>
              <a:gd name="connsiteY3" fmla="*/ 1981978 h 4374298"/>
              <a:gd name="connsiteX4" fmla="*/ 4793219 w 5460285"/>
              <a:gd name="connsiteY4" fmla="*/ 4140387 h 4374298"/>
              <a:gd name="connsiteX5" fmla="*/ 1529025 w 5460285"/>
              <a:gd name="connsiteY5" fmla="*/ 4161652 h 4374298"/>
              <a:gd name="connsiteX6" fmla="*/ 72364 w 5460285"/>
              <a:gd name="connsiteY6" fmla="*/ 2768787 h 4374298"/>
              <a:gd name="connsiteX7" fmla="*/ 423238 w 5460285"/>
              <a:gd name="connsiteY7" fmla="*/ 461522 h 4374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60285" h="4374298">
                <a:moveTo>
                  <a:pt x="423238" y="461522"/>
                </a:moveTo>
                <a:cubicBezTo>
                  <a:pt x="772340" y="7866"/>
                  <a:pt x="1470545" y="85838"/>
                  <a:pt x="2166978" y="46852"/>
                </a:cubicBezTo>
                <a:cubicBezTo>
                  <a:pt x="2863411" y="7866"/>
                  <a:pt x="4054257" y="-94915"/>
                  <a:pt x="4601834" y="227606"/>
                </a:cubicBezTo>
                <a:cubicBezTo>
                  <a:pt x="5149411" y="550127"/>
                  <a:pt x="5420540" y="1329848"/>
                  <a:pt x="5452438" y="1981978"/>
                </a:cubicBezTo>
                <a:cubicBezTo>
                  <a:pt x="5484336" y="2634108"/>
                  <a:pt x="5447121" y="3777108"/>
                  <a:pt x="4793219" y="4140387"/>
                </a:cubicBezTo>
                <a:cubicBezTo>
                  <a:pt x="4139317" y="4503666"/>
                  <a:pt x="2315834" y="4390252"/>
                  <a:pt x="1529025" y="4161652"/>
                </a:cubicBezTo>
                <a:cubicBezTo>
                  <a:pt x="742216" y="3933052"/>
                  <a:pt x="313369" y="3268517"/>
                  <a:pt x="72364" y="2768787"/>
                </a:cubicBezTo>
                <a:cubicBezTo>
                  <a:pt x="-111934" y="2178680"/>
                  <a:pt x="74136" y="915178"/>
                  <a:pt x="423238" y="461522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9048328" y="5085184"/>
            <a:ext cx="21002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G= (V, E)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solidFill>
                  <a:schemeClr val="bg1"/>
                </a:solidFill>
              </a:rPr>
              <a:t>V = W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</a:t>
            </a:r>
            <a:r>
              <a:rPr lang="en-US" dirty="0">
                <a:solidFill>
                  <a:schemeClr val="bg1"/>
                </a:solidFill>
              </a:rPr>
              <a:t> W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 </a:t>
            </a:r>
            <a:r>
              <a:rPr lang="en-US" dirty="0">
                <a:solidFill>
                  <a:schemeClr val="bg1"/>
                </a:solidFill>
              </a:rPr>
              <a:t>W</a:t>
            </a:r>
            <a:r>
              <a:rPr lang="en-US" baseline="-25000" dirty="0">
                <a:solidFill>
                  <a:schemeClr val="bg1"/>
                </a:solidFill>
              </a:rPr>
              <a:t>3</a:t>
            </a:r>
            <a:endParaRPr lang="ru-RU" baseline="-250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19103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Компонента связности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Компонента связности неориентированного графа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= (V, E)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– это максимальное по включению множество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 V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ru-RU" sz="24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т.ч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любые две вершины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соединяются в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путем,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проходящим только по вершинам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</a:p>
          <a:p>
            <a:pPr lvl="0"/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lvl="0"/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–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разные компоненты связности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G,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то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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</a:t>
            </a:r>
            <a:endParaRPr lang="en-US" sz="2400" baseline="-25000" dirty="0">
              <a:solidFill>
                <a:schemeClr val="bg1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V = 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… 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W</a:t>
            </a:r>
            <a:r>
              <a:rPr lang="en-US" sz="24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x</a:t>
            </a:r>
            <a:endParaRPr lang="ru-RU" sz="2400" baseline="-25000" dirty="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2324708"/>
            <a:ext cx="4518889" cy="3076947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9" name="Freeform 8"/>
          <p:cNvSpPr/>
          <p:nvPr/>
        </p:nvSpPr>
        <p:spPr>
          <a:xfrm>
            <a:off x="6479427" y="2144588"/>
            <a:ext cx="4217935" cy="2567756"/>
          </a:xfrm>
          <a:custGeom>
            <a:avLst/>
            <a:gdLst>
              <a:gd name="connsiteX0" fmla="*/ 395826 w 4217935"/>
              <a:gd name="connsiteY0" fmla="*/ 2358401 h 2567756"/>
              <a:gd name="connsiteX1" fmla="*/ 1379237 w 4217935"/>
              <a:gd name="connsiteY1" fmla="*/ 2427412 h 2567756"/>
              <a:gd name="connsiteX2" fmla="*/ 3855018 w 4217935"/>
              <a:gd name="connsiteY2" fmla="*/ 986801 h 2567756"/>
              <a:gd name="connsiteX3" fmla="*/ 3889524 w 4217935"/>
              <a:gd name="connsiteY3" fmla="*/ 132786 h 2567756"/>
              <a:gd name="connsiteX4" fmla="*/ 870279 w 4217935"/>
              <a:gd name="connsiteY4" fmla="*/ 98280 h 2567756"/>
              <a:gd name="connsiteX5" fmla="*/ 16264 w 4217935"/>
              <a:gd name="connsiteY5" fmla="*/ 1064438 h 2567756"/>
              <a:gd name="connsiteX6" fmla="*/ 395826 w 4217935"/>
              <a:gd name="connsiteY6" fmla="*/ 2358401 h 2567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17935" h="2567756">
                <a:moveTo>
                  <a:pt x="395826" y="2358401"/>
                </a:moveTo>
                <a:cubicBezTo>
                  <a:pt x="622988" y="2585563"/>
                  <a:pt x="802705" y="2656012"/>
                  <a:pt x="1379237" y="2427412"/>
                </a:cubicBezTo>
                <a:cubicBezTo>
                  <a:pt x="1955769" y="2198812"/>
                  <a:pt x="3436637" y="1369239"/>
                  <a:pt x="3855018" y="986801"/>
                </a:cubicBezTo>
                <a:cubicBezTo>
                  <a:pt x="4273399" y="604363"/>
                  <a:pt x="4386981" y="280873"/>
                  <a:pt x="3889524" y="132786"/>
                </a:cubicBezTo>
                <a:cubicBezTo>
                  <a:pt x="3392068" y="-15301"/>
                  <a:pt x="1515822" y="-56995"/>
                  <a:pt x="870279" y="98280"/>
                </a:cubicBezTo>
                <a:cubicBezTo>
                  <a:pt x="224736" y="253555"/>
                  <a:pt x="96777" y="687751"/>
                  <a:pt x="16264" y="1064438"/>
                </a:cubicBezTo>
                <a:cubicBezTo>
                  <a:pt x="-64249" y="1441125"/>
                  <a:pt x="168664" y="2131239"/>
                  <a:pt x="395826" y="235840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8983691" y="2256120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1</a:t>
            </a:r>
            <a:endParaRPr lang="ru-RU" baseline="-25000" dirty="0">
              <a:latin typeface="+mn-lt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6190212" y="1845744"/>
            <a:ext cx="5460285" cy="4374298"/>
          </a:xfrm>
          <a:custGeom>
            <a:avLst/>
            <a:gdLst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38761 w 5214270"/>
              <a:gd name="connsiteY0" fmla="*/ 462101 h 3971622"/>
              <a:gd name="connsiteX1" fmla="*/ 2182501 w 5214270"/>
              <a:gd name="connsiteY1" fmla="*/ 47431 h 3971622"/>
              <a:gd name="connsiteX2" fmla="*/ 4617357 w 5214270"/>
              <a:gd name="connsiteY2" fmla="*/ 228185 h 3971622"/>
              <a:gd name="connsiteX3" fmla="*/ 5212780 w 5214270"/>
              <a:gd name="connsiteY3" fmla="*/ 1993189 h 3971622"/>
              <a:gd name="connsiteX4" fmla="*/ 4521663 w 5214270"/>
              <a:gd name="connsiteY4" fmla="*/ 3726296 h 3971622"/>
              <a:gd name="connsiteX5" fmla="*/ 1597710 w 5214270"/>
              <a:gd name="connsiteY5" fmla="*/ 3832622 h 3971622"/>
              <a:gd name="connsiteX6" fmla="*/ 183580 w 5214270"/>
              <a:gd name="connsiteY6" fmla="*/ 2524817 h 3971622"/>
              <a:gd name="connsiteX7" fmla="*/ 151682 w 5214270"/>
              <a:gd name="connsiteY7" fmla="*/ 834241 h 3971622"/>
              <a:gd name="connsiteX8" fmla="*/ 438761 w 5214270"/>
              <a:gd name="connsiteY8" fmla="*/ 462101 h 3971622"/>
              <a:gd name="connsiteX0" fmla="*/ 438761 w 5214270"/>
              <a:gd name="connsiteY0" fmla="*/ 462101 h 4094819"/>
              <a:gd name="connsiteX1" fmla="*/ 2182501 w 5214270"/>
              <a:gd name="connsiteY1" fmla="*/ 47431 h 4094819"/>
              <a:gd name="connsiteX2" fmla="*/ 4617357 w 5214270"/>
              <a:gd name="connsiteY2" fmla="*/ 228185 h 4094819"/>
              <a:gd name="connsiteX3" fmla="*/ 5212780 w 5214270"/>
              <a:gd name="connsiteY3" fmla="*/ 1993189 h 4094819"/>
              <a:gd name="connsiteX4" fmla="*/ 4521663 w 5214270"/>
              <a:gd name="connsiteY4" fmla="*/ 3726296 h 4094819"/>
              <a:gd name="connsiteX5" fmla="*/ 1544548 w 5214270"/>
              <a:gd name="connsiteY5" fmla="*/ 4002743 h 4094819"/>
              <a:gd name="connsiteX6" fmla="*/ 183580 w 5214270"/>
              <a:gd name="connsiteY6" fmla="*/ 2524817 h 4094819"/>
              <a:gd name="connsiteX7" fmla="*/ 151682 w 5214270"/>
              <a:gd name="connsiteY7" fmla="*/ 834241 h 4094819"/>
              <a:gd name="connsiteX8" fmla="*/ 438761 w 5214270"/>
              <a:gd name="connsiteY8" fmla="*/ 462101 h 4094819"/>
              <a:gd name="connsiteX0" fmla="*/ 454664 w 5230173"/>
              <a:gd name="connsiteY0" fmla="*/ 462101 h 4076758"/>
              <a:gd name="connsiteX1" fmla="*/ 2198404 w 5230173"/>
              <a:gd name="connsiteY1" fmla="*/ 47431 h 4076758"/>
              <a:gd name="connsiteX2" fmla="*/ 4633260 w 5230173"/>
              <a:gd name="connsiteY2" fmla="*/ 228185 h 4076758"/>
              <a:gd name="connsiteX3" fmla="*/ 5228683 w 5230173"/>
              <a:gd name="connsiteY3" fmla="*/ 1993189 h 4076758"/>
              <a:gd name="connsiteX4" fmla="*/ 4537566 w 5230173"/>
              <a:gd name="connsiteY4" fmla="*/ 3726296 h 4076758"/>
              <a:gd name="connsiteX5" fmla="*/ 1560451 w 5230173"/>
              <a:gd name="connsiteY5" fmla="*/ 4002743 h 4076758"/>
              <a:gd name="connsiteX6" fmla="*/ 103790 w 5230173"/>
              <a:gd name="connsiteY6" fmla="*/ 2769366 h 4076758"/>
              <a:gd name="connsiteX7" fmla="*/ 167585 w 5230173"/>
              <a:gd name="connsiteY7" fmla="*/ 834241 h 4076758"/>
              <a:gd name="connsiteX8" fmla="*/ 454664 w 5230173"/>
              <a:gd name="connsiteY8" fmla="*/ 462101 h 4076758"/>
              <a:gd name="connsiteX0" fmla="*/ 423238 w 5198747"/>
              <a:gd name="connsiteY0" fmla="*/ 462101 h 4076758"/>
              <a:gd name="connsiteX1" fmla="*/ 2166978 w 5198747"/>
              <a:gd name="connsiteY1" fmla="*/ 47431 h 4076758"/>
              <a:gd name="connsiteX2" fmla="*/ 4601834 w 5198747"/>
              <a:gd name="connsiteY2" fmla="*/ 228185 h 4076758"/>
              <a:gd name="connsiteX3" fmla="*/ 5197257 w 5198747"/>
              <a:gd name="connsiteY3" fmla="*/ 1993189 h 4076758"/>
              <a:gd name="connsiteX4" fmla="*/ 4506140 w 5198747"/>
              <a:gd name="connsiteY4" fmla="*/ 3726296 h 4076758"/>
              <a:gd name="connsiteX5" fmla="*/ 1529025 w 5198747"/>
              <a:gd name="connsiteY5" fmla="*/ 4002743 h 4076758"/>
              <a:gd name="connsiteX6" fmla="*/ 72364 w 5198747"/>
              <a:gd name="connsiteY6" fmla="*/ 2769366 h 4076758"/>
              <a:gd name="connsiteX7" fmla="*/ 423238 w 5198747"/>
              <a:gd name="connsiteY7" fmla="*/ 462101 h 4076758"/>
              <a:gd name="connsiteX0" fmla="*/ 423238 w 5198747"/>
              <a:gd name="connsiteY0" fmla="*/ 462101 h 4213202"/>
              <a:gd name="connsiteX1" fmla="*/ 2166978 w 5198747"/>
              <a:gd name="connsiteY1" fmla="*/ 47431 h 4213202"/>
              <a:gd name="connsiteX2" fmla="*/ 4601834 w 5198747"/>
              <a:gd name="connsiteY2" fmla="*/ 228185 h 4213202"/>
              <a:gd name="connsiteX3" fmla="*/ 5197257 w 5198747"/>
              <a:gd name="connsiteY3" fmla="*/ 1993189 h 4213202"/>
              <a:gd name="connsiteX4" fmla="*/ 4506140 w 5198747"/>
              <a:gd name="connsiteY4" fmla="*/ 3726296 h 4213202"/>
              <a:gd name="connsiteX5" fmla="*/ 1529025 w 5198747"/>
              <a:gd name="connsiteY5" fmla="*/ 4162231 h 4213202"/>
              <a:gd name="connsiteX6" fmla="*/ 72364 w 5198747"/>
              <a:gd name="connsiteY6" fmla="*/ 2769366 h 4213202"/>
              <a:gd name="connsiteX7" fmla="*/ 423238 w 5198747"/>
              <a:gd name="connsiteY7" fmla="*/ 462101 h 4213202"/>
              <a:gd name="connsiteX0" fmla="*/ 423238 w 5201267"/>
              <a:gd name="connsiteY0" fmla="*/ 462101 h 4299589"/>
              <a:gd name="connsiteX1" fmla="*/ 2166978 w 5201267"/>
              <a:gd name="connsiteY1" fmla="*/ 47431 h 4299589"/>
              <a:gd name="connsiteX2" fmla="*/ 4601834 w 5201267"/>
              <a:gd name="connsiteY2" fmla="*/ 228185 h 4299589"/>
              <a:gd name="connsiteX3" fmla="*/ 5197257 w 5201267"/>
              <a:gd name="connsiteY3" fmla="*/ 1993189 h 4299589"/>
              <a:gd name="connsiteX4" fmla="*/ 4644363 w 5201267"/>
              <a:gd name="connsiteY4" fmla="*/ 4002743 h 4299589"/>
              <a:gd name="connsiteX5" fmla="*/ 1529025 w 5201267"/>
              <a:gd name="connsiteY5" fmla="*/ 4162231 h 4299589"/>
              <a:gd name="connsiteX6" fmla="*/ 72364 w 5201267"/>
              <a:gd name="connsiteY6" fmla="*/ 2769366 h 4299589"/>
              <a:gd name="connsiteX7" fmla="*/ 423238 w 5201267"/>
              <a:gd name="connsiteY7" fmla="*/ 462101 h 4299589"/>
              <a:gd name="connsiteX0" fmla="*/ 423238 w 5452658"/>
              <a:gd name="connsiteY0" fmla="*/ 461522 h 4299566"/>
              <a:gd name="connsiteX1" fmla="*/ 2166978 w 5452658"/>
              <a:gd name="connsiteY1" fmla="*/ 46852 h 4299566"/>
              <a:gd name="connsiteX2" fmla="*/ 4601834 w 5452658"/>
              <a:gd name="connsiteY2" fmla="*/ 227606 h 4299566"/>
              <a:gd name="connsiteX3" fmla="*/ 5452438 w 5452658"/>
              <a:gd name="connsiteY3" fmla="*/ 1981978 h 4299566"/>
              <a:gd name="connsiteX4" fmla="*/ 4644363 w 5452658"/>
              <a:gd name="connsiteY4" fmla="*/ 4002164 h 4299566"/>
              <a:gd name="connsiteX5" fmla="*/ 1529025 w 5452658"/>
              <a:gd name="connsiteY5" fmla="*/ 4161652 h 4299566"/>
              <a:gd name="connsiteX6" fmla="*/ 72364 w 5452658"/>
              <a:gd name="connsiteY6" fmla="*/ 2768787 h 4299566"/>
              <a:gd name="connsiteX7" fmla="*/ 423238 w 5452658"/>
              <a:gd name="connsiteY7" fmla="*/ 461522 h 4299566"/>
              <a:gd name="connsiteX0" fmla="*/ 423238 w 5460285"/>
              <a:gd name="connsiteY0" fmla="*/ 461522 h 4374298"/>
              <a:gd name="connsiteX1" fmla="*/ 2166978 w 5460285"/>
              <a:gd name="connsiteY1" fmla="*/ 46852 h 4374298"/>
              <a:gd name="connsiteX2" fmla="*/ 4601834 w 5460285"/>
              <a:gd name="connsiteY2" fmla="*/ 227606 h 4374298"/>
              <a:gd name="connsiteX3" fmla="*/ 5452438 w 5460285"/>
              <a:gd name="connsiteY3" fmla="*/ 1981978 h 4374298"/>
              <a:gd name="connsiteX4" fmla="*/ 4793219 w 5460285"/>
              <a:gd name="connsiteY4" fmla="*/ 4140387 h 4374298"/>
              <a:gd name="connsiteX5" fmla="*/ 1529025 w 5460285"/>
              <a:gd name="connsiteY5" fmla="*/ 4161652 h 4374298"/>
              <a:gd name="connsiteX6" fmla="*/ 72364 w 5460285"/>
              <a:gd name="connsiteY6" fmla="*/ 2768787 h 4374298"/>
              <a:gd name="connsiteX7" fmla="*/ 423238 w 5460285"/>
              <a:gd name="connsiteY7" fmla="*/ 461522 h 4374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60285" h="4374298">
                <a:moveTo>
                  <a:pt x="423238" y="461522"/>
                </a:moveTo>
                <a:cubicBezTo>
                  <a:pt x="772340" y="7866"/>
                  <a:pt x="1470545" y="85838"/>
                  <a:pt x="2166978" y="46852"/>
                </a:cubicBezTo>
                <a:cubicBezTo>
                  <a:pt x="2863411" y="7866"/>
                  <a:pt x="4054257" y="-94915"/>
                  <a:pt x="4601834" y="227606"/>
                </a:cubicBezTo>
                <a:cubicBezTo>
                  <a:pt x="5149411" y="550127"/>
                  <a:pt x="5420540" y="1329848"/>
                  <a:pt x="5452438" y="1981978"/>
                </a:cubicBezTo>
                <a:cubicBezTo>
                  <a:pt x="5484336" y="2634108"/>
                  <a:pt x="5447121" y="3777108"/>
                  <a:pt x="4793219" y="4140387"/>
                </a:cubicBezTo>
                <a:cubicBezTo>
                  <a:pt x="4139317" y="4503666"/>
                  <a:pt x="2315834" y="4390252"/>
                  <a:pt x="1529025" y="4161652"/>
                </a:cubicBezTo>
                <a:cubicBezTo>
                  <a:pt x="742216" y="3933052"/>
                  <a:pt x="313369" y="3268517"/>
                  <a:pt x="72364" y="2768787"/>
                </a:cubicBezTo>
                <a:cubicBezTo>
                  <a:pt x="-111934" y="2178680"/>
                  <a:pt x="74136" y="915178"/>
                  <a:pt x="423238" y="461522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9048328" y="5085184"/>
            <a:ext cx="21002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G= (V, E)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solidFill>
                  <a:schemeClr val="bg1"/>
                </a:solidFill>
              </a:rPr>
              <a:t>V = W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</a:t>
            </a:r>
            <a:r>
              <a:rPr lang="en-US" dirty="0">
                <a:solidFill>
                  <a:schemeClr val="bg1"/>
                </a:solidFill>
              </a:rPr>
              <a:t> W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 </a:t>
            </a:r>
            <a:r>
              <a:rPr lang="en-US" dirty="0">
                <a:solidFill>
                  <a:schemeClr val="bg1"/>
                </a:solidFill>
              </a:rPr>
              <a:t>W</a:t>
            </a:r>
            <a:r>
              <a:rPr lang="en-US" baseline="-25000" dirty="0">
                <a:solidFill>
                  <a:schemeClr val="bg1"/>
                </a:solidFill>
              </a:rPr>
              <a:t>3</a:t>
            </a:r>
            <a:endParaRPr lang="ru-RU" baseline="-250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29701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Компонента связности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Компонента связности неориентированного графа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= (V, E)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– это максимальное по включению множество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 V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ru-RU" sz="24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т.ч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любые две вершины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соединяются в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путем,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проходящим только по вершинам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</a:p>
          <a:p>
            <a:pPr lvl="0"/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lvl="0"/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–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разные компоненты связности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G,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то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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</a:t>
            </a:r>
            <a:endParaRPr lang="en-US" sz="2400" baseline="-25000" dirty="0">
              <a:solidFill>
                <a:schemeClr val="bg1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V = 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… 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W</a:t>
            </a:r>
            <a:r>
              <a:rPr lang="en-US" sz="24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x</a:t>
            </a:r>
            <a:endParaRPr lang="ru-RU" sz="2400" baseline="-25000" dirty="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2324708"/>
            <a:ext cx="4518889" cy="3076947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9" name="Freeform 8"/>
          <p:cNvSpPr/>
          <p:nvPr/>
        </p:nvSpPr>
        <p:spPr>
          <a:xfrm>
            <a:off x="6479427" y="2144588"/>
            <a:ext cx="4217935" cy="2567756"/>
          </a:xfrm>
          <a:custGeom>
            <a:avLst/>
            <a:gdLst>
              <a:gd name="connsiteX0" fmla="*/ 395826 w 4217935"/>
              <a:gd name="connsiteY0" fmla="*/ 2358401 h 2567756"/>
              <a:gd name="connsiteX1" fmla="*/ 1379237 w 4217935"/>
              <a:gd name="connsiteY1" fmla="*/ 2427412 h 2567756"/>
              <a:gd name="connsiteX2" fmla="*/ 3855018 w 4217935"/>
              <a:gd name="connsiteY2" fmla="*/ 986801 h 2567756"/>
              <a:gd name="connsiteX3" fmla="*/ 3889524 w 4217935"/>
              <a:gd name="connsiteY3" fmla="*/ 132786 h 2567756"/>
              <a:gd name="connsiteX4" fmla="*/ 870279 w 4217935"/>
              <a:gd name="connsiteY4" fmla="*/ 98280 h 2567756"/>
              <a:gd name="connsiteX5" fmla="*/ 16264 w 4217935"/>
              <a:gd name="connsiteY5" fmla="*/ 1064438 h 2567756"/>
              <a:gd name="connsiteX6" fmla="*/ 395826 w 4217935"/>
              <a:gd name="connsiteY6" fmla="*/ 2358401 h 2567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17935" h="2567756">
                <a:moveTo>
                  <a:pt x="395826" y="2358401"/>
                </a:moveTo>
                <a:cubicBezTo>
                  <a:pt x="622988" y="2585563"/>
                  <a:pt x="802705" y="2656012"/>
                  <a:pt x="1379237" y="2427412"/>
                </a:cubicBezTo>
                <a:cubicBezTo>
                  <a:pt x="1955769" y="2198812"/>
                  <a:pt x="3436637" y="1369239"/>
                  <a:pt x="3855018" y="986801"/>
                </a:cubicBezTo>
                <a:cubicBezTo>
                  <a:pt x="4273399" y="604363"/>
                  <a:pt x="4386981" y="280873"/>
                  <a:pt x="3889524" y="132786"/>
                </a:cubicBezTo>
                <a:cubicBezTo>
                  <a:pt x="3392068" y="-15301"/>
                  <a:pt x="1515822" y="-56995"/>
                  <a:pt x="870279" y="98280"/>
                </a:cubicBezTo>
                <a:cubicBezTo>
                  <a:pt x="224736" y="253555"/>
                  <a:pt x="96777" y="687751"/>
                  <a:pt x="16264" y="1064438"/>
                </a:cubicBezTo>
                <a:cubicBezTo>
                  <a:pt x="-64249" y="1441125"/>
                  <a:pt x="168664" y="2131239"/>
                  <a:pt x="395826" y="235840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Freeform 9"/>
          <p:cNvSpPr/>
          <p:nvPr/>
        </p:nvSpPr>
        <p:spPr>
          <a:xfrm>
            <a:off x="8184232" y="4581128"/>
            <a:ext cx="925740" cy="775831"/>
          </a:xfrm>
          <a:custGeom>
            <a:avLst/>
            <a:gdLst>
              <a:gd name="connsiteX0" fmla="*/ 91734 w 925740"/>
              <a:gd name="connsiteY0" fmla="*/ 688253 h 775831"/>
              <a:gd name="connsiteX1" fmla="*/ 91734 w 925740"/>
              <a:gd name="connsiteY1" fmla="*/ 101657 h 775831"/>
              <a:gd name="connsiteX2" fmla="*/ 868111 w 925740"/>
              <a:gd name="connsiteY2" fmla="*/ 58525 h 775831"/>
              <a:gd name="connsiteX3" fmla="*/ 781847 w 925740"/>
              <a:gd name="connsiteY3" fmla="*/ 705506 h 775831"/>
              <a:gd name="connsiteX4" fmla="*/ 91734 w 925740"/>
              <a:gd name="connsiteY4" fmla="*/ 688253 h 77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740" h="775831">
                <a:moveTo>
                  <a:pt x="91734" y="688253"/>
                </a:moveTo>
                <a:cubicBezTo>
                  <a:pt x="-23285" y="587612"/>
                  <a:pt x="-37662" y="206612"/>
                  <a:pt x="91734" y="101657"/>
                </a:cubicBezTo>
                <a:cubicBezTo>
                  <a:pt x="221130" y="-3298"/>
                  <a:pt x="753092" y="-42116"/>
                  <a:pt x="868111" y="58525"/>
                </a:cubicBezTo>
                <a:cubicBezTo>
                  <a:pt x="983130" y="159166"/>
                  <a:pt x="911243" y="597676"/>
                  <a:pt x="781847" y="705506"/>
                </a:cubicBezTo>
                <a:cubicBezTo>
                  <a:pt x="652451" y="813336"/>
                  <a:pt x="206753" y="788894"/>
                  <a:pt x="91734" y="688253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3691" y="2256120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1</a:t>
            </a:r>
            <a:endParaRPr lang="ru-RU" baseline="-250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7799" y="4581128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2</a:t>
            </a:r>
            <a:endParaRPr lang="ru-RU" baseline="-25000" dirty="0">
              <a:latin typeface="+mn-lt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6190212" y="1845744"/>
            <a:ext cx="5460285" cy="4374298"/>
          </a:xfrm>
          <a:custGeom>
            <a:avLst/>
            <a:gdLst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38761 w 5214270"/>
              <a:gd name="connsiteY0" fmla="*/ 462101 h 3971622"/>
              <a:gd name="connsiteX1" fmla="*/ 2182501 w 5214270"/>
              <a:gd name="connsiteY1" fmla="*/ 47431 h 3971622"/>
              <a:gd name="connsiteX2" fmla="*/ 4617357 w 5214270"/>
              <a:gd name="connsiteY2" fmla="*/ 228185 h 3971622"/>
              <a:gd name="connsiteX3" fmla="*/ 5212780 w 5214270"/>
              <a:gd name="connsiteY3" fmla="*/ 1993189 h 3971622"/>
              <a:gd name="connsiteX4" fmla="*/ 4521663 w 5214270"/>
              <a:gd name="connsiteY4" fmla="*/ 3726296 h 3971622"/>
              <a:gd name="connsiteX5" fmla="*/ 1597710 w 5214270"/>
              <a:gd name="connsiteY5" fmla="*/ 3832622 h 3971622"/>
              <a:gd name="connsiteX6" fmla="*/ 183580 w 5214270"/>
              <a:gd name="connsiteY6" fmla="*/ 2524817 h 3971622"/>
              <a:gd name="connsiteX7" fmla="*/ 151682 w 5214270"/>
              <a:gd name="connsiteY7" fmla="*/ 834241 h 3971622"/>
              <a:gd name="connsiteX8" fmla="*/ 438761 w 5214270"/>
              <a:gd name="connsiteY8" fmla="*/ 462101 h 3971622"/>
              <a:gd name="connsiteX0" fmla="*/ 438761 w 5214270"/>
              <a:gd name="connsiteY0" fmla="*/ 462101 h 4094819"/>
              <a:gd name="connsiteX1" fmla="*/ 2182501 w 5214270"/>
              <a:gd name="connsiteY1" fmla="*/ 47431 h 4094819"/>
              <a:gd name="connsiteX2" fmla="*/ 4617357 w 5214270"/>
              <a:gd name="connsiteY2" fmla="*/ 228185 h 4094819"/>
              <a:gd name="connsiteX3" fmla="*/ 5212780 w 5214270"/>
              <a:gd name="connsiteY3" fmla="*/ 1993189 h 4094819"/>
              <a:gd name="connsiteX4" fmla="*/ 4521663 w 5214270"/>
              <a:gd name="connsiteY4" fmla="*/ 3726296 h 4094819"/>
              <a:gd name="connsiteX5" fmla="*/ 1544548 w 5214270"/>
              <a:gd name="connsiteY5" fmla="*/ 4002743 h 4094819"/>
              <a:gd name="connsiteX6" fmla="*/ 183580 w 5214270"/>
              <a:gd name="connsiteY6" fmla="*/ 2524817 h 4094819"/>
              <a:gd name="connsiteX7" fmla="*/ 151682 w 5214270"/>
              <a:gd name="connsiteY7" fmla="*/ 834241 h 4094819"/>
              <a:gd name="connsiteX8" fmla="*/ 438761 w 5214270"/>
              <a:gd name="connsiteY8" fmla="*/ 462101 h 4094819"/>
              <a:gd name="connsiteX0" fmla="*/ 454664 w 5230173"/>
              <a:gd name="connsiteY0" fmla="*/ 462101 h 4076758"/>
              <a:gd name="connsiteX1" fmla="*/ 2198404 w 5230173"/>
              <a:gd name="connsiteY1" fmla="*/ 47431 h 4076758"/>
              <a:gd name="connsiteX2" fmla="*/ 4633260 w 5230173"/>
              <a:gd name="connsiteY2" fmla="*/ 228185 h 4076758"/>
              <a:gd name="connsiteX3" fmla="*/ 5228683 w 5230173"/>
              <a:gd name="connsiteY3" fmla="*/ 1993189 h 4076758"/>
              <a:gd name="connsiteX4" fmla="*/ 4537566 w 5230173"/>
              <a:gd name="connsiteY4" fmla="*/ 3726296 h 4076758"/>
              <a:gd name="connsiteX5" fmla="*/ 1560451 w 5230173"/>
              <a:gd name="connsiteY5" fmla="*/ 4002743 h 4076758"/>
              <a:gd name="connsiteX6" fmla="*/ 103790 w 5230173"/>
              <a:gd name="connsiteY6" fmla="*/ 2769366 h 4076758"/>
              <a:gd name="connsiteX7" fmla="*/ 167585 w 5230173"/>
              <a:gd name="connsiteY7" fmla="*/ 834241 h 4076758"/>
              <a:gd name="connsiteX8" fmla="*/ 454664 w 5230173"/>
              <a:gd name="connsiteY8" fmla="*/ 462101 h 4076758"/>
              <a:gd name="connsiteX0" fmla="*/ 423238 w 5198747"/>
              <a:gd name="connsiteY0" fmla="*/ 462101 h 4076758"/>
              <a:gd name="connsiteX1" fmla="*/ 2166978 w 5198747"/>
              <a:gd name="connsiteY1" fmla="*/ 47431 h 4076758"/>
              <a:gd name="connsiteX2" fmla="*/ 4601834 w 5198747"/>
              <a:gd name="connsiteY2" fmla="*/ 228185 h 4076758"/>
              <a:gd name="connsiteX3" fmla="*/ 5197257 w 5198747"/>
              <a:gd name="connsiteY3" fmla="*/ 1993189 h 4076758"/>
              <a:gd name="connsiteX4" fmla="*/ 4506140 w 5198747"/>
              <a:gd name="connsiteY4" fmla="*/ 3726296 h 4076758"/>
              <a:gd name="connsiteX5" fmla="*/ 1529025 w 5198747"/>
              <a:gd name="connsiteY5" fmla="*/ 4002743 h 4076758"/>
              <a:gd name="connsiteX6" fmla="*/ 72364 w 5198747"/>
              <a:gd name="connsiteY6" fmla="*/ 2769366 h 4076758"/>
              <a:gd name="connsiteX7" fmla="*/ 423238 w 5198747"/>
              <a:gd name="connsiteY7" fmla="*/ 462101 h 4076758"/>
              <a:gd name="connsiteX0" fmla="*/ 423238 w 5198747"/>
              <a:gd name="connsiteY0" fmla="*/ 462101 h 4213202"/>
              <a:gd name="connsiteX1" fmla="*/ 2166978 w 5198747"/>
              <a:gd name="connsiteY1" fmla="*/ 47431 h 4213202"/>
              <a:gd name="connsiteX2" fmla="*/ 4601834 w 5198747"/>
              <a:gd name="connsiteY2" fmla="*/ 228185 h 4213202"/>
              <a:gd name="connsiteX3" fmla="*/ 5197257 w 5198747"/>
              <a:gd name="connsiteY3" fmla="*/ 1993189 h 4213202"/>
              <a:gd name="connsiteX4" fmla="*/ 4506140 w 5198747"/>
              <a:gd name="connsiteY4" fmla="*/ 3726296 h 4213202"/>
              <a:gd name="connsiteX5" fmla="*/ 1529025 w 5198747"/>
              <a:gd name="connsiteY5" fmla="*/ 4162231 h 4213202"/>
              <a:gd name="connsiteX6" fmla="*/ 72364 w 5198747"/>
              <a:gd name="connsiteY6" fmla="*/ 2769366 h 4213202"/>
              <a:gd name="connsiteX7" fmla="*/ 423238 w 5198747"/>
              <a:gd name="connsiteY7" fmla="*/ 462101 h 4213202"/>
              <a:gd name="connsiteX0" fmla="*/ 423238 w 5201267"/>
              <a:gd name="connsiteY0" fmla="*/ 462101 h 4299589"/>
              <a:gd name="connsiteX1" fmla="*/ 2166978 w 5201267"/>
              <a:gd name="connsiteY1" fmla="*/ 47431 h 4299589"/>
              <a:gd name="connsiteX2" fmla="*/ 4601834 w 5201267"/>
              <a:gd name="connsiteY2" fmla="*/ 228185 h 4299589"/>
              <a:gd name="connsiteX3" fmla="*/ 5197257 w 5201267"/>
              <a:gd name="connsiteY3" fmla="*/ 1993189 h 4299589"/>
              <a:gd name="connsiteX4" fmla="*/ 4644363 w 5201267"/>
              <a:gd name="connsiteY4" fmla="*/ 4002743 h 4299589"/>
              <a:gd name="connsiteX5" fmla="*/ 1529025 w 5201267"/>
              <a:gd name="connsiteY5" fmla="*/ 4162231 h 4299589"/>
              <a:gd name="connsiteX6" fmla="*/ 72364 w 5201267"/>
              <a:gd name="connsiteY6" fmla="*/ 2769366 h 4299589"/>
              <a:gd name="connsiteX7" fmla="*/ 423238 w 5201267"/>
              <a:gd name="connsiteY7" fmla="*/ 462101 h 4299589"/>
              <a:gd name="connsiteX0" fmla="*/ 423238 w 5452658"/>
              <a:gd name="connsiteY0" fmla="*/ 461522 h 4299566"/>
              <a:gd name="connsiteX1" fmla="*/ 2166978 w 5452658"/>
              <a:gd name="connsiteY1" fmla="*/ 46852 h 4299566"/>
              <a:gd name="connsiteX2" fmla="*/ 4601834 w 5452658"/>
              <a:gd name="connsiteY2" fmla="*/ 227606 h 4299566"/>
              <a:gd name="connsiteX3" fmla="*/ 5452438 w 5452658"/>
              <a:gd name="connsiteY3" fmla="*/ 1981978 h 4299566"/>
              <a:gd name="connsiteX4" fmla="*/ 4644363 w 5452658"/>
              <a:gd name="connsiteY4" fmla="*/ 4002164 h 4299566"/>
              <a:gd name="connsiteX5" fmla="*/ 1529025 w 5452658"/>
              <a:gd name="connsiteY5" fmla="*/ 4161652 h 4299566"/>
              <a:gd name="connsiteX6" fmla="*/ 72364 w 5452658"/>
              <a:gd name="connsiteY6" fmla="*/ 2768787 h 4299566"/>
              <a:gd name="connsiteX7" fmla="*/ 423238 w 5452658"/>
              <a:gd name="connsiteY7" fmla="*/ 461522 h 4299566"/>
              <a:gd name="connsiteX0" fmla="*/ 423238 w 5460285"/>
              <a:gd name="connsiteY0" fmla="*/ 461522 h 4374298"/>
              <a:gd name="connsiteX1" fmla="*/ 2166978 w 5460285"/>
              <a:gd name="connsiteY1" fmla="*/ 46852 h 4374298"/>
              <a:gd name="connsiteX2" fmla="*/ 4601834 w 5460285"/>
              <a:gd name="connsiteY2" fmla="*/ 227606 h 4374298"/>
              <a:gd name="connsiteX3" fmla="*/ 5452438 w 5460285"/>
              <a:gd name="connsiteY3" fmla="*/ 1981978 h 4374298"/>
              <a:gd name="connsiteX4" fmla="*/ 4793219 w 5460285"/>
              <a:gd name="connsiteY4" fmla="*/ 4140387 h 4374298"/>
              <a:gd name="connsiteX5" fmla="*/ 1529025 w 5460285"/>
              <a:gd name="connsiteY5" fmla="*/ 4161652 h 4374298"/>
              <a:gd name="connsiteX6" fmla="*/ 72364 w 5460285"/>
              <a:gd name="connsiteY6" fmla="*/ 2768787 h 4374298"/>
              <a:gd name="connsiteX7" fmla="*/ 423238 w 5460285"/>
              <a:gd name="connsiteY7" fmla="*/ 461522 h 4374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60285" h="4374298">
                <a:moveTo>
                  <a:pt x="423238" y="461522"/>
                </a:moveTo>
                <a:cubicBezTo>
                  <a:pt x="772340" y="7866"/>
                  <a:pt x="1470545" y="85838"/>
                  <a:pt x="2166978" y="46852"/>
                </a:cubicBezTo>
                <a:cubicBezTo>
                  <a:pt x="2863411" y="7866"/>
                  <a:pt x="4054257" y="-94915"/>
                  <a:pt x="4601834" y="227606"/>
                </a:cubicBezTo>
                <a:cubicBezTo>
                  <a:pt x="5149411" y="550127"/>
                  <a:pt x="5420540" y="1329848"/>
                  <a:pt x="5452438" y="1981978"/>
                </a:cubicBezTo>
                <a:cubicBezTo>
                  <a:pt x="5484336" y="2634108"/>
                  <a:pt x="5447121" y="3777108"/>
                  <a:pt x="4793219" y="4140387"/>
                </a:cubicBezTo>
                <a:cubicBezTo>
                  <a:pt x="4139317" y="4503666"/>
                  <a:pt x="2315834" y="4390252"/>
                  <a:pt x="1529025" y="4161652"/>
                </a:cubicBezTo>
                <a:cubicBezTo>
                  <a:pt x="742216" y="3933052"/>
                  <a:pt x="313369" y="3268517"/>
                  <a:pt x="72364" y="2768787"/>
                </a:cubicBezTo>
                <a:cubicBezTo>
                  <a:pt x="-111934" y="2178680"/>
                  <a:pt x="74136" y="915178"/>
                  <a:pt x="423238" y="461522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9048328" y="5085184"/>
            <a:ext cx="21002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G= (V, E)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solidFill>
                  <a:schemeClr val="bg1"/>
                </a:solidFill>
              </a:rPr>
              <a:t>V = W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</a:t>
            </a:r>
            <a:r>
              <a:rPr lang="en-US" dirty="0">
                <a:solidFill>
                  <a:schemeClr val="bg1"/>
                </a:solidFill>
              </a:rPr>
              <a:t> W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 </a:t>
            </a:r>
            <a:r>
              <a:rPr lang="en-US" dirty="0">
                <a:solidFill>
                  <a:schemeClr val="bg1"/>
                </a:solidFill>
              </a:rPr>
              <a:t>W</a:t>
            </a:r>
            <a:r>
              <a:rPr lang="en-US" baseline="-25000" dirty="0">
                <a:solidFill>
                  <a:schemeClr val="bg1"/>
                </a:solidFill>
              </a:rPr>
              <a:t>3</a:t>
            </a:r>
            <a:endParaRPr lang="ru-RU" baseline="-250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39300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Компонента связности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Компонента связности неориентированного графа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= (V, E)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– это максимальное по включению множество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 V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ru-RU" sz="24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т.ч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любые две вершины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соединяются в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путем,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проходящим только по вершинам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</a:p>
          <a:p>
            <a:pPr lvl="0"/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lvl="0"/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–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разные компоненты связности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G,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то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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</a:t>
            </a:r>
            <a:endParaRPr lang="en-US" sz="2400" baseline="-25000" dirty="0">
              <a:solidFill>
                <a:schemeClr val="bg1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V = 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… 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W</a:t>
            </a:r>
            <a:r>
              <a:rPr lang="en-US" sz="24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x</a:t>
            </a:r>
            <a:endParaRPr lang="ru-RU" sz="2400" baseline="-25000" dirty="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2324708"/>
            <a:ext cx="4518889" cy="3076947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9" name="Freeform 8"/>
          <p:cNvSpPr/>
          <p:nvPr/>
        </p:nvSpPr>
        <p:spPr>
          <a:xfrm>
            <a:off x="6479427" y="2144588"/>
            <a:ext cx="4217935" cy="2567756"/>
          </a:xfrm>
          <a:custGeom>
            <a:avLst/>
            <a:gdLst>
              <a:gd name="connsiteX0" fmla="*/ 395826 w 4217935"/>
              <a:gd name="connsiteY0" fmla="*/ 2358401 h 2567756"/>
              <a:gd name="connsiteX1" fmla="*/ 1379237 w 4217935"/>
              <a:gd name="connsiteY1" fmla="*/ 2427412 h 2567756"/>
              <a:gd name="connsiteX2" fmla="*/ 3855018 w 4217935"/>
              <a:gd name="connsiteY2" fmla="*/ 986801 h 2567756"/>
              <a:gd name="connsiteX3" fmla="*/ 3889524 w 4217935"/>
              <a:gd name="connsiteY3" fmla="*/ 132786 h 2567756"/>
              <a:gd name="connsiteX4" fmla="*/ 870279 w 4217935"/>
              <a:gd name="connsiteY4" fmla="*/ 98280 h 2567756"/>
              <a:gd name="connsiteX5" fmla="*/ 16264 w 4217935"/>
              <a:gd name="connsiteY5" fmla="*/ 1064438 h 2567756"/>
              <a:gd name="connsiteX6" fmla="*/ 395826 w 4217935"/>
              <a:gd name="connsiteY6" fmla="*/ 2358401 h 2567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17935" h="2567756">
                <a:moveTo>
                  <a:pt x="395826" y="2358401"/>
                </a:moveTo>
                <a:cubicBezTo>
                  <a:pt x="622988" y="2585563"/>
                  <a:pt x="802705" y="2656012"/>
                  <a:pt x="1379237" y="2427412"/>
                </a:cubicBezTo>
                <a:cubicBezTo>
                  <a:pt x="1955769" y="2198812"/>
                  <a:pt x="3436637" y="1369239"/>
                  <a:pt x="3855018" y="986801"/>
                </a:cubicBezTo>
                <a:cubicBezTo>
                  <a:pt x="4273399" y="604363"/>
                  <a:pt x="4386981" y="280873"/>
                  <a:pt x="3889524" y="132786"/>
                </a:cubicBezTo>
                <a:cubicBezTo>
                  <a:pt x="3392068" y="-15301"/>
                  <a:pt x="1515822" y="-56995"/>
                  <a:pt x="870279" y="98280"/>
                </a:cubicBezTo>
                <a:cubicBezTo>
                  <a:pt x="224736" y="253555"/>
                  <a:pt x="96777" y="687751"/>
                  <a:pt x="16264" y="1064438"/>
                </a:cubicBezTo>
                <a:cubicBezTo>
                  <a:pt x="-64249" y="1441125"/>
                  <a:pt x="168664" y="2131239"/>
                  <a:pt x="395826" y="235840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Freeform 9"/>
          <p:cNvSpPr/>
          <p:nvPr/>
        </p:nvSpPr>
        <p:spPr>
          <a:xfrm>
            <a:off x="8184232" y="4581128"/>
            <a:ext cx="925740" cy="775831"/>
          </a:xfrm>
          <a:custGeom>
            <a:avLst/>
            <a:gdLst>
              <a:gd name="connsiteX0" fmla="*/ 91734 w 925740"/>
              <a:gd name="connsiteY0" fmla="*/ 688253 h 775831"/>
              <a:gd name="connsiteX1" fmla="*/ 91734 w 925740"/>
              <a:gd name="connsiteY1" fmla="*/ 101657 h 775831"/>
              <a:gd name="connsiteX2" fmla="*/ 868111 w 925740"/>
              <a:gd name="connsiteY2" fmla="*/ 58525 h 775831"/>
              <a:gd name="connsiteX3" fmla="*/ 781847 w 925740"/>
              <a:gd name="connsiteY3" fmla="*/ 705506 h 775831"/>
              <a:gd name="connsiteX4" fmla="*/ 91734 w 925740"/>
              <a:gd name="connsiteY4" fmla="*/ 688253 h 77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740" h="775831">
                <a:moveTo>
                  <a:pt x="91734" y="688253"/>
                </a:moveTo>
                <a:cubicBezTo>
                  <a:pt x="-23285" y="587612"/>
                  <a:pt x="-37662" y="206612"/>
                  <a:pt x="91734" y="101657"/>
                </a:cubicBezTo>
                <a:cubicBezTo>
                  <a:pt x="221130" y="-3298"/>
                  <a:pt x="753092" y="-42116"/>
                  <a:pt x="868111" y="58525"/>
                </a:cubicBezTo>
                <a:cubicBezTo>
                  <a:pt x="983130" y="159166"/>
                  <a:pt x="911243" y="597676"/>
                  <a:pt x="781847" y="705506"/>
                </a:cubicBezTo>
                <a:cubicBezTo>
                  <a:pt x="652451" y="813336"/>
                  <a:pt x="206753" y="788894"/>
                  <a:pt x="91734" y="688253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Freeform 10"/>
          <p:cNvSpPr/>
          <p:nvPr/>
        </p:nvSpPr>
        <p:spPr>
          <a:xfrm>
            <a:off x="9426867" y="3399351"/>
            <a:ext cx="1602384" cy="1583582"/>
          </a:xfrm>
          <a:custGeom>
            <a:avLst/>
            <a:gdLst>
              <a:gd name="connsiteX0" fmla="*/ 1131865 w 1602384"/>
              <a:gd name="connsiteY0" fmla="*/ 1534958 h 1583582"/>
              <a:gd name="connsiteX1" fmla="*/ 1597691 w 1602384"/>
              <a:gd name="connsiteY1" fmla="*/ 801713 h 1583582"/>
              <a:gd name="connsiteX2" fmla="*/ 864446 w 1602384"/>
              <a:gd name="connsiteY2" fmla="*/ 33962 h 1583582"/>
              <a:gd name="connsiteX3" fmla="*/ 459005 w 1602384"/>
              <a:gd name="connsiteY3" fmla="*/ 206491 h 1583582"/>
              <a:gd name="connsiteX4" fmla="*/ 10431 w 1602384"/>
              <a:gd name="connsiteY4" fmla="*/ 844845 h 1583582"/>
              <a:gd name="connsiteX5" fmla="*/ 226091 w 1602384"/>
              <a:gd name="connsiteY5" fmla="*/ 1440068 h 1583582"/>
              <a:gd name="connsiteX6" fmla="*/ 1131865 w 1602384"/>
              <a:gd name="connsiteY6" fmla="*/ 1534958 h 158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2384" h="1583582">
                <a:moveTo>
                  <a:pt x="1131865" y="1534958"/>
                </a:moveTo>
                <a:cubicBezTo>
                  <a:pt x="1360465" y="1428565"/>
                  <a:pt x="1642261" y="1051879"/>
                  <a:pt x="1597691" y="801713"/>
                </a:cubicBezTo>
                <a:cubicBezTo>
                  <a:pt x="1553121" y="551547"/>
                  <a:pt x="1054227" y="133166"/>
                  <a:pt x="864446" y="33962"/>
                </a:cubicBezTo>
                <a:cubicBezTo>
                  <a:pt x="674665" y="-65242"/>
                  <a:pt x="601341" y="71344"/>
                  <a:pt x="459005" y="206491"/>
                </a:cubicBezTo>
                <a:cubicBezTo>
                  <a:pt x="316669" y="341638"/>
                  <a:pt x="49250" y="639249"/>
                  <a:pt x="10431" y="844845"/>
                </a:cubicBezTo>
                <a:cubicBezTo>
                  <a:pt x="-28388" y="1050441"/>
                  <a:pt x="40623" y="1323611"/>
                  <a:pt x="226091" y="1440068"/>
                </a:cubicBezTo>
                <a:cubicBezTo>
                  <a:pt x="411559" y="1556525"/>
                  <a:pt x="903265" y="1641351"/>
                  <a:pt x="1131865" y="1534958"/>
                </a:cubicBezTo>
                <a:close/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3691" y="2256120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1</a:t>
            </a:r>
            <a:endParaRPr lang="ru-RU" baseline="-250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7799" y="4581128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2</a:t>
            </a:r>
            <a:endParaRPr lang="ru-RU" baseline="-25000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8374" y="4527217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3</a:t>
            </a:r>
            <a:endParaRPr lang="ru-RU" baseline="-25000" dirty="0">
              <a:latin typeface="+mn-lt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6190212" y="1845744"/>
            <a:ext cx="5460285" cy="4374298"/>
          </a:xfrm>
          <a:custGeom>
            <a:avLst/>
            <a:gdLst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38761 w 5214270"/>
              <a:gd name="connsiteY0" fmla="*/ 462101 h 3971622"/>
              <a:gd name="connsiteX1" fmla="*/ 2182501 w 5214270"/>
              <a:gd name="connsiteY1" fmla="*/ 47431 h 3971622"/>
              <a:gd name="connsiteX2" fmla="*/ 4617357 w 5214270"/>
              <a:gd name="connsiteY2" fmla="*/ 228185 h 3971622"/>
              <a:gd name="connsiteX3" fmla="*/ 5212780 w 5214270"/>
              <a:gd name="connsiteY3" fmla="*/ 1993189 h 3971622"/>
              <a:gd name="connsiteX4" fmla="*/ 4521663 w 5214270"/>
              <a:gd name="connsiteY4" fmla="*/ 3726296 h 3971622"/>
              <a:gd name="connsiteX5" fmla="*/ 1597710 w 5214270"/>
              <a:gd name="connsiteY5" fmla="*/ 3832622 h 3971622"/>
              <a:gd name="connsiteX6" fmla="*/ 183580 w 5214270"/>
              <a:gd name="connsiteY6" fmla="*/ 2524817 h 3971622"/>
              <a:gd name="connsiteX7" fmla="*/ 151682 w 5214270"/>
              <a:gd name="connsiteY7" fmla="*/ 834241 h 3971622"/>
              <a:gd name="connsiteX8" fmla="*/ 438761 w 5214270"/>
              <a:gd name="connsiteY8" fmla="*/ 462101 h 3971622"/>
              <a:gd name="connsiteX0" fmla="*/ 438761 w 5214270"/>
              <a:gd name="connsiteY0" fmla="*/ 462101 h 4094819"/>
              <a:gd name="connsiteX1" fmla="*/ 2182501 w 5214270"/>
              <a:gd name="connsiteY1" fmla="*/ 47431 h 4094819"/>
              <a:gd name="connsiteX2" fmla="*/ 4617357 w 5214270"/>
              <a:gd name="connsiteY2" fmla="*/ 228185 h 4094819"/>
              <a:gd name="connsiteX3" fmla="*/ 5212780 w 5214270"/>
              <a:gd name="connsiteY3" fmla="*/ 1993189 h 4094819"/>
              <a:gd name="connsiteX4" fmla="*/ 4521663 w 5214270"/>
              <a:gd name="connsiteY4" fmla="*/ 3726296 h 4094819"/>
              <a:gd name="connsiteX5" fmla="*/ 1544548 w 5214270"/>
              <a:gd name="connsiteY5" fmla="*/ 4002743 h 4094819"/>
              <a:gd name="connsiteX6" fmla="*/ 183580 w 5214270"/>
              <a:gd name="connsiteY6" fmla="*/ 2524817 h 4094819"/>
              <a:gd name="connsiteX7" fmla="*/ 151682 w 5214270"/>
              <a:gd name="connsiteY7" fmla="*/ 834241 h 4094819"/>
              <a:gd name="connsiteX8" fmla="*/ 438761 w 5214270"/>
              <a:gd name="connsiteY8" fmla="*/ 462101 h 4094819"/>
              <a:gd name="connsiteX0" fmla="*/ 454664 w 5230173"/>
              <a:gd name="connsiteY0" fmla="*/ 462101 h 4076758"/>
              <a:gd name="connsiteX1" fmla="*/ 2198404 w 5230173"/>
              <a:gd name="connsiteY1" fmla="*/ 47431 h 4076758"/>
              <a:gd name="connsiteX2" fmla="*/ 4633260 w 5230173"/>
              <a:gd name="connsiteY2" fmla="*/ 228185 h 4076758"/>
              <a:gd name="connsiteX3" fmla="*/ 5228683 w 5230173"/>
              <a:gd name="connsiteY3" fmla="*/ 1993189 h 4076758"/>
              <a:gd name="connsiteX4" fmla="*/ 4537566 w 5230173"/>
              <a:gd name="connsiteY4" fmla="*/ 3726296 h 4076758"/>
              <a:gd name="connsiteX5" fmla="*/ 1560451 w 5230173"/>
              <a:gd name="connsiteY5" fmla="*/ 4002743 h 4076758"/>
              <a:gd name="connsiteX6" fmla="*/ 103790 w 5230173"/>
              <a:gd name="connsiteY6" fmla="*/ 2769366 h 4076758"/>
              <a:gd name="connsiteX7" fmla="*/ 167585 w 5230173"/>
              <a:gd name="connsiteY7" fmla="*/ 834241 h 4076758"/>
              <a:gd name="connsiteX8" fmla="*/ 454664 w 5230173"/>
              <a:gd name="connsiteY8" fmla="*/ 462101 h 4076758"/>
              <a:gd name="connsiteX0" fmla="*/ 423238 w 5198747"/>
              <a:gd name="connsiteY0" fmla="*/ 462101 h 4076758"/>
              <a:gd name="connsiteX1" fmla="*/ 2166978 w 5198747"/>
              <a:gd name="connsiteY1" fmla="*/ 47431 h 4076758"/>
              <a:gd name="connsiteX2" fmla="*/ 4601834 w 5198747"/>
              <a:gd name="connsiteY2" fmla="*/ 228185 h 4076758"/>
              <a:gd name="connsiteX3" fmla="*/ 5197257 w 5198747"/>
              <a:gd name="connsiteY3" fmla="*/ 1993189 h 4076758"/>
              <a:gd name="connsiteX4" fmla="*/ 4506140 w 5198747"/>
              <a:gd name="connsiteY4" fmla="*/ 3726296 h 4076758"/>
              <a:gd name="connsiteX5" fmla="*/ 1529025 w 5198747"/>
              <a:gd name="connsiteY5" fmla="*/ 4002743 h 4076758"/>
              <a:gd name="connsiteX6" fmla="*/ 72364 w 5198747"/>
              <a:gd name="connsiteY6" fmla="*/ 2769366 h 4076758"/>
              <a:gd name="connsiteX7" fmla="*/ 423238 w 5198747"/>
              <a:gd name="connsiteY7" fmla="*/ 462101 h 4076758"/>
              <a:gd name="connsiteX0" fmla="*/ 423238 w 5198747"/>
              <a:gd name="connsiteY0" fmla="*/ 462101 h 4213202"/>
              <a:gd name="connsiteX1" fmla="*/ 2166978 w 5198747"/>
              <a:gd name="connsiteY1" fmla="*/ 47431 h 4213202"/>
              <a:gd name="connsiteX2" fmla="*/ 4601834 w 5198747"/>
              <a:gd name="connsiteY2" fmla="*/ 228185 h 4213202"/>
              <a:gd name="connsiteX3" fmla="*/ 5197257 w 5198747"/>
              <a:gd name="connsiteY3" fmla="*/ 1993189 h 4213202"/>
              <a:gd name="connsiteX4" fmla="*/ 4506140 w 5198747"/>
              <a:gd name="connsiteY4" fmla="*/ 3726296 h 4213202"/>
              <a:gd name="connsiteX5" fmla="*/ 1529025 w 5198747"/>
              <a:gd name="connsiteY5" fmla="*/ 4162231 h 4213202"/>
              <a:gd name="connsiteX6" fmla="*/ 72364 w 5198747"/>
              <a:gd name="connsiteY6" fmla="*/ 2769366 h 4213202"/>
              <a:gd name="connsiteX7" fmla="*/ 423238 w 5198747"/>
              <a:gd name="connsiteY7" fmla="*/ 462101 h 4213202"/>
              <a:gd name="connsiteX0" fmla="*/ 423238 w 5201267"/>
              <a:gd name="connsiteY0" fmla="*/ 462101 h 4299589"/>
              <a:gd name="connsiteX1" fmla="*/ 2166978 w 5201267"/>
              <a:gd name="connsiteY1" fmla="*/ 47431 h 4299589"/>
              <a:gd name="connsiteX2" fmla="*/ 4601834 w 5201267"/>
              <a:gd name="connsiteY2" fmla="*/ 228185 h 4299589"/>
              <a:gd name="connsiteX3" fmla="*/ 5197257 w 5201267"/>
              <a:gd name="connsiteY3" fmla="*/ 1993189 h 4299589"/>
              <a:gd name="connsiteX4" fmla="*/ 4644363 w 5201267"/>
              <a:gd name="connsiteY4" fmla="*/ 4002743 h 4299589"/>
              <a:gd name="connsiteX5" fmla="*/ 1529025 w 5201267"/>
              <a:gd name="connsiteY5" fmla="*/ 4162231 h 4299589"/>
              <a:gd name="connsiteX6" fmla="*/ 72364 w 5201267"/>
              <a:gd name="connsiteY6" fmla="*/ 2769366 h 4299589"/>
              <a:gd name="connsiteX7" fmla="*/ 423238 w 5201267"/>
              <a:gd name="connsiteY7" fmla="*/ 462101 h 4299589"/>
              <a:gd name="connsiteX0" fmla="*/ 423238 w 5452658"/>
              <a:gd name="connsiteY0" fmla="*/ 461522 h 4299566"/>
              <a:gd name="connsiteX1" fmla="*/ 2166978 w 5452658"/>
              <a:gd name="connsiteY1" fmla="*/ 46852 h 4299566"/>
              <a:gd name="connsiteX2" fmla="*/ 4601834 w 5452658"/>
              <a:gd name="connsiteY2" fmla="*/ 227606 h 4299566"/>
              <a:gd name="connsiteX3" fmla="*/ 5452438 w 5452658"/>
              <a:gd name="connsiteY3" fmla="*/ 1981978 h 4299566"/>
              <a:gd name="connsiteX4" fmla="*/ 4644363 w 5452658"/>
              <a:gd name="connsiteY4" fmla="*/ 4002164 h 4299566"/>
              <a:gd name="connsiteX5" fmla="*/ 1529025 w 5452658"/>
              <a:gd name="connsiteY5" fmla="*/ 4161652 h 4299566"/>
              <a:gd name="connsiteX6" fmla="*/ 72364 w 5452658"/>
              <a:gd name="connsiteY6" fmla="*/ 2768787 h 4299566"/>
              <a:gd name="connsiteX7" fmla="*/ 423238 w 5452658"/>
              <a:gd name="connsiteY7" fmla="*/ 461522 h 4299566"/>
              <a:gd name="connsiteX0" fmla="*/ 423238 w 5460285"/>
              <a:gd name="connsiteY0" fmla="*/ 461522 h 4374298"/>
              <a:gd name="connsiteX1" fmla="*/ 2166978 w 5460285"/>
              <a:gd name="connsiteY1" fmla="*/ 46852 h 4374298"/>
              <a:gd name="connsiteX2" fmla="*/ 4601834 w 5460285"/>
              <a:gd name="connsiteY2" fmla="*/ 227606 h 4374298"/>
              <a:gd name="connsiteX3" fmla="*/ 5452438 w 5460285"/>
              <a:gd name="connsiteY3" fmla="*/ 1981978 h 4374298"/>
              <a:gd name="connsiteX4" fmla="*/ 4793219 w 5460285"/>
              <a:gd name="connsiteY4" fmla="*/ 4140387 h 4374298"/>
              <a:gd name="connsiteX5" fmla="*/ 1529025 w 5460285"/>
              <a:gd name="connsiteY5" fmla="*/ 4161652 h 4374298"/>
              <a:gd name="connsiteX6" fmla="*/ 72364 w 5460285"/>
              <a:gd name="connsiteY6" fmla="*/ 2768787 h 4374298"/>
              <a:gd name="connsiteX7" fmla="*/ 423238 w 5460285"/>
              <a:gd name="connsiteY7" fmla="*/ 461522 h 4374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60285" h="4374298">
                <a:moveTo>
                  <a:pt x="423238" y="461522"/>
                </a:moveTo>
                <a:cubicBezTo>
                  <a:pt x="772340" y="7866"/>
                  <a:pt x="1470545" y="85838"/>
                  <a:pt x="2166978" y="46852"/>
                </a:cubicBezTo>
                <a:cubicBezTo>
                  <a:pt x="2863411" y="7866"/>
                  <a:pt x="4054257" y="-94915"/>
                  <a:pt x="4601834" y="227606"/>
                </a:cubicBezTo>
                <a:cubicBezTo>
                  <a:pt x="5149411" y="550127"/>
                  <a:pt x="5420540" y="1329848"/>
                  <a:pt x="5452438" y="1981978"/>
                </a:cubicBezTo>
                <a:cubicBezTo>
                  <a:pt x="5484336" y="2634108"/>
                  <a:pt x="5447121" y="3777108"/>
                  <a:pt x="4793219" y="4140387"/>
                </a:cubicBezTo>
                <a:cubicBezTo>
                  <a:pt x="4139317" y="4503666"/>
                  <a:pt x="2315834" y="4390252"/>
                  <a:pt x="1529025" y="4161652"/>
                </a:cubicBezTo>
                <a:cubicBezTo>
                  <a:pt x="742216" y="3933052"/>
                  <a:pt x="313369" y="3268517"/>
                  <a:pt x="72364" y="2768787"/>
                </a:cubicBezTo>
                <a:cubicBezTo>
                  <a:pt x="-111934" y="2178680"/>
                  <a:pt x="74136" y="915178"/>
                  <a:pt x="423238" y="461522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9048328" y="5085184"/>
            <a:ext cx="21002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G= (V, E)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solidFill>
                  <a:schemeClr val="bg1"/>
                </a:solidFill>
              </a:rPr>
              <a:t>V = W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</a:t>
            </a:r>
            <a:r>
              <a:rPr lang="en-US" dirty="0">
                <a:solidFill>
                  <a:schemeClr val="bg1"/>
                </a:solidFill>
              </a:rPr>
              <a:t> W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 </a:t>
            </a:r>
            <a:r>
              <a:rPr lang="en-US" dirty="0">
                <a:solidFill>
                  <a:schemeClr val="bg1"/>
                </a:solidFill>
              </a:rPr>
              <a:t>W</a:t>
            </a:r>
            <a:r>
              <a:rPr lang="en-US" baseline="-25000" dirty="0">
                <a:solidFill>
                  <a:schemeClr val="bg1"/>
                </a:solidFill>
              </a:rPr>
              <a:t>3</a:t>
            </a:r>
            <a:endParaRPr lang="ru-RU" baseline="-250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617900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Компонента связности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Компонента связности неориентированного графа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= (V, E)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– это максимальное по включению множество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 V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ru-RU" sz="24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т.ч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любые две вершины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соединяются в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путем,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проходящим только по вершинам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</a:p>
          <a:p>
            <a:pPr lvl="0"/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lvl="0"/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–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разные компоненты связности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G,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то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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=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</a:t>
            </a:r>
            <a:endParaRPr lang="en-US" sz="2400" baseline="-25000" dirty="0">
              <a:solidFill>
                <a:schemeClr val="bg1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V = 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… 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W</a:t>
            </a:r>
            <a:r>
              <a:rPr lang="en-US" sz="24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x</a:t>
            </a:r>
            <a:endParaRPr lang="ru-RU" sz="2400" baseline="-25000" dirty="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2324708"/>
            <a:ext cx="4518889" cy="3076947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9" name="Freeform 8"/>
          <p:cNvSpPr/>
          <p:nvPr/>
        </p:nvSpPr>
        <p:spPr>
          <a:xfrm>
            <a:off x="6479427" y="2144588"/>
            <a:ext cx="4217935" cy="2567756"/>
          </a:xfrm>
          <a:custGeom>
            <a:avLst/>
            <a:gdLst>
              <a:gd name="connsiteX0" fmla="*/ 395826 w 4217935"/>
              <a:gd name="connsiteY0" fmla="*/ 2358401 h 2567756"/>
              <a:gd name="connsiteX1" fmla="*/ 1379237 w 4217935"/>
              <a:gd name="connsiteY1" fmla="*/ 2427412 h 2567756"/>
              <a:gd name="connsiteX2" fmla="*/ 3855018 w 4217935"/>
              <a:gd name="connsiteY2" fmla="*/ 986801 h 2567756"/>
              <a:gd name="connsiteX3" fmla="*/ 3889524 w 4217935"/>
              <a:gd name="connsiteY3" fmla="*/ 132786 h 2567756"/>
              <a:gd name="connsiteX4" fmla="*/ 870279 w 4217935"/>
              <a:gd name="connsiteY4" fmla="*/ 98280 h 2567756"/>
              <a:gd name="connsiteX5" fmla="*/ 16264 w 4217935"/>
              <a:gd name="connsiteY5" fmla="*/ 1064438 h 2567756"/>
              <a:gd name="connsiteX6" fmla="*/ 395826 w 4217935"/>
              <a:gd name="connsiteY6" fmla="*/ 2358401 h 2567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17935" h="2567756">
                <a:moveTo>
                  <a:pt x="395826" y="2358401"/>
                </a:moveTo>
                <a:cubicBezTo>
                  <a:pt x="622988" y="2585563"/>
                  <a:pt x="802705" y="2656012"/>
                  <a:pt x="1379237" y="2427412"/>
                </a:cubicBezTo>
                <a:cubicBezTo>
                  <a:pt x="1955769" y="2198812"/>
                  <a:pt x="3436637" y="1369239"/>
                  <a:pt x="3855018" y="986801"/>
                </a:cubicBezTo>
                <a:cubicBezTo>
                  <a:pt x="4273399" y="604363"/>
                  <a:pt x="4386981" y="280873"/>
                  <a:pt x="3889524" y="132786"/>
                </a:cubicBezTo>
                <a:cubicBezTo>
                  <a:pt x="3392068" y="-15301"/>
                  <a:pt x="1515822" y="-56995"/>
                  <a:pt x="870279" y="98280"/>
                </a:cubicBezTo>
                <a:cubicBezTo>
                  <a:pt x="224736" y="253555"/>
                  <a:pt x="96777" y="687751"/>
                  <a:pt x="16264" y="1064438"/>
                </a:cubicBezTo>
                <a:cubicBezTo>
                  <a:pt x="-64249" y="1441125"/>
                  <a:pt x="168664" y="2131239"/>
                  <a:pt x="395826" y="235840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Freeform 9"/>
          <p:cNvSpPr/>
          <p:nvPr/>
        </p:nvSpPr>
        <p:spPr>
          <a:xfrm>
            <a:off x="8184232" y="4581128"/>
            <a:ext cx="925740" cy="775831"/>
          </a:xfrm>
          <a:custGeom>
            <a:avLst/>
            <a:gdLst>
              <a:gd name="connsiteX0" fmla="*/ 91734 w 925740"/>
              <a:gd name="connsiteY0" fmla="*/ 688253 h 775831"/>
              <a:gd name="connsiteX1" fmla="*/ 91734 w 925740"/>
              <a:gd name="connsiteY1" fmla="*/ 101657 h 775831"/>
              <a:gd name="connsiteX2" fmla="*/ 868111 w 925740"/>
              <a:gd name="connsiteY2" fmla="*/ 58525 h 775831"/>
              <a:gd name="connsiteX3" fmla="*/ 781847 w 925740"/>
              <a:gd name="connsiteY3" fmla="*/ 705506 h 775831"/>
              <a:gd name="connsiteX4" fmla="*/ 91734 w 925740"/>
              <a:gd name="connsiteY4" fmla="*/ 688253 h 77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740" h="775831">
                <a:moveTo>
                  <a:pt x="91734" y="688253"/>
                </a:moveTo>
                <a:cubicBezTo>
                  <a:pt x="-23285" y="587612"/>
                  <a:pt x="-37662" y="206612"/>
                  <a:pt x="91734" y="101657"/>
                </a:cubicBezTo>
                <a:cubicBezTo>
                  <a:pt x="221130" y="-3298"/>
                  <a:pt x="753092" y="-42116"/>
                  <a:pt x="868111" y="58525"/>
                </a:cubicBezTo>
                <a:cubicBezTo>
                  <a:pt x="983130" y="159166"/>
                  <a:pt x="911243" y="597676"/>
                  <a:pt x="781847" y="705506"/>
                </a:cubicBezTo>
                <a:cubicBezTo>
                  <a:pt x="652451" y="813336"/>
                  <a:pt x="206753" y="788894"/>
                  <a:pt x="91734" y="688253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Freeform 10"/>
          <p:cNvSpPr/>
          <p:nvPr/>
        </p:nvSpPr>
        <p:spPr>
          <a:xfrm>
            <a:off x="9426867" y="3399351"/>
            <a:ext cx="1602384" cy="1583582"/>
          </a:xfrm>
          <a:custGeom>
            <a:avLst/>
            <a:gdLst>
              <a:gd name="connsiteX0" fmla="*/ 1131865 w 1602384"/>
              <a:gd name="connsiteY0" fmla="*/ 1534958 h 1583582"/>
              <a:gd name="connsiteX1" fmla="*/ 1597691 w 1602384"/>
              <a:gd name="connsiteY1" fmla="*/ 801713 h 1583582"/>
              <a:gd name="connsiteX2" fmla="*/ 864446 w 1602384"/>
              <a:gd name="connsiteY2" fmla="*/ 33962 h 1583582"/>
              <a:gd name="connsiteX3" fmla="*/ 459005 w 1602384"/>
              <a:gd name="connsiteY3" fmla="*/ 206491 h 1583582"/>
              <a:gd name="connsiteX4" fmla="*/ 10431 w 1602384"/>
              <a:gd name="connsiteY4" fmla="*/ 844845 h 1583582"/>
              <a:gd name="connsiteX5" fmla="*/ 226091 w 1602384"/>
              <a:gd name="connsiteY5" fmla="*/ 1440068 h 1583582"/>
              <a:gd name="connsiteX6" fmla="*/ 1131865 w 1602384"/>
              <a:gd name="connsiteY6" fmla="*/ 1534958 h 158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2384" h="1583582">
                <a:moveTo>
                  <a:pt x="1131865" y="1534958"/>
                </a:moveTo>
                <a:cubicBezTo>
                  <a:pt x="1360465" y="1428565"/>
                  <a:pt x="1642261" y="1051879"/>
                  <a:pt x="1597691" y="801713"/>
                </a:cubicBezTo>
                <a:cubicBezTo>
                  <a:pt x="1553121" y="551547"/>
                  <a:pt x="1054227" y="133166"/>
                  <a:pt x="864446" y="33962"/>
                </a:cubicBezTo>
                <a:cubicBezTo>
                  <a:pt x="674665" y="-65242"/>
                  <a:pt x="601341" y="71344"/>
                  <a:pt x="459005" y="206491"/>
                </a:cubicBezTo>
                <a:cubicBezTo>
                  <a:pt x="316669" y="341638"/>
                  <a:pt x="49250" y="639249"/>
                  <a:pt x="10431" y="844845"/>
                </a:cubicBezTo>
                <a:cubicBezTo>
                  <a:pt x="-28388" y="1050441"/>
                  <a:pt x="40623" y="1323611"/>
                  <a:pt x="226091" y="1440068"/>
                </a:cubicBezTo>
                <a:cubicBezTo>
                  <a:pt x="411559" y="1556525"/>
                  <a:pt x="903265" y="1641351"/>
                  <a:pt x="1131865" y="1534958"/>
                </a:cubicBezTo>
                <a:close/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3691" y="2256120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1</a:t>
            </a:r>
            <a:endParaRPr lang="ru-RU" baseline="-250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7799" y="4581128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2</a:t>
            </a:r>
            <a:endParaRPr lang="ru-RU" baseline="-25000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8374" y="4527217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3</a:t>
            </a:r>
            <a:endParaRPr lang="ru-RU" baseline="-25000" dirty="0">
              <a:latin typeface="+mn-lt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6190212" y="1845744"/>
            <a:ext cx="5460285" cy="4374298"/>
          </a:xfrm>
          <a:custGeom>
            <a:avLst/>
            <a:gdLst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38761 w 5214270"/>
              <a:gd name="connsiteY0" fmla="*/ 462101 h 3971622"/>
              <a:gd name="connsiteX1" fmla="*/ 2182501 w 5214270"/>
              <a:gd name="connsiteY1" fmla="*/ 47431 h 3971622"/>
              <a:gd name="connsiteX2" fmla="*/ 4617357 w 5214270"/>
              <a:gd name="connsiteY2" fmla="*/ 228185 h 3971622"/>
              <a:gd name="connsiteX3" fmla="*/ 5212780 w 5214270"/>
              <a:gd name="connsiteY3" fmla="*/ 1993189 h 3971622"/>
              <a:gd name="connsiteX4" fmla="*/ 4521663 w 5214270"/>
              <a:gd name="connsiteY4" fmla="*/ 3726296 h 3971622"/>
              <a:gd name="connsiteX5" fmla="*/ 1597710 w 5214270"/>
              <a:gd name="connsiteY5" fmla="*/ 3832622 h 3971622"/>
              <a:gd name="connsiteX6" fmla="*/ 183580 w 5214270"/>
              <a:gd name="connsiteY6" fmla="*/ 2524817 h 3971622"/>
              <a:gd name="connsiteX7" fmla="*/ 151682 w 5214270"/>
              <a:gd name="connsiteY7" fmla="*/ 834241 h 3971622"/>
              <a:gd name="connsiteX8" fmla="*/ 438761 w 5214270"/>
              <a:gd name="connsiteY8" fmla="*/ 462101 h 3971622"/>
              <a:gd name="connsiteX0" fmla="*/ 438761 w 5214270"/>
              <a:gd name="connsiteY0" fmla="*/ 462101 h 4094819"/>
              <a:gd name="connsiteX1" fmla="*/ 2182501 w 5214270"/>
              <a:gd name="connsiteY1" fmla="*/ 47431 h 4094819"/>
              <a:gd name="connsiteX2" fmla="*/ 4617357 w 5214270"/>
              <a:gd name="connsiteY2" fmla="*/ 228185 h 4094819"/>
              <a:gd name="connsiteX3" fmla="*/ 5212780 w 5214270"/>
              <a:gd name="connsiteY3" fmla="*/ 1993189 h 4094819"/>
              <a:gd name="connsiteX4" fmla="*/ 4521663 w 5214270"/>
              <a:gd name="connsiteY4" fmla="*/ 3726296 h 4094819"/>
              <a:gd name="connsiteX5" fmla="*/ 1544548 w 5214270"/>
              <a:gd name="connsiteY5" fmla="*/ 4002743 h 4094819"/>
              <a:gd name="connsiteX6" fmla="*/ 183580 w 5214270"/>
              <a:gd name="connsiteY6" fmla="*/ 2524817 h 4094819"/>
              <a:gd name="connsiteX7" fmla="*/ 151682 w 5214270"/>
              <a:gd name="connsiteY7" fmla="*/ 834241 h 4094819"/>
              <a:gd name="connsiteX8" fmla="*/ 438761 w 5214270"/>
              <a:gd name="connsiteY8" fmla="*/ 462101 h 4094819"/>
              <a:gd name="connsiteX0" fmla="*/ 454664 w 5230173"/>
              <a:gd name="connsiteY0" fmla="*/ 462101 h 4076758"/>
              <a:gd name="connsiteX1" fmla="*/ 2198404 w 5230173"/>
              <a:gd name="connsiteY1" fmla="*/ 47431 h 4076758"/>
              <a:gd name="connsiteX2" fmla="*/ 4633260 w 5230173"/>
              <a:gd name="connsiteY2" fmla="*/ 228185 h 4076758"/>
              <a:gd name="connsiteX3" fmla="*/ 5228683 w 5230173"/>
              <a:gd name="connsiteY3" fmla="*/ 1993189 h 4076758"/>
              <a:gd name="connsiteX4" fmla="*/ 4537566 w 5230173"/>
              <a:gd name="connsiteY4" fmla="*/ 3726296 h 4076758"/>
              <a:gd name="connsiteX5" fmla="*/ 1560451 w 5230173"/>
              <a:gd name="connsiteY5" fmla="*/ 4002743 h 4076758"/>
              <a:gd name="connsiteX6" fmla="*/ 103790 w 5230173"/>
              <a:gd name="connsiteY6" fmla="*/ 2769366 h 4076758"/>
              <a:gd name="connsiteX7" fmla="*/ 167585 w 5230173"/>
              <a:gd name="connsiteY7" fmla="*/ 834241 h 4076758"/>
              <a:gd name="connsiteX8" fmla="*/ 454664 w 5230173"/>
              <a:gd name="connsiteY8" fmla="*/ 462101 h 4076758"/>
              <a:gd name="connsiteX0" fmla="*/ 423238 w 5198747"/>
              <a:gd name="connsiteY0" fmla="*/ 462101 h 4076758"/>
              <a:gd name="connsiteX1" fmla="*/ 2166978 w 5198747"/>
              <a:gd name="connsiteY1" fmla="*/ 47431 h 4076758"/>
              <a:gd name="connsiteX2" fmla="*/ 4601834 w 5198747"/>
              <a:gd name="connsiteY2" fmla="*/ 228185 h 4076758"/>
              <a:gd name="connsiteX3" fmla="*/ 5197257 w 5198747"/>
              <a:gd name="connsiteY3" fmla="*/ 1993189 h 4076758"/>
              <a:gd name="connsiteX4" fmla="*/ 4506140 w 5198747"/>
              <a:gd name="connsiteY4" fmla="*/ 3726296 h 4076758"/>
              <a:gd name="connsiteX5" fmla="*/ 1529025 w 5198747"/>
              <a:gd name="connsiteY5" fmla="*/ 4002743 h 4076758"/>
              <a:gd name="connsiteX6" fmla="*/ 72364 w 5198747"/>
              <a:gd name="connsiteY6" fmla="*/ 2769366 h 4076758"/>
              <a:gd name="connsiteX7" fmla="*/ 423238 w 5198747"/>
              <a:gd name="connsiteY7" fmla="*/ 462101 h 4076758"/>
              <a:gd name="connsiteX0" fmla="*/ 423238 w 5198747"/>
              <a:gd name="connsiteY0" fmla="*/ 462101 h 4213202"/>
              <a:gd name="connsiteX1" fmla="*/ 2166978 w 5198747"/>
              <a:gd name="connsiteY1" fmla="*/ 47431 h 4213202"/>
              <a:gd name="connsiteX2" fmla="*/ 4601834 w 5198747"/>
              <a:gd name="connsiteY2" fmla="*/ 228185 h 4213202"/>
              <a:gd name="connsiteX3" fmla="*/ 5197257 w 5198747"/>
              <a:gd name="connsiteY3" fmla="*/ 1993189 h 4213202"/>
              <a:gd name="connsiteX4" fmla="*/ 4506140 w 5198747"/>
              <a:gd name="connsiteY4" fmla="*/ 3726296 h 4213202"/>
              <a:gd name="connsiteX5" fmla="*/ 1529025 w 5198747"/>
              <a:gd name="connsiteY5" fmla="*/ 4162231 h 4213202"/>
              <a:gd name="connsiteX6" fmla="*/ 72364 w 5198747"/>
              <a:gd name="connsiteY6" fmla="*/ 2769366 h 4213202"/>
              <a:gd name="connsiteX7" fmla="*/ 423238 w 5198747"/>
              <a:gd name="connsiteY7" fmla="*/ 462101 h 4213202"/>
              <a:gd name="connsiteX0" fmla="*/ 423238 w 5201267"/>
              <a:gd name="connsiteY0" fmla="*/ 462101 h 4299589"/>
              <a:gd name="connsiteX1" fmla="*/ 2166978 w 5201267"/>
              <a:gd name="connsiteY1" fmla="*/ 47431 h 4299589"/>
              <a:gd name="connsiteX2" fmla="*/ 4601834 w 5201267"/>
              <a:gd name="connsiteY2" fmla="*/ 228185 h 4299589"/>
              <a:gd name="connsiteX3" fmla="*/ 5197257 w 5201267"/>
              <a:gd name="connsiteY3" fmla="*/ 1993189 h 4299589"/>
              <a:gd name="connsiteX4" fmla="*/ 4644363 w 5201267"/>
              <a:gd name="connsiteY4" fmla="*/ 4002743 h 4299589"/>
              <a:gd name="connsiteX5" fmla="*/ 1529025 w 5201267"/>
              <a:gd name="connsiteY5" fmla="*/ 4162231 h 4299589"/>
              <a:gd name="connsiteX6" fmla="*/ 72364 w 5201267"/>
              <a:gd name="connsiteY6" fmla="*/ 2769366 h 4299589"/>
              <a:gd name="connsiteX7" fmla="*/ 423238 w 5201267"/>
              <a:gd name="connsiteY7" fmla="*/ 462101 h 4299589"/>
              <a:gd name="connsiteX0" fmla="*/ 423238 w 5452658"/>
              <a:gd name="connsiteY0" fmla="*/ 461522 h 4299566"/>
              <a:gd name="connsiteX1" fmla="*/ 2166978 w 5452658"/>
              <a:gd name="connsiteY1" fmla="*/ 46852 h 4299566"/>
              <a:gd name="connsiteX2" fmla="*/ 4601834 w 5452658"/>
              <a:gd name="connsiteY2" fmla="*/ 227606 h 4299566"/>
              <a:gd name="connsiteX3" fmla="*/ 5452438 w 5452658"/>
              <a:gd name="connsiteY3" fmla="*/ 1981978 h 4299566"/>
              <a:gd name="connsiteX4" fmla="*/ 4644363 w 5452658"/>
              <a:gd name="connsiteY4" fmla="*/ 4002164 h 4299566"/>
              <a:gd name="connsiteX5" fmla="*/ 1529025 w 5452658"/>
              <a:gd name="connsiteY5" fmla="*/ 4161652 h 4299566"/>
              <a:gd name="connsiteX6" fmla="*/ 72364 w 5452658"/>
              <a:gd name="connsiteY6" fmla="*/ 2768787 h 4299566"/>
              <a:gd name="connsiteX7" fmla="*/ 423238 w 5452658"/>
              <a:gd name="connsiteY7" fmla="*/ 461522 h 4299566"/>
              <a:gd name="connsiteX0" fmla="*/ 423238 w 5460285"/>
              <a:gd name="connsiteY0" fmla="*/ 461522 h 4374298"/>
              <a:gd name="connsiteX1" fmla="*/ 2166978 w 5460285"/>
              <a:gd name="connsiteY1" fmla="*/ 46852 h 4374298"/>
              <a:gd name="connsiteX2" fmla="*/ 4601834 w 5460285"/>
              <a:gd name="connsiteY2" fmla="*/ 227606 h 4374298"/>
              <a:gd name="connsiteX3" fmla="*/ 5452438 w 5460285"/>
              <a:gd name="connsiteY3" fmla="*/ 1981978 h 4374298"/>
              <a:gd name="connsiteX4" fmla="*/ 4793219 w 5460285"/>
              <a:gd name="connsiteY4" fmla="*/ 4140387 h 4374298"/>
              <a:gd name="connsiteX5" fmla="*/ 1529025 w 5460285"/>
              <a:gd name="connsiteY5" fmla="*/ 4161652 h 4374298"/>
              <a:gd name="connsiteX6" fmla="*/ 72364 w 5460285"/>
              <a:gd name="connsiteY6" fmla="*/ 2768787 h 4374298"/>
              <a:gd name="connsiteX7" fmla="*/ 423238 w 5460285"/>
              <a:gd name="connsiteY7" fmla="*/ 461522 h 4374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60285" h="4374298">
                <a:moveTo>
                  <a:pt x="423238" y="461522"/>
                </a:moveTo>
                <a:cubicBezTo>
                  <a:pt x="772340" y="7866"/>
                  <a:pt x="1470545" y="85838"/>
                  <a:pt x="2166978" y="46852"/>
                </a:cubicBezTo>
                <a:cubicBezTo>
                  <a:pt x="2863411" y="7866"/>
                  <a:pt x="4054257" y="-94915"/>
                  <a:pt x="4601834" y="227606"/>
                </a:cubicBezTo>
                <a:cubicBezTo>
                  <a:pt x="5149411" y="550127"/>
                  <a:pt x="5420540" y="1329848"/>
                  <a:pt x="5452438" y="1981978"/>
                </a:cubicBezTo>
                <a:cubicBezTo>
                  <a:pt x="5484336" y="2634108"/>
                  <a:pt x="5447121" y="3777108"/>
                  <a:pt x="4793219" y="4140387"/>
                </a:cubicBezTo>
                <a:cubicBezTo>
                  <a:pt x="4139317" y="4503666"/>
                  <a:pt x="2315834" y="4390252"/>
                  <a:pt x="1529025" y="4161652"/>
                </a:cubicBezTo>
                <a:cubicBezTo>
                  <a:pt x="742216" y="3933052"/>
                  <a:pt x="313369" y="3268517"/>
                  <a:pt x="72364" y="2768787"/>
                </a:cubicBezTo>
                <a:cubicBezTo>
                  <a:pt x="-111934" y="2178680"/>
                  <a:pt x="74136" y="915178"/>
                  <a:pt x="423238" y="461522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9048328" y="5085184"/>
            <a:ext cx="21002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G= (V, E)</a:t>
            </a:r>
          </a:p>
          <a:p>
            <a:endParaRPr lang="en-US" dirty="0">
              <a:latin typeface="+mn-lt"/>
            </a:endParaRPr>
          </a:p>
          <a:p>
            <a:r>
              <a:rPr lang="en-US" dirty="0"/>
              <a:t>V = W</a:t>
            </a:r>
            <a:r>
              <a:rPr lang="en-US" baseline="-25000" dirty="0"/>
              <a:t>1</a:t>
            </a:r>
            <a:r>
              <a:rPr lang="en-US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</a:t>
            </a:r>
            <a:r>
              <a:rPr lang="en-US" dirty="0"/>
              <a:t> W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 </a:t>
            </a:r>
            <a:r>
              <a:rPr lang="en-US" dirty="0"/>
              <a:t>W</a:t>
            </a:r>
            <a:r>
              <a:rPr lang="en-US" baseline="-25000" dirty="0"/>
              <a:t>3</a:t>
            </a:r>
            <a:endParaRPr lang="ru-RU" baseline="-25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710308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Компонента связности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Компонента связности неориентированного графа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= (V, E)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– это максимальное по включению множество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 V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ru-RU" sz="24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т.ч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любые две вершины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соединяются в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путем,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проходящим только по вершинам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</a:p>
          <a:p>
            <a:pPr lvl="0"/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lvl="0"/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–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разные компоненты связности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G,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то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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=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</a:t>
            </a:r>
            <a:endParaRPr lang="en-US" sz="2400" baseline="-25000" dirty="0">
              <a:solidFill>
                <a:prstClr val="black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V = 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W</a:t>
            </a:r>
            <a:r>
              <a:rPr lang="en-US" sz="2400" baseline="-25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2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… 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W</a:t>
            </a:r>
            <a:r>
              <a:rPr lang="en-US" sz="2400" baseline="-25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x</a:t>
            </a:r>
            <a:endParaRPr lang="ru-RU" sz="2400" baseline="-25000" dirty="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2324708"/>
            <a:ext cx="4518889" cy="3076947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9" name="Freeform 8"/>
          <p:cNvSpPr/>
          <p:nvPr/>
        </p:nvSpPr>
        <p:spPr>
          <a:xfrm>
            <a:off x="6479427" y="2144588"/>
            <a:ext cx="4217935" cy="2567756"/>
          </a:xfrm>
          <a:custGeom>
            <a:avLst/>
            <a:gdLst>
              <a:gd name="connsiteX0" fmla="*/ 395826 w 4217935"/>
              <a:gd name="connsiteY0" fmla="*/ 2358401 h 2567756"/>
              <a:gd name="connsiteX1" fmla="*/ 1379237 w 4217935"/>
              <a:gd name="connsiteY1" fmla="*/ 2427412 h 2567756"/>
              <a:gd name="connsiteX2" fmla="*/ 3855018 w 4217935"/>
              <a:gd name="connsiteY2" fmla="*/ 986801 h 2567756"/>
              <a:gd name="connsiteX3" fmla="*/ 3889524 w 4217935"/>
              <a:gd name="connsiteY3" fmla="*/ 132786 h 2567756"/>
              <a:gd name="connsiteX4" fmla="*/ 870279 w 4217935"/>
              <a:gd name="connsiteY4" fmla="*/ 98280 h 2567756"/>
              <a:gd name="connsiteX5" fmla="*/ 16264 w 4217935"/>
              <a:gd name="connsiteY5" fmla="*/ 1064438 h 2567756"/>
              <a:gd name="connsiteX6" fmla="*/ 395826 w 4217935"/>
              <a:gd name="connsiteY6" fmla="*/ 2358401 h 2567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17935" h="2567756">
                <a:moveTo>
                  <a:pt x="395826" y="2358401"/>
                </a:moveTo>
                <a:cubicBezTo>
                  <a:pt x="622988" y="2585563"/>
                  <a:pt x="802705" y="2656012"/>
                  <a:pt x="1379237" y="2427412"/>
                </a:cubicBezTo>
                <a:cubicBezTo>
                  <a:pt x="1955769" y="2198812"/>
                  <a:pt x="3436637" y="1369239"/>
                  <a:pt x="3855018" y="986801"/>
                </a:cubicBezTo>
                <a:cubicBezTo>
                  <a:pt x="4273399" y="604363"/>
                  <a:pt x="4386981" y="280873"/>
                  <a:pt x="3889524" y="132786"/>
                </a:cubicBezTo>
                <a:cubicBezTo>
                  <a:pt x="3392068" y="-15301"/>
                  <a:pt x="1515822" y="-56995"/>
                  <a:pt x="870279" y="98280"/>
                </a:cubicBezTo>
                <a:cubicBezTo>
                  <a:pt x="224736" y="253555"/>
                  <a:pt x="96777" y="687751"/>
                  <a:pt x="16264" y="1064438"/>
                </a:cubicBezTo>
                <a:cubicBezTo>
                  <a:pt x="-64249" y="1441125"/>
                  <a:pt x="168664" y="2131239"/>
                  <a:pt x="395826" y="235840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Freeform 9"/>
          <p:cNvSpPr/>
          <p:nvPr/>
        </p:nvSpPr>
        <p:spPr>
          <a:xfrm>
            <a:off x="8184232" y="4581128"/>
            <a:ext cx="925740" cy="775831"/>
          </a:xfrm>
          <a:custGeom>
            <a:avLst/>
            <a:gdLst>
              <a:gd name="connsiteX0" fmla="*/ 91734 w 925740"/>
              <a:gd name="connsiteY0" fmla="*/ 688253 h 775831"/>
              <a:gd name="connsiteX1" fmla="*/ 91734 w 925740"/>
              <a:gd name="connsiteY1" fmla="*/ 101657 h 775831"/>
              <a:gd name="connsiteX2" fmla="*/ 868111 w 925740"/>
              <a:gd name="connsiteY2" fmla="*/ 58525 h 775831"/>
              <a:gd name="connsiteX3" fmla="*/ 781847 w 925740"/>
              <a:gd name="connsiteY3" fmla="*/ 705506 h 775831"/>
              <a:gd name="connsiteX4" fmla="*/ 91734 w 925740"/>
              <a:gd name="connsiteY4" fmla="*/ 688253 h 77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740" h="775831">
                <a:moveTo>
                  <a:pt x="91734" y="688253"/>
                </a:moveTo>
                <a:cubicBezTo>
                  <a:pt x="-23285" y="587612"/>
                  <a:pt x="-37662" y="206612"/>
                  <a:pt x="91734" y="101657"/>
                </a:cubicBezTo>
                <a:cubicBezTo>
                  <a:pt x="221130" y="-3298"/>
                  <a:pt x="753092" y="-42116"/>
                  <a:pt x="868111" y="58525"/>
                </a:cubicBezTo>
                <a:cubicBezTo>
                  <a:pt x="983130" y="159166"/>
                  <a:pt x="911243" y="597676"/>
                  <a:pt x="781847" y="705506"/>
                </a:cubicBezTo>
                <a:cubicBezTo>
                  <a:pt x="652451" y="813336"/>
                  <a:pt x="206753" y="788894"/>
                  <a:pt x="91734" y="688253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Freeform 10"/>
          <p:cNvSpPr/>
          <p:nvPr/>
        </p:nvSpPr>
        <p:spPr>
          <a:xfrm>
            <a:off x="9426867" y="3399351"/>
            <a:ext cx="1602384" cy="1583582"/>
          </a:xfrm>
          <a:custGeom>
            <a:avLst/>
            <a:gdLst>
              <a:gd name="connsiteX0" fmla="*/ 1131865 w 1602384"/>
              <a:gd name="connsiteY0" fmla="*/ 1534958 h 1583582"/>
              <a:gd name="connsiteX1" fmla="*/ 1597691 w 1602384"/>
              <a:gd name="connsiteY1" fmla="*/ 801713 h 1583582"/>
              <a:gd name="connsiteX2" fmla="*/ 864446 w 1602384"/>
              <a:gd name="connsiteY2" fmla="*/ 33962 h 1583582"/>
              <a:gd name="connsiteX3" fmla="*/ 459005 w 1602384"/>
              <a:gd name="connsiteY3" fmla="*/ 206491 h 1583582"/>
              <a:gd name="connsiteX4" fmla="*/ 10431 w 1602384"/>
              <a:gd name="connsiteY4" fmla="*/ 844845 h 1583582"/>
              <a:gd name="connsiteX5" fmla="*/ 226091 w 1602384"/>
              <a:gd name="connsiteY5" fmla="*/ 1440068 h 1583582"/>
              <a:gd name="connsiteX6" fmla="*/ 1131865 w 1602384"/>
              <a:gd name="connsiteY6" fmla="*/ 1534958 h 158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2384" h="1583582">
                <a:moveTo>
                  <a:pt x="1131865" y="1534958"/>
                </a:moveTo>
                <a:cubicBezTo>
                  <a:pt x="1360465" y="1428565"/>
                  <a:pt x="1642261" y="1051879"/>
                  <a:pt x="1597691" y="801713"/>
                </a:cubicBezTo>
                <a:cubicBezTo>
                  <a:pt x="1553121" y="551547"/>
                  <a:pt x="1054227" y="133166"/>
                  <a:pt x="864446" y="33962"/>
                </a:cubicBezTo>
                <a:cubicBezTo>
                  <a:pt x="674665" y="-65242"/>
                  <a:pt x="601341" y="71344"/>
                  <a:pt x="459005" y="206491"/>
                </a:cubicBezTo>
                <a:cubicBezTo>
                  <a:pt x="316669" y="341638"/>
                  <a:pt x="49250" y="639249"/>
                  <a:pt x="10431" y="844845"/>
                </a:cubicBezTo>
                <a:cubicBezTo>
                  <a:pt x="-28388" y="1050441"/>
                  <a:pt x="40623" y="1323611"/>
                  <a:pt x="226091" y="1440068"/>
                </a:cubicBezTo>
                <a:cubicBezTo>
                  <a:pt x="411559" y="1556525"/>
                  <a:pt x="903265" y="1641351"/>
                  <a:pt x="1131865" y="1534958"/>
                </a:cubicBezTo>
                <a:close/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3691" y="2256120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1</a:t>
            </a:r>
            <a:endParaRPr lang="ru-RU" baseline="-250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7799" y="4581128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2</a:t>
            </a:r>
            <a:endParaRPr lang="ru-RU" baseline="-25000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8374" y="4527217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3</a:t>
            </a:r>
            <a:endParaRPr lang="ru-RU" baseline="-25000" dirty="0">
              <a:latin typeface="+mn-lt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6190212" y="1845744"/>
            <a:ext cx="5460285" cy="4374298"/>
          </a:xfrm>
          <a:custGeom>
            <a:avLst/>
            <a:gdLst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38761 w 5214270"/>
              <a:gd name="connsiteY0" fmla="*/ 462101 h 3971622"/>
              <a:gd name="connsiteX1" fmla="*/ 2182501 w 5214270"/>
              <a:gd name="connsiteY1" fmla="*/ 47431 h 3971622"/>
              <a:gd name="connsiteX2" fmla="*/ 4617357 w 5214270"/>
              <a:gd name="connsiteY2" fmla="*/ 228185 h 3971622"/>
              <a:gd name="connsiteX3" fmla="*/ 5212780 w 5214270"/>
              <a:gd name="connsiteY3" fmla="*/ 1993189 h 3971622"/>
              <a:gd name="connsiteX4" fmla="*/ 4521663 w 5214270"/>
              <a:gd name="connsiteY4" fmla="*/ 3726296 h 3971622"/>
              <a:gd name="connsiteX5" fmla="*/ 1597710 w 5214270"/>
              <a:gd name="connsiteY5" fmla="*/ 3832622 h 3971622"/>
              <a:gd name="connsiteX6" fmla="*/ 183580 w 5214270"/>
              <a:gd name="connsiteY6" fmla="*/ 2524817 h 3971622"/>
              <a:gd name="connsiteX7" fmla="*/ 151682 w 5214270"/>
              <a:gd name="connsiteY7" fmla="*/ 834241 h 3971622"/>
              <a:gd name="connsiteX8" fmla="*/ 438761 w 5214270"/>
              <a:gd name="connsiteY8" fmla="*/ 462101 h 3971622"/>
              <a:gd name="connsiteX0" fmla="*/ 438761 w 5214270"/>
              <a:gd name="connsiteY0" fmla="*/ 462101 h 4094819"/>
              <a:gd name="connsiteX1" fmla="*/ 2182501 w 5214270"/>
              <a:gd name="connsiteY1" fmla="*/ 47431 h 4094819"/>
              <a:gd name="connsiteX2" fmla="*/ 4617357 w 5214270"/>
              <a:gd name="connsiteY2" fmla="*/ 228185 h 4094819"/>
              <a:gd name="connsiteX3" fmla="*/ 5212780 w 5214270"/>
              <a:gd name="connsiteY3" fmla="*/ 1993189 h 4094819"/>
              <a:gd name="connsiteX4" fmla="*/ 4521663 w 5214270"/>
              <a:gd name="connsiteY4" fmla="*/ 3726296 h 4094819"/>
              <a:gd name="connsiteX5" fmla="*/ 1544548 w 5214270"/>
              <a:gd name="connsiteY5" fmla="*/ 4002743 h 4094819"/>
              <a:gd name="connsiteX6" fmla="*/ 183580 w 5214270"/>
              <a:gd name="connsiteY6" fmla="*/ 2524817 h 4094819"/>
              <a:gd name="connsiteX7" fmla="*/ 151682 w 5214270"/>
              <a:gd name="connsiteY7" fmla="*/ 834241 h 4094819"/>
              <a:gd name="connsiteX8" fmla="*/ 438761 w 5214270"/>
              <a:gd name="connsiteY8" fmla="*/ 462101 h 4094819"/>
              <a:gd name="connsiteX0" fmla="*/ 454664 w 5230173"/>
              <a:gd name="connsiteY0" fmla="*/ 462101 h 4076758"/>
              <a:gd name="connsiteX1" fmla="*/ 2198404 w 5230173"/>
              <a:gd name="connsiteY1" fmla="*/ 47431 h 4076758"/>
              <a:gd name="connsiteX2" fmla="*/ 4633260 w 5230173"/>
              <a:gd name="connsiteY2" fmla="*/ 228185 h 4076758"/>
              <a:gd name="connsiteX3" fmla="*/ 5228683 w 5230173"/>
              <a:gd name="connsiteY3" fmla="*/ 1993189 h 4076758"/>
              <a:gd name="connsiteX4" fmla="*/ 4537566 w 5230173"/>
              <a:gd name="connsiteY4" fmla="*/ 3726296 h 4076758"/>
              <a:gd name="connsiteX5" fmla="*/ 1560451 w 5230173"/>
              <a:gd name="connsiteY5" fmla="*/ 4002743 h 4076758"/>
              <a:gd name="connsiteX6" fmla="*/ 103790 w 5230173"/>
              <a:gd name="connsiteY6" fmla="*/ 2769366 h 4076758"/>
              <a:gd name="connsiteX7" fmla="*/ 167585 w 5230173"/>
              <a:gd name="connsiteY7" fmla="*/ 834241 h 4076758"/>
              <a:gd name="connsiteX8" fmla="*/ 454664 w 5230173"/>
              <a:gd name="connsiteY8" fmla="*/ 462101 h 4076758"/>
              <a:gd name="connsiteX0" fmla="*/ 423238 w 5198747"/>
              <a:gd name="connsiteY0" fmla="*/ 462101 h 4076758"/>
              <a:gd name="connsiteX1" fmla="*/ 2166978 w 5198747"/>
              <a:gd name="connsiteY1" fmla="*/ 47431 h 4076758"/>
              <a:gd name="connsiteX2" fmla="*/ 4601834 w 5198747"/>
              <a:gd name="connsiteY2" fmla="*/ 228185 h 4076758"/>
              <a:gd name="connsiteX3" fmla="*/ 5197257 w 5198747"/>
              <a:gd name="connsiteY3" fmla="*/ 1993189 h 4076758"/>
              <a:gd name="connsiteX4" fmla="*/ 4506140 w 5198747"/>
              <a:gd name="connsiteY4" fmla="*/ 3726296 h 4076758"/>
              <a:gd name="connsiteX5" fmla="*/ 1529025 w 5198747"/>
              <a:gd name="connsiteY5" fmla="*/ 4002743 h 4076758"/>
              <a:gd name="connsiteX6" fmla="*/ 72364 w 5198747"/>
              <a:gd name="connsiteY6" fmla="*/ 2769366 h 4076758"/>
              <a:gd name="connsiteX7" fmla="*/ 423238 w 5198747"/>
              <a:gd name="connsiteY7" fmla="*/ 462101 h 4076758"/>
              <a:gd name="connsiteX0" fmla="*/ 423238 w 5198747"/>
              <a:gd name="connsiteY0" fmla="*/ 462101 h 4213202"/>
              <a:gd name="connsiteX1" fmla="*/ 2166978 w 5198747"/>
              <a:gd name="connsiteY1" fmla="*/ 47431 h 4213202"/>
              <a:gd name="connsiteX2" fmla="*/ 4601834 w 5198747"/>
              <a:gd name="connsiteY2" fmla="*/ 228185 h 4213202"/>
              <a:gd name="connsiteX3" fmla="*/ 5197257 w 5198747"/>
              <a:gd name="connsiteY3" fmla="*/ 1993189 h 4213202"/>
              <a:gd name="connsiteX4" fmla="*/ 4506140 w 5198747"/>
              <a:gd name="connsiteY4" fmla="*/ 3726296 h 4213202"/>
              <a:gd name="connsiteX5" fmla="*/ 1529025 w 5198747"/>
              <a:gd name="connsiteY5" fmla="*/ 4162231 h 4213202"/>
              <a:gd name="connsiteX6" fmla="*/ 72364 w 5198747"/>
              <a:gd name="connsiteY6" fmla="*/ 2769366 h 4213202"/>
              <a:gd name="connsiteX7" fmla="*/ 423238 w 5198747"/>
              <a:gd name="connsiteY7" fmla="*/ 462101 h 4213202"/>
              <a:gd name="connsiteX0" fmla="*/ 423238 w 5201267"/>
              <a:gd name="connsiteY0" fmla="*/ 462101 h 4299589"/>
              <a:gd name="connsiteX1" fmla="*/ 2166978 w 5201267"/>
              <a:gd name="connsiteY1" fmla="*/ 47431 h 4299589"/>
              <a:gd name="connsiteX2" fmla="*/ 4601834 w 5201267"/>
              <a:gd name="connsiteY2" fmla="*/ 228185 h 4299589"/>
              <a:gd name="connsiteX3" fmla="*/ 5197257 w 5201267"/>
              <a:gd name="connsiteY3" fmla="*/ 1993189 h 4299589"/>
              <a:gd name="connsiteX4" fmla="*/ 4644363 w 5201267"/>
              <a:gd name="connsiteY4" fmla="*/ 4002743 h 4299589"/>
              <a:gd name="connsiteX5" fmla="*/ 1529025 w 5201267"/>
              <a:gd name="connsiteY5" fmla="*/ 4162231 h 4299589"/>
              <a:gd name="connsiteX6" fmla="*/ 72364 w 5201267"/>
              <a:gd name="connsiteY6" fmla="*/ 2769366 h 4299589"/>
              <a:gd name="connsiteX7" fmla="*/ 423238 w 5201267"/>
              <a:gd name="connsiteY7" fmla="*/ 462101 h 4299589"/>
              <a:gd name="connsiteX0" fmla="*/ 423238 w 5452658"/>
              <a:gd name="connsiteY0" fmla="*/ 461522 h 4299566"/>
              <a:gd name="connsiteX1" fmla="*/ 2166978 w 5452658"/>
              <a:gd name="connsiteY1" fmla="*/ 46852 h 4299566"/>
              <a:gd name="connsiteX2" fmla="*/ 4601834 w 5452658"/>
              <a:gd name="connsiteY2" fmla="*/ 227606 h 4299566"/>
              <a:gd name="connsiteX3" fmla="*/ 5452438 w 5452658"/>
              <a:gd name="connsiteY3" fmla="*/ 1981978 h 4299566"/>
              <a:gd name="connsiteX4" fmla="*/ 4644363 w 5452658"/>
              <a:gd name="connsiteY4" fmla="*/ 4002164 h 4299566"/>
              <a:gd name="connsiteX5" fmla="*/ 1529025 w 5452658"/>
              <a:gd name="connsiteY5" fmla="*/ 4161652 h 4299566"/>
              <a:gd name="connsiteX6" fmla="*/ 72364 w 5452658"/>
              <a:gd name="connsiteY6" fmla="*/ 2768787 h 4299566"/>
              <a:gd name="connsiteX7" fmla="*/ 423238 w 5452658"/>
              <a:gd name="connsiteY7" fmla="*/ 461522 h 4299566"/>
              <a:gd name="connsiteX0" fmla="*/ 423238 w 5460285"/>
              <a:gd name="connsiteY0" fmla="*/ 461522 h 4374298"/>
              <a:gd name="connsiteX1" fmla="*/ 2166978 w 5460285"/>
              <a:gd name="connsiteY1" fmla="*/ 46852 h 4374298"/>
              <a:gd name="connsiteX2" fmla="*/ 4601834 w 5460285"/>
              <a:gd name="connsiteY2" fmla="*/ 227606 h 4374298"/>
              <a:gd name="connsiteX3" fmla="*/ 5452438 w 5460285"/>
              <a:gd name="connsiteY3" fmla="*/ 1981978 h 4374298"/>
              <a:gd name="connsiteX4" fmla="*/ 4793219 w 5460285"/>
              <a:gd name="connsiteY4" fmla="*/ 4140387 h 4374298"/>
              <a:gd name="connsiteX5" fmla="*/ 1529025 w 5460285"/>
              <a:gd name="connsiteY5" fmla="*/ 4161652 h 4374298"/>
              <a:gd name="connsiteX6" fmla="*/ 72364 w 5460285"/>
              <a:gd name="connsiteY6" fmla="*/ 2768787 h 4374298"/>
              <a:gd name="connsiteX7" fmla="*/ 423238 w 5460285"/>
              <a:gd name="connsiteY7" fmla="*/ 461522 h 4374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60285" h="4374298">
                <a:moveTo>
                  <a:pt x="423238" y="461522"/>
                </a:moveTo>
                <a:cubicBezTo>
                  <a:pt x="772340" y="7866"/>
                  <a:pt x="1470545" y="85838"/>
                  <a:pt x="2166978" y="46852"/>
                </a:cubicBezTo>
                <a:cubicBezTo>
                  <a:pt x="2863411" y="7866"/>
                  <a:pt x="4054257" y="-94915"/>
                  <a:pt x="4601834" y="227606"/>
                </a:cubicBezTo>
                <a:cubicBezTo>
                  <a:pt x="5149411" y="550127"/>
                  <a:pt x="5420540" y="1329848"/>
                  <a:pt x="5452438" y="1981978"/>
                </a:cubicBezTo>
                <a:cubicBezTo>
                  <a:pt x="5484336" y="2634108"/>
                  <a:pt x="5447121" y="3777108"/>
                  <a:pt x="4793219" y="4140387"/>
                </a:cubicBezTo>
                <a:cubicBezTo>
                  <a:pt x="4139317" y="4503666"/>
                  <a:pt x="2315834" y="4390252"/>
                  <a:pt x="1529025" y="4161652"/>
                </a:cubicBezTo>
                <a:cubicBezTo>
                  <a:pt x="742216" y="3933052"/>
                  <a:pt x="313369" y="3268517"/>
                  <a:pt x="72364" y="2768787"/>
                </a:cubicBezTo>
                <a:cubicBezTo>
                  <a:pt x="-111934" y="2178680"/>
                  <a:pt x="74136" y="915178"/>
                  <a:pt x="423238" y="461522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9048328" y="5085184"/>
            <a:ext cx="21002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G= (V, E)</a:t>
            </a:r>
          </a:p>
          <a:p>
            <a:endParaRPr lang="en-US" dirty="0">
              <a:latin typeface="+mn-lt"/>
            </a:endParaRPr>
          </a:p>
          <a:p>
            <a:r>
              <a:rPr lang="en-US" dirty="0"/>
              <a:t>V = W</a:t>
            </a:r>
            <a:r>
              <a:rPr lang="en-US" baseline="-25000" dirty="0"/>
              <a:t>1</a:t>
            </a:r>
            <a:r>
              <a:rPr lang="en-US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</a:t>
            </a:r>
            <a:r>
              <a:rPr lang="en-US" dirty="0"/>
              <a:t> W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 </a:t>
            </a:r>
            <a:r>
              <a:rPr lang="en-US" dirty="0"/>
              <a:t>W</a:t>
            </a:r>
            <a:r>
              <a:rPr lang="en-US" baseline="-25000" dirty="0"/>
              <a:t>3</a:t>
            </a:r>
            <a:endParaRPr lang="ru-RU" baseline="-25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655320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Компонента связности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Компонента связности неориентированного графа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= (V, E)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– это максимальное по включению множество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 V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ru-RU" sz="24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т.ч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любые две вершины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соединяются в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путем,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проходящим только по вершинам из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</a:p>
          <a:p>
            <a:pPr lvl="0"/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lvl="0"/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Если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и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–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разные компоненты связности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G, </a:t>
            </a:r>
            <a:r>
              <a:rPr lang="ru-RU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то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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baseline="-250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= 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</a:t>
            </a:r>
            <a:endParaRPr lang="en-US" sz="2400" baseline="-25000" dirty="0">
              <a:solidFill>
                <a:prstClr val="black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endParaRPr lang="en-US" sz="2400" dirty="0">
              <a:solidFill>
                <a:prstClr val="black"/>
              </a:solidFill>
              <a:latin typeface="Calibri" pitchFamily="34" charset="0"/>
              <a:cs typeface="Calibri" pitchFamily="34" charset="0"/>
              <a:sym typeface="Symbol" panose="05050102010706020507" pitchFamily="18" charset="2"/>
            </a:endParaRPr>
          </a:p>
          <a:p>
            <a:pPr lvl="0"/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V = W</a:t>
            </a:r>
            <a:r>
              <a:rPr lang="en-US" sz="2400" baseline="-250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W</a:t>
            </a:r>
            <a:r>
              <a:rPr lang="en-US" sz="2400" baseline="-250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 …  </a:t>
            </a:r>
            <a:r>
              <a:rPr lang="en-US" sz="24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W</a:t>
            </a:r>
            <a:r>
              <a:rPr lang="en-US" sz="2400" baseline="-250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x</a:t>
            </a:r>
            <a:endParaRPr lang="ru-RU" sz="2400" baseline="-25000" dirty="0">
              <a:solidFill>
                <a:prstClr val="black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2324708"/>
            <a:ext cx="4518889" cy="3076947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9" name="Freeform 8"/>
          <p:cNvSpPr/>
          <p:nvPr/>
        </p:nvSpPr>
        <p:spPr>
          <a:xfrm>
            <a:off x="6479427" y="2144588"/>
            <a:ext cx="4217935" cy="2567756"/>
          </a:xfrm>
          <a:custGeom>
            <a:avLst/>
            <a:gdLst>
              <a:gd name="connsiteX0" fmla="*/ 395826 w 4217935"/>
              <a:gd name="connsiteY0" fmla="*/ 2358401 h 2567756"/>
              <a:gd name="connsiteX1" fmla="*/ 1379237 w 4217935"/>
              <a:gd name="connsiteY1" fmla="*/ 2427412 h 2567756"/>
              <a:gd name="connsiteX2" fmla="*/ 3855018 w 4217935"/>
              <a:gd name="connsiteY2" fmla="*/ 986801 h 2567756"/>
              <a:gd name="connsiteX3" fmla="*/ 3889524 w 4217935"/>
              <a:gd name="connsiteY3" fmla="*/ 132786 h 2567756"/>
              <a:gd name="connsiteX4" fmla="*/ 870279 w 4217935"/>
              <a:gd name="connsiteY4" fmla="*/ 98280 h 2567756"/>
              <a:gd name="connsiteX5" fmla="*/ 16264 w 4217935"/>
              <a:gd name="connsiteY5" fmla="*/ 1064438 h 2567756"/>
              <a:gd name="connsiteX6" fmla="*/ 395826 w 4217935"/>
              <a:gd name="connsiteY6" fmla="*/ 2358401 h 2567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17935" h="2567756">
                <a:moveTo>
                  <a:pt x="395826" y="2358401"/>
                </a:moveTo>
                <a:cubicBezTo>
                  <a:pt x="622988" y="2585563"/>
                  <a:pt x="802705" y="2656012"/>
                  <a:pt x="1379237" y="2427412"/>
                </a:cubicBezTo>
                <a:cubicBezTo>
                  <a:pt x="1955769" y="2198812"/>
                  <a:pt x="3436637" y="1369239"/>
                  <a:pt x="3855018" y="986801"/>
                </a:cubicBezTo>
                <a:cubicBezTo>
                  <a:pt x="4273399" y="604363"/>
                  <a:pt x="4386981" y="280873"/>
                  <a:pt x="3889524" y="132786"/>
                </a:cubicBezTo>
                <a:cubicBezTo>
                  <a:pt x="3392068" y="-15301"/>
                  <a:pt x="1515822" y="-56995"/>
                  <a:pt x="870279" y="98280"/>
                </a:cubicBezTo>
                <a:cubicBezTo>
                  <a:pt x="224736" y="253555"/>
                  <a:pt x="96777" y="687751"/>
                  <a:pt x="16264" y="1064438"/>
                </a:cubicBezTo>
                <a:cubicBezTo>
                  <a:pt x="-64249" y="1441125"/>
                  <a:pt x="168664" y="2131239"/>
                  <a:pt x="395826" y="235840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Freeform 9"/>
          <p:cNvSpPr/>
          <p:nvPr/>
        </p:nvSpPr>
        <p:spPr>
          <a:xfrm>
            <a:off x="8184232" y="4581128"/>
            <a:ext cx="925740" cy="775831"/>
          </a:xfrm>
          <a:custGeom>
            <a:avLst/>
            <a:gdLst>
              <a:gd name="connsiteX0" fmla="*/ 91734 w 925740"/>
              <a:gd name="connsiteY0" fmla="*/ 688253 h 775831"/>
              <a:gd name="connsiteX1" fmla="*/ 91734 w 925740"/>
              <a:gd name="connsiteY1" fmla="*/ 101657 h 775831"/>
              <a:gd name="connsiteX2" fmla="*/ 868111 w 925740"/>
              <a:gd name="connsiteY2" fmla="*/ 58525 h 775831"/>
              <a:gd name="connsiteX3" fmla="*/ 781847 w 925740"/>
              <a:gd name="connsiteY3" fmla="*/ 705506 h 775831"/>
              <a:gd name="connsiteX4" fmla="*/ 91734 w 925740"/>
              <a:gd name="connsiteY4" fmla="*/ 688253 h 77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5740" h="775831">
                <a:moveTo>
                  <a:pt x="91734" y="688253"/>
                </a:moveTo>
                <a:cubicBezTo>
                  <a:pt x="-23285" y="587612"/>
                  <a:pt x="-37662" y="206612"/>
                  <a:pt x="91734" y="101657"/>
                </a:cubicBezTo>
                <a:cubicBezTo>
                  <a:pt x="221130" y="-3298"/>
                  <a:pt x="753092" y="-42116"/>
                  <a:pt x="868111" y="58525"/>
                </a:cubicBezTo>
                <a:cubicBezTo>
                  <a:pt x="983130" y="159166"/>
                  <a:pt x="911243" y="597676"/>
                  <a:pt x="781847" y="705506"/>
                </a:cubicBezTo>
                <a:cubicBezTo>
                  <a:pt x="652451" y="813336"/>
                  <a:pt x="206753" y="788894"/>
                  <a:pt x="91734" y="688253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Freeform 10"/>
          <p:cNvSpPr/>
          <p:nvPr/>
        </p:nvSpPr>
        <p:spPr>
          <a:xfrm>
            <a:off x="9426867" y="3399351"/>
            <a:ext cx="1602384" cy="1583582"/>
          </a:xfrm>
          <a:custGeom>
            <a:avLst/>
            <a:gdLst>
              <a:gd name="connsiteX0" fmla="*/ 1131865 w 1602384"/>
              <a:gd name="connsiteY0" fmla="*/ 1534958 h 1583582"/>
              <a:gd name="connsiteX1" fmla="*/ 1597691 w 1602384"/>
              <a:gd name="connsiteY1" fmla="*/ 801713 h 1583582"/>
              <a:gd name="connsiteX2" fmla="*/ 864446 w 1602384"/>
              <a:gd name="connsiteY2" fmla="*/ 33962 h 1583582"/>
              <a:gd name="connsiteX3" fmla="*/ 459005 w 1602384"/>
              <a:gd name="connsiteY3" fmla="*/ 206491 h 1583582"/>
              <a:gd name="connsiteX4" fmla="*/ 10431 w 1602384"/>
              <a:gd name="connsiteY4" fmla="*/ 844845 h 1583582"/>
              <a:gd name="connsiteX5" fmla="*/ 226091 w 1602384"/>
              <a:gd name="connsiteY5" fmla="*/ 1440068 h 1583582"/>
              <a:gd name="connsiteX6" fmla="*/ 1131865 w 1602384"/>
              <a:gd name="connsiteY6" fmla="*/ 1534958 h 158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2384" h="1583582">
                <a:moveTo>
                  <a:pt x="1131865" y="1534958"/>
                </a:moveTo>
                <a:cubicBezTo>
                  <a:pt x="1360465" y="1428565"/>
                  <a:pt x="1642261" y="1051879"/>
                  <a:pt x="1597691" y="801713"/>
                </a:cubicBezTo>
                <a:cubicBezTo>
                  <a:pt x="1553121" y="551547"/>
                  <a:pt x="1054227" y="133166"/>
                  <a:pt x="864446" y="33962"/>
                </a:cubicBezTo>
                <a:cubicBezTo>
                  <a:pt x="674665" y="-65242"/>
                  <a:pt x="601341" y="71344"/>
                  <a:pt x="459005" y="206491"/>
                </a:cubicBezTo>
                <a:cubicBezTo>
                  <a:pt x="316669" y="341638"/>
                  <a:pt x="49250" y="639249"/>
                  <a:pt x="10431" y="844845"/>
                </a:cubicBezTo>
                <a:cubicBezTo>
                  <a:pt x="-28388" y="1050441"/>
                  <a:pt x="40623" y="1323611"/>
                  <a:pt x="226091" y="1440068"/>
                </a:cubicBezTo>
                <a:cubicBezTo>
                  <a:pt x="411559" y="1556525"/>
                  <a:pt x="903265" y="1641351"/>
                  <a:pt x="1131865" y="1534958"/>
                </a:cubicBezTo>
                <a:close/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3691" y="2256120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1</a:t>
            </a:r>
            <a:endParaRPr lang="ru-RU" baseline="-250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7799" y="4581128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2</a:t>
            </a:r>
            <a:endParaRPr lang="ru-RU" baseline="-25000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8374" y="4527217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W</a:t>
            </a:r>
            <a:r>
              <a:rPr lang="en-US" baseline="-25000" dirty="0">
                <a:latin typeface="+mn-lt"/>
              </a:rPr>
              <a:t>3</a:t>
            </a:r>
            <a:endParaRPr lang="ru-RU" baseline="-25000" dirty="0">
              <a:latin typeface="+mn-lt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6190212" y="1845744"/>
            <a:ext cx="5460285" cy="4374298"/>
          </a:xfrm>
          <a:custGeom>
            <a:avLst/>
            <a:gdLst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383797 w 5159306"/>
              <a:gd name="connsiteY0" fmla="*/ 462101 h 3971622"/>
              <a:gd name="connsiteX1" fmla="*/ 2127537 w 5159306"/>
              <a:gd name="connsiteY1" fmla="*/ 47431 h 3971622"/>
              <a:gd name="connsiteX2" fmla="*/ 4562393 w 5159306"/>
              <a:gd name="connsiteY2" fmla="*/ 228185 h 3971622"/>
              <a:gd name="connsiteX3" fmla="*/ 5157816 w 5159306"/>
              <a:gd name="connsiteY3" fmla="*/ 1993189 h 3971622"/>
              <a:gd name="connsiteX4" fmla="*/ 4466699 w 5159306"/>
              <a:gd name="connsiteY4" fmla="*/ 3726296 h 3971622"/>
              <a:gd name="connsiteX5" fmla="*/ 1542746 w 5159306"/>
              <a:gd name="connsiteY5" fmla="*/ 3832622 h 3971622"/>
              <a:gd name="connsiteX6" fmla="*/ 128616 w 5159306"/>
              <a:gd name="connsiteY6" fmla="*/ 2524817 h 3971622"/>
              <a:gd name="connsiteX7" fmla="*/ 96718 w 5159306"/>
              <a:gd name="connsiteY7" fmla="*/ 834241 h 3971622"/>
              <a:gd name="connsiteX8" fmla="*/ 383797 w 5159306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22690 w 5198199"/>
              <a:gd name="connsiteY0" fmla="*/ 462101 h 3971622"/>
              <a:gd name="connsiteX1" fmla="*/ 2166430 w 5198199"/>
              <a:gd name="connsiteY1" fmla="*/ 47431 h 3971622"/>
              <a:gd name="connsiteX2" fmla="*/ 4601286 w 5198199"/>
              <a:gd name="connsiteY2" fmla="*/ 228185 h 3971622"/>
              <a:gd name="connsiteX3" fmla="*/ 5196709 w 5198199"/>
              <a:gd name="connsiteY3" fmla="*/ 1993189 h 3971622"/>
              <a:gd name="connsiteX4" fmla="*/ 4505592 w 5198199"/>
              <a:gd name="connsiteY4" fmla="*/ 3726296 h 3971622"/>
              <a:gd name="connsiteX5" fmla="*/ 1581639 w 5198199"/>
              <a:gd name="connsiteY5" fmla="*/ 3832622 h 3971622"/>
              <a:gd name="connsiteX6" fmla="*/ 167509 w 5198199"/>
              <a:gd name="connsiteY6" fmla="*/ 2524817 h 3971622"/>
              <a:gd name="connsiteX7" fmla="*/ 135611 w 5198199"/>
              <a:gd name="connsiteY7" fmla="*/ 834241 h 3971622"/>
              <a:gd name="connsiteX8" fmla="*/ 422690 w 5198199"/>
              <a:gd name="connsiteY8" fmla="*/ 462101 h 3971622"/>
              <a:gd name="connsiteX0" fmla="*/ 438761 w 5214270"/>
              <a:gd name="connsiteY0" fmla="*/ 462101 h 3971622"/>
              <a:gd name="connsiteX1" fmla="*/ 2182501 w 5214270"/>
              <a:gd name="connsiteY1" fmla="*/ 47431 h 3971622"/>
              <a:gd name="connsiteX2" fmla="*/ 4617357 w 5214270"/>
              <a:gd name="connsiteY2" fmla="*/ 228185 h 3971622"/>
              <a:gd name="connsiteX3" fmla="*/ 5212780 w 5214270"/>
              <a:gd name="connsiteY3" fmla="*/ 1993189 h 3971622"/>
              <a:gd name="connsiteX4" fmla="*/ 4521663 w 5214270"/>
              <a:gd name="connsiteY4" fmla="*/ 3726296 h 3971622"/>
              <a:gd name="connsiteX5" fmla="*/ 1597710 w 5214270"/>
              <a:gd name="connsiteY5" fmla="*/ 3832622 h 3971622"/>
              <a:gd name="connsiteX6" fmla="*/ 183580 w 5214270"/>
              <a:gd name="connsiteY6" fmla="*/ 2524817 h 3971622"/>
              <a:gd name="connsiteX7" fmla="*/ 151682 w 5214270"/>
              <a:gd name="connsiteY7" fmla="*/ 834241 h 3971622"/>
              <a:gd name="connsiteX8" fmla="*/ 438761 w 5214270"/>
              <a:gd name="connsiteY8" fmla="*/ 462101 h 3971622"/>
              <a:gd name="connsiteX0" fmla="*/ 438761 w 5214270"/>
              <a:gd name="connsiteY0" fmla="*/ 462101 h 4094819"/>
              <a:gd name="connsiteX1" fmla="*/ 2182501 w 5214270"/>
              <a:gd name="connsiteY1" fmla="*/ 47431 h 4094819"/>
              <a:gd name="connsiteX2" fmla="*/ 4617357 w 5214270"/>
              <a:gd name="connsiteY2" fmla="*/ 228185 h 4094819"/>
              <a:gd name="connsiteX3" fmla="*/ 5212780 w 5214270"/>
              <a:gd name="connsiteY3" fmla="*/ 1993189 h 4094819"/>
              <a:gd name="connsiteX4" fmla="*/ 4521663 w 5214270"/>
              <a:gd name="connsiteY4" fmla="*/ 3726296 h 4094819"/>
              <a:gd name="connsiteX5" fmla="*/ 1544548 w 5214270"/>
              <a:gd name="connsiteY5" fmla="*/ 4002743 h 4094819"/>
              <a:gd name="connsiteX6" fmla="*/ 183580 w 5214270"/>
              <a:gd name="connsiteY6" fmla="*/ 2524817 h 4094819"/>
              <a:gd name="connsiteX7" fmla="*/ 151682 w 5214270"/>
              <a:gd name="connsiteY7" fmla="*/ 834241 h 4094819"/>
              <a:gd name="connsiteX8" fmla="*/ 438761 w 5214270"/>
              <a:gd name="connsiteY8" fmla="*/ 462101 h 4094819"/>
              <a:gd name="connsiteX0" fmla="*/ 454664 w 5230173"/>
              <a:gd name="connsiteY0" fmla="*/ 462101 h 4076758"/>
              <a:gd name="connsiteX1" fmla="*/ 2198404 w 5230173"/>
              <a:gd name="connsiteY1" fmla="*/ 47431 h 4076758"/>
              <a:gd name="connsiteX2" fmla="*/ 4633260 w 5230173"/>
              <a:gd name="connsiteY2" fmla="*/ 228185 h 4076758"/>
              <a:gd name="connsiteX3" fmla="*/ 5228683 w 5230173"/>
              <a:gd name="connsiteY3" fmla="*/ 1993189 h 4076758"/>
              <a:gd name="connsiteX4" fmla="*/ 4537566 w 5230173"/>
              <a:gd name="connsiteY4" fmla="*/ 3726296 h 4076758"/>
              <a:gd name="connsiteX5" fmla="*/ 1560451 w 5230173"/>
              <a:gd name="connsiteY5" fmla="*/ 4002743 h 4076758"/>
              <a:gd name="connsiteX6" fmla="*/ 103790 w 5230173"/>
              <a:gd name="connsiteY6" fmla="*/ 2769366 h 4076758"/>
              <a:gd name="connsiteX7" fmla="*/ 167585 w 5230173"/>
              <a:gd name="connsiteY7" fmla="*/ 834241 h 4076758"/>
              <a:gd name="connsiteX8" fmla="*/ 454664 w 5230173"/>
              <a:gd name="connsiteY8" fmla="*/ 462101 h 4076758"/>
              <a:gd name="connsiteX0" fmla="*/ 423238 w 5198747"/>
              <a:gd name="connsiteY0" fmla="*/ 462101 h 4076758"/>
              <a:gd name="connsiteX1" fmla="*/ 2166978 w 5198747"/>
              <a:gd name="connsiteY1" fmla="*/ 47431 h 4076758"/>
              <a:gd name="connsiteX2" fmla="*/ 4601834 w 5198747"/>
              <a:gd name="connsiteY2" fmla="*/ 228185 h 4076758"/>
              <a:gd name="connsiteX3" fmla="*/ 5197257 w 5198747"/>
              <a:gd name="connsiteY3" fmla="*/ 1993189 h 4076758"/>
              <a:gd name="connsiteX4" fmla="*/ 4506140 w 5198747"/>
              <a:gd name="connsiteY4" fmla="*/ 3726296 h 4076758"/>
              <a:gd name="connsiteX5" fmla="*/ 1529025 w 5198747"/>
              <a:gd name="connsiteY5" fmla="*/ 4002743 h 4076758"/>
              <a:gd name="connsiteX6" fmla="*/ 72364 w 5198747"/>
              <a:gd name="connsiteY6" fmla="*/ 2769366 h 4076758"/>
              <a:gd name="connsiteX7" fmla="*/ 423238 w 5198747"/>
              <a:gd name="connsiteY7" fmla="*/ 462101 h 4076758"/>
              <a:gd name="connsiteX0" fmla="*/ 423238 w 5198747"/>
              <a:gd name="connsiteY0" fmla="*/ 462101 h 4213202"/>
              <a:gd name="connsiteX1" fmla="*/ 2166978 w 5198747"/>
              <a:gd name="connsiteY1" fmla="*/ 47431 h 4213202"/>
              <a:gd name="connsiteX2" fmla="*/ 4601834 w 5198747"/>
              <a:gd name="connsiteY2" fmla="*/ 228185 h 4213202"/>
              <a:gd name="connsiteX3" fmla="*/ 5197257 w 5198747"/>
              <a:gd name="connsiteY3" fmla="*/ 1993189 h 4213202"/>
              <a:gd name="connsiteX4" fmla="*/ 4506140 w 5198747"/>
              <a:gd name="connsiteY4" fmla="*/ 3726296 h 4213202"/>
              <a:gd name="connsiteX5" fmla="*/ 1529025 w 5198747"/>
              <a:gd name="connsiteY5" fmla="*/ 4162231 h 4213202"/>
              <a:gd name="connsiteX6" fmla="*/ 72364 w 5198747"/>
              <a:gd name="connsiteY6" fmla="*/ 2769366 h 4213202"/>
              <a:gd name="connsiteX7" fmla="*/ 423238 w 5198747"/>
              <a:gd name="connsiteY7" fmla="*/ 462101 h 4213202"/>
              <a:gd name="connsiteX0" fmla="*/ 423238 w 5201267"/>
              <a:gd name="connsiteY0" fmla="*/ 462101 h 4299589"/>
              <a:gd name="connsiteX1" fmla="*/ 2166978 w 5201267"/>
              <a:gd name="connsiteY1" fmla="*/ 47431 h 4299589"/>
              <a:gd name="connsiteX2" fmla="*/ 4601834 w 5201267"/>
              <a:gd name="connsiteY2" fmla="*/ 228185 h 4299589"/>
              <a:gd name="connsiteX3" fmla="*/ 5197257 w 5201267"/>
              <a:gd name="connsiteY3" fmla="*/ 1993189 h 4299589"/>
              <a:gd name="connsiteX4" fmla="*/ 4644363 w 5201267"/>
              <a:gd name="connsiteY4" fmla="*/ 4002743 h 4299589"/>
              <a:gd name="connsiteX5" fmla="*/ 1529025 w 5201267"/>
              <a:gd name="connsiteY5" fmla="*/ 4162231 h 4299589"/>
              <a:gd name="connsiteX6" fmla="*/ 72364 w 5201267"/>
              <a:gd name="connsiteY6" fmla="*/ 2769366 h 4299589"/>
              <a:gd name="connsiteX7" fmla="*/ 423238 w 5201267"/>
              <a:gd name="connsiteY7" fmla="*/ 462101 h 4299589"/>
              <a:gd name="connsiteX0" fmla="*/ 423238 w 5452658"/>
              <a:gd name="connsiteY0" fmla="*/ 461522 h 4299566"/>
              <a:gd name="connsiteX1" fmla="*/ 2166978 w 5452658"/>
              <a:gd name="connsiteY1" fmla="*/ 46852 h 4299566"/>
              <a:gd name="connsiteX2" fmla="*/ 4601834 w 5452658"/>
              <a:gd name="connsiteY2" fmla="*/ 227606 h 4299566"/>
              <a:gd name="connsiteX3" fmla="*/ 5452438 w 5452658"/>
              <a:gd name="connsiteY3" fmla="*/ 1981978 h 4299566"/>
              <a:gd name="connsiteX4" fmla="*/ 4644363 w 5452658"/>
              <a:gd name="connsiteY4" fmla="*/ 4002164 h 4299566"/>
              <a:gd name="connsiteX5" fmla="*/ 1529025 w 5452658"/>
              <a:gd name="connsiteY5" fmla="*/ 4161652 h 4299566"/>
              <a:gd name="connsiteX6" fmla="*/ 72364 w 5452658"/>
              <a:gd name="connsiteY6" fmla="*/ 2768787 h 4299566"/>
              <a:gd name="connsiteX7" fmla="*/ 423238 w 5452658"/>
              <a:gd name="connsiteY7" fmla="*/ 461522 h 4299566"/>
              <a:gd name="connsiteX0" fmla="*/ 423238 w 5460285"/>
              <a:gd name="connsiteY0" fmla="*/ 461522 h 4374298"/>
              <a:gd name="connsiteX1" fmla="*/ 2166978 w 5460285"/>
              <a:gd name="connsiteY1" fmla="*/ 46852 h 4374298"/>
              <a:gd name="connsiteX2" fmla="*/ 4601834 w 5460285"/>
              <a:gd name="connsiteY2" fmla="*/ 227606 h 4374298"/>
              <a:gd name="connsiteX3" fmla="*/ 5452438 w 5460285"/>
              <a:gd name="connsiteY3" fmla="*/ 1981978 h 4374298"/>
              <a:gd name="connsiteX4" fmla="*/ 4793219 w 5460285"/>
              <a:gd name="connsiteY4" fmla="*/ 4140387 h 4374298"/>
              <a:gd name="connsiteX5" fmla="*/ 1529025 w 5460285"/>
              <a:gd name="connsiteY5" fmla="*/ 4161652 h 4374298"/>
              <a:gd name="connsiteX6" fmla="*/ 72364 w 5460285"/>
              <a:gd name="connsiteY6" fmla="*/ 2768787 h 4374298"/>
              <a:gd name="connsiteX7" fmla="*/ 423238 w 5460285"/>
              <a:gd name="connsiteY7" fmla="*/ 461522 h 4374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60285" h="4374298">
                <a:moveTo>
                  <a:pt x="423238" y="461522"/>
                </a:moveTo>
                <a:cubicBezTo>
                  <a:pt x="772340" y="7866"/>
                  <a:pt x="1470545" y="85838"/>
                  <a:pt x="2166978" y="46852"/>
                </a:cubicBezTo>
                <a:cubicBezTo>
                  <a:pt x="2863411" y="7866"/>
                  <a:pt x="4054257" y="-94915"/>
                  <a:pt x="4601834" y="227606"/>
                </a:cubicBezTo>
                <a:cubicBezTo>
                  <a:pt x="5149411" y="550127"/>
                  <a:pt x="5420540" y="1329848"/>
                  <a:pt x="5452438" y="1981978"/>
                </a:cubicBezTo>
                <a:cubicBezTo>
                  <a:pt x="5484336" y="2634108"/>
                  <a:pt x="5447121" y="3777108"/>
                  <a:pt x="4793219" y="4140387"/>
                </a:cubicBezTo>
                <a:cubicBezTo>
                  <a:pt x="4139317" y="4503666"/>
                  <a:pt x="2315834" y="4390252"/>
                  <a:pt x="1529025" y="4161652"/>
                </a:cubicBezTo>
                <a:cubicBezTo>
                  <a:pt x="742216" y="3933052"/>
                  <a:pt x="313369" y="3268517"/>
                  <a:pt x="72364" y="2768787"/>
                </a:cubicBezTo>
                <a:cubicBezTo>
                  <a:pt x="-111934" y="2178680"/>
                  <a:pt x="74136" y="915178"/>
                  <a:pt x="423238" y="461522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9048328" y="5085184"/>
            <a:ext cx="21002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G= (V, E)</a:t>
            </a:r>
          </a:p>
          <a:p>
            <a:endParaRPr lang="en-US" dirty="0">
              <a:latin typeface="+mn-lt"/>
            </a:endParaRPr>
          </a:p>
          <a:p>
            <a:r>
              <a:rPr lang="en-US" dirty="0"/>
              <a:t>V = W</a:t>
            </a:r>
            <a:r>
              <a:rPr lang="en-US" baseline="-25000" dirty="0"/>
              <a:t>1</a:t>
            </a:r>
            <a:r>
              <a:rPr lang="en-US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 </a:t>
            </a:r>
            <a:r>
              <a:rPr lang="en-US" dirty="0"/>
              <a:t> W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olidFill>
                  <a:prstClr val="black"/>
                </a:solidFill>
                <a:latin typeface="Calibri" pitchFamily="34" charset="0"/>
                <a:cs typeface="Calibri" pitchFamily="34" charset="0"/>
                <a:sym typeface="Symbol" panose="05050102010706020507" pitchFamily="18" charset="2"/>
              </a:rPr>
              <a:t> </a:t>
            </a:r>
            <a:r>
              <a:rPr lang="en-US" dirty="0"/>
              <a:t>W</a:t>
            </a:r>
            <a:r>
              <a:rPr lang="en-US" baseline="-25000" dirty="0"/>
              <a:t>3</a:t>
            </a:r>
            <a:endParaRPr lang="ru-RU" baseline="-25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532669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АТД СНМ: система непересекающихся множеств</a:t>
            </a:r>
          </a:p>
        </p:txBody>
      </p:sp>
      <p:sp>
        <p:nvSpPr>
          <p:cNvPr id="90115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Разбиение фиксированного конечного множества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на попарно не пересекающиеся подмножества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 sets union</a:t>
            </a:r>
            <a:endParaRPr lang="ru-RU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</a:pPr>
            <a:endParaRPr lang="ru-RU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Операции</a:t>
            </a: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=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MakeSets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finiteSet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Создает систему непересекающихся множеств, состоящую из всех одноэлементных подмножеств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finiteSet</a:t>
            </a:r>
            <a:endParaRPr lang="ru-RU" sz="20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setForElement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= </a:t>
            </a:r>
            <a:r>
              <a:rPr lang="ru-RU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FindSet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element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Возвращает множество из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которое содержит 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element</a:t>
            </a:r>
            <a:endParaRPr lang="ru-RU" sz="20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MergeSets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setForX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Y)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Преобразует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объединяя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множества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setForX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Y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АТД СНМ: система непересекающихся множеств</a:t>
            </a:r>
          </a:p>
        </p:txBody>
      </p:sp>
      <p:sp>
        <p:nvSpPr>
          <p:cNvPr id="90115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Разбиение фиксированного конечного множества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на попарно непересекающиеся подмножества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Disjoint sets union</a:t>
            </a:r>
            <a:endParaRPr lang="ru-RU" sz="24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Операции</a:t>
            </a: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=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MakeSets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finiteSet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Создает систему непересекающихся множеств, состоящую из всех одноэлементных подмножеств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finiteSet</a:t>
            </a:r>
            <a:endParaRPr lang="ru-RU" sz="20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setForElement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= </a:t>
            </a:r>
            <a:r>
              <a:rPr lang="ru-RU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FindSet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element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Возвращает множество из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которое содержит 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element</a:t>
            </a:r>
            <a:endParaRPr lang="ru-RU" sz="20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MergeSets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setForX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Y)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Преобразует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объединяя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множества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setForX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67702575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АТД СНМ: система непересекающихся множеств</a:t>
            </a:r>
          </a:p>
        </p:txBody>
      </p:sp>
      <p:sp>
        <p:nvSpPr>
          <p:cNvPr id="90115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Разбиение фиксированного конечного множества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на попарно непересекающиеся подмножества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Disjoint sets union</a:t>
            </a:r>
            <a:endParaRPr lang="ru-RU" sz="24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Операции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=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MakeSets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finiteSet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Создает систему непересекающихся множеств, состоящую из всех одноэлементных подмножеств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finiteSet</a:t>
            </a:r>
            <a:endParaRPr lang="ru-RU" sz="20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setForElement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= </a:t>
            </a:r>
            <a:r>
              <a:rPr lang="ru-RU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FindSet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element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Возвращает множество из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которое содержит 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element</a:t>
            </a:r>
            <a:endParaRPr lang="ru-RU" sz="20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MergeSets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setForX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Y)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Преобразует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объединяя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множества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setForX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08597190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АТД СНМ: система непересекающихся множеств</a:t>
            </a:r>
          </a:p>
        </p:txBody>
      </p:sp>
      <p:sp>
        <p:nvSpPr>
          <p:cNvPr id="90115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Разбиение фиксированного конечного множества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на попарно непересекающиеся подмножества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Disjoint sets union</a:t>
            </a:r>
            <a:endParaRPr lang="ru-RU" sz="24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Операции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=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MakeSets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finiteSet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latin typeface="Calibri" pitchFamily="34" charset="0"/>
                <a:cs typeface="Calibri" pitchFamily="34" charset="0"/>
              </a:rPr>
              <a:t>Создает систему непересекающихся множеств, состоящую из всех одноэлементных подмножеств </a:t>
            </a:r>
            <a:r>
              <a:rPr lang="en-US" sz="2000" dirty="0" err="1">
                <a:latin typeface="Calibri" pitchFamily="34" charset="0"/>
                <a:cs typeface="Calibri" pitchFamily="34" charset="0"/>
              </a:rPr>
              <a:t>finiteSet</a:t>
            </a:r>
            <a:endParaRPr lang="ru-RU" sz="2000" dirty="0"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setForElement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= </a:t>
            </a:r>
            <a:r>
              <a:rPr lang="ru-RU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FindSet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element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Возвращает множество из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которое содержит 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element</a:t>
            </a:r>
            <a:endParaRPr lang="ru-RU" sz="20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MergeSets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setForX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Y)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Преобразует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объединяя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множества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setForX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46167034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АТД СНМ: система непересекающихся множеств</a:t>
            </a:r>
          </a:p>
        </p:txBody>
      </p:sp>
      <p:sp>
        <p:nvSpPr>
          <p:cNvPr id="90115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Разбиение фиксированного конечного множества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на попарно непересекающиеся подмножества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Disjoint sets union</a:t>
            </a:r>
            <a:endParaRPr lang="ru-RU" sz="24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Операции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=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MakeSets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finiteSet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latin typeface="Calibri" pitchFamily="34" charset="0"/>
                <a:cs typeface="Calibri" pitchFamily="34" charset="0"/>
              </a:rPr>
              <a:t>Создает систему непересекающихся множеств, состоящую из всех одноэлементных подмножеств </a:t>
            </a:r>
            <a:r>
              <a:rPr lang="en-US" sz="2000" dirty="0" err="1">
                <a:latin typeface="Calibri" pitchFamily="34" charset="0"/>
                <a:cs typeface="Calibri" pitchFamily="34" charset="0"/>
              </a:rPr>
              <a:t>finiteSet</a:t>
            </a:r>
            <a:endParaRPr lang="ru-RU" sz="2000" dirty="0"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latin typeface="Calibri" pitchFamily="34" charset="0"/>
                <a:cs typeface="Calibri" pitchFamily="34" charset="0"/>
              </a:rPr>
              <a:t>setForElement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= </a:t>
            </a:r>
            <a:r>
              <a:rPr lang="ru-RU" sz="2400" dirty="0" err="1">
                <a:latin typeface="Calibri" pitchFamily="34" charset="0"/>
                <a:cs typeface="Calibri" pitchFamily="34" charset="0"/>
              </a:rPr>
              <a:t>FindSet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, element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latin typeface="Calibri" pitchFamily="34" charset="0"/>
                <a:cs typeface="Calibri" pitchFamily="34" charset="0"/>
              </a:rPr>
              <a:t>Возвращает множество из </a:t>
            </a:r>
            <a:r>
              <a:rPr lang="en-US" sz="2000" dirty="0" err="1">
                <a:latin typeface="Calibri" pitchFamily="34" charset="0"/>
                <a:cs typeface="Calibri" pitchFamily="34" charset="0"/>
              </a:rPr>
              <a:t>disjointSets</a:t>
            </a:r>
            <a:r>
              <a:rPr lang="ru-RU" sz="2000" dirty="0">
                <a:latin typeface="Calibri" pitchFamily="34" charset="0"/>
                <a:cs typeface="Calibri" pitchFamily="34" charset="0"/>
              </a:rPr>
              <a:t>, которое содержит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element</a:t>
            </a:r>
            <a:endParaRPr lang="ru-RU" sz="2000" dirty="0"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MergeSets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setForX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Y)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Преобразует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disjointSets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,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объединяя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множества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setForX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и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setFor</a:t>
            </a:r>
            <a:r>
              <a:rPr lang="ru-RU" sz="20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423324752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АТД СНМ: система непересекающихся множеств</a:t>
            </a:r>
          </a:p>
        </p:txBody>
      </p:sp>
      <p:sp>
        <p:nvSpPr>
          <p:cNvPr id="90115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Разбиение фиксированного конечного множества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800" dirty="0">
                <a:latin typeface="Calibri" pitchFamily="34" charset="0"/>
                <a:cs typeface="Calibri" pitchFamily="34" charset="0"/>
              </a:rPr>
              <a:t>на попарно непересекающиеся подмножества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Disjoint sets union</a:t>
            </a:r>
            <a:endParaRPr lang="ru-RU" sz="24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</a:pPr>
            <a:endParaRPr lang="ru-RU" sz="28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Операции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=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MakeSets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finiteSet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latin typeface="Calibri" pitchFamily="34" charset="0"/>
                <a:cs typeface="Calibri" pitchFamily="34" charset="0"/>
              </a:rPr>
              <a:t>Создает систему непересекающихся множеств, состоящую из всех одноэлементных подмножеств </a:t>
            </a:r>
            <a:r>
              <a:rPr lang="en-US" sz="2000" dirty="0" err="1">
                <a:latin typeface="Calibri" pitchFamily="34" charset="0"/>
                <a:cs typeface="Calibri" pitchFamily="34" charset="0"/>
              </a:rPr>
              <a:t>finiteSet</a:t>
            </a:r>
            <a:endParaRPr lang="ru-RU" sz="2000" dirty="0"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latin typeface="Calibri" pitchFamily="34" charset="0"/>
                <a:cs typeface="Calibri" pitchFamily="34" charset="0"/>
              </a:rPr>
              <a:t>setForElement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= </a:t>
            </a:r>
            <a:r>
              <a:rPr lang="ru-RU" sz="2400" dirty="0" err="1">
                <a:latin typeface="Calibri" pitchFamily="34" charset="0"/>
                <a:cs typeface="Calibri" pitchFamily="34" charset="0"/>
              </a:rPr>
              <a:t>FindSet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, element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latin typeface="Calibri" pitchFamily="34" charset="0"/>
                <a:cs typeface="Calibri" pitchFamily="34" charset="0"/>
              </a:rPr>
              <a:t>Возвращает множество из </a:t>
            </a:r>
            <a:r>
              <a:rPr lang="en-US" sz="2000" dirty="0" err="1">
                <a:latin typeface="Calibri" pitchFamily="34" charset="0"/>
                <a:cs typeface="Calibri" pitchFamily="34" charset="0"/>
              </a:rPr>
              <a:t>disjointSets</a:t>
            </a:r>
            <a:r>
              <a:rPr lang="ru-RU" sz="2000" dirty="0">
                <a:latin typeface="Calibri" pitchFamily="34" charset="0"/>
                <a:cs typeface="Calibri" pitchFamily="34" charset="0"/>
              </a:rPr>
              <a:t>, которое содержит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element</a:t>
            </a:r>
            <a:endParaRPr lang="ru-RU" sz="2000" dirty="0">
              <a:latin typeface="Calibri" pitchFamily="34" charset="0"/>
              <a:cs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400" dirty="0" err="1">
                <a:latin typeface="Calibri" pitchFamily="34" charset="0"/>
                <a:cs typeface="Calibri" pitchFamily="34" charset="0"/>
              </a:rPr>
              <a:t>MergeSets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disjointSets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setForX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setFor</a:t>
            </a:r>
            <a:r>
              <a:rPr lang="ru-RU" sz="2400" dirty="0">
                <a:latin typeface="Calibri" pitchFamily="34" charset="0"/>
                <a:cs typeface="Calibri" pitchFamily="34" charset="0"/>
              </a:rPr>
              <a:t>Y)</a:t>
            </a:r>
          </a:p>
          <a:p>
            <a:pPr lvl="2">
              <a:lnSpc>
                <a:spcPct val="80000"/>
              </a:lnSpc>
            </a:pPr>
            <a:r>
              <a:rPr lang="ru-RU" sz="2000" dirty="0">
                <a:latin typeface="Calibri" pitchFamily="34" charset="0"/>
                <a:cs typeface="Calibri" pitchFamily="34" charset="0"/>
              </a:rPr>
              <a:t>Преобразует </a:t>
            </a:r>
            <a:r>
              <a:rPr lang="en-US" sz="2000" dirty="0" err="1">
                <a:latin typeface="Calibri" pitchFamily="34" charset="0"/>
                <a:cs typeface="Calibri" pitchFamily="34" charset="0"/>
              </a:rPr>
              <a:t>disjointSets</a:t>
            </a:r>
            <a:r>
              <a:rPr lang="ru-RU" sz="2000" dirty="0">
                <a:latin typeface="Calibri" pitchFamily="34" charset="0"/>
                <a:cs typeface="Calibri" pitchFamily="34" charset="0"/>
              </a:rPr>
              <a:t>,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latin typeface="Calibri" pitchFamily="34" charset="0"/>
                <a:cs typeface="Calibri" pitchFamily="34" charset="0"/>
              </a:rPr>
              <a:t>объединяя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latin typeface="Calibri" pitchFamily="34" charset="0"/>
                <a:cs typeface="Calibri" pitchFamily="34" charset="0"/>
              </a:rPr>
              <a:t>множества </a:t>
            </a:r>
            <a:r>
              <a:rPr lang="en-US" sz="2000" dirty="0" err="1">
                <a:latin typeface="Calibri" pitchFamily="34" charset="0"/>
                <a:cs typeface="Calibri" pitchFamily="34" charset="0"/>
              </a:rPr>
              <a:t>setForX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 </a:t>
            </a:r>
            <a:r>
              <a:rPr lang="ru-RU" sz="2000" dirty="0">
                <a:latin typeface="Calibri" pitchFamily="34" charset="0"/>
                <a:cs typeface="Calibri" pitchFamily="34" charset="0"/>
              </a:rPr>
              <a:t>и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>
                <a:latin typeface="Calibri" pitchFamily="34" charset="0"/>
                <a:cs typeface="Calibri" pitchFamily="34" charset="0"/>
              </a:rPr>
              <a:t>setFor</a:t>
            </a:r>
            <a:r>
              <a:rPr lang="ru-RU" sz="2000" dirty="0">
                <a:latin typeface="Calibri" pitchFamily="34" charset="0"/>
                <a:cs typeface="Calibri" pitchFamily="34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66514712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Построение компонент связности через СНМ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(graph):</a:t>
            </a:r>
            <a:endParaRPr lang="ru-RU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components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MakeSets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in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setForU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FindSet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components, u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setForV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FindSet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components, v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MergeSets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components,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b="1" dirty="0">
                <a:latin typeface="Consolas" panose="020B0609020204030204" pitchFamily="49" charset="0"/>
              </a:rPr>
              <a:t>return</a:t>
            </a:r>
            <a:r>
              <a:rPr lang="en-US" dirty="0">
                <a:latin typeface="Consolas" panose="020B0609020204030204" pitchFamily="49" charset="0"/>
              </a:rPr>
              <a:t> components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7379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chemeClr val="bg1"/>
                </a:solidFill>
              </a:rPr>
              <a:t>Список списков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</a:t>
            </a:r>
            <a:r>
              <a:rPr lang="en-US" dirty="0">
                <a:solidFill>
                  <a:schemeClr val="bg1"/>
                </a:solidFill>
              </a:rPr>
              <a:t>(# </a:t>
            </a:r>
            <a:r>
              <a:rPr lang="ru-RU" dirty="0">
                <a:solidFill>
                  <a:schemeClr val="bg1"/>
                </a:solidFill>
              </a:rPr>
              <a:t>элементов </a:t>
            </a:r>
            <a:r>
              <a:rPr lang="en-US" dirty="0">
                <a:solidFill>
                  <a:schemeClr val="bg1"/>
                </a:solidFill>
              </a:rPr>
              <a:t>^ 2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элементов)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Раскрашивание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для каждого элемента храним его «цвет»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элементов)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элементов </a:t>
            </a:r>
            <a:r>
              <a:rPr lang="en-US" dirty="0">
                <a:solidFill>
                  <a:schemeClr val="bg1"/>
                </a:solidFill>
              </a:rPr>
              <a:t>^ 2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Бережное раскрашивание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перекрашиваем элементы из меньшего множества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 = # </a:t>
            </a:r>
            <a:r>
              <a:rPr lang="ru-RU" dirty="0">
                <a:solidFill>
                  <a:schemeClr val="bg1"/>
                </a:solidFill>
              </a:rPr>
              <a:t>элементов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 </a:t>
            </a:r>
            <a:r>
              <a:rPr lang="ru-RU" dirty="0">
                <a:solidFill>
                  <a:schemeClr val="bg1"/>
                </a:solidFill>
              </a:rPr>
              <a:t>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Пусть элемент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побывал в множествах </a:t>
            </a: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  <a:r>
              <a:rPr lang="ru-RU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bg1"/>
                </a:solidFill>
              </a:rPr>
              <a:t>{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}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ru-RU" baseline="-250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…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= {</a:t>
            </a:r>
            <a:r>
              <a:rPr lang="ru-RU" dirty="0">
                <a:solidFill>
                  <a:schemeClr val="bg1"/>
                </a:solidFill>
              </a:rPr>
              <a:t> все элементы </a:t>
            </a:r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Поскольку перекрашиваем меньшее множество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2 * мощность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≤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мощность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i+1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Цвет </a:t>
            </a:r>
            <a:r>
              <a:rPr lang="en-US" dirty="0">
                <a:solidFill>
                  <a:schemeClr val="bg1"/>
                </a:solidFill>
              </a:rPr>
              <a:t>x </a:t>
            </a:r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n &lt;= log(N) </a:t>
            </a:r>
            <a:r>
              <a:rPr lang="ru-RU" dirty="0">
                <a:solidFill>
                  <a:schemeClr val="bg1"/>
                </a:solidFill>
              </a:rPr>
              <a:t>раз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На все элементы потратим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4598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Основной сценарий работы с СНМ:</a:t>
            </a:r>
            <a:endParaRPr lang="en-US" dirty="0"/>
          </a:p>
          <a:p>
            <a:pPr lvl="1"/>
            <a:r>
              <a:rPr lang="en-US" dirty="0"/>
              <a:t>N </a:t>
            </a:r>
            <a:r>
              <a:rPr lang="ru-RU" dirty="0"/>
              <a:t>множеств по 1 элементу</a:t>
            </a:r>
          </a:p>
          <a:p>
            <a:pPr lvl="1"/>
            <a:r>
              <a:rPr lang="en-US" dirty="0"/>
              <a:t>N-1 </a:t>
            </a:r>
            <a:r>
              <a:rPr lang="ru-RU" dirty="0"/>
              <a:t>раз </a:t>
            </a:r>
            <a:r>
              <a:rPr lang="en-US" dirty="0" err="1"/>
              <a:t>MergeSets</a:t>
            </a:r>
            <a:r>
              <a:rPr lang="en-US" dirty="0"/>
              <a:t>(</a:t>
            </a:r>
            <a:r>
              <a:rPr lang="en-US" dirty="0" err="1"/>
              <a:t>FindSet</a:t>
            </a:r>
            <a:r>
              <a:rPr lang="en-US" dirty="0"/>
              <a:t>(</a:t>
            </a:r>
            <a:r>
              <a:rPr lang="ru-RU" dirty="0"/>
              <a:t>…</a:t>
            </a:r>
            <a:r>
              <a:rPr lang="en-US" dirty="0"/>
              <a:t>), </a:t>
            </a:r>
            <a:r>
              <a:rPr lang="en-US" dirty="0" err="1"/>
              <a:t>FindSet</a:t>
            </a:r>
            <a:r>
              <a:rPr lang="en-US" dirty="0"/>
              <a:t>(</a:t>
            </a:r>
            <a:r>
              <a:rPr lang="ru-RU" dirty="0"/>
              <a:t>…</a:t>
            </a:r>
            <a:r>
              <a:rPr lang="en-US" dirty="0"/>
              <a:t>))</a:t>
            </a:r>
          </a:p>
          <a:p>
            <a:pPr lvl="1"/>
            <a:r>
              <a:rPr lang="en-US" dirty="0"/>
              <a:t>1 </a:t>
            </a:r>
            <a:r>
              <a:rPr lang="ru-RU" dirty="0"/>
              <a:t>множество из </a:t>
            </a:r>
            <a:r>
              <a:rPr lang="en-US" dirty="0"/>
              <a:t>N </a:t>
            </a:r>
            <a:r>
              <a:rPr lang="ru-RU" dirty="0"/>
              <a:t>элементов</a:t>
            </a:r>
          </a:p>
          <a:p>
            <a:endParaRPr lang="ru-RU" dirty="0"/>
          </a:p>
          <a:p>
            <a:r>
              <a:rPr lang="ru-RU" dirty="0"/>
              <a:t>Реализации сравниваем по числу присваиваний и сравнений в этом сценарии</a:t>
            </a:r>
            <a:endParaRPr lang="en-US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Список списков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</a:t>
            </a:r>
            <a:r>
              <a:rPr lang="en-US" dirty="0">
                <a:solidFill>
                  <a:schemeClr val="bg1"/>
                </a:solidFill>
              </a:rPr>
              <a:t>(# </a:t>
            </a:r>
            <a:r>
              <a:rPr lang="ru-RU" dirty="0">
                <a:solidFill>
                  <a:schemeClr val="bg1"/>
                </a:solidFill>
              </a:rPr>
              <a:t>элементов </a:t>
            </a:r>
            <a:r>
              <a:rPr lang="en-US" dirty="0">
                <a:solidFill>
                  <a:schemeClr val="bg1"/>
                </a:solidFill>
              </a:rPr>
              <a:t>^ 2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элементов)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Раскрашивание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для каждого элемента храним его «цвет»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элементов)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элементов </a:t>
            </a:r>
            <a:r>
              <a:rPr lang="en-US" dirty="0">
                <a:solidFill>
                  <a:schemeClr val="bg1"/>
                </a:solidFill>
              </a:rPr>
              <a:t>^ 2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Бережное раскрашивание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перекрашиваем элементы из меньшего множества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 = # </a:t>
            </a:r>
            <a:r>
              <a:rPr lang="ru-RU" dirty="0">
                <a:solidFill>
                  <a:schemeClr val="bg1"/>
                </a:solidFill>
              </a:rPr>
              <a:t>элементов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 </a:t>
            </a:r>
            <a:r>
              <a:rPr lang="ru-RU" dirty="0">
                <a:solidFill>
                  <a:schemeClr val="bg1"/>
                </a:solidFill>
              </a:rPr>
              <a:t>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Пусть элемент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побывал в множествах </a:t>
            </a: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  <a:r>
              <a:rPr lang="ru-RU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bg1"/>
                </a:solidFill>
              </a:rPr>
              <a:t>{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}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ru-RU" baseline="-250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…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= {</a:t>
            </a:r>
            <a:r>
              <a:rPr lang="ru-RU" dirty="0">
                <a:solidFill>
                  <a:schemeClr val="bg1"/>
                </a:solidFill>
              </a:rPr>
              <a:t> все элементы </a:t>
            </a:r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Поскольку перекрашиваем меньшее множество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2 * мощность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≤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мощность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i+1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Цвет </a:t>
            </a:r>
            <a:r>
              <a:rPr lang="en-US" dirty="0">
                <a:solidFill>
                  <a:schemeClr val="bg1"/>
                </a:solidFill>
              </a:rPr>
              <a:t>x </a:t>
            </a:r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n &lt;= log(N) </a:t>
            </a:r>
            <a:r>
              <a:rPr lang="ru-RU" dirty="0">
                <a:solidFill>
                  <a:schemeClr val="bg1"/>
                </a:solidFill>
              </a:rPr>
              <a:t>раз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На все элементы потратим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23920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Список списков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</a:t>
            </a:r>
            <a:r>
              <a:rPr lang="en-US" dirty="0"/>
              <a:t>(#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элементов)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Раскрашивание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для каждого элемента храним его «цвет»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элементов)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элементов </a:t>
            </a:r>
            <a:r>
              <a:rPr lang="en-US" dirty="0">
                <a:solidFill>
                  <a:schemeClr val="bg1"/>
                </a:solidFill>
              </a:rPr>
              <a:t>^ 2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Бережное раскрашивание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перекрашиваем элементы из меньшего множества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 = # </a:t>
            </a:r>
            <a:r>
              <a:rPr lang="ru-RU" dirty="0">
                <a:solidFill>
                  <a:schemeClr val="bg1"/>
                </a:solidFill>
              </a:rPr>
              <a:t>элементов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 </a:t>
            </a:r>
            <a:r>
              <a:rPr lang="ru-RU" dirty="0">
                <a:solidFill>
                  <a:schemeClr val="bg1"/>
                </a:solidFill>
              </a:rPr>
              <a:t>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Пусть элемент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побывал в множествах </a:t>
            </a: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  <a:r>
              <a:rPr lang="ru-RU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bg1"/>
                </a:solidFill>
              </a:rPr>
              <a:t>{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}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ru-RU" baseline="-250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…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= {</a:t>
            </a:r>
            <a:r>
              <a:rPr lang="ru-RU" dirty="0">
                <a:solidFill>
                  <a:schemeClr val="bg1"/>
                </a:solidFill>
              </a:rPr>
              <a:t> все элементы </a:t>
            </a:r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Поскольку перекрашиваем меньшее множество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2 * мощность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≤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мощность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i+1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Цвет </a:t>
            </a:r>
            <a:r>
              <a:rPr lang="en-US" dirty="0">
                <a:solidFill>
                  <a:schemeClr val="bg1"/>
                </a:solidFill>
              </a:rPr>
              <a:t>x </a:t>
            </a:r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n &lt;= log(N) </a:t>
            </a:r>
            <a:r>
              <a:rPr lang="ru-RU" dirty="0">
                <a:solidFill>
                  <a:schemeClr val="bg1"/>
                </a:solidFill>
              </a:rPr>
              <a:t>раз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На все элементы потратим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03004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Список списков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</a:t>
            </a:r>
            <a:r>
              <a:rPr lang="en-US" dirty="0"/>
              <a:t>(#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endParaRPr lang="en-US" dirty="0"/>
          </a:p>
          <a:p>
            <a:r>
              <a:rPr lang="ru-RU" dirty="0">
                <a:solidFill>
                  <a:schemeClr val="bg1"/>
                </a:solidFill>
              </a:rPr>
              <a:t>Раскрашивание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для каждого элемента храним его «цвет»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элементов)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элементов </a:t>
            </a:r>
            <a:r>
              <a:rPr lang="en-US" dirty="0">
                <a:solidFill>
                  <a:schemeClr val="bg1"/>
                </a:solidFill>
              </a:rPr>
              <a:t>^ 2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Бережное раскрашивание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перекрашиваем элементы из меньшего множества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 = # </a:t>
            </a:r>
            <a:r>
              <a:rPr lang="ru-RU" dirty="0">
                <a:solidFill>
                  <a:schemeClr val="bg1"/>
                </a:solidFill>
              </a:rPr>
              <a:t>элементов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 </a:t>
            </a:r>
            <a:r>
              <a:rPr lang="ru-RU" dirty="0">
                <a:solidFill>
                  <a:schemeClr val="bg1"/>
                </a:solidFill>
              </a:rPr>
              <a:t>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Пусть элемент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побывал в множествах </a:t>
            </a: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  <a:r>
              <a:rPr lang="ru-RU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bg1"/>
                </a:solidFill>
              </a:rPr>
              <a:t>{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}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ru-RU" baseline="-250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…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= {</a:t>
            </a:r>
            <a:r>
              <a:rPr lang="ru-RU" dirty="0">
                <a:solidFill>
                  <a:schemeClr val="bg1"/>
                </a:solidFill>
              </a:rPr>
              <a:t> все элементы </a:t>
            </a:r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Поскольку перекрашиваем меньшее множество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2 * мощность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≤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мощность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i+1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Цвет </a:t>
            </a:r>
            <a:r>
              <a:rPr lang="en-US" dirty="0">
                <a:solidFill>
                  <a:schemeClr val="bg1"/>
                </a:solidFill>
              </a:rPr>
              <a:t>x </a:t>
            </a:r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n &lt;= log(N) </a:t>
            </a:r>
            <a:r>
              <a:rPr lang="ru-RU" dirty="0">
                <a:solidFill>
                  <a:schemeClr val="bg1"/>
                </a:solidFill>
              </a:rPr>
              <a:t>раз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На все элементы потратим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82776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Список списков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</a:t>
            </a:r>
            <a:r>
              <a:rPr lang="en-US" dirty="0"/>
              <a:t>(#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endParaRPr lang="en-US" dirty="0"/>
          </a:p>
          <a:p>
            <a:r>
              <a:rPr lang="ru-RU" dirty="0"/>
              <a:t>Раскрашивание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для каждого элемента храним его «цвет»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элементов)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элементов </a:t>
            </a:r>
            <a:r>
              <a:rPr lang="en-US" dirty="0">
                <a:solidFill>
                  <a:schemeClr val="bg1"/>
                </a:solidFill>
              </a:rPr>
              <a:t>^ 2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Бережное раскрашивание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перекрашиваем элементы из меньшего множества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 = # </a:t>
            </a:r>
            <a:r>
              <a:rPr lang="ru-RU" dirty="0">
                <a:solidFill>
                  <a:schemeClr val="bg1"/>
                </a:solidFill>
              </a:rPr>
              <a:t>элементов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 </a:t>
            </a:r>
            <a:r>
              <a:rPr lang="ru-RU" dirty="0">
                <a:solidFill>
                  <a:schemeClr val="bg1"/>
                </a:solidFill>
              </a:rPr>
              <a:t>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Пусть элемент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побывал в множествах </a:t>
            </a: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  <a:r>
              <a:rPr lang="ru-RU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bg1"/>
                </a:solidFill>
              </a:rPr>
              <a:t>{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}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ru-RU" baseline="-250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…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= {</a:t>
            </a:r>
            <a:r>
              <a:rPr lang="ru-RU" dirty="0">
                <a:solidFill>
                  <a:schemeClr val="bg1"/>
                </a:solidFill>
              </a:rPr>
              <a:t> все элементы </a:t>
            </a:r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Поскольку перекрашиваем меньшее множество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2 * мощность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≤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мощность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i+1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Цвет </a:t>
            </a:r>
            <a:r>
              <a:rPr lang="en-US" dirty="0">
                <a:solidFill>
                  <a:schemeClr val="bg1"/>
                </a:solidFill>
              </a:rPr>
              <a:t>x </a:t>
            </a:r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n &lt;= log(N) </a:t>
            </a:r>
            <a:r>
              <a:rPr lang="ru-RU" dirty="0">
                <a:solidFill>
                  <a:schemeClr val="bg1"/>
                </a:solidFill>
              </a:rPr>
              <a:t>раз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На все элементы потратим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30605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Список списков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</a:t>
            </a:r>
            <a:r>
              <a:rPr lang="en-US" dirty="0"/>
              <a:t>(#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endParaRPr lang="en-US" dirty="0"/>
          </a:p>
          <a:p>
            <a:r>
              <a:rPr lang="ru-RU" dirty="0"/>
              <a:t>Раскрашивание</a:t>
            </a:r>
          </a:p>
          <a:p>
            <a:pPr lvl="1"/>
            <a:r>
              <a:rPr lang="ru-RU" dirty="0"/>
              <a:t>для каждого элемента храним его «цвет»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элементов)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элементов </a:t>
            </a:r>
            <a:r>
              <a:rPr lang="en-US" dirty="0">
                <a:solidFill>
                  <a:schemeClr val="bg1"/>
                </a:solidFill>
              </a:rPr>
              <a:t>^ 2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Бережное раскрашивание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перекрашиваем элементы из меньшего множества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 = # </a:t>
            </a:r>
            <a:r>
              <a:rPr lang="ru-RU" dirty="0">
                <a:solidFill>
                  <a:schemeClr val="bg1"/>
                </a:solidFill>
              </a:rPr>
              <a:t>элементов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 </a:t>
            </a:r>
            <a:r>
              <a:rPr lang="ru-RU" dirty="0">
                <a:solidFill>
                  <a:schemeClr val="bg1"/>
                </a:solidFill>
              </a:rPr>
              <a:t>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Пусть элемент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побывал в множествах </a:t>
            </a: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  <a:r>
              <a:rPr lang="ru-RU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bg1"/>
                </a:solidFill>
              </a:rPr>
              <a:t>{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}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ru-RU" baseline="-250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…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= {</a:t>
            </a:r>
            <a:r>
              <a:rPr lang="ru-RU" dirty="0">
                <a:solidFill>
                  <a:schemeClr val="bg1"/>
                </a:solidFill>
              </a:rPr>
              <a:t> все элементы </a:t>
            </a:r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Поскольку перекрашиваем меньшее множество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2 * мощность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≤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мощность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i+1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Цвет </a:t>
            </a:r>
            <a:r>
              <a:rPr lang="en-US" dirty="0">
                <a:solidFill>
                  <a:schemeClr val="bg1"/>
                </a:solidFill>
              </a:rPr>
              <a:t>x </a:t>
            </a:r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n &lt;= log(N) </a:t>
            </a:r>
            <a:r>
              <a:rPr lang="ru-RU" dirty="0">
                <a:solidFill>
                  <a:schemeClr val="bg1"/>
                </a:solidFill>
              </a:rPr>
              <a:t>раз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На все элементы потратим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grpSp>
        <p:nvGrpSpPr>
          <p:cNvPr id="19" name="Группа 11"/>
          <p:cNvGrpSpPr/>
          <p:nvPr/>
        </p:nvGrpSpPr>
        <p:grpSpPr>
          <a:xfrm>
            <a:off x="983432" y="5132319"/>
            <a:ext cx="3857146" cy="923330"/>
            <a:chOff x="889193" y="4750800"/>
            <a:chExt cx="3857146" cy="923330"/>
          </a:xfrm>
        </p:grpSpPr>
        <p:sp>
          <p:nvSpPr>
            <p:cNvPr id="20" name="TextBox 19"/>
            <p:cNvSpPr txBox="1"/>
            <p:nvPr/>
          </p:nvSpPr>
          <p:spPr>
            <a:xfrm>
              <a:off x="889193" y="4750800"/>
              <a:ext cx="385714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MergeSets</a:t>
              </a:r>
              <a:r>
                <a:rPr lang="en-US" dirty="0">
                  <a:latin typeface="Consolas" panose="020B0609020204030204" pitchFamily="49" charset="0"/>
                </a:rPr>
                <a:t>(                  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yellow,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green) =</a:t>
              </a:r>
              <a:endParaRPr lang="ru-RU" dirty="0">
                <a:latin typeface="Consolas" panose="020B0609020204030204" pitchFamily="49" charset="0"/>
              </a:endParaRPr>
            </a:p>
          </p:txBody>
        </p:sp>
        <p:grpSp>
          <p:nvGrpSpPr>
            <p:cNvPr id="21" name="Группа 5"/>
            <p:cNvGrpSpPr/>
            <p:nvPr/>
          </p:nvGrpSpPr>
          <p:grpSpPr>
            <a:xfrm>
              <a:off x="2221118" y="4786875"/>
              <a:ext cx="2161764" cy="323782"/>
              <a:chOff x="8040216" y="1609113"/>
              <a:chExt cx="3097212" cy="431800"/>
            </a:xfrm>
          </p:grpSpPr>
          <p:sp>
            <p:nvSpPr>
              <p:cNvPr id="28" name="Oval 8"/>
              <p:cNvSpPr>
                <a:spLocks noChangeArrowheads="1"/>
              </p:cNvSpPr>
              <p:nvPr/>
            </p:nvSpPr>
            <p:spPr bwMode="auto">
              <a:xfrm>
                <a:off x="9337203" y="1609113"/>
                <a:ext cx="504825" cy="431800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9" name="Oval 9"/>
              <p:cNvSpPr>
                <a:spLocks noChangeArrowheads="1"/>
              </p:cNvSpPr>
              <p:nvPr/>
            </p:nvSpPr>
            <p:spPr bwMode="auto">
              <a:xfrm>
                <a:off x="8040216" y="1609113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30" name="Oval 10"/>
              <p:cNvSpPr>
                <a:spLocks noChangeArrowheads="1"/>
              </p:cNvSpPr>
              <p:nvPr/>
            </p:nvSpPr>
            <p:spPr bwMode="auto">
              <a:xfrm>
                <a:off x="8687916" y="1609113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31" name="Oval 11"/>
              <p:cNvSpPr>
                <a:spLocks noChangeArrowheads="1"/>
              </p:cNvSpPr>
              <p:nvPr/>
            </p:nvSpPr>
            <p:spPr bwMode="auto">
              <a:xfrm>
                <a:off x="9984903" y="1609113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32" name="Oval 12"/>
              <p:cNvSpPr>
                <a:spLocks noChangeArrowheads="1"/>
              </p:cNvSpPr>
              <p:nvPr/>
            </p:nvSpPr>
            <p:spPr bwMode="auto">
              <a:xfrm>
                <a:off x="10632603" y="1609113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22" name="Группа 6"/>
            <p:cNvGrpSpPr/>
            <p:nvPr/>
          </p:nvGrpSpPr>
          <p:grpSpPr>
            <a:xfrm>
              <a:off x="2547170" y="5319092"/>
              <a:ext cx="2072814" cy="308182"/>
              <a:chOff x="8040216" y="2651224"/>
              <a:chExt cx="3097212" cy="439738"/>
            </a:xfrm>
          </p:grpSpPr>
          <p:sp>
            <p:nvSpPr>
              <p:cNvPr id="23" name="Oval 16"/>
              <p:cNvSpPr>
                <a:spLocks noChangeArrowheads="1"/>
              </p:cNvSpPr>
              <p:nvPr/>
            </p:nvSpPr>
            <p:spPr bwMode="auto">
              <a:xfrm>
                <a:off x="8040216" y="2651224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4" name="Oval 18"/>
              <p:cNvSpPr>
                <a:spLocks noChangeArrowheads="1"/>
              </p:cNvSpPr>
              <p:nvPr/>
            </p:nvSpPr>
            <p:spPr bwMode="auto">
              <a:xfrm>
                <a:off x="9984903" y="2651224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5" name="Oval 19"/>
              <p:cNvSpPr>
                <a:spLocks noChangeArrowheads="1"/>
              </p:cNvSpPr>
              <p:nvPr/>
            </p:nvSpPr>
            <p:spPr bwMode="auto">
              <a:xfrm>
                <a:off x="10632603" y="2651224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6" name="Oval 8"/>
              <p:cNvSpPr>
                <a:spLocks noChangeArrowheads="1"/>
              </p:cNvSpPr>
              <p:nvPr/>
            </p:nvSpPr>
            <p:spPr bwMode="auto">
              <a:xfrm>
                <a:off x="9335665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7" name="Oval 10"/>
              <p:cNvSpPr>
                <a:spLocks noChangeArrowheads="1"/>
              </p:cNvSpPr>
              <p:nvPr/>
            </p:nvSpPr>
            <p:spPr bwMode="auto">
              <a:xfrm>
                <a:off x="8686378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3309210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Список списков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</a:t>
            </a:r>
            <a:r>
              <a:rPr lang="en-US" dirty="0"/>
              <a:t>(#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endParaRPr lang="en-US" dirty="0"/>
          </a:p>
          <a:p>
            <a:r>
              <a:rPr lang="ru-RU" dirty="0"/>
              <a:t>Раскрашивание</a:t>
            </a:r>
          </a:p>
          <a:p>
            <a:pPr lvl="1"/>
            <a:r>
              <a:rPr lang="ru-RU" dirty="0"/>
              <a:t>для каждого элемента храним его «цвет»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элементов </a:t>
            </a:r>
            <a:r>
              <a:rPr lang="en-US" dirty="0">
                <a:solidFill>
                  <a:schemeClr val="bg1"/>
                </a:solidFill>
              </a:rPr>
              <a:t>^ 2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Бережное раскрашивание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перекрашиваем элементы из меньшего множества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 = # </a:t>
            </a:r>
            <a:r>
              <a:rPr lang="ru-RU" dirty="0">
                <a:solidFill>
                  <a:schemeClr val="bg1"/>
                </a:solidFill>
              </a:rPr>
              <a:t>элементов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 </a:t>
            </a:r>
            <a:r>
              <a:rPr lang="ru-RU" dirty="0">
                <a:solidFill>
                  <a:schemeClr val="bg1"/>
                </a:solidFill>
              </a:rPr>
              <a:t>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Пусть элемент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побывал в множествах </a:t>
            </a: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  <a:r>
              <a:rPr lang="ru-RU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bg1"/>
                </a:solidFill>
              </a:rPr>
              <a:t>{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}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ru-RU" baseline="-250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…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= {</a:t>
            </a:r>
            <a:r>
              <a:rPr lang="ru-RU" dirty="0">
                <a:solidFill>
                  <a:schemeClr val="bg1"/>
                </a:solidFill>
              </a:rPr>
              <a:t> все элементы </a:t>
            </a:r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Поскольку перекрашиваем меньшее множество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2 * мощность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≤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мощность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i+1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Цвет </a:t>
            </a:r>
            <a:r>
              <a:rPr lang="en-US" dirty="0">
                <a:solidFill>
                  <a:schemeClr val="bg1"/>
                </a:solidFill>
              </a:rPr>
              <a:t>x </a:t>
            </a:r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n &lt;= log(N) </a:t>
            </a:r>
            <a:r>
              <a:rPr lang="ru-RU" dirty="0">
                <a:solidFill>
                  <a:schemeClr val="bg1"/>
                </a:solidFill>
              </a:rPr>
              <a:t>раз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На все элементы потратим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grpSp>
        <p:nvGrpSpPr>
          <p:cNvPr id="19" name="Группа 11"/>
          <p:cNvGrpSpPr/>
          <p:nvPr/>
        </p:nvGrpSpPr>
        <p:grpSpPr>
          <a:xfrm>
            <a:off x="983432" y="5132319"/>
            <a:ext cx="3857146" cy="923330"/>
            <a:chOff x="889193" y="4750800"/>
            <a:chExt cx="3857146" cy="923330"/>
          </a:xfrm>
        </p:grpSpPr>
        <p:sp>
          <p:nvSpPr>
            <p:cNvPr id="20" name="TextBox 19"/>
            <p:cNvSpPr txBox="1"/>
            <p:nvPr/>
          </p:nvSpPr>
          <p:spPr>
            <a:xfrm>
              <a:off x="889193" y="4750800"/>
              <a:ext cx="385714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MergeSets</a:t>
              </a:r>
              <a:r>
                <a:rPr lang="en-US" dirty="0">
                  <a:latin typeface="Consolas" panose="020B0609020204030204" pitchFamily="49" charset="0"/>
                </a:rPr>
                <a:t>(                  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yellow,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green) =</a:t>
              </a:r>
              <a:endParaRPr lang="ru-RU" dirty="0">
                <a:latin typeface="Consolas" panose="020B0609020204030204" pitchFamily="49" charset="0"/>
              </a:endParaRPr>
            </a:p>
          </p:txBody>
        </p:sp>
        <p:grpSp>
          <p:nvGrpSpPr>
            <p:cNvPr id="21" name="Группа 5"/>
            <p:cNvGrpSpPr/>
            <p:nvPr/>
          </p:nvGrpSpPr>
          <p:grpSpPr>
            <a:xfrm>
              <a:off x="2221118" y="4786875"/>
              <a:ext cx="2161764" cy="323782"/>
              <a:chOff x="8040216" y="1609113"/>
              <a:chExt cx="3097212" cy="431800"/>
            </a:xfrm>
          </p:grpSpPr>
          <p:sp>
            <p:nvSpPr>
              <p:cNvPr id="28" name="Oval 8"/>
              <p:cNvSpPr>
                <a:spLocks noChangeArrowheads="1"/>
              </p:cNvSpPr>
              <p:nvPr/>
            </p:nvSpPr>
            <p:spPr bwMode="auto">
              <a:xfrm>
                <a:off x="9337203" y="1609113"/>
                <a:ext cx="504825" cy="431800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9" name="Oval 9"/>
              <p:cNvSpPr>
                <a:spLocks noChangeArrowheads="1"/>
              </p:cNvSpPr>
              <p:nvPr/>
            </p:nvSpPr>
            <p:spPr bwMode="auto">
              <a:xfrm>
                <a:off x="8040216" y="1609113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30" name="Oval 10"/>
              <p:cNvSpPr>
                <a:spLocks noChangeArrowheads="1"/>
              </p:cNvSpPr>
              <p:nvPr/>
            </p:nvSpPr>
            <p:spPr bwMode="auto">
              <a:xfrm>
                <a:off x="8687916" y="1609113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31" name="Oval 11"/>
              <p:cNvSpPr>
                <a:spLocks noChangeArrowheads="1"/>
              </p:cNvSpPr>
              <p:nvPr/>
            </p:nvSpPr>
            <p:spPr bwMode="auto">
              <a:xfrm>
                <a:off x="9984903" y="1609113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32" name="Oval 12"/>
              <p:cNvSpPr>
                <a:spLocks noChangeArrowheads="1"/>
              </p:cNvSpPr>
              <p:nvPr/>
            </p:nvSpPr>
            <p:spPr bwMode="auto">
              <a:xfrm>
                <a:off x="10632603" y="1609113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22" name="Группа 6"/>
            <p:cNvGrpSpPr/>
            <p:nvPr/>
          </p:nvGrpSpPr>
          <p:grpSpPr>
            <a:xfrm>
              <a:off x="2547170" y="5319092"/>
              <a:ext cx="2072814" cy="308182"/>
              <a:chOff x="8040216" y="2651224"/>
              <a:chExt cx="3097212" cy="439738"/>
            </a:xfrm>
          </p:grpSpPr>
          <p:sp>
            <p:nvSpPr>
              <p:cNvPr id="23" name="Oval 16"/>
              <p:cNvSpPr>
                <a:spLocks noChangeArrowheads="1"/>
              </p:cNvSpPr>
              <p:nvPr/>
            </p:nvSpPr>
            <p:spPr bwMode="auto">
              <a:xfrm>
                <a:off x="8040216" y="2651224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4" name="Oval 18"/>
              <p:cNvSpPr>
                <a:spLocks noChangeArrowheads="1"/>
              </p:cNvSpPr>
              <p:nvPr/>
            </p:nvSpPr>
            <p:spPr bwMode="auto">
              <a:xfrm>
                <a:off x="9984903" y="2651224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5" name="Oval 19"/>
              <p:cNvSpPr>
                <a:spLocks noChangeArrowheads="1"/>
              </p:cNvSpPr>
              <p:nvPr/>
            </p:nvSpPr>
            <p:spPr bwMode="auto">
              <a:xfrm>
                <a:off x="10632603" y="2651224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6" name="Oval 8"/>
              <p:cNvSpPr>
                <a:spLocks noChangeArrowheads="1"/>
              </p:cNvSpPr>
              <p:nvPr/>
            </p:nvSpPr>
            <p:spPr bwMode="auto">
              <a:xfrm>
                <a:off x="9335665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7" name="Oval 10"/>
              <p:cNvSpPr>
                <a:spLocks noChangeArrowheads="1"/>
              </p:cNvSpPr>
              <p:nvPr/>
            </p:nvSpPr>
            <p:spPr bwMode="auto">
              <a:xfrm>
                <a:off x="8686378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8594838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Список списков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</a:t>
            </a:r>
            <a:r>
              <a:rPr lang="en-US" dirty="0"/>
              <a:t>(#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endParaRPr lang="en-US" dirty="0"/>
          </a:p>
          <a:p>
            <a:r>
              <a:rPr lang="ru-RU" dirty="0"/>
              <a:t>Раскрашивание</a:t>
            </a:r>
          </a:p>
          <a:p>
            <a:pPr lvl="1"/>
            <a:r>
              <a:rPr lang="ru-RU" dirty="0"/>
              <a:t>для каждого элемента храним его «цвет»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endParaRPr lang="en-US" dirty="0"/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Бережное раскрашивание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перекрашиваем элементы из меньшего множества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 = # </a:t>
            </a:r>
            <a:r>
              <a:rPr lang="ru-RU" dirty="0">
                <a:solidFill>
                  <a:schemeClr val="bg1"/>
                </a:solidFill>
              </a:rPr>
              <a:t>элементов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 </a:t>
            </a:r>
            <a:r>
              <a:rPr lang="ru-RU" dirty="0">
                <a:solidFill>
                  <a:schemeClr val="bg1"/>
                </a:solidFill>
              </a:rPr>
              <a:t>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Пусть элемент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побывал в множествах </a:t>
            </a: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  <a:r>
              <a:rPr lang="ru-RU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bg1"/>
                </a:solidFill>
              </a:rPr>
              <a:t>{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}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ru-RU" baseline="-250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…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= {</a:t>
            </a:r>
            <a:r>
              <a:rPr lang="ru-RU" dirty="0">
                <a:solidFill>
                  <a:schemeClr val="bg1"/>
                </a:solidFill>
              </a:rPr>
              <a:t> все элементы </a:t>
            </a:r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Поскольку перекрашиваем меньшее множество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2 * мощность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≤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мощность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i+1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Цвет </a:t>
            </a:r>
            <a:r>
              <a:rPr lang="en-US" dirty="0">
                <a:solidFill>
                  <a:schemeClr val="bg1"/>
                </a:solidFill>
              </a:rPr>
              <a:t>x </a:t>
            </a:r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n &lt;= log(N) </a:t>
            </a:r>
            <a:r>
              <a:rPr lang="ru-RU" dirty="0">
                <a:solidFill>
                  <a:schemeClr val="bg1"/>
                </a:solidFill>
              </a:rPr>
              <a:t>раз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На все элементы потратим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grpSp>
        <p:nvGrpSpPr>
          <p:cNvPr id="19" name="Группа 11"/>
          <p:cNvGrpSpPr/>
          <p:nvPr/>
        </p:nvGrpSpPr>
        <p:grpSpPr>
          <a:xfrm>
            <a:off x="983432" y="5132319"/>
            <a:ext cx="3857146" cy="923330"/>
            <a:chOff x="889193" y="4750800"/>
            <a:chExt cx="3857146" cy="923330"/>
          </a:xfrm>
        </p:grpSpPr>
        <p:sp>
          <p:nvSpPr>
            <p:cNvPr id="20" name="TextBox 19"/>
            <p:cNvSpPr txBox="1"/>
            <p:nvPr/>
          </p:nvSpPr>
          <p:spPr>
            <a:xfrm>
              <a:off x="889193" y="4750800"/>
              <a:ext cx="385714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MergeSets</a:t>
              </a:r>
              <a:r>
                <a:rPr lang="en-US" dirty="0">
                  <a:latin typeface="Consolas" panose="020B0609020204030204" pitchFamily="49" charset="0"/>
                </a:rPr>
                <a:t>(                  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yellow,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green) =</a:t>
              </a:r>
              <a:endParaRPr lang="ru-RU" dirty="0">
                <a:latin typeface="Consolas" panose="020B0609020204030204" pitchFamily="49" charset="0"/>
              </a:endParaRPr>
            </a:p>
          </p:txBody>
        </p:sp>
        <p:grpSp>
          <p:nvGrpSpPr>
            <p:cNvPr id="21" name="Группа 5"/>
            <p:cNvGrpSpPr/>
            <p:nvPr/>
          </p:nvGrpSpPr>
          <p:grpSpPr>
            <a:xfrm>
              <a:off x="2221118" y="4786875"/>
              <a:ext cx="2161764" cy="323782"/>
              <a:chOff x="8040216" y="1609113"/>
              <a:chExt cx="3097212" cy="431800"/>
            </a:xfrm>
          </p:grpSpPr>
          <p:sp>
            <p:nvSpPr>
              <p:cNvPr id="28" name="Oval 8"/>
              <p:cNvSpPr>
                <a:spLocks noChangeArrowheads="1"/>
              </p:cNvSpPr>
              <p:nvPr/>
            </p:nvSpPr>
            <p:spPr bwMode="auto">
              <a:xfrm>
                <a:off x="9337203" y="1609113"/>
                <a:ext cx="504825" cy="431800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9" name="Oval 9"/>
              <p:cNvSpPr>
                <a:spLocks noChangeArrowheads="1"/>
              </p:cNvSpPr>
              <p:nvPr/>
            </p:nvSpPr>
            <p:spPr bwMode="auto">
              <a:xfrm>
                <a:off x="8040216" y="1609113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30" name="Oval 10"/>
              <p:cNvSpPr>
                <a:spLocks noChangeArrowheads="1"/>
              </p:cNvSpPr>
              <p:nvPr/>
            </p:nvSpPr>
            <p:spPr bwMode="auto">
              <a:xfrm>
                <a:off x="8687916" y="1609113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31" name="Oval 11"/>
              <p:cNvSpPr>
                <a:spLocks noChangeArrowheads="1"/>
              </p:cNvSpPr>
              <p:nvPr/>
            </p:nvSpPr>
            <p:spPr bwMode="auto">
              <a:xfrm>
                <a:off x="9984903" y="1609113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32" name="Oval 12"/>
              <p:cNvSpPr>
                <a:spLocks noChangeArrowheads="1"/>
              </p:cNvSpPr>
              <p:nvPr/>
            </p:nvSpPr>
            <p:spPr bwMode="auto">
              <a:xfrm>
                <a:off x="10632603" y="1609113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22" name="Группа 6"/>
            <p:cNvGrpSpPr/>
            <p:nvPr/>
          </p:nvGrpSpPr>
          <p:grpSpPr>
            <a:xfrm>
              <a:off x="2547170" y="5319092"/>
              <a:ext cx="2072814" cy="308182"/>
              <a:chOff x="8040216" y="2651224"/>
              <a:chExt cx="3097212" cy="439738"/>
            </a:xfrm>
          </p:grpSpPr>
          <p:sp>
            <p:nvSpPr>
              <p:cNvPr id="23" name="Oval 16"/>
              <p:cNvSpPr>
                <a:spLocks noChangeArrowheads="1"/>
              </p:cNvSpPr>
              <p:nvPr/>
            </p:nvSpPr>
            <p:spPr bwMode="auto">
              <a:xfrm>
                <a:off x="8040216" y="2651224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4" name="Oval 18"/>
              <p:cNvSpPr>
                <a:spLocks noChangeArrowheads="1"/>
              </p:cNvSpPr>
              <p:nvPr/>
            </p:nvSpPr>
            <p:spPr bwMode="auto">
              <a:xfrm>
                <a:off x="9984903" y="2651224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5" name="Oval 19"/>
              <p:cNvSpPr>
                <a:spLocks noChangeArrowheads="1"/>
              </p:cNvSpPr>
              <p:nvPr/>
            </p:nvSpPr>
            <p:spPr bwMode="auto">
              <a:xfrm>
                <a:off x="10632603" y="2651224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6" name="Oval 8"/>
              <p:cNvSpPr>
                <a:spLocks noChangeArrowheads="1"/>
              </p:cNvSpPr>
              <p:nvPr/>
            </p:nvSpPr>
            <p:spPr bwMode="auto">
              <a:xfrm>
                <a:off x="9335665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7" name="Oval 10"/>
              <p:cNvSpPr>
                <a:spLocks noChangeArrowheads="1"/>
              </p:cNvSpPr>
              <p:nvPr/>
            </p:nvSpPr>
            <p:spPr bwMode="auto">
              <a:xfrm>
                <a:off x="8686378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040513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Список списков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</a:t>
            </a:r>
            <a:r>
              <a:rPr lang="en-US" dirty="0"/>
              <a:t>(#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endParaRPr lang="en-US" dirty="0"/>
          </a:p>
          <a:p>
            <a:r>
              <a:rPr lang="ru-RU" dirty="0"/>
              <a:t>Раскрашивание</a:t>
            </a:r>
          </a:p>
          <a:p>
            <a:pPr lvl="1"/>
            <a:r>
              <a:rPr lang="ru-RU" dirty="0"/>
              <a:t>для каждого элемента храним его «цвет»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endParaRPr lang="en-US" dirty="0"/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Бережное раскрашивание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перекрашиваем элементы из меньшего множества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 = # </a:t>
            </a:r>
            <a:r>
              <a:rPr lang="ru-RU" dirty="0">
                <a:solidFill>
                  <a:schemeClr val="bg1"/>
                </a:solidFill>
              </a:rPr>
              <a:t>элементов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 </a:t>
            </a:r>
            <a:r>
              <a:rPr lang="ru-RU" dirty="0">
                <a:solidFill>
                  <a:schemeClr val="bg1"/>
                </a:solidFill>
              </a:rPr>
              <a:t>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Пусть элемент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побывал в множествах </a:t>
            </a: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  <a:r>
              <a:rPr lang="ru-RU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bg1"/>
                </a:solidFill>
              </a:rPr>
              <a:t>{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}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ru-RU" baseline="-250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…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= {</a:t>
            </a:r>
            <a:r>
              <a:rPr lang="ru-RU" dirty="0">
                <a:solidFill>
                  <a:schemeClr val="bg1"/>
                </a:solidFill>
              </a:rPr>
              <a:t> все элементы </a:t>
            </a:r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Поскольку перекрашиваем меньшее множество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2 * мощность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≤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мощность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i+1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Цвет </a:t>
            </a:r>
            <a:r>
              <a:rPr lang="en-US" dirty="0">
                <a:solidFill>
                  <a:schemeClr val="bg1"/>
                </a:solidFill>
              </a:rPr>
              <a:t>x </a:t>
            </a:r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n &lt;= log(N) </a:t>
            </a:r>
            <a:r>
              <a:rPr lang="ru-RU" dirty="0">
                <a:solidFill>
                  <a:schemeClr val="bg1"/>
                </a:solidFill>
              </a:rPr>
              <a:t>раз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На все элементы потратим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/>
          </a:p>
          <a:p>
            <a:endParaRPr lang="ru-RU" dirty="0"/>
          </a:p>
        </p:txBody>
      </p:sp>
      <p:grpSp>
        <p:nvGrpSpPr>
          <p:cNvPr id="12" name="Группа 11"/>
          <p:cNvGrpSpPr/>
          <p:nvPr/>
        </p:nvGrpSpPr>
        <p:grpSpPr>
          <a:xfrm>
            <a:off x="983432" y="5132319"/>
            <a:ext cx="3857146" cy="923330"/>
            <a:chOff x="889193" y="4750800"/>
            <a:chExt cx="3857146" cy="923330"/>
          </a:xfrm>
        </p:grpSpPr>
        <p:sp>
          <p:nvSpPr>
            <p:cNvPr id="4" name="TextBox 3"/>
            <p:cNvSpPr txBox="1"/>
            <p:nvPr/>
          </p:nvSpPr>
          <p:spPr>
            <a:xfrm>
              <a:off x="889193" y="4750800"/>
              <a:ext cx="385714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MergeSets</a:t>
              </a:r>
              <a:r>
                <a:rPr lang="en-US" dirty="0">
                  <a:latin typeface="Consolas" panose="020B0609020204030204" pitchFamily="49" charset="0"/>
                </a:rPr>
                <a:t>(                  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yellow,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green) =</a:t>
              </a:r>
              <a:endParaRPr lang="ru-RU" dirty="0">
                <a:latin typeface="Consolas" panose="020B0609020204030204" pitchFamily="49" charset="0"/>
              </a:endParaRPr>
            </a:p>
          </p:txBody>
        </p:sp>
        <p:grpSp>
          <p:nvGrpSpPr>
            <p:cNvPr id="6" name="Группа 5"/>
            <p:cNvGrpSpPr/>
            <p:nvPr/>
          </p:nvGrpSpPr>
          <p:grpSpPr>
            <a:xfrm>
              <a:off x="2221118" y="4786875"/>
              <a:ext cx="2161764" cy="323782"/>
              <a:chOff x="8040216" y="1609113"/>
              <a:chExt cx="3097212" cy="431800"/>
            </a:xfrm>
          </p:grpSpPr>
          <p:sp>
            <p:nvSpPr>
              <p:cNvPr id="63521" name="Oval 8"/>
              <p:cNvSpPr>
                <a:spLocks noChangeArrowheads="1"/>
              </p:cNvSpPr>
              <p:nvPr/>
            </p:nvSpPr>
            <p:spPr bwMode="auto">
              <a:xfrm>
                <a:off x="9337203" y="1609113"/>
                <a:ext cx="504825" cy="431800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2" name="Oval 9"/>
              <p:cNvSpPr>
                <a:spLocks noChangeArrowheads="1"/>
              </p:cNvSpPr>
              <p:nvPr/>
            </p:nvSpPr>
            <p:spPr bwMode="auto">
              <a:xfrm>
                <a:off x="8040216" y="1609113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3" name="Oval 10"/>
              <p:cNvSpPr>
                <a:spLocks noChangeArrowheads="1"/>
              </p:cNvSpPr>
              <p:nvPr/>
            </p:nvSpPr>
            <p:spPr bwMode="auto">
              <a:xfrm>
                <a:off x="8687916" y="1609113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4" name="Oval 11"/>
              <p:cNvSpPr>
                <a:spLocks noChangeArrowheads="1"/>
              </p:cNvSpPr>
              <p:nvPr/>
            </p:nvSpPr>
            <p:spPr bwMode="auto">
              <a:xfrm>
                <a:off x="9984903" y="1609113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5" name="Oval 12"/>
              <p:cNvSpPr>
                <a:spLocks noChangeArrowheads="1"/>
              </p:cNvSpPr>
              <p:nvPr/>
            </p:nvSpPr>
            <p:spPr bwMode="auto">
              <a:xfrm>
                <a:off x="10632603" y="1609113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7" name="Группа 6"/>
            <p:cNvGrpSpPr/>
            <p:nvPr/>
          </p:nvGrpSpPr>
          <p:grpSpPr>
            <a:xfrm>
              <a:off x="2547170" y="5319092"/>
              <a:ext cx="2072814" cy="308182"/>
              <a:chOff x="8040216" y="2651224"/>
              <a:chExt cx="3097212" cy="439738"/>
            </a:xfrm>
          </p:grpSpPr>
          <p:sp>
            <p:nvSpPr>
              <p:cNvPr id="63508" name="Oval 16"/>
              <p:cNvSpPr>
                <a:spLocks noChangeArrowheads="1"/>
              </p:cNvSpPr>
              <p:nvPr/>
            </p:nvSpPr>
            <p:spPr bwMode="auto">
              <a:xfrm>
                <a:off x="8040216" y="2651224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09" name="Oval 18"/>
              <p:cNvSpPr>
                <a:spLocks noChangeArrowheads="1"/>
              </p:cNvSpPr>
              <p:nvPr/>
            </p:nvSpPr>
            <p:spPr bwMode="auto">
              <a:xfrm>
                <a:off x="9984903" y="2651224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10" name="Oval 19"/>
              <p:cNvSpPr>
                <a:spLocks noChangeArrowheads="1"/>
              </p:cNvSpPr>
              <p:nvPr/>
            </p:nvSpPr>
            <p:spPr bwMode="auto">
              <a:xfrm>
                <a:off x="10632603" y="2651224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1" name="Oval 8"/>
              <p:cNvSpPr>
                <a:spLocks noChangeArrowheads="1"/>
              </p:cNvSpPr>
              <p:nvPr/>
            </p:nvSpPr>
            <p:spPr bwMode="auto">
              <a:xfrm>
                <a:off x="9335665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2" name="Oval 10"/>
              <p:cNvSpPr>
                <a:spLocks noChangeArrowheads="1"/>
              </p:cNvSpPr>
              <p:nvPr/>
            </p:nvSpPr>
            <p:spPr bwMode="auto">
              <a:xfrm>
                <a:off x="8686378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957646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Список списков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</a:t>
            </a:r>
            <a:r>
              <a:rPr lang="en-US" dirty="0"/>
              <a:t>(#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endParaRPr lang="en-US" dirty="0"/>
          </a:p>
          <a:p>
            <a:r>
              <a:rPr lang="ru-RU" dirty="0"/>
              <a:t>Раскрашивание</a:t>
            </a:r>
          </a:p>
          <a:p>
            <a:pPr lvl="1"/>
            <a:r>
              <a:rPr lang="ru-RU" dirty="0"/>
              <a:t>для каждого элемента храним его «цвет»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endParaRPr lang="en-US" dirty="0"/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Бережное раскрашивание</a:t>
            </a:r>
          </a:p>
          <a:p>
            <a:pPr lvl="1"/>
            <a:r>
              <a:rPr lang="ru-RU" dirty="0"/>
              <a:t>перекрашиваем элементы из меньшего множества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 = # </a:t>
            </a:r>
            <a:r>
              <a:rPr lang="ru-RU" dirty="0">
                <a:solidFill>
                  <a:schemeClr val="bg1"/>
                </a:solidFill>
              </a:rPr>
              <a:t>элементов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 </a:t>
            </a:r>
            <a:r>
              <a:rPr lang="ru-RU" dirty="0">
                <a:solidFill>
                  <a:schemeClr val="bg1"/>
                </a:solidFill>
              </a:rPr>
              <a:t>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Пусть элемент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побывал в множествах </a:t>
            </a: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  <a:r>
              <a:rPr lang="ru-RU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bg1"/>
                </a:solidFill>
              </a:rPr>
              <a:t>{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}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ru-RU" baseline="-250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…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= {</a:t>
            </a:r>
            <a:r>
              <a:rPr lang="ru-RU" dirty="0">
                <a:solidFill>
                  <a:schemeClr val="bg1"/>
                </a:solidFill>
              </a:rPr>
              <a:t> все элементы </a:t>
            </a:r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Поскольку перекрашиваем меньшее множество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2 * мощность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≤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мощность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i+1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Цвет </a:t>
            </a:r>
            <a:r>
              <a:rPr lang="en-US" dirty="0">
                <a:solidFill>
                  <a:schemeClr val="bg1"/>
                </a:solidFill>
              </a:rPr>
              <a:t>x </a:t>
            </a:r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n &lt;= log(N) </a:t>
            </a:r>
            <a:r>
              <a:rPr lang="ru-RU" dirty="0">
                <a:solidFill>
                  <a:schemeClr val="bg1"/>
                </a:solidFill>
              </a:rPr>
              <a:t>раз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На все элементы потратим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grpSp>
        <p:nvGrpSpPr>
          <p:cNvPr id="12" name="Группа 11"/>
          <p:cNvGrpSpPr/>
          <p:nvPr/>
        </p:nvGrpSpPr>
        <p:grpSpPr>
          <a:xfrm>
            <a:off x="983432" y="5132319"/>
            <a:ext cx="3857146" cy="923330"/>
            <a:chOff x="889193" y="4750800"/>
            <a:chExt cx="3857146" cy="923330"/>
          </a:xfrm>
        </p:grpSpPr>
        <p:sp>
          <p:nvSpPr>
            <p:cNvPr id="4" name="TextBox 3"/>
            <p:cNvSpPr txBox="1"/>
            <p:nvPr/>
          </p:nvSpPr>
          <p:spPr>
            <a:xfrm>
              <a:off x="889193" y="4750800"/>
              <a:ext cx="385714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MergeSets</a:t>
              </a:r>
              <a:r>
                <a:rPr lang="en-US" dirty="0">
                  <a:latin typeface="Consolas" panose="020B0609020204030204" pitchFamily="49" charset="0"/>
                </a:rPr>
                <a:t>(                  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yellow,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green) =</a:t>
              </a:r>
              <a:endParaRPr lang="ru-RU" dirty="0">
                <a:latin typeface="Consolas" panose="020B0609020204030204" pitchFamily="49" charset="0"/>
              </a:endParaRPr>
            </a:p>
          </p:txBody>
        </p:sp>
        <p:grpSp>
          <p:nvGrpSpPr>
            <p:cNvPr id="6" name="Группа 5"/>
            <p:cNvGrpSpPr/>
            <p:nvPr/>
          </p:nvGrpSpPr>
          <p:grpSpPr>
            <a:xfrm>
              <a:off x="2221118" y="4786875"/>
              <a:ext cx="2161764" cy="323782"/>
              <a:chOff x="8040216" y="1609113"/>
              <a:chExt cx="3097212" cy="431800"/>
            </a:xfrm>
          </p:grpSpPr>
          <p:sp>
            <p:nvSpPr>
              <p:cNvPr id="63521" name="Oval 8"/>
              <p:cNvSpPr>
                <a:spLocks noChangeArrowheads="1"/>
              </p:cNvSpPr>
              <p:nvPr/>
            </p:nvSpPr>
            <p:spPr bwMode="auto">
              <a:xfrm>
                <a:off x="9337203" y="1609113"/>
                <a:ext cx="504825" cy="431800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2" name="Oval 9"/>
              <p:cNvSpPr>
                <a:spLocks noChangeArrowheads="1"/>
              </p:cNvSpPr>
              <p:nvPr/>
            </p:nvSpPr>
            <p:spPr bwMode="auto">
              <a:xfrm>
                <a:off x="8040216" y="1609113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3" name="Oval 10"/>
              <p:cNvSpPr>
                <a:spLocks noChangeArrowheads="1"/>
              </p:cNvSpPr>
              <p:nvPr/>
            </p:nvSpPr>
            <p:spPr bwMode="auto">
              <a:xfrm>
                <a:off x="8687916" y="1609113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4" name="Oval 11"/>
              <p:cNvSpPr>
                <a:spLocks noChangeArrowheads="1"/>
              </p:cNvSpPr>
              <p:nvPr/>
            </p:nvSpPr>
            <p:spPr bwMode="auto">
              <a:xfrm>
                <a:off x="9984903" y="1609113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5" name="Oval 12"/>
              <p:cNvSpPr>
                <a:spLocks noChangeArrowheads="1"/>
              </p:cNvSpPr>
              <p:nvPr/>
            </p:nvSpPr>
            <p:spPr bwMode="auto">
              <a:xfrm>
                <a:off x="10632603" y="1609113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7" name="Группа 6"/>
            <p:cNvGrpSpPr/>
            <p:nvPr/>
          </p:nvGrpSpPr>
          <p:grpSpPr>
            <a:xfrm>
              <a:off x="2547170" y="5319092"/>
              <a:ext cx="2072814" cy="308182"/>
              <a:chOff x="8040216" y="2651224"/>
              <a:chExt cx="3097212" cy="439738"/>
            </a:xfrm>
          </p:grpSpPr>
          <p:sp>
            <p:nvSpPr>
              <p:cNvPr id="63508" name="Oval 16"/>
              <p:cNvSpPr>
                <a:spLocks noChangeArrowheads="1"/>
              </p:cNvSpPr>
              <p:nvPr/>
            </p:nvSpPr>
            <p:spPr bwMode="auto">
              <a:xfrm>
                <a:off x="8040216" y="2651224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09" name="Oval 18"/>
              <p:cNvSpPr>
                <a:spLocks noChangeArrowheads="1"/>
              </p:cNvSpPr>
              <p:nvPr/>
            </p:nvSpPr>
            <p:spPr bwMode="auto">
              <a:xfrm>
                <a:off x="9984903" y="2651224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10" name="Oval 19"/>
              <p:cNvSpPr>
                <a:spLocks noChangeArrowheads="1"/>
              </p:cNvSpPr>
              <p:nvPr/>
            </p:nvSpPr>
            <p:spPr bwMode="auto">
              <a:xfrm>
                <a:off x="10632603" y="2651224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1" name="Oval 8"/>
              <p:cNvSpPr>
                <a:spLocks noChangeArrowheads="1"/>
              </p:cNvSpPr>
              <p:nvPr/>
            </p:nvSpPr>
            <p:spPr bwMode="auto">
              <a:xfrm>
                <a:off x="9335665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2" name="Oval 10"/>
              <p:cNvSpPr>
                <a:spLocks noChangeArrowheads="1"/>
              </p:cNvSpPr>
              <p:nvPr/>
            </p:nvSpPr>
            <p:spPr bwMode="auto">
              <a:xfrm>
                <a:off x="8686378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6515692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Список списков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</a:t>
            </a:r>
            <a:r>
              <a:rPr lang="en-US" dirty="0"/>
              <a:t>(#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endParaRPr lang="en-US" dirty="0"/>
          </a:p>
          <a:p>
            <a:r>
              <a:rPr lang="ru-RU" dirty="0"/>
              <a:t>Раскрашивание</a:t>
            </a:r>
          </a:p>
          <a:p>
            <a:pPr lvl="1"/>
            <a:r>
              <a:rPr lang="ru-RU" dirty="0"/>
              <a:t>для каждого элемента храним его «цвет»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endParaRPr lang="en-US" dirty="0"/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Бережное раскрашивание</a:t>
            </a:r>
          </a:p>
          <a:p>
            <a:pPr lvl="1"/>
            <a:r>
              <a:rPr lang="ru-RU" dirty="0"/>
              <a:t>перекрашиваем элементы из меньшего множества</a:t>
            </a:r>
          </a:p>
          <a:p>
            <a:pPr lvl="1"/>
            <a:r>
              <a:rPr lang="en-US" dirty="0"/>
              <a:t>N = # </a:t>
            </a:r>
            <a:r>
              <a:rPr lang="ru-RU" dirty="0"/>
              <a:t>элементов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 </a:t>
            </a:r>
            <a:r>
              <a:rPr lang="ru-RU" dirty="0">
                <a:solidFill>
                  <a:schemeClr val="bg1"/>
                </a:solidFill>
              </a:rPr>
              <a:t>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Пусть элемент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побывал в множествах </a:t>
            </a: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  <a:r>
              <a:rPr lang="ru-RU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bg1"/>
                </a:solidFill>
              </a:rPr>
              <a:t>{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}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ru-RU" baseline="-250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…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= {</a:t>
            </a:r>
            <a:r>
              <a:rPr lang="ru-RU" dirty="0">
                <a:solidFill>
                  <a:schemeClr val="bg1"/>
                </a:solidFill>
              </a:rPr>
              <a:t> все элементы </a:t>
            </a:r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Поскольку перекрашиваем меньшее множество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2 * мощность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≤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мощность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i+1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Цвет </a:t>
            </a:r>
            <a:r>
              <a:rPr lang="en-US" dirty="0">
                <a:solidFill>
                  <a:schemeClr val="bg1"/>
                </a:solidFill>
              </a:rPr>
              <a:t>x </a:t>
            </a:r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n &lt;= log(N) </a:t>
            </a:r>
            <a:r>
              <a:rPr lang="ru-RU" dirty="0">
                <a:solidFill>
                  <a:schemeClr val="bg1"/>
                </a:solidFill>
              </a:rPr>
              <a:t>раз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На все элементы потратим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/>
          </a:p>
          <a:p>
            <a:endParaRPr lang="ru-RU" dirty="0"/>
          </a:p>
        </p:txBody>
      </p:sp>
      <p:grpSp>
        <p:nvGrpSpPr>
          <p:cNvPr id="12" name="Группа 11"/>
          <p:cNvGrpSpPr/>
          <p:nvPr/>
        </p:nvGrpSpPr>
        <p:grpSpPr>
          <a:xfrm>
            <a:off x="983432" y="5132319"/>
            <a:ext cx="3857146" cy="923330"/>
            <a:chOff x="889193" y="4750800"/>
            <a:chExt cx="3857146" cy="923330"/>
          </a:xfrm>
        </p:grpSpPr>
        <p:sp>
          <p:nvSpPr>
            <p:cNvPr id="4" name="TextBox 3"/>
            <p:cNvSpPr txBox="1"/>
            <p:nvPr/>
          </p:nvSpPr>
          <p:spPr>
            <a:xfrm>
              <a:off x="889193" y="4750800"/>
              <a:ext cx="385714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MergeSets</a:t>
              </a:r>
              <a:r>
                <a:rPr lang="en-US" dirty="0">
                  <a:latin typeface="Consolas" panose="020B0609020204030204" pitchFamily="49" charset="0"/>
                </a:rPr>
                <a:t>(                  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yellow,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green) =</a:t>
              </a:r>
              <a:endParaRPr lang="ru-RU" dirty="0">
                <a:latin typeface="Consolas" panose="020B0609020204030204" pitchFamily="49" charset="0"/>
              </a:endParaRPr>
            </a:p>
          </p:txBody>
        </p:sp>
        <p:grpSp>
          <p:nvGrpSpPr>
            <p:cNvPr id="6" name="Группа 5"/>
            <p:cNvGrpSpPr/>
            <p:nvPr/>
          </p:nvGrpSpPr>
          <p:grpSpPr>
            <a:xfrm>
              <a:off x="2221118" y="4786875"/>
              <a:ext cx="2161764" cy="323782"/>
              <a:chOff x="8040216" y="1609113"/>
              <a:chExt cx="3097212" cy="431800"/>
            </a:xfrm>
          </p:grpSpPr>
          <p:sp>
            <p:nvSpPr>
              <p:cNvPr id="63521" name="Oval 8"/>
              <p:cNvSpPr>
                <a:spLocks noChangeArrowheads="1"/>
              </p:cNvSpPr>
              <p:nvPr/>
            </p:nvSpPr>
            <p:spPr bwMode="auto">
              <a:xfrm>
                <a:off x="9337203" y="1609113"/>
                <a:ext cx="504825" cy="431800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2" name="Oval 9"/>
              <p:cNvSpPr>
                <a:spLocks noChangeArrowheads="1"/>
              </p:cNvSpPr>
              <p:nvPr/>
            </p:nvSpPr>
            <p:spPr bwMode="auto">
              <a:xfrm>
                <a:off x="8040216" y="1609113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3" name="Oval 10"/>
              <p:cNvSpPr>
                <a:spLocks noChangeArrowheads="1"/>
              </p:cNvSpPr>
              <p:nvPr/>
            </p:nvSpPr>
            <p:spPr bwMode="auto">
              <a:xfrm>
                <a:off x="8687916" y="1609113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4" name="Oval 11"/>
              <p:cNvSpPr>
                <a:spLocks noChangeArrowheads="1"/>
              </p:cNvSpPr>
              <p:nvPr/>
            </p:nvSpPr>
            <p:spPr bwMode="auto">
              <a:xfrm>
                <a:off x="9984903" y="1609113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5" name="Oval 12"/>
              <p:cNvSpPr>
                <a:spLocks noChangeArrowheads="1"/>
              </p:cNvSpPr>
              <p:nvPr/>
            </p:nvSpPr>
            <p:spPr bwMode="auto">
              <a:xfrm>
                <a:off x="10632603" y="1609113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7" name="Группа 6"/>
            <p:cNvGrpSpPr/>
            <p:nvPr/>
          </p:nvGrpSpPr>
          <p:grpSpPr>
            <a:xfrm>
              <a:off x="2547170" y="5319092"/>
              <a:ext cx="2072814" cy="308182"/>
              <a:chOff x="8040216" y="2651224"/>
              <a:chExt cx="3097212" cy="439738"/>
            </a:xfrm>
          </p:grpSpPr>
          <p:sp>
            <p:nvSpPr>
              <p:cNvPr id="63508" name="Oval 16"/>
              <p:cNvSpPr>
                <a:spLocks noChangeArrowheads="1"/>
              </p:cNvSpPr>
              <p:nvPr/>
            </p:nvSpPr>
            <p:spPr bwMode="auto">
              <a:xfrm>
                <a:off x="8040216" y="2651224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09" name="Oval 18"/>
              <p:cNvSpPr>
                <a:spLocks noChangeArrowheads="1"/>
              </p:cNvSpPr>
              <p:nvPr/>
            </p:nvSpPr>
            <p:spPr bwMode="auto">
              <a:xfrm>
                <a:off x="9984903" y="2651224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10" name="Oval 19"/>
              <p:cNvSpPr>
                <a:spLocks noChangeArrowheads="1"/>
              </p:cNvSpPr>
              <p:nvPr/>
            </p:nvSpPr>
            <p:spPr bwMode="auto">
              <a:xfrm>
                <a:off x="10632603" y="2651224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1" name="Oval 8"/>
              <p:cNvSpPr>
                <a:spLocks noChangeArrowheads="1"/>
              </p:cNvSpPr>
              <p:nvPr/>
            </p:nvSpPr>
            <p:spPr bwMode="auto">
              <a:xfrm>
                <a:off x="9335665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2" name="Oval 10"/>
              <p:cNvSpPr>
                <a:spLocks noChangeArrowheads="1"/>
              </p:cNvSpPr>
              <p:nvPr/>
            </p:nvSpPr>
            <p:spPr bwMode="auto">
              <a:xfrm>
                <a:off x="8686378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934330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Список списков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</a:t>
            </a:r>
            <a:r>
              <a:rPr lang="en-US" dirty="0"/>
              <a:t>(#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endParaRPr lang="en-US" dirty="0"/>
          </a:p>
          <a:p>
            <a:r>
              <a:rPr lang="ru-RU" dirty="0"/>
              <a:t>Раскрашивание</a:t>
            </a:r>
          </a:p>
          <a:p>
            <a:pPr lvl="1"/>
            <a:r>
              <a:rPr lang="ru-RU" dirty="0"/>
              <a:t>для каждого элемента храним его «цвет»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endParaRPr lang="en-US" dirty="0"/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Бережное раскрашивание</a:t>
            </a:r>
          </a:p>
          <a:p>
            <a:pPr lvl="1"/>
            <a:r>
              <a:rPr lang="ru-RU" dirty="0"/>
              <a:t>перекрашиваем элементы из меньшего множества</a:t>
            </a:r>
          </a:p>
          <a:p>
            <a:pPr lvl="1"/>
            <a:r>
              <a:rPr lang="en-US" dirty="0"/>
              <a:t>N = # </a:t>
            </a:r>
            <a:r>
              <a:rPr lang="ru-RU" dirty="0"/>
              <a:t>элементов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O(</a:t>
            </a:r>
            <a:r>
              <a:rPr lang="en-US" dirty="0"/>
              <a:t>N</a:t>
            </a:r>
            <a:r>
              <a:rPr lang="ru-RU" dirty="0"/>
              <a:t>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– O(</a:t>
            </a:r>
            <a:r>
              <a:rPr lang="en-US" dirty="0">
                <a:solidFill>
                  <a:schemeClr val="bg1"/>
                </a:solidFill>
              </a:rPr>
              <a:t>N </a:t>
            </a:r>
            <a:r>
              <a:rPr lang="ru-RU" dirty="0">
                <a:solidFill>
                  <a:schemeClr val="bg1"/>
                </a:solidFill>
              </a:rPr>
              <a:t>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Пусть элемент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побывал в множествах </a:t>
            </a: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  <a:r>
              <a:rPr lang="ru-RU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bg1"/>
                </a:solidFill>
              </a:rPr>
              <a:t>{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}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ru-RU" baseline="-250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…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= {</a:t>
            </a:r>
            <a:r>
              <a:rPr lang="ru-RU" dirty="0">
                <a:solidFill>
                  <a:schemeClr val="bg1"/>
                </a:solidFill>
              </a:rPr>
              <a:t> все элементы </a:t>
            </a:r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Поскольку перекрашиваем меньшее множество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2 * мощность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≤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мощность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i+1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Цвет </a:t>
            </a:r>
            <a:r>
              <a:rPr lang="en-US" dirty="0">
                <a:solidFill>
                  <a:schemeClr val="bg1"/>
                </a:solidFill>
              </a:rPr>
              <a:t>x </a:t>
            </a:r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n &lt;= log(N) </a:t>
            </a:r>
            <a:r>
              <a:rPr lang="ru-RU" dirty="0">
                <a:solidFill>
                  <a:schemeClr val="bg1"/>
                </a:solidFill>
              </a:rPr>
              <a:t>раз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На все элементы потратим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/>
          </a:p>
        </p:txBody>
      </p:sp>
      <p:grpSp>
        <p:nvGrpSpPr>
          <p:cNvPr id="12" name="Группа 11"/>
          <p:cNvGrpSpPr/>
          <p:nvPr/>
        </p:nvGrpSpPr>
        <p:grpSpPr>
          <a:xfrm>
            <a:off x="983432" y="5132319"/>
            <a:ext cx="3857146" cy="923330"/>
            <a:chOff x="889193" y="4750800"/>
            <a:chExt cx="3857146" cy="923330"/>
          </a:xfrm>
        </p:grpSpPr>
        <p:sp>
          <p:nvSpPr>
            <p:cNvPr id="4" name="TextBox 3"/>
            <p:cNvSpPr txBox="1"/>
            <p:nvPr/>
          </p:nvSpPr>
          <p:spPr>
            <a:xfrm>
              <a:off x="889193" y="4750800"/>
              <a:ext cx="385714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MergeSets</a:t>
              </a:r>
              <a:r>
                <a:rPr lang="en-US" dirty="0">
                  <a:latin typeface="Consolas" panose="020B0609020204030204" pitchFamily="49" charset="0"/>
                </a:rPr>
                <a:t>(                  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yellow,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green) =</a:t>
              </a:r>
              <a:endParaRPr lang="ru-RU" dirty="0">
                <a:latin typeface="Consolas" panose="020B0609020204030204" pitchFamily="49" charset="0"/>
              </a:endParaRPr>
            </a:p>
          </p:txBody>
        </p:sp>
        <p:grpSp>
          <p:nvGrpSpPr>
            <p:cNvPr id="6" name="Группа 5"/>
            <p:cNvGrpSpPr/>
            <p:nvPr/>
          </p:nvGrpSpPr>
          <p:grpSpPr>
            <a:xfrm>
              <a:off x="2221118" y="4786875"/>
              <a:ext cx="2161764" cy="323782"/>
              <a:chOff x="8040216" y="1609113"/>
              <a:chExt cx="3097212" cy="431800"/>
            </a:xfrm>
          </p:grpSpPr>
          <p:sp>
            <p:nvSpPr>
              <p:cNvPr id="63521" name="Oval 8"/>
              <p:cNvSpPr>
                <a:spLocks noChangeArrowheads="1"/>
              </p:cNvSpPr>
              <p:nvPr/>
            </p:nvSpPr>
            <p:spPr bwMode="auto">
              <a:xfrm>
                <a:off x="9337203" y="1609113"/>
                <a:ext cx="504825" cy="431800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2" name="Oval 9"/>
              <p:cNvSpPr>
                <a:spLocks noChangeArrowheads="1"/>
              </p:cNvSpPr>
              <p:nvPr/>
            </p:nvSpPr>
            <p:spPr bwMode="auto">
              <a:xfrm>
                <a:off x="8040216" y="1609113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3" name="Oval 10"/>
              <p:cNvSpPr>
                <a:spLocks noChangeArrowheads="1"/>
              </p:cNvSpPr>
              <p:nvPr/>
            </p:nvSpPr>
            <p:spPr bwMode="auto">
              <a:xfrm>
                <a:off x="8687916" y="1609113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4" name="Oval 11"/>
              <p:cNvSpPr>
                <a:spLocks noChangeArrowheads="1"/>
              </p:cNvSpPr>
              <p:nvPr/>
            </p:nvSpPr>
            <p:spPr bwMode="auto">
              <a:xfrm>
                <a:off x="9984903" y="1609113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5" name="Oval 12"/>
              <p:cNvSpPr>
                <a:spLocks noChangeArrowheads="1"/>
              </p:cNvSpPr>
              <p:nvPr/>
            </p:nvSpPr>
            <p:spPr bwMode="auto">
              <a:xfrm>
                <a:off x="10632603" y="1609113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7" name="Группа 6"/>
            <p:cNvGrpSpPr/>
            <p:nvPr/>
          </p:nvGrpSpPr>
          <p:grpSpPr>
            <a:xfrm>
              <a:off x="2547170" y="5319092"/>
              <a:ext cx="2072814" cy="308182"/>
              <a:chOff x="8040216" y="2651224"/>
              <a:chExt cx="3097212" cy="439738"/>
            </a:xfrm>
          </p:grpSpPr>
          <p:sp>
            <p:nvSpPr>
              <p:cNvPr id="63508" name="Oval 16"/>
              <p:cNvSpPr>
                <a:spLocks noChangeArrowheads="1"/>
              </p:cNvSpPr>
              <p:nvPr/>
            </p:nvSpPr>
            <p:spPr bwMode="auto">
              <a:xfrm>
                <a:off x="8040216" y="2651224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09" name="Oval 18"/>
              <p:cNvSpPr>
                <a:spLocks noChangeArrowheads="1"/>
              </p:cNvSpPr>
              <p:nvPr/>
            </p:nvSpPr>
            <p:spPr bwMode="auto">
              <a:xfrm>
                <a:off x="9984903" y="2651224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10" name="Oval 19"/>
              <p:cNvSpPr>
                <a:spLocks noChangeArrowheads="1"/>
              </p:cNvSpPr>
              <p:nvPr/>
            </p:nvSpPr>
            <p:spPr bwMode="auto">
              <a:xfrm>
                <a:off x="10632603" y="2651224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1" name="Oval 8"/>
              <p:cNvSpPr>
                <a:spLocks noChangeArrowheads="1"/>
              </p:cNvSpPr>
              <p:nvPr/>
            </p:nvSpPr>
            <p:spPr bwMode="auto">
              <a:xfrm>
                <a:off x="9335665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2" name="Oval 10"/>
              <p:cNvSpPr>
                <a:spLocks noChangeArrowheads="1"/>
              </p:cNvSpPr>
              <p:nvPr/>
            </p:nvSpPr>
            <p:spPr bwMode="auto">
              <a:xfrm>
                <a:off x="8686378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460394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Список списков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</a:t>
            </a:r>
            <a:r>
              <a:rPr lang="en-US" dirty="0"/>
              <a:t>(#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endParaRPr lang="en-US" dirty="0"/>
          </a:p>
          <a:p>
            <a:r>
              <a:rPr lang="ru-RU" dirty="0"/>
              <a:t>Раскрашивание</a:t>
            </a:r>
          </a:p>
          <a:p>
            <a:pPr lvl="1"/>
            <a:r>
              <a:rPr lang="ru-RU" dirty="0"/>
              <a:t>для каждого элемента храним его «цвет»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endParaRPr lang="en-US" dirty="0"/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Бережное раскрашивание</a:t>
            </a:r>
          </a:p>
          <a:p>
            <a:pPr lvl="1"/>
            <a:r>
              <a:rPr lang="ru-RU" dirty="0"/>
              <a:t>перекрашиваем элементы из меньшего множества</a:t>
            </a:r>
          </a:p>
          <a:p>
            <a:pPr lvl="1"/>
            <a:r>
              <a:rPr lang="en-US" dirty="0"/>
              <a:t>N = # </a:t>
            </a:r>
            <a:r>
              <a:rPr lang="ru-RU" dirty="0"/>
              <a:t>элементов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O(</a:t>
            </a:r>
            <a:r>
              <a:rPr lang="en-US" dirty="0"/>
              <a:t>N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N </a:t>
            </a:r>
            <a:r>
              <a:rPr lang="ru-RU" dirty="0"/>
              <a:t>* </a:t>
            </a:r>
            <a:r>
              <a:rPr lang="ru-RU" dirty="0" err="1"/>
              <a:t>log</a:t>
            </a:r>
            <a:r>
              <a:rPr lang="ru-RU" dirty="0"/>
              <a:t> </a:t>
            </a:r>
            <a:r>
              <a:rPr lang="en-US" dirty="0"/>
              <a:t>N</a:t>
            </a:r>
            <a:r>
              <a:rPr lang="ru-RU" dirty="0"/>
              <a:t>)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Пусть элемент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побывал в множествах </a:t>
            </a: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US" baseline="-25000" dirty="0">
                <a:solidFill>
                  <a:schemeClr val="bg1"/>
                </a:solidFill>
              </a:rPr>
              <a:t>1</a:t>
            </a:r>
            <a:r>
              <a:rPr lang="ru-RU" dirty="0">
                <a:solidFill>
                  <a:schemeClr val="bg1"/>
                </a:solidFill>
              </a:rPr>
              <a:t> = </a:t>
            </a:r>
            <a:r>
              <a:rPr lang="en-US" dirty="0">
                <a:solidFill>
                  <a:schemeClr val="bg1"/>
                </a:solidFill>
              </a:rPr>
              <a:t>{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}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2</a:t>
            </a:r>
            <a:r>
              <a:rPr lang="ru-RU" baseline="-250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…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sym typeface="Symbol" panose="05050102010706020507" pitchFamily="18" charset="2"/>
              </a:rPr>
              <a:t>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n</a:t>
            </a:r>
            <a:r>
              <a:rPr lang="en-US" dirty="0">
                <a:solidFill>
                  <a:schemeClr val="bg1"/>
                </a:solidFill>
              </a:rPr>
              <a:t> = {</a:t>
            </a:r>
            <a:r>
              <a:rPr lang="ru-RU" dirty="0">
                <a:solidFill>
                  <a:schemeClr val="bg1"/>
                </a:solidFill>
              </a:rPr>
              <a:t> все элементы </a:t>
            </a:r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Поскольку перекрашиваем меньшее множество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2 * мощность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≤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мощность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i+1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Цвет </a:t>
            </a:r>
            <a:r>
              <a:rPr lang="en-US" dirty="0">
                <a:solidFill>
                  <a:schemeClr val="bg1"/>
                </a:solidFill>
              </a:rPr>
              <a:t>x </a:t>
            </a:r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n &lt;= log(N) </a:t>
            </a:r>
            <a:r>
              <a:rPr lang="ru-RU" dirty="0">
                <a:solidFill>
                  <a:schemeClr val="bg1"/>
                </a:solidFill>
              </a:rPr>
              <a:t>раз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На все элементы потратим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grpSp>
        <p:nvGrpSpPr>
          <p:cNvPr id="12" name="Группа 11"/>
          <p:cNvGrpSpPr/>
          <p:nvPr/>
        </p:nvGrpSpPr>
        <p:grpSpPr>
          <a:xfrm>
            <a:off x="983432" y="5132319"/>
            <a:ext cx="3857146" cy="923330"/>
            <a:chOff x="889193" y="4750800"/>
            <a:chExt cx="3857146" cy="923330"/>
          </a:xfrm>
        </p:grpSpPr>
        <p:sp>
          <p:nvSpPr>
            <p:cNvPr id="4" name="TextBox 3"/>
            <p:cNvSpPr txBox="1"/>
            <p:nvPr/>
          </p:nvSpPr>
          <p:spPr>
            <a:xfrm>
              <a:off x="889193" y="4750800"/>
              <a:ext cx="385714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MergeSets</a:t>
              </a:r>
              <a:r>
                <a:rPr lang="en-US" dirty="0">
                  <a:latin typeface="Consolas" panose="020B0609020204030204" pitchFamily="49" charset="0"/>
                </a:rPr>
                <a:t>(                  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yellow,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green) =</a:t>
              </a:r>
              <a:endParaRPr lang="ru-RU" dirty="0">
                <a:latin typeface="Consolas" panose="020B0609020204030204" pitchFamily="49" charset="0"/>
              </a:endParaRPr>
            </a:p>
          </p:txBody>
        </p:sp>
        <p:grpSp>
          <p:nvGrpSpPr>
            <p:cNvPr id="6" name="Группа 5"/>
            <p:cNvGrpSpPr/>
            <p:nvPr/>
          </p:nvGrpSpPr>
          <p:grpSpPr>
            <a:xfrm>
              <a:off x="2221118" y="4786875"/>
              <a:ext cx="2161764" cy="323782"/>
              <a:chOff x="8040216" y="1609113"/>
              <a:chExt cx="3097212" cy="431800"/>
            </a:xfrm>
          </p:grpSpPr>
          <p:sp>
            <p:nvSpPr>
              <p:cNvPr id="63521" name="Oval 8"/>
              <p:cNvSpPr>
                <a:spLocks noChangeArrowheads="1"/>
              </p:cNvSpPr>
              <p:nvPr/>
            </p:nvSpPr>
            <p:spPr bwMode="auto">
              <a:xfrm>
                <a:off x="9337203" y="1609113"/>
                <a:ext cx="504825" cy="431800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2" name="Oval 9"/>
              <p:cNvSpPr>
                <a:spLocks noChangeArrowheads="1"/>
              </p:cNvSpPr>
              <p:nvPr/>
            </p:nvSpPr>
            <p:spPr bwMode="auto">
              <a:xfrm>
                <a:off x="8040216" y="1609113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3" name="Oval 10"/>
              <p:cNvSpPr>
                <a:spLocks noChangeArrowheads="1"/>
              </p:cNvSpPr>
              <p:nvPr/>
            </p:nvSpPr>
            <p:spPr bwMode="auto">
              <a:xfrm>
                <a:off x="8687916" y="1609113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4" name="Oval 11"/>
              <p:cNvSpPr>
                <a:spLocks noChangeArrowheads="1"/>
              </p:cNvSpPr>
              <p:nvPr/>
            </p:nvSpPr>
            <p:spPr bwMode="auto">
              <a:xfrm>
                <a:off x="9984903" y="1609113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5" name="Oval 12"/>
              <p:cNvSpPr>
                <a:spLocks noChangeArrowheads="1"/>
              </p:cNvSpPr>
              <p:nvPr/>
            </p:nvSpPr>
            <p:spPr bwMode="auto">
              <a:xfrm>
                <a:off x="10632603" y="1609113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7" name="Группа 6"/>
            <p:cNvGrpSpPr/>
            <p:nvPr/>
          </p:nvGrpSpPr>
          <p:grpSpPr>
            <a:xfrm>
              <a:off x="2547170" y="5319092"/>
              <a:ext cx="2072814" cy="308182"/>
              <a:chOff x="8040216" y="2651224"/>
              <a:chExt cx="3097212" cy="439738"/>
            </a:xfrm>
          </p:grpSpPr>
          <p:sp>
            <p:nvSpPr>
              <p:cNvPr id="63508" name="Oval 16"/>
              <p:cNvSpPr>
                <a:spLocks noChangeArrowheads="1"/>
              </p:cNvSpPr>
              <p:nvPr/>
            </p:nvSpPr>
            <p:spPr bwMode="auto">
              <a:xfrm>
                <a:off x="8040216" y="2651224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09" name="Oval 18"/>
              <p:cNvSpPr>
                <a:spLocks noChangeArrowheads="1"/>
              </p:cNvSpPr>
              <p:nvPr/>
            </p:nvSpPr>
            <p:spPr bwMode="auto">
              <a:xfrm>
                <a:off x="9984903" y="2651224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10" name="Oval 19"/>
              <p:cNvSpPr>
                <a:spLocks noChangeArrowheads="1"/>
              </p:cNvSpPr>
              <p:nvPr/>
            </p:nvSpPr>
            <p:spPr bwMode="auto">
              <a:xfrm>
                <a:off x="10632603" y="2651224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1" name="Oval 8"/>
              <p:cNvSpPr>
                <a:spLocks noChangeArrowheads="1"/>
              </p:cNvSpPr>
              <p:nvPr/>
            </p:nvSpPr>
            <p:spPr bwMode="auto">
              <a:xfrm>
                <a:off x="9335665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2" name="Oval 10"/>
              <p:cNvSpPr>
                <a:spLocks noChangeArrowheads="1"/>
              </p:cNvSpPr>
              <p:nvPr/>
            </p:nvSpPr>
            <p:spPr bwMode="auto">
              <a:xfrm>
                <a:off x="8686378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2307642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Список списков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</a:t>
            </a:r>
            <a:r>
              <a:rPr lang="en-US" dirty="0"/>
              <a:t>(#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endParaRPr lang="en-US" dirty="0"/>
          </a:p>
          <a:p>
            <a:r>
              <a:rPr lang="ru-RU" dirty="0"/>
              <a:t>Раскрашивание</a:t>
            </a:r>
          </a:p>
          <a:p>
            <a:pPr lvl="1"/>
            <a:r>
              <a:rPr lang="ru-RU" dirty="0"/>
              <a:t>для каждого элемента храним его «цвет»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endParaRPr lang="en-US" dirty="0"/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Бережное раскрашивание</a:t>
            </a:r>
          </a:p>
          <a:p>
            <a:pPr lvl="1"/>
            <a:r>
              <a:rPr lang="ru-RU" dirty="0"/>
              <a:t>перекрашиваем элементы из меньшего множества</a:t>
            </a:r>
          </a:p>
          <a:p>
            <a:pPr lvl="1"/>
            <a:r>
              <a:rPr lang="en-US" dirty="0"/>
              <a:t>N = # </a:t>
            </a:r>
            <a:r>
              <a:rPr lang="ru-RU" dirty="0"/>
              <a:t>элементов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O(</a:t>
            </a:r>
            <a:r>
              <a:rPr lang="en-US" dirty="0"/>
              <a:t>N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N </a:t>
            </a:r>
            <a:r>
              <a:rPr lang="ru-RU" dirty="0"/>
              <a:t>* </a:t>
            </a:r>
            <a:r>
              <a:rPr lang="ru-RU" dirty="0" err="1"/>
              <a:t>log</a:t>
            </a:r>
            <a:r>
              <a:rPr lang="ru-RU" dirty="0"/>
              <a:t> </a:t>
            </a:r>
            <a:r>
              <a:rPr lang="en-US" dirty="0"/>
              <a:t>N</a:t>
            </a:r>
            <a:r>
              <a:rPr lang="ru-RU" dirty="0"/>
              <a:t>)</a:t>
            </a:r>
          </a:p>
          <a:p>
            <a:pPr lvl="2"/>
            <a:r>
              <a:rPr lang="ru-RU" dirty="0"/>
              <a:t>Пусть элемент </a:t>
            </a:r>
            <a:r>
              <a:rPr lang="en-US" dirty="0"/>
              <a:t>x</a:t>
            </a:r>
            <a:r>
              <a:rPr lang="ru-RU" dirty="0"/>
              <a:t> побывал в множествах </a:t>
            </a:r>
            <a:r>
              <a:rPr lang="en-US" dirty="0"/>
              <a:t>s</a:t>
            </a:r>
            <a:r>
              <a:rPr lang="en-US" baseline="-25000" dirty="0"/>
              <a:t>1</a:t>
            </a:r>
            <a:r>
              <a:rPr lang="ru-RU" dirty="0"/>
              <a:t> = </a:t>
            </a:r>
            <a:r>
              <a:rPr lang="en-US" dirty="0"/>
              <a:t>{</a:t>
            </a:r>
            <a:r>
              <a:rPr lang="ru-RU" dirty="0"/>
              <a:t> </a:t>
            </a:r>
            <a:r>
              <a:rPr lang="en-US" dirty="0"/>
              <a:t>x</a:t>
            </a:r>
            <a:r>
              <a:rPr lang="ru-RU" dirty="0"/>
              <a:t> </a:t>
            </a:r>
            <a:r>
              <a:rPr lang="en-US" dirty="0"/>
              <a:t>}</a:t>
            </a:r>
            <a:r>
              <a:rPr lang="ru-RU" dirty="0"/>
              <a:t> </a:t>
            </a:r>
            <a:r>
              <a:rPr lang="en-US" dirty="0">
                <a:sym typeface="Symbol" panose="05050102010706020507" pitchFamily="18" charset="2"/>
              </a:rPr>
              <a:t></a:t>
            </a:r>
            <a:r>
              <a:rPr lang="en-US" dirty="0"/>
              <a:t> s</a:t>
            </a:r>
            <a:r>
              <a:rPr lang="en-US" baseline="-25000" dirty="0"/>
              <a:t>2</a:t>
            </a:r>
            <a:r>
              <a:rPr lang="ru-RU" baseline="-25000" dirty="0"/>
              <a:t> </a:t>
            </a:r>
            <a:r>
              <a:rPr lang="en-US" dirty="0">
                <a:sym typeface="Symbol" panose="05050102010706020507" pitchFamily="18" charset="2"/>
              </a:rPr>
              <a:t></a:t>
            </a:r>
            <a:r>
              <a:rPr lang="en-US" dirty="0"/>
              <a:t> …</a:t>
            </a:r>
            <a:r>
              <a:rPr lang="ru-RU" dirty="0"/>
              <a:t> </a:t>
            </a:r>
            <a:r>
              <a:rPr lang="en-US" dirty="0">
                <a:sym typeface="Symbol" panose="05050102010706020507" pitchFamily="18" charset="2"/>
              </a:rPr>
              <a:t></a:t>
            </a:r>
            <a:r>
              <a:rPr lang="en-US" dirty="0"/>
              <a:t> </a:t>
            </a:r>
            <a:r>
              <a:rPr lang="en-US" dirty="0" err="1"/>
              <a:t>s</a:t>
            </a:r>
            <a:r>
              <a:rPr lang="en-US" baseline="-25000" dirty="0" err="1"/>
              <a:t>n</a:t>
            </a:r>
            <a:r>
              <a:rPr lang="en-US" dirty="0"/>
              <a:t> = {</a:t>
            </a:r>
            <a:r>
              <a:rPr lang="ru-RU" dirty="0"/>
              <a:t> все элементы </a:t>
            </a:r>
            <a:r>
              <a:rPr lang="en-US" dirty="0"/>
              <a:t>}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Поскольку перекрашиваем меньшее множество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2 * мощность 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baseline="-25000" dirty="0" err="1">
                <a:solidFill>
                  <a:schemeClr val="bg1"/>
                </a:solidFill>
              </a:rPr>
              <a:t>i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≤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мощность</a:t>
            </a:r>
            <a:r>
              <a:rPr lang="en-US" dirty="0">
                <a:solidFill>
                  <a:schemeClr val="bg1"/>
                </a:solidFill>
              </a:rPr>
              <a:t> s</a:t>
            </a:r>
            <a:r>
              <a:rPr lang="en-US" baseline="-25000" dirty="0">
                <a:solidFill>
                  <a:schemeClr val="bg1"/>
                </a:solidFill>
              </a:rPr>
              <a:t>i+1</a:t>
            </a:r>
            <a:endParaRPr lang="ru-RU" dirty="0">
              <a:solidFill>
                <a:schemeClr val="bg1"/>
              </a:solidFill>
            </a:endParaRPr>
          </a:p>
          <a:p>
            <a:pPr lvl="2"/>
            <a:r>
              <a:rPr lang="ru-RU" dirty="0">
                <a:solidFill>
                  <a:schemeClr val="bg1"/>
                </a:solidFill>
              </a:rPr>
              <a:t>Цвет </a:t>
            </a:r>
            <a:r>
              <a:rPr lang="en-US" dirty="0">
                <a:solidFill>
                  <a:schemeClr val="bg1"/>
                </a:solidFill>
              </a:rPr>
              <a:t>x </a:t>
            </a:r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n &lt;= log(N) </a:t>
            </a:r>
            <a:r>
              <a:rPr lang="ru-RU" dirty="0">
                <a:solidFill>
                  <a:schemeClr val="bg1"/>
                </a:solidFill>
              </a:rPr>
              <a:t>раз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На все элементы потратим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/>
          </a:p>
        </p:txBody>
      </p:sp>
      <p:grpSp>
        <p:nvGrpSpPr>
          <p:cNvPr id="12" name="Группа 11"/>
          <p:cNvGrpSpPr/>
          <p:nvPr/>
        </p:nvGrpSpPr>
        <p:grpSpPr>
          <a:xfrm>
            <a:off x="983432" y="5132319"/>
            <a:ext cx="3857146" cy="923330"/>
            <a:chOff x="889193" y="4750800"/>
            <a:chExt cx="3857146" cy="923330"/>
          </a:xfrm>
        </p:grpSpPr>
        <p:sp>
          <p:nvSpPr>
            <p:cNvPr id="4" name="TextBox 3"/>
            <p:cNvSpPr txBox="1"/>
            <p:nvPr/>
          </p:nvSpPr>
          <p:spPr>
            <a:xfrm>
              <a:off x="889193" y="4750800"/>
              <a:ext cx="385714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MergeSets</a:t>
              </a:r>
              <a:r>
                <a:rPr lang="en-US" dirty="0">
                  <a:latin typeface="Consolas" panose="020B0609020204030204" pitchFamily="49" charset="0"/>
                </a:rPr>
                <a:t>(                  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yellow,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green) =</a:t>
              </a:r>
              <a:endParaRPr lang="ru-RU" dirty="0">
                <a:latin typeface="Consolas" panose="020B0609020204030204" pitchFamily="49" charset="0"/>
              </a:endParaRPr>
            </a:p>
          </p:txBody>
        </p:sp>
        <p:grpSp>
          <p:nvGrpSpPr>
            <p:cNvPr id="6" name="Группа 5"/>
            <p:cNvGrpSpPr/>
            <p:nvPr/>
          </p:nvGrpSpPr>
          <p:grpSpPr>
            <a:xfrm>
              <a:off x="2221118" y="4786875"/>
              <a:ext cx="2161764" cy="323782"/>
              <a:chOff x="8040216" y="1609113"/>
              <a:chExt cx="3097212" cy="431800"/>
            </a:xfrm>
          </p:grpSpPr>
          <p:sp>
            <p:nvSpPr>
              <p:cNvPr id="63521" name="Oval 8"/>
              <p:cNvSpPr>
                <a:spLocks noChangeArrowheads="1"/>
              </p:cNvSpPr>
              <p:nvPr/>
            </p:nvSpPr>
            <p:spPr bwMode="auto">
              <a:xfrm>
                <a:off x="9337203" y="1609113"/>
                <a:ext cx="504825" cy="431800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2" name="Oval 9"/>
              <p:cNvSpPr>
                <a:spLocks noChangeArrowheads="1"/>
              </p:cNvSpPr>
              <p:nvPr/>
            </p:nvSpPr>
            <p:spPr bwMode="auto">
              <a:xfrm>
                <a:off x="8040216" y="1609113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3" name="Oval 10"/>
              <p:cNvSpPr>
                <a:spLocks noChangeArrowheads="1"/>
              </p:cNvSpPr>
              <p:nvPr/>
            </p:nvSpPr>
            <p:spPr bwMode="auto">
              <a:xfrm>
                <a:off x="8687916" y="1609113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4" name="Oval 11"/>
              <p:cNvSpPr>
                <a:spLocks noChangeArrowheads="1"/>
              </p:cNvSpPr>
              <p:nvPr/>
            </p:nvSpPr>
            <p:spPr bwMode="auto">
              <a:xfrm>
                <a:off x="9984903" y="1609113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5" name="Oval 12"/>
              <p:cNvSpPr>
                <a:spLocks noChangeArrowheads="1"/>
              </p:cNvSpPr>
              <p:nvPr/>
            </p:nvSpPr>
            <p:spPr bwMode="auto">
              <a:xfrm>
                <a:off x="10632603" y="1609113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7" name="Группа 6"/>
            <p:cNvGrpSpPr/>
            <p:nvPr/>
          </p:nvGrpSpPr>
          <p:grpSpPr>
            <a:xfrm>
              <a:off x="2547170" y="5319092"/>
              <a:ext cx="2072814" cy="308182"/>
              <a:chOff x="8040216" y="2651224"/>
              <a:chExt cx="3097212" cy="439738"/>
            </a:xfrm>
          </p:grpSpPr>
          <p:sp>
            <p:nvSpPr>
              <p:cNvPr id="63508" name="Oval 16"/>
              <p:cNvSpPr>
                <a:spLocks noChangeArrowheads="1"/>
              </p:cNvSpPr>
              <p:nvPr/>
            </p:nvSpPr>
            <p:spPr bwMode="auto">
              <a:xfrm>
                <a:off x="8040216" y="2651224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09" name="Oval 18"/>
              <p:cNvSpPr>
                <a:spLocks noChangeArrowheads="1"/>
              </p:cNvSpPr>
              <p:nvPr/>
            </p:nvSpPr>
            <p:spPr bwMode="auto">
              <a:xfrm>
                <a:off x="9984903" y="2651224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10" name="Oval 19"/>
              <p:cNvSpPr>
                <a:spLocks noChangeArrowheads="1"/>
              </p:cNvSpPr>
              <p:nvPr/>
            </p:nvSpPr>
            <p:spPr bwMode="auto">
              <a:xfrm>
                <a:off x="10632603" y="2651224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1" name="Oval 8"/>
              <p:cNvSpPr>
                <a:spLocks noChangeArrowheads="1"/>
              </p:cNvSpPr>
              <p:nvPr/>
            </p:nvSpPr>
            <p:spPr bwMode="auto">
              <a:xfrm>
                <a:off x="9335665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2" name="Oval 10"/>
              <p:cNvSpPr>
                <a:spLocks noChangeArrowheads="1"/>
              </p:cNvSpPr>
              <p:nvPr/>
            </p:nvSpPr>
            <p:spPr bwMode="auto">
              <a:xfrm>
                <a:off x="8686378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8930109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Список списков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</a:t>
            </a:r>
            <a:r>
              <a:rPr lang="en-US" dirty="0"/>
              <a:t>(#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endParaRPr lang="en-US" dirty="0"/>
          </a:p>
          <a:p>
            <a:r>
              <a:rPr lang="ru-RU" dirty="0"/>
              <a:t>Раскрашивание</a:t>
            </a:r>
          </a:p>
          <a:p>
            <a:pPr lvl="1"/>
            <a:r>
              <a:rPr lang="ru-RU" dirty="0"/>
              <a:t>для каждого элемента храним его «цвет»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endParaRPr lang="en-US" dirty="0"/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Бережное раскрашивание</a:t>
            </a:r>
          </a:p>
          <a:p>
            <a:pPr lvl="1"/>
            <a:r>
              <a:rPr lang="ru-RU" dirty="0"/>
              <a:t>перекрашиваем элементы из меньшего множества</a:t>
            </a:r>
          </a:p>
          <a:p>
            <a:pPr lvl="1"/>
            <a:r>
              <a:rPr lang="en-US" dirty="0"/>
              <a:t>N = # </a:t>
            </a:r>
            <a:r>
              <a:rPr lang="ru-RU" dirty="0"/>
              <a:t>элементов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O(</a:t>
            </a:r>
            <a:r>
              <a:rPr lang="en-US" dirty="0"/>
              <a:t>N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N </a:t>
            </a:r>
            <a:r>
              <a:rPr lang="ru-RU" dirty="0"/>
              <a:t>* </a:t>
            </a:r>
            <a:r>
              <a:rPr lang="ru-RU" dirty="0" err="1"/>
              <a:t>log</a:t>
            </a:r>
            <a:r>
              <a:rPr lang="ru-RU" dirty="0"/>
              <a:t> </a:t>
            </a:r>
            <a:r>
              <a:rPr lang="en-US" dirty="0"/>
              <a:t>N</a:t>
            </a:r>
            <a:r>
              <a:rPr lang="ru-RU" dirty="0"/>
              <a:t>)</a:t>
            </a:r>
          </a:p>
          <a:p>
            <a:pPr lvl="2"/>
            <a:r>
              <a:rPr lang="ru-RU" dirty="0"/>
              <a:t>Пусть элемент </a:t>
            </a:r>
            <a:r>
              <a:rPr lang="en-US" dirty="0"/>
              <a:t>x</a:t>
            </a:r>
            <a:r>
              <a:rPr lang="ru-RU" dirty="0"/>
              <a:t> побывал в множествах </a:t>
            </a:r>
            <a:r>
              <a:rPr lang="en-US" dirty="0"/>
              <a:t>s</a:t>
            </a:r>
            <a:r>
              <a:rPr lang="en-US" baseline="-25000" dirty="0"/>
              <a:t>1</a:t>
            </a:r>
            <a:r>
              <a:rPr lang="ru-RU" dirty="0"/>
              <a:t> = </a:t>
            </a:r>
            <a:r>
              <a:rPr lang="en-US" dirty="0"/>
              <a:t>{</a:t>
            </a:r>
            <a:r>
              <a:rPr lang="ru-RU" dirty="0"/>
              <a:t> </a:t>
            </a:r>
            <a:r>
              <a:rPr lang="en-US" dirty="0"/>
              <a:t>x</a:t>
            </a:r>
            <a:r>
              <a:rPr lang="ru-RU" dirty="0"/>
              <a:t> </a:t>
            </a:r>
            <a:r>
              <a:rPr lang="en-US" dirty="0"/>
              <a:t>}</a:t>
            </a:r>
            <a:r>
              <a:rPr lang="ru-RU" dirty="0"/>
              <a:t> </a:t>
            </a:r>
            <a:r>
              <a:rPr lang="en-US" dirty="0">
                <a:sym typeface="Symbol" panose="05050102010706020507" pitchFamily="18" charset="2"/>
              </a:rPr>
              <a:t></a:t>
            </a:r>
            <a:r>
              <a:rPr lang="en-US" dirty="0"/>
              <a:t> s</a:t>
            </a:r>
            <a:r>
              <a:rPr lang="en-US" baseline="-25000" dirty="0"/>
              <a:t>2</a:t>
            </a:r>
            <a:r>
              <a:rPr lang="ru-RU" baseline="-25000" dirty="0"/>
              <a:t> </a:t>
            </a:r>
            <a:r>
              <a:rPr lang="en-US" dirty="0">
                <a:sym typeface="Symbol" panose="05050102010706020507" pitchFamily="18" charset="2"/>
              </a:rPr>
              <a:t></a:t>
            </a:r>
            <a:r>
              <a:rPr lang="en-US" dirty="0"/>
              <a:t> …</a:t>
            </a:r>
            <a:r>
              <a:rPr lang="ru-RU" dirty="0"/>
              <a:t> </a:t>
            </a:r>
            <a:r>
              <a:rPr lang="en-US" dirty="0">
                <a:sym typeface="Symbol" panose="05050102010706020507" pitchFamily="18" charset="2"/>
              </a:rPr>
              <a:t></a:t>
            </a:r>
            <a:r>
              <a:rPr lang="en-US" dirty="0"/>
              <a:t> </a:t>
            </a:r>
            <a:r>
              <a:rPr lang="en-US" dirty="0" err="1"/>
              <a:t>s</a:t>
            </a:r>
            <a:r>
              <a:rPr lang="en-US" baseline="-25000" dirty="0" err="1"/>
              <a:t>n</a:t>
            </a:r>
            <a:r>
              <a:rPr lang="en-US" dirty="0"/>
              <a:t> = {</a:t>
            </a:r>
            <a:r>
              <a:rPr lang="ru-RU" dirty="0"/>
              <a:t> все элементы </a:t>
            </a:r>
            <a:r>
              <a:rPr lang="en-US" dirty="0"/>
              <a:t>}</a:t>
            </a:r>
          </a:p>
          <a:p>
            <a:pPr lvl="2"/>
            <a:r>
              <a:rPr lang="ru-RU" dirty="0"/>
              <a:t>Поскольку перекрашиваем меньшее множество</a:t>
            </a:r>
            <a:r>
              <a:rPr lang="en-US" dirty="0"/>
              <a:t>, </a:t>
            </a:r>
            <a:r>
              <a:rPr lang="ru-RU" dirty="0"/>
              <a:t>2 * мощность </a:t>
            </a:r>
            <a:r>
              <a:rPr lang="en-US" dirty="0" err="1"/>
              <a:t>s</a:t>
            </a:r>
            <a:r>
              <a:rPr lang="en-US" baseline="-25000" dirty="0" err="1"/>
              <a:t>i</a:t>
            </a:r>
            <a:r>
              <a:rPr lang="ru-RU" dirty="0"/>
              <a:t> </a:t>
            </a:r>
            <a:r>
              <a:rPr lang="ru-RU" dirty="0">
                <a:latin typeface="Consolas" panose="020B0609020204030204" pitchFamily="49" charset="0"/>
              </a:rPr>
              <a:t>≤</a:t>
            </a:r>
            <a:r>
              <a:rPr lang="en-US" dirty="0"/>
              <a:t> </a:t>
            </a:r>
            <a:r>
              <a:rPr lang="ru-RU" dirty="0"/>
              <a:t>мощность</a:t>
            </a:r>
            <a:r>
              <a:rPr lang="en-US" dirty="0"/>
              <a:t> s</a:t>
            </a:r>
            <a:r>
              <a:rPr lang="en-US" baseline="-25000" dirty="0"/>
              <a:t>i+1</a:t>
            </a:r>
            <a:endParaRPr lang="ru-RU" dirty="0"/>
          </a:p>
          <a:p>
            <a:pPr lvl="2"/>
            <a:r>
              <a:rPr lang="ru-RU" dirty="0">
                <a:solidFill>
                  <a:schemeClr val="bg1"/>
                </a:solidFill>
              </a:rPr>
              <a:t>Цвет </a:t>
            </a:r>
            <a:r>
              <a:rPr lang="en-US" dirty="0">
                <a:solidFill>
                  <a:schemeClr val="bg1"/>
                </a:solidFill>
              </a:rPr>
              <a:t>x </a:t>
            </a:r>
            <a:r>
              <a:rPr lang="ru-RU" dirty="0">
                <a:solidFill>
                  <a:schemeClr val="bg1"/>
                </a:solidFill>
              </a:rPr>
              <a:t>изменится </a:t>
            </a:r>
            <a:r>
              <a:rPr lang="en-US" dirty="0">
                <a:solidFill>
                  <a:schemeClr val="bg1"/>
                </a:solidFill>
              </a:rPr>
              <a:t>n &lt;= log(N) </a:t>
            </a:r>
            <a:r>
              <a:rPr lang="ru-RU" dirty="0">
                <a:solidFill>
                  <a:schemeClr val="bg1"/>
                </a:solidFill>
              </a:rPr>
              <a:t>раз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На все элементы потратим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/>
          </a:p>
        </p:txBody>
      </p:sp>
      <p:grpSp>
        <p:nvGrpSpPr>
          <p:cNvPr id="12" name="Группа 11"/>
          <p:cNvGrpSpPr/>
          <p:nvPr/>
        </p:nvGrpSpPr>
        <p:grpSpPr>
          <a:xfrm>
            <a:off x="983432" y="5132319"/>
            <a:ext cx="3857146" cy="923330"/>
            <a:chOff x="889193" y="4750800"/>
            <a:chExt cx="3857146" cy="923330"/>
          </a:xfrm>
        </p:grpSpPr>
        <p:sp>
          <p:nvSpPr>
            <p:cNvPr id="4" name="TextBox 3"/>
            <p:cNvSpPr txBox="1"/>
            <p:nvPr/>
          </p:nvSpPr>
          <p:spPr>
            <a:xfrm>
              <a:off x="889193" y="4750800"/>
              <a:ext cx="385714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MergeSets</a:t>
              </a:r>
              <a:r>
                <a:rPr lang="en-US" dirty="0">
                  <a:latin typeface="Consolas" panose="020B0609020204030204" pitchFamily="49" charset="0"/>
                </a:rPr>
                <a:t>(                  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yellow,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green) =</a:t>
              </a:r>
              <a:endParaRPr lang="ru-RU" dirty="0">
                <a:latin typeface="Consolas" panose="020B0609020204030204" pitchFamily="49" charset="0"/>
              </a:endParaRPr>
            </a:p>
          </p:txBody>
        </p:sp>
        <p:grpSp>
          <p:nvGrpSpPr>
            <p:cNvPr id="6" name="Группа 5"/>
            <p:cNvGrpSpPr/>
            <p:nvPr/>
          </p:nvGrpSpPr>
          <p:grpSpPr>
            <a:xfrm>
              <a:off x="2221118" y="4786875"/>
              <a:ext cx="2161764" cy="323782"/>
              <a:chOff x="8040216" y="1609113"/>
              <a:chExt cx="3097212" cy="431800"/>
            </a:xfrm>
          </p:grpSpPr>
          <p:sp>
            <p:nvSpPr>
              <p:cNvPr id="63521" name="Oval 8"/>
              <p:cNvSpPr>
                <a:spLocks noChangeArrowheads="1"/>
              </p:cNvSpPr>
              <p:nvPr/>
            </p:nvSpPr>
            <p:spPr bwMode="auto">
              <a:xfrm>
                <a:off x="9337203" y="1609113"/>
                <a:ext cx="504825" cy="431800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2" name="Oval 9"/>
              <p:cNvSpPr>
                <a:spLocks noChangeArrowheads="1"/>
              </p:cNvSpPr>
              <p:nvPr/>
            </p:nvSpPr>
            <p:spPr bwMode="auto">
              <a:xfrm>
                <a:off x="8040216" y="1609113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3" name="Oval 10"/>
              <p:cNvSpPr>
                <a:spLocks noChangeArrowheads="1"/>
              </p:cNvSpPr>
              <p:nvPr/>
            </p:nvSpPr>
            <p:spPr bwMode="auto">
              <a:xfrm>
                <a:off x="8687916" y="1609113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4" name="Oval 11"/>
              <p:cNvSpPr>
                <a:spLocks noChangeArrowheads="1"/>
              </p:cNvSpPr>
              <p:nvPr/>
            </p:nvSpPr>
            <p:spPr bwMode="auto">
              <a:xfrm>
                <a:off x="9984903" y="1609113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5" name="Oval 12"/>
              <p:cNvSpPr>
                <a:spLocks noChangeArrowheads="1"/>
              </p:cNvSpPr>
              <p:nvPr/>
            </p:nvSpPr>
            <p:spPr bwMode="auto">
              <a:xfrm>
                <a:off x="10632603" y="1609113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7" name="Группа 6"/>
            <p:cNvGrpSpPr/>
            <p:nvPr/>
          </p:nvGrpSpPr>
          <p:grpSpPr>
            <a:xfrm>
              <a:off x="2547170" y="5319092"/>
              <a:ext cx="2072814" cy="308182"/>
              <a:chOff x="8040216" y="2651224"/>
              <a:chExt cx="3097212" cy="439738"/>
            </a:xfrm>
          </p:grpSpPr>
          <p:sp>
            <p:nvSpPr>
              <p:cNvPr id="63508" name="Oval 16"/>
              <p:cNvSpPr>
                <a:spLocks noChangeArrowheads="1"/>
              </p:cNvSpPr>
              <p:nvPr/>
            </p:nvSpPr>
            <p:spPr bwMode="auto">
              <a:xfrm>
                <a:off x="8040216" y="2651224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09" name="Oval 18"/>
              <p:cNvSpPr>
                <a:spLocks noChangeArrowheads="1"/>
              </p:cNvSpPr>
              <p:nvPr/>
            </p:nvSpPr>
            <p:spPr bwMode="auto">
              <a:xfrm>
                <a:off x="9984903" y="2651224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10" name="Oval 19"/>
              <p:cNvSpPr>
                <a:spLocks noChangeArrowheads="1"/>
              </p:cNvSpPr>
              <p:nvPr/>
            </p:nvSpPr>
            <p:spPr bwMode="auto">
              <a:xfrm>
                <a:off x="10632603" y="2651224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1" name="Oval 8"/>
              <p:cNvSpPr>
                <a:spLocks noChangeArrowheads="1"/>
              </p:cNvSpPr>
              <p:nvPr/>
            </p:nvSpPr>
            <p:spPr bwMode="auto">
              <a:xfrm>
                <a:off x="9335665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2" name="Oval 10"/>
              <p:cNvSpPr>
                <a:spLocks noChangeArrowheads="1"/>
              </p:cNvSpPr>
              <p:nvPr/>
            </p:nvSpPr>
            <p:spPr bwMode="auto">
              <a:xfrm>
                <a:off x="8686378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131464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Список списков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</a:t>
            </a:r>
            <a:r>
              <a:rPr lang="en-US" dirty="0"/>
              <a:t>(#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endParaRPr lang="en-US" dirty="0"/>
          </a:p>
          <a:p>
            <a:r>
              <a:rPr lang="ru-RU" dirty="0"/>
              <a:t>Раскрашивание</a:t>
            </a:r>
          </a:p>
          <a:p>
            <a:pPr lvl="1"/>
            <a:r>
              <a:rPr lang="ru-RU" dirty="0"/>
              <a:t>для каждого элемента храним его «цвет»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endParaRPr lang="en-US" dirty="0"/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Бережное раскрашивание</a:t>
            </a:r>
          </a:p>
          <a:p>
            <a:pPr lvl="1"/>
            <a:r>
              <a:rPr lang="ru-RU" dirty="0"/>
              <a:t>перекрашиваем элементы из меньшего множества</a:t>
            </a:r>
          </a:p>
          <a:p>
            <a:pPr lvl="1"/>
            <a:r>
              <a:rPr lang="en-US" dirty="0"/>
              <a:t>N = # </a:t>
            </a:r>
            <a:r>
              <a:rPr lang="ru-RU" dirty="0"/>
              <a:t>элементов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O(</a:t>
            </a:r>
            <a:r>
              <a:rPr lang="en-US" dirty="0"/>
              <a:t>N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N </a:t>
            </a:r>
            <a:r>
              <a:rPr lang="ru-RU" dirty="0"/>
              <a:t>* </a:t>
            </a:r>
            <a:r>
              <a:rPr lang="ru-RU" dirty="0" err="1"/>
              <a:t>log</a:t>
            </a:r>
            <a:r>
              <a:rPr lang="ru-RU" dirty="0"/>
              <a:t> </a:t>
            </a:r>
            <a:r>
              <a:rPr lang="en-US" dirty="0"/>
              <a:t>N</a:t>
            </a:r>
            <a:r>
              <a:rPr lang="ru-RU" dirty="0"/>
              <a:t>)</a:t>
            </a:r>
          </a:p>
          <a:p>
            <a:pPr lvl="2"/>
            <a:r>
              <a:rPr lang="ru-RU" dirty="0"/>
              <a:t>Пусть элемент </a:t>
            </a:r>
            <a:r>
              <a:rPr lang="en-US" dirty="0"/>
              <a:t>x</a:t>
            </a:r>
            <a:r>
              <a:rPr lang="ru-RU" dirty="0"/>
              <a:t> побывал в множествах </a:t>
            </a:r>
            <a:r>
              <a:rPr lang="en-US" dirty="0"/>
              <a:t>s</a:t>
            </a:r>
            <a:r>
              <a:rPr lang="en-US" baseline="-25000" dirty="0"/>
              <a:t>1</a:t>
            </a:r>
            <a:r>
              <a:rPr lang="ru-RU" dirty="0"/>
              <a:t> = </a:t>
            </a:r>
            <a:r>
              <a:rPr lang="en-US" dirty="0"/>
              <a:t>{</a:t>
            </a:r>
            <a:r>
              <a:rPr lang="ru-RU" dirty="0"/>
              <a:t> </a:t>
            </a:r>
            <a:r>
              <a:rPr lang="en-US" dirty="0"/>
              <a:t>x</a:t>
            </a:r>
            <a:r>
              <a:rPr lang="ru-RU" dirty="0"/>
              <a:t> </a:t>
            </a:r>
            <a:r>
              <a:rPr lang="en-US" dirty="0"/>
              <a:t>}</a:t>
            </a:r>
            <a:r>
              <a:rPr lang="ru-RU" dirty="0"/>
              <a:t> </a:t>
            </a:r>
            <a:r>
              <a:rPr lang="en-US" dirty="0">
                <a:sym typeface="Symbol" panose="05050102010706020507" pitchFamily="18" charset="2"/>
              </a:rPr>
              <a:t></a:t>
            </a:r>
            <a:r>
              <a:rPr lang="en-US" dirty="0"/>
              <a:t> s</a:t>
            </a:r>
            <a:r>
              <a:rPr lang="en-US" baseline="-25000" dirty="0"/>
              <a:t>2</a:t>
            </a:r>
            <a:r>
              <a:rPr lang="ru-RU" baseline="-25000" dirty="0"/>
              <a:t> </a:t>
            </a:r>
            <a:r>
              <a:rPr lang="en-US" dirty="0">
                <a:sym typeface="Symbol" panose="05050102010706020507" pitchFamily="18" charset="2"/>
              </a:rPr>
              <a:t></a:t>
            </a:r>
            <a:r>
              <a:rPr lang="en-US" dirty="0"/>
              <a:t> …</a:t>
            </a:r>
            <a:r>
              <a:rPr lang="ru-RU" dirty="0"/>
              <a:t> </a:t>
            </a:r>
            <a:r>
              <a:rPr lang="en-US" dirty="0">
                <a:sym typeface="Symbol" panose="05050102010706020507" pitchFamily="18" charset="2"/>
              </a:rPr>
              <a:t></a:t>
            </a:r>
            <a:r>
              <a:rPr lang="en-US" dirty="0"/>
              <a:t> </a:t>
            </a:r>
            <a:r>
              <a:rPr lang="en-US" dirty="0" err="1"/>
              <a:t>s</a:t>
            </a:r>
            <a:r>
              <a:rPr lang="en-US" baseline="-25000" dirty="0" err="1"/>
              <a:t>n</a:t>
            </a:r>
            <a:r>
              <a:rPr lang="en-US" dirty="0"/>
              <a:t> = {</a:t>
            </a:r>
            <a:r>
              <a:rPr lang="ru-RU" dirty="0"/>
              <a:t> все элементы </a:t>
            </a:r>
            <a:r>
              <a:rPr lang="en-US" dirty="0"/>
              <a:t>}</a:t>
            </a:r>
          </a:p>
          <a:p>
            <a:pPr lvl="2"/>
            <a:r>
              <a:rPr lang="ru-RU" dirty="0"/>
              <a:t>Поскольку перекрашиваем меньшее множество</a:t>
            </a:r>
            <a:r>
              <a:rPr lang="en-US" dirty="0"/>
              <a:t>, </a:t>
            </a:r>
            <a:r>
              <a:rPr lang="ru-RU" dirty="0"/>
              <a:t>2 * мощность </a:t>
            </a:r>
            <a:r>
              <a:rPr lang="en-US" dirty="0" err="1"/>
              <a:t>s</a:t>
            </a:r>
            <a:r>
              <a:rPr lang="en-US" baseline="-25000" dirty="0" err="1"/>
              <a:t>i</a:t>
            </a:r>
            <a:r>
              <a:rPr lang="ru-RU" dirty="0"/>
              <a:t> </a:t>
            </a:r>
            <a:r>
              <a:rPr lang="ru-RU" dirty="0">
                <a:latin typeface="Consolas" panose="020B0609020204030204" pitchFamily="49" charset="0"/>
              </a:rPr>
              <a:t>≤</a:t>
            </a:r>
            <a:r>
              <a:rPr lang="en-US" dirty="0"/>
              <a:t> </a:t>
            </a:r>
            <a:r>
              <a:rPr lang="ru-RU" dirty="0"/>
              <a:t>мощность</a:t>
            </a:r>
            <a:r>
              <a:rPr lang="en-US" dirty="0"/>
              <a:t> s</a:t>
            </a:r>
            <a:r>
              <a:rPr lang="en-US" baseline="-25000" dirty="0"/>
              <a:t>i+1</a:t>
            </a:r>
            <a:endParaRPr lang="ru-RU" dirty="0"/>
          </a:p>
          <a:p>
            <a:pPr lvl="2"/>
            <a:r>
              <a:rPr lang="ru-RU" dirty="0"/>
              <a:t>Цвет </a:t>
            </a:r>
            <a:r>
              <a:rPr lang="en-US" dirty="0"/>
              <a:t>x </a:t>
            </a:r>
            <a:r>
              <a:rPr lang="ru-RU" dirty="0"/>
              <a:t>изменится </a:t>
            </a:r>
            <a:r>
              <a:rPr lang="en-US" dirty="0"/>
              <a:t>n &lt;= log(N) </a:t>
            </a:r>
            <a:r>
              <a:rPr lang="ru-RU" dirty="0"/>
              <a:t>раз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На все элементы потратим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ru-RU" dirty="0" err="1">
                <a:solidFill>
                  <a:schemeClr val="bg1"/>
                </a:solidFill>
              </a:rPr>
              <a:t>log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grpSp>
        <p:nvGrpSpPr>
          <p:cNvPr id="12" name="Группа 11"/>
          <p:cNvGrpSpPr/>
          <p:nvPr/>
        </p:nvGrpSpPr>
        <p:grpSpPr>
          <a:xfrm>
            <a:off x="983432" y="5132319"/>
            <a:ext cx="3857146" cy="923330"/>
            <a:chOff x="889193" y="4750800"/>
            <a:chExt cx="3857146" cy="923330"/>
          </a:xfrm>
        </p:grpSpPr>
        <p:sp>
          <p:nvSpPr>
            <p:cNvPr id="4" name="TextBox 3"/>
            <p:cNvSpPr txBox="1"/>
            <p:nvPr/>
          </p:nvSpPr>
          <p:spPr>
            <a:xfrm>
              <a:off x="889193" y="4750800"/>
              <a:ext cx="385714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MergeSets</a:t>
              </a:r>
              <a:r>
                <a:rPr lang="en-US" dirty="0">
                  <a:latin typeface="Consolas" panose="020B0609020204030204" pitchFamily="49" charset="0"/>
                </a:rPr>
                <a:t>(                  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yellow,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green) =</a:t>
              </a:r>
              <a:endParaRPr lang="ru-RU" dirty="0">
                <a:latin typeface="Consolas" panose="020B0609020204030204" pitchFamily="49" charset="0"/>
              </a:endParaRPr>
            </a:p>
          </p:txBody>
        </p:sp>
        <p:grpSp>
          <p:nvGrpSpPr>
            <p:cNvPr id="6" name="Группа 5"/>
            <p:cNvGrpSpPr/>
            <p:nvPr/>
          </p:nvGrpSpPr>
          <p:grpSpPr>
            <a:xfrm>
              <a:off x="2221118" y="4786875"/>
              <a:ext cx="2161764" cy="323782"/>
              <a:chOff x="8040216" y="1609113"/>
              <a:chExt cx="3097212" cy="431800"/>
            </a:xfrm>
          </p:grpSpPr>
          <p:sp>
            <p:nvSpPr>
              <p:cNvPr id="63521" name="Oval 8"/>
              <p:cNvSpPr>
                <a:spLocks noChangeArrowheads="1"/>
              </p:cNvSpPr>
              <p:nvPr/>
            </p:nvSpPr>
            <p:spPr bwMode="auto">
              <a:xfrm>
                <a:off x="9337203" y="1609113"/>
                <a:ext cx="504825" cy="431800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2" name="Oval 9"/>
              <p:cNvSpPr>
                <a:spLocks noChangeArrowheads="1"/>
              </p:cNvSpPr>
              <p:nvPr/>
            </p:nvSpPr>
            <p:spPr bwMode="auto">
              <a:xfrm>
                <a:off x="8040216" y="1609113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3" name="Oval 10"/>
              <p:cNvSpPr>
                <a:spLocks noChangeArrowheads="1"/>
              </p:cNvSpPr>
              <p:nvPr/>
            </p:nvSpPr>
            <p:spPr bwMode="auto">
              <a:xfrm>
                <a:off x="8687916" y="1609113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4" name="Oval 11"/>
              <p:cNvSpPr>
                <a:spLocks noChangeArrowheads="1"/>
              </p:cNvSpPr>
              <p:nvPr/>
            </p:nvSpPr>
            <p:spPr bwMode="auto">
              <a:xfrm>
                <a:off x="9984903" y="1609113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5" name="Oval 12"/>
              <p:cNvSpPr>
                <a:spLocks noChangeArrowheads="1"/>
              </p:cNvSpPr>
              <p:nvPr/>
            </p:nvSpPr>
            <p:spPr bwMode="auto">
              <a:xfrm>
                <a:off x="10632603" y="1609113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7" name="Группа 6"/>
            <p:cNvGrpSpPr/>
            <p:nvPr/>
          </p:nvGrpSpPr>
          <p:grpSpPr>
            <a:xfrm>
              <a:off x="2547170" y="5319092"/>
              <a:ext cx="2072814" cy="308182"/>
              <a:chOff x="8040216" y="2651224"/>
              <a:chExt cx="3097212" cy="439738"/>
            </a:xfrm>
          </p:grpSpPr>
          <p:sp>
            <p:nvSpPr>
              <p:cNvPr id="63508" name="Oval 16"/>
              <p:cNvSpPr>
                <a:spLocks noChangeArrowheads="1"/>
              </p:cNvSpPr>
              <p:nvPr/>
            </p:nvSpPr>
            <p:spPr bwMode="auto">
              <a:xfrm>
                <a:off x="8040216" y="2651224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09" name="Oval 18"/>
              <p:cNvSpPr>
                <a:spLocks noChangeArrowheads="1"/>
              </p:cNvSpPr>
              <p:nvPr/>
            </p:nvSpPr>
            <p:spPr bwMode="auto">
              <a:xfrm>
                <a:off x="9984903" y="2651224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10" name="Oval 19"/>
              <p:cNvSpPr>
                <a:spLocks noChangeArrowheads="1"/>
              </p:cNvSpPr>
              <p:nvPr/>
            </p:nvSpPr>
            <p:spPr bwMode="auto">
              <a:xfrm>
                <a:off x="10632603" y="2651224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1" name="Oval 8"/>
              <p:cNvSpPr>
                <a:spLocks noChangeArrowheads="1"/>
              </p:cNvSpPr>
              <p:nvPr/>
            </p:nvSpPr>
            <p:spPr bwMode="auto">
              <a:xfrm>
                <a:off x="9335665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2" name="Oval 10"/>
              <p:cNvSpPr>
                <a:spLocks noChangeArrowheads="1"/>
              </p:cNvSpPr>
              <p:nvPr/>
            </p:nvSpPr>
            <p:spPr bwMode="auto">
              <a:xfrm>
                <a:off x="8686378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502565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itchFamily="34" charset="0"/>
                <a:cs typeface="Calibri" pitchFamily="34" charset="0"/>
              </a:rPr>
              <a:t>Реализация СНМ на основе списка и массива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Список списков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</a:t>
            </a:r>
            <a:r>
              <a:rPr lang="en-US" dirty="0"/>
              <a:t>(#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endParaRPr lang="en-US" dirty="0"/>
          </a:p>
          <a:p>
            <a:r>
              <a:rPr lang="ru-RU" dirty="0"/>
              <a:t>Раскрашивание</a:t>
            </a:r>
          </a:p>
          <a:p>
            <a:pPr lvl="1"/>
            <a:r>
              <a:rPr lang="ru-RU" dirty="0"/>
              <a:t>для каждого элемента храним его «цвет»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# </a:t>
            </a:r>
            <a:r>
              <a:rPr lang="ru-RU" dirty="0"/>
              <a:t>элементов </a:t>
            </a:r>
            <a:r>
              <a:rPr lang="en-US" dirty="0"/>
              <a:t>^ 2</a:t>
            </a:r>
            <a:r>
              <a:rPr lang="ru-RU" dirty="0"/>
              <a:t>)</a:t>
            </a:r>
          </a:p>
          <a:p>
            <a:endParaRPr lang="en-US" dirty="0"/>
          </a:p>
        </p:txBody>
      </p:sp>
      <p:sp>
        <p:nvSpPr>
          <p:cNvPr id="11" name="Объект 10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Бережное раскрашивание</a:t>
            </a:r>
          </a:p>
          <a:p>
            <a:pPr lvl="1"/>
            <a:r>
              <a:rPr lang="ru-RU" dirty="0"/>
              <a:t>перекрашиваем элементы из меньшего множества</a:t>
            </a:r>
          </a:p>
          <a:p>
            <a:pPr lvl="1"/>
            <a:r>
              <a:rPr lang="en-US" dirty="0"/>
              <a:t>N = # </a:t>
            </a:r>
            <a:r>
              <a:rPr lang="ru-RU" dirty="0"/>
              <a:t>элементов</a:t>
            </a:r>
          </a:p>
          <a:p>
            <a:pPr lvl="1"/>
            <a:r>
              <a:rPr lang="ru-RU" dirty="0"/>
              <a:t>все </a:t>
            </a:r>
            <a:r>
              <a:rPr lang="ru-RU" dirty="0" err="1"/>
              <a:t>FindSet</a:t>
            </a:r>
            <a:r>
              <a:rPr lang="ru-RU" dirty="0"/>
              <a:t> – O(</a:t>
            </a:r>
            <a:r>
              <a:rPr lang="en-US" dirty="0"/>
              <a:t>N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– O(</a:t>
            </a:r>
            <a:r>
              <a:rPr lang="en-US" dirty="0"/>
              <a:t>N </a:t>
            </a:r>
            <a:r>
              <a:rPr lang="ru-RU" dirty="0"/>
              <a:t>* </a:t>
            </a:r>
            <a:r>
              <a:rPr lang="ru-RU" dirty="0" err="1"/>
              <a:t>log</a:t>
            </a:r>
            <a:r>
              <a:rPr lang="ru-RU" dirty="0"/>
              <a:t> </a:t>
            </a:r>
            <a:r>
              <a:rPr lang="en-US" dirty="0"/>
              <a:t>N</a:t>
            </a:r>
            <a:r>
              <a:rPr lang="ru-RU" dirty="0"/>
              <a:t>)</a:t>
            </a:r>
          </a:p>
          <a:p>
            <a:pPr lvl="2"/>
            <a:r>
              <a:rPr lang="ru-RU" dirty="0"/>
              <a:t>Пусть элемент </a:t>
            </a:r>
            <a:r>
              <a:rPr lang="en-US" dirty="0"/>
              <a:t>x</a:t>
            </a:r>
            <a:r>
              <a:rPr lang="ru-RU" dirty="0"/>
              <a:t> побывал в множествах </a:t>
            </a:r>
            <a:r>
              <a:rPr lang="en-US" dirty="0"/>
              <a:t>s</a:t>
            </a:r>
            <a:r>
              <a:rPr lang="en-US" baseline="-25000" dirty="0"/>
              <a:t>1</a:t>
            </a:r>
            <a:r>
              <a:rPr lang="ru-RU" dirty="0"/>
              <a:t> = </a:t>
            </a:r>
            <a:r>
              <a:rPr lang="en-US" dirty="0"/>
              <a:t>{</a:t>
            </a:r>
            <a:r>
              <a:rPr lang="ru-RU" dirty="0"/>
              <a:t> </a:t>
            </a:r>
            <a:r>
              <a:rPr lang="en-US" dirty="0"/>
              <a:t>x</a:t>
            </a:r>
            <a:r>
              <a:rPr lang="ru-RU" dirty="0"/>
              <a:t> </a:t>
            </a:r>
            <a:r>
              <a:rPr lang="en-US" dirty="0"/>
              <a:t>}</a:t>
            </a:r>
            <a:r>
              <a:rPr lang="ru-RU" dirty="0"/>
              <a:t> </a:t>
            </a:r>
            <a:r>
              <a:rPr lang="en-US" dirty="0">
                <a:sym typeface="Symbol" panose="05050102010706020507" pitchFamily="18" charset="2"/>
              </a:rPr>
              <a:t></a:t>
            </a:r>
            <a:r>
              <a:rPr lang="en-US" dirty="0"/>
              <a:t> s</a:t>
            </a:r>
            <a:r>
              <a:rPr lang="en-US" baseline="-25000" dirty="0"/>
              <a:t>2</a:t>
            </a:r>
            <a:r>
              <a:rPr lang="ru-RU" baseline="-25000" dirty="0"/>
              <a:t> </a:t>
            </a:r>
            <a:r>
              <a:rPr lang="en-US" dirty="0">
                <a:sym typeface="Symbol" panose="05050102010706020507" pitchFamily="18" charset="2"/>
              </a:rPr>
              <a:t></a:t>
            </a:r>
            <a:r>
              <a:rPr lang="en-US" dirty="0"/>
              <a:t> …</a:t>
            </a:r>
            <a:r>
              <a:rPr lang="ru-RU" dirty="0"/>
              <a:t> </a:t>
            </a:r>
            <a:r>
              <a:rPr lang="en-US" dirty="0">
                <a:sym typeface="Symbol" panose="05050102010706020507" pitchFamily="18" charset="2"/>
              </a:rPr>
              <a:t></a:t>
            </a:r>
            <a:r>
              <a:rPr lang="en-US" dirty="0"/>
              <a:t> </a:t>
            </a:r>
            <a:r>
              <a:rPr lang="en-US" dirty="0" err="1"/>
              <a:t>s</a:t>
            </a:r>
            <a:r>
              <a:rPr lang="en-US" baseline="-25000" dirty="0" err="1"/>
              <a:t>n</a:t>
            </a:r>
            <a:r>
              <a:rPr lang="en-US" dirty="0"/>
              <a:t> = {</a:t>
            </a:r>
            <a:r>
              <a:rPr lang="ru-RU" dirty="0"/>
              <a:t> все элементы </a:t>
            </a:r>
            <a:r>
              <a:rPr lang="en-US" dirty="0"/>
              <a:t>}</a:t>
            </a:r>
          </a:p>
          <a:p>
            <a:pPr lvl="2"/>
            <a:r>
              <a:rPr lang="ru-RU" dirty="0"/>
              <a:t>Поскольку перекрашиваем меньшее множество</a:t>
            </a:r>
            <a:r>
              <a:rPr lang="en-US" dirty="0"/>
              <a:t>, </a:t>
            </a:r>
            <a:r>
              <a:rPr lang="ru-RU" dirty="0"/>
              <a:t>2 * мощность </a:t>
            </a:r>
            <a:r>
              <a:rPr lang="en-US" dirty="0" err="1"/>
              <a:t>s</a:t>
            </a:r>
            <a:r>
              <a:rPr lang="en-US" baseline="-25000" dirty="0" err="1"/>
              <a:t>i</a:t>
            </a:r>
            <a:r>
              <a:rPr lang="ru-RU" dirty="0"/>
              <a:t> </a:t>
            </a:r>
            <a:r>
              <a:rPr lang="ru-RU" dirty="0">
                <a:latin typeface="Consolas" panose="020B0609020204030204" pitchFamily="49" charset="0"/>
              </a:rPr>
              <a:t>≤</a:t>
            </a:r>
            <a:r>
              <a:rPr lang="en-US" dirty="0"/>
              <a:t> </a:t>
            </a:r>
            <a:r>
              <a:rPr lang="ru-RU" dirty="0"/>
              <a:t>мощность</a:t>
            </a:r>
            <a:r>
              <a:rPr lang="en-US" dirty="0"/>
              <a:t> s</a:t>
            </a:r>
            <a:r>
              <a:rPr lang="en-US" baseline="-25000" dirty="0"/>
              <a:t>i+1</a:t>
            </a:r>
            <a:endParaRPr lang="ru-RU" dirty="0"/>
          </a:p>
          <a:p>
            <a:pPr lvl="2"/>
            <a:r>
              <a:rPr lang="ru-RU" dirty="0"/>
              <a:t>Цвет </a:t>
            </a:r>
            <a:r>
              <a:rPr lang="en-US" dirty="0"/>
              <a:t>x </a:t>
            </a:r>
            <a:r>
              <a:rPr lang="ru-RU" dirty="0"/>
              <a:t>изменится </a:t>
            </a:r>
            <a:r>
              <a:rPr lang="en-US" dirty="0"/>
              <a:t>n &lt;= log(N) </a:t>
            </a:r>
            <a:r>
              <a:rPr lang="ru-RU" dirty="0"/>
              <a:t>раз</a:t>
            </a:r>
          </a:p>
          <a:p>
            <a:pPr lvl="2"/>
            <a:r>
              <a:rPr lang="ru-RU" dirty="0"/>
              <a:t>На все элементы потратим O(</a:t>
            </a:r>
            <a:r>
              <a:rPr lang="en-US" dirty="0"/>
              <a:t>N</a:t>
            </a:r>
            <a:r>
              <a:rPr lang="ru-RU" dirty="0"/>
              <a:t> * </a:t>
            </a:r>
            <a:r>
              <a:rPr lang="ru-RU" dirty="0" err="1"/>
              <a:t>log</a:t>
            </a:r>
            <a:r>
              <a:rPr lang="ru-RU" dirty="0"/>
              <a:t> </a:t>
            </a:r>
            <a:r>
              <a:rPr lang="en-US" dirty="0"/>
              <a:t>N</a:t>
            </a:r>
            <a:r>
              <a:rPr lang="ru-RU" dirty="0"/>
              <a:t>)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grpSp>
        <p:nvGrpSpPr>
          <p:cNvPr id="12" name="Группа 11"/>
          <p:cNvGrpSpPr/>
          <p:nvPr/>
        </p:nvGrpSpPr>
        <p:grpSpPr>
          <a:xfrm>
            <a:off x="983432" y="5132319"/>
            <a:ext cx="3857146" cy="923330"/>
            <a:chOff x="889193" y="4750800"/>
            <a:chExt cx="3857146" cy="923330"/>
          </a:xfrm>
        </p:grpSpPr>
        <p:sp>
          <p:nvSpPr>
            <p:cNvPr id="4" name="TextBox 3"/>
            <p:cNvSpPr txBox="1"/>
            <p:nvPr/>
          </p:nvSpPr>
          <p:spPr>
            <a:xfrm>
              <a:off x="889193" y="4750800"/>
              <a:ext cx="385714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MergeSets</a:t>
              </a:r>
              <a:r>
                <a:rPr lang="en-US" dirty="0">
                  <a:latin typeface="Consolas" panose="020B0609020204030204" pitchFamily="49" charset="0"/>
                </a:rPr>
                <a:t>(                  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yellow,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    green) =</a:t>
              </a:r>
              <a:endParaRPr lang="ru-RU" dirty="0">
                <a:latin typeface="Consolas" panose="020B0609020204030204" pitchFamily="49" charset="0"/>
              </a:endParaRPr>
            </a:p>
          </p:txBody>
        </p:sp>
        <p:grpSp>
          <p:nvGrpSpPr>
            <p:cNvPr id="6" name="Группа 5"/>
            <p:cNvGrpSpPr/>
            <p:nvPr/>
          </p:nvGrpSpPr>
          <p:grpSpPr>
            <a:xfrm>
              <a:off x="2221118" y="4786875"/>
              <a:ext cx="2161764" cy="323782"/>
              <a:chOff x="8040216" y="1609113"/>
              <a:chExt cx="3097212" cy="431800"/>
            </a:xfrm>
          </p:grpSpPr>
          <p:sp>
            <p:nvSpPr>
              <p:cNvPr id="63521" name="Oval 8"/>
              <p:cNvSpPr>
                <a:spLocks noChangeArrowheads="1"/>
              </p:cNvSpPr>
              <p:nvPr/>
            </p:nvSpPr>
            <p:spPr bwMode="auto">
              <a:xfrm>
                <a:off x="9337203" y="1609113"/>
                <a:ext cx="504825" cy="431800"/>
              </a:xfrm>
              <a:prstGeom prst="ellipse">
                <a:avLst/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2" name="Oval 9"/>
              <p:cNvSpPr>
                <a:spLocks noChangeArrowheads="1"/>
              </p:cNvSpPr>
              <p:nvPr/>
            </p:nvSpPr>
            <p:spPr bwMode="auto">
              <a:xfrm>
                <a:off x="8040216" y="1609113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3" name="Oval 10"/>
              <p:cNvSpPr>
                <a:spLocks noChangeArrowheads="1"/>
              </p:cNvSpPr>
              <p:nvPr/>
            </p:nvSpPr>
            <p:spPr bwMode="auto">
              <a:xfrm>
                <a:off x="8687916" y="1609113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4" name="Oval 11"/>
              <p:cNvSpPr>
                <a:spLocks noChangeArrowheads="1"/>
              </p:cNvSpPr>
              <p:nvPr/>
            </p:nvSpPr>
            <p:spPr bwMode="auto">
              <a:xfrm>
                <a:off x="9984903" y="1609113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25" name="Oval 12"/>
              <p:cNvSpPr>
                <a:spLocks noChangeArrowheads="1"/>
              </p:cNvSpPr>
              <p:nvPr/>
            </p:nvSpPr>
            <p:spPr bwMode="auto">
              <a:xfrm>
                <a:off x="10632603" y="1609113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  <p:grpSp>
          <p:nvGrpSpPr>
            <p:cNvPr id="7" name="Группа 6"/>
            <p:cNvGrpSpPr/>
            <p:nvPr/>
          </p:nvGrpSpPr>
          <p:grpSpPr>
            <a:xfrm>
              <a:off x="2547170" y="5319092"/>
              <a:ext cx="2072814" cy="308182"/>
              <a:chOff x="8040216" y="2651224"/>
              <a:chExt cx="3097212" cy="439738"/>
            </a:xfrm>
          </p:grpSpPr>
          <p:sp>
            <p:nvSpPr>
              <p:cNvPr id="63508" name="Oval 16"/>
              <p:cNvSpPr>
                <a:spLocks noChangeArrowheads="1"/>
              </p:cNvSpPr>
              <p:nvPr/>
            </p:nvSpPr>
            <p:spPr bwMode="auto">
              <a:xfrm>
                <a:off x="8040216" y="2651224"/>
                <a:ext cx="504825" cy="4318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  <a:cs typeface="Calibri" pitchFamily="34" charset="0"/>
                  </a:rPr>
                  <a:t> </a:t>
                </a:r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09" name="Oval 18"/>
              <p:cNvSpPr>
                <a:spLocks noChangeArrowheads="1"/>
              </p:cNvSpPr>
              <p:nvPr/>
            </p:nvSpPr>
            <p:spPr bwMode="auto">
              <a:xfrm>
                <a:off x="9984903" y="2651224"/>
                <a:ext cx="504825" cy="431800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3510" name="Oval 19"/>
              <p:cNvSpPr>
                <a:spLocks noChangeArrowheads="1"/>
              </p:cNvSpPr>
              <p:nvPr/>
            </p:nvSpPr>
            <p:spPr bwMode="auto">
              <a:xfrm>
                <a:off x="10632603" y="2651224"/>
                <a:ext cx="504825" cy="431800"/>
              </a:xfrm>
              <a:prstGeom prst="ellipse">
                <a:avLst/>
              </a:prstGeom>
              <a:solidFill>
                <a:srgbClr val="7030A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1" name="Oval 8"/>
              <p:cNvSpPr>
                <a:spLocks noChangeArrowheads="1"/>
              </p:cNvSpPr>
              <p:nvPr/>
            </p:nvSpPr>
            <p:spPr bwMode="auto">
              <a:xfrm>
                <a:off x="9335665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2" name="Oval 10"/>
              <p:cNvSpPr>
                <a:spLocks noChangeArrowheads="1"/>
              </p:cNvSpPr>
              <p:nvPr/>
            </p:nvSpPr>
            <p:spPr bwMode="auto">
              <a:xfrm>
                <a:off x="8686378" y="2659162"/>
                <a:ext cx="504825" cy="431800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ru-RU" dirty="0">
                  <a:latin typeface="Calibri" pitchFamily="34" charset="0"/>
                  <a:cs typeface="Calibr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322775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СНМ на основе деревьев 1/2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Лес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элементы каждого множества объединяем в дерево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en-US" sz="2000" dirty="0" err="1">
                <a:solidFill>
                  <a:schemeClr val="bg1"/>
                </a:solidFill>
              </a:rPr>
              <a:t>FindSet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=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корень дерева, содержащего элемент,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MergeSets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= объединение деревьев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ru-RU" sz="2400" dirty="0" err="1">
                <a:solidFill>
                  <a:schemeClr val="bg1"/>
                </a:solidFill>
              </a:rPr>
              <a:t>FindSet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#</a:t>
            </a:r>
            <a:r>
              <a:rPr lang="ru-RU" sz="2400" dirty="0">
                <a:solidFill>
                  <a:schemeClr val="bg1"/>
                </a:solidFill>
              </a:rPr>
              <a:t> элементов </a:t>
            </a:r>
            <a:r>
              <a:rPr lang="en-US" sz="2400" dirty="0">
                <a:solidFill>
                  <a:schemeClr val="bg1"/>
                </a:solidFill>
              </a:rPr>
              <a:t>^ 2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en-US" sz="2400" dirty="0">
                <a:solidFill>
                  <a:schemeClr val="bg1"/>
                </a:solidFill>
              </a:rPr>
              <a:t> –</a:t>
            </a:r>
            <a:r>
              <a:rPr lang="ru-RU" sz="2400" dirty="0">
                <a:solidFill>
                  <a:schemeClr val="bg1"/>
                </a:solidFill>
              </a:rPr>
              <a:t> O(</a:t>
            </a:r>
            <a:r>
              <a:rPr lang="en-US" sz="2400" dirty="0">
                <a:solidFill>
                  <a:schemeClr val="bg1"/>
                </a:solidFill>
              </a:rPr>
              <a:t>#</a:t>
            </a:r>
            <a:r>
              <a:rPr lang="ru-RU" sz="2400" dirty="0">
                <a:solidFill>
                  <a:schemeClr val="bg1"/>
                </a:solidFill>
              </a:rPr>
              <a:t> элементов) 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3" name="Объект 3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Лес с объединением по рангу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= высота его дерева</a:t>
            </a:r>
          </a:p>
          <a:p>
            <a:r>
              <a:rPr lang="en-US" sz="2400" dirty="0">
                <a:solidFill>
                  <a:schemeClr val="bg1"/>
                </a:solidFill>
              </a:rPr>
              <a:t>N = # </a:t>
            </a:r>
            <a:r>
              <a:rPr lang="ru-RU" sz="2400" dirty="0">
                <a:solidFill>
                  <a:schemeClr val="bg1"/>
                </a:solidFill>
              </a:rPr>
              <a:t>элементов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ru-RU" sz="2400" dirty="0" err="1">
                <a:solidFill>
                  <a:schemeClr val="bg1"/>
                </a:solidFill>
              </a:rPr>
              <a:t>FindSet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 * </a:t>
            </a:r>
            <a:r>
              <a:rPr lang="ru-RU" sz="2400" dirty="0" err="1">
                <a:solidFill>
                  <a:schemeClr val="bg1"/>
                </a:solidFill>
              </a:rPr>
              <a:t>log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Корнем становится корень дерева с большей высотой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может увеличиться не более </a:t>
            </a:r>
            <a:r>
              <a:rPr lang="en-US" sz="2000" dirty="0">
                <a:solidFill>
                  <a:schemeClr val="bg1"/>
                </a:solidFill>
              </a:rPr>
              <a:t>log(N)</a:t>
            </a:r>
            <a:r>
              <a:rPr lang="ru-RU" sz="2000" dirty="0">
                <a:solidFill>
                  <a:schemeClr val="bg1"/>
                </a:solidFill>
              </a:rPr>
              <a:t> раз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Каждая операция </a:t>
            </a:r>
            <a:r>
              <a:rPr lang="ru-RU" sz="2000" dirty="0" err="1">
                <a:solidFill>
                  <a:schemeClr val="bg1"/>
                </a:solidFill>
              </a:rPr>
              <a:t>FindSet</a:t>
            </a:r>
            <a:r>
              <a:rPr lang="ru-RU" sz="2000" dirty="0">
                <a:solidFill>
                  <a:schemeClr val="bg1"/>
                </a:solidFill>
              </a:rPr>
              <a:t> – </a:t>
            </a:r>
            <a:r>
              <a:rPr lang="en-US" sz="2000" dirty="0">
                <a:solidFill>
                  <a:schemeClr val="bg1"/>
                </a:solidFill>
              </a:rPr>
              <a:t>O(log N)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22422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СНМ на основе деревьев 1/2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Лес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элементы каждого множества объединяем в дерево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en-US" sz="2000" dirty="0" err="1">
                <a:solidFill>
                  <a:schemeClr val="bg1"/>
                </a:solidFill>
              </a:rPr>
              <a:t>FindSet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=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корень дерева, содержащего элемент,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MergeSets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= объединение деревьев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ru-RU" sz="2400" dirty="0" err="1">
                <a:solidFill>
                  <a:schemeClr val="bg1"/>
                </a:solidFill>
              </a:rPr>
              <a:t>FindSet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#</a:t>
            </a:r>
            <a:r>
              <a:rPr lang="ru-RU" sz="2400" dirty="0">
                <a:solidFill>
                  <a:schemeClr val="bg1"/>
                </a:solidFill>
              </a:rPr>
              <a:t> элементов </a:t>
            </a:r>
            <a:r>
              <a:rPr lang="en-US" sz="2400" dirty="0">
                <a:solidFill>
                  <a:schemeClr val="bg1"/>
                </a:solidFill>
              </a:rPr>
              <a:t>^ 2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en-US" sz="2400" dirty="0">
                <a:solidFill>
                  <a:schemeClr val="bg1"/>
                </a:solidFill>
              </a:rPr>
              <a:t> –</a:t>
            </a:r>
            <a:r>
              <a:rPr lang="ru-RU" sz="2400" dirty="0">
                <a:solidFill>
                  <a:schemeClr val="bg1"/>
                </a:solidFill>
              </a:rPr>
              <a:t> O(</a:t>
            </a:r>
            <a:r>
              <a:rPr lang="en-US" sz="2400" dirty="0">
                <a:solidFill>
                  <a:schemeClr val="bg1"/>
                </a:solidFill>
              </a:rPr>
              <a:t>#</a:t>
            </a:r>
            <a:r>
              <a:rPr lang="ru-RU" sz="2400" dirty="0">
                <a:solidFill>
                  <a:schemeClr val="bg1"/>
                </a:solidFill>
              </a:rPr>
              <a:t> элементов) 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3" name="Объект 3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Лес с объединением по рангу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= высота его дерева</a:t>
            </a:r>
          </a:p>
          <a:p>
            <a:r>
              <a:rPr lang="en-US" sz="2400" dirty="0">
                <a:solidFill>
                  <a:schemeClr val="bg1"/>
                </a:solidFill>
              </a:rPr>
              <a:t>N = # </a:t>
            </a:r>
            <a:r>
              <a:rPr lang="ru-RU" sz="2400" dirty="0">
                <a:solidFill>
                  <a:schemeClr val="bg1"/>
                </a:solidFill>
              </a:rPr>
              <a:t>элементов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ru-RU" sz="2400" dirty="0" err="1">
                <a:solidFill>
                  <a:schemeClr val="bg1"/>
                </a:solidFill>
              </a:rPr>
              <a:t>FindSet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 * </a:t>
            </a:r>
            <a:r>
              <a:rPr lang="ru-RU" sz="2400" dirty="0" err="1">
                <a:solidFill>
                  <a:schemeClr val="bg1"/>
                </a:solidFill>
              </a:rPr>
              <a:t>log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Корнем становится корень дерева с большей высотой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может увеличиться не более </a:t>
            </a:r>
            <a:r>
              <a:rPr lang="en-US" sz="2000" dirty="0">
                <a:solidFill>
                  <a:schemeClr val="bg1"/>
                </a:solidFill>
              </a:rPr>
              <a:t>log(N)</a:t>
            </a:r>
            <a:r>
              <a:rPr lang="ru-RU" sz="2000" dirty="0">
                <a:solidFill>
                  <a:schemeClr val="bg1"/>
                </a:solidFill>
              </a:rPr>
              <a:t> раз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Каждая операция </a:t>
            </a:r>
            <a:r>
              <a:rPr lang="ru-RU" sz="2000" dirty="0" err="1">
                <a:solidFill>
                  <a:schemeClr val="bg1"/>
                </a:solidFill>
              </a:rPr>
              <a:t>FindSet</a:t>
            </a:r>
            <a:r>
              <a:rPr lang="ru-RU" sz="2000" dirty="0">
                <a:solidFill>
                  <a:schemeClr val="bg1"/>
                </a:solidFill>
              </a:rPr>
              <a:t> – </a:t>
            </a:r>
            <a:r>
              <a:rPr lang="en-US" sz="2000" dirty="0">
                <a:solidFill>
                  <a:schemeClr val="bg1"/>
                </a:solidFill>
              </a:rPr>
              <a:t>O(log N)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СНМ на основе деревьев 1/2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Лес</a:t>
            </a:r>
          </a:p>
          <a:p>
            <a:pPr lvl="1"/>
            <a:r>
              <a:rPr lang="ru-RU" sz="2000" dirty="0"/>
              <a:t>элементы каждого множества объединяем в дерево</a:t>
            </a:r>
            <a:endParaRPr lang="en-US" sz="2000" dirty="0"/>
          </a:p>
          <a:p>
            <a:pPr lvl="1"/>
            <a:r>
              <a:rPr lang="en-US" sz="2000" dirty="0" err="1">
                <a:solidFill>
                  <a:schemeClr val="bg1"/>
                </a:solidFill>
              </a:rPr>
              <a:t>FindSet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=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корень дерева, содержащего элемент,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MergeSets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= объединение деревьев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ru-RU" sz="2400" dirty="0" err="1">
                <a:solidFill>
                  <a:schemeClr val="bg1"/>
                </a:solidFill>
              </a:rPr>
              <a:t>FindSet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#</a:t>
            </a:r>
            <a:r>
              <a:rPr lang="ru-RU" sz="2400" dirty="0">
                <a:solidFill>
                  <a:schemeClr val="bg1"/>
                </a:solidFill>
              </a:rPr>
              <a:t> элементов </a:t>
            </a:r>
            <a:r>
              <a:rPr lang="en-US" sz="2400" dirty="0">
                <a:solidFill>
                  <a:schemeClr val="bg1"/>
                </a:solidFill>
              </a:rPr>
              <a:t>^ 2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en-US" sz="2400" dirty="0">
                <a:solidFill>
                  <a:schemeClr val="bg1"/>
                </a:solidFill>
              </a:rPr>
              <a:t> –</a:t>
            </a:r>
            <a:r>
              <a:rPr lang="ru-RU" sz="2400" dirty="0">
                <a:solidFill>
                  <a:schemeClr val="bg1"/>
                </a:solidFill>
              </a:rPr>
              <a:t> O(</a:t>
            </a:r>
            <a:r>
              <a:rPr lang="en-US" sz="2400" dirty="0">
                <a:solidFill>
                  <a:schemeClr val="bg1"/>
                </a:solidFill>
              </a:rPr>
              <a:t>#</a:t>
            </a:r>
            <a:r>
              <a:rPr lang="ru-RU" sz="2400" dirty="0">
                <a:solidFill>
                  <a:schemeClr val="bg1"/>
                </a:solidFill>
              </a:rPr>
              <a:t> элементов) 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3" name="Объект 3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Лес с объединением по рангу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= высота его дерева</a:t>
            </a:r>
          </a:p>
          <a:p>
            <a:r>
              <a:rPr lang="en-US" sz="2400" dirty="0">
                <a:solidFill>
                  <a:schemeClr val="bg1"/>
                </a:solidFill>
              </a:rPr>
              <a:t>N = # </a:t>
            </a:r>
            <a:r>
              <a:rPr lang="ru-RU" sz="2400" dirty="0">
                <a:solidFill>
                  <a:schemeClr val="bg1"/>
                </a:solidFill>
              </a:rPr>
              <a:t>элементов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ru-RU" sz="2400" dirty="0" err="1">
                <a:solidFill>
                  <a:schemeClr val="bg1"/>
                </a:solidFill>
              </a:rPr>
              <a:t>FindSet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 * </a:t>
            </a:r>
            <a:r>
              <a:rPr lang="ru-RU" sz="2400" dirty="0" err="1">
                <a:solidFill>
                  <a:schemeClr val="bg1"/>
                </a:solidFill>
              </a:rPr>
              <a:t>log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Корнем становится корень дерева с большей высотой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может увеличиться не более </a:t>
            </a:r>
            <a:r>
              <a:rPr lang="en-US" sz="2000" dirty="0">
                <a:solidFill>
                  <a:schemeClr val="bg1"/>
                </a:solidFill>
              </a:rPr>
              <a:t>log(N)</a:t>
            </a:r>
            <a:r>
              <a:rPr lang="ru-RU" sz="2000" dirty="0">
                <a:solidFill>
                  <a:schemeClr val="bg1"/>
                </a:solidFill>
              </a:rPr>
              <a:t> раз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Каждая операция </a:t>
            </a:r>
            <a:r>
              <a:rPr lang="ru-RU" sz="2000" dirty="0" err="1">
                <a:solidFill>
                  <a:schemeClr val="bg1"/>
                </a:solidFill>
              </a:rPr>
              <a:t>FindSet</a:t>
            </a:r>
            <a:r>
              <a:rPr lang="ru-RU" sz="2000" dirty="0">
                <a:solidFill>
                  <a:schemeClr val="bg1"/>
                </a:solidFill>
              </a:rPr>
              <a:t> – </a:t>
            </a:r>
            <a:r>
              <a:rPr lang="en-US" sz="2000" dirty="0">
                <a:solidFill>
                  <a:schemeClr val="bg1"/>
                </a:solidFill>
              </a:rPr>
              <a:t>O(log N)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78649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СНМ на основе деревьев 1/2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Лес</a:t>
            </a:r>
          </a:p>
          <a:p>
            <a:pPr lvl="1"/>
            <a:r>
              <a:rPr lang="ru-RU" sz="2000" dirty="0"/>
              <a:t>элементы каждого множества объединяем в дерево</a:t>
            </a:r>
            <a:endParaRPr lang="en-US" sz="2000" dirty="0"/>
          </a:p>
          <a:p>
            <a:pPr lvl="1"/>
            <a:r>
              <a:rPr lang="en-US" sz="2000" dirty="0" err="1"/>
              <a:t>FindSet</a:t>
            </a:r>
            <a:r>
              <a:rPr lang="en-US" sz="2000" dirty="0"/>
              <a:t> </a:t>
            </a:r>
            <a:r>
              <a:rPr lang="ru-RU" sz="2000" dirty="0"/>
              <a:t>=</a:t>
            </a:r>
            <a:r>
              <a:rPr lang="en-US" sz="2000" dirty="0"/>
              <a:t> </a:t>
            </a:r>
            <a:r>
              <a:rPr lang="ru-RU" sz="2000" dirty="0"/>
              <a:t>корень дерева, содержащего элемент,</a:t>
            </a:r>
            <a:r>
              <a:rPr lang="en-US" sz="2000" dirty="0"/>
              <a:t> </a:t>
            </a:r>
            <a:r>
              <a:rPr lang="en-US" sz="2000" dirty="0" err="1"/>
              <a:t>MergeSets</a:t>
            </a:r>
            <a:r>
              <a:rPr lang="en-US" sz="2000" dirty="0"/>
              <a:t> </a:t>
            </a:r>
            <a:r>
              <a:rPr lang="ru-RU" sz="2000" dirty="0"/>
              <a:t>= объединение деревьев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ru-RU" sz="2400" dirty="0" err="1">
                <a:solidFill>
                  <a:schemeClr val="bg1"/>
                </a:solidFill>
              </a:rPr>
              <a:t>FindSet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#</a:t>
            </a:r>
            <a:r>
              <a:rPr lang="ru-RU" sz="2400" dirty="0">
                <a:solidFill>
                  <a:schemeClr val="bg1"/>
                </a:solidFill>
              </a:rPr>
              <a:t> элементов </a:t>
            </a:r>
            <a:r>
              <a:rPr lang="en-US" sz="2400" dirty="0">
                <a:solidFill>
                  <a:schemeClr val="bg1"/>
                </a:solidFill>
              </a:rPr>
              <a:t>^ 2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en-US" sz="2400" dirty="0">
                <a:solidFill>
                  <a:schemeClr val="bg1"/>
                </a:solidFill>
              </a:rPr>
              <a:t> –</a:t>
            </a:r>
            <a:r>
              <a:rPr lang="ru-RU" sz="2400" dirty="0">
                <a:solidFill>
                  <a:schemeClr val="bg1"/>
                </a:solidFill>
              </a:rPr>
              <a:t> O(</a:t>
            </a:r>
            <a:r>
              <a:rPr lang="en-US" sz="2400" dirty="0">
                <a:solidFill>
                  <a:schemeClr val="bg1"/>
                </a:solidFill>
              </a:rPr>
              <a:t>#</a:t>
            </a:r>
            <a:r>
              <a:rPr lang="ru-RU" sz="2400" dirty="0">
                <a:solidFill>
                  <a:schemeClr val="bg1"/>
                </a:solidFill>
              </a:rPr>
              <a:t> элементов) 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3" name="Объект 3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Лес с объединением по рангу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= высота его дерева</a:t>
            </a:r>
          </a:p>
          <a:p>
            <a:r>
              <a:rPr lang="en-US" sz="2400" dirty="0">
                <a:solidFill>
                  <a:schemeClr val="bg1"/>
                </a:solidFill>
              </a:rPr>
              <a:t>N = # </a:t>
            </a:r>
            <a:r>
              <a:rPr lang="ru-RU" sz="2400" dirty="0">
                <a:solidFill>
                  <a:schemeClr val="bg1"/>
                </a:solidFill>
              </a:rPr>
              <a:t>элементов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ru-RU" sz="2400" dirty="0" err="1">
                <a:solidFill>
                  <a:schemeClr val="bg1"/>
                </a:solidFill>
              </a:rPr>
              <a:t>FindSet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 * </a:t>
            </a:r>
            <a:r>
              <a:rPr lang="ru-RU" sz="2400" dirty="0" err="1">
                <a:solidFill>
                  <a:schemeClr val="bg1"/>
                </a:solidFill>
              </a:rPr>
              <a:t>log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Корнем становится корень дерева с большей высотой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может увеличиться не более </a:t>
            </a:r>
            <a:r>
              <a:rPr lang="en-US" sz="2000" dirty="0">
                <a:solidFill>
                  <a:schemeClr val="bg1"/>
                </a:solidFill>
              </a:rPr>
              <a:t>log(N)</a:t>
            </a:r>
            <a:r>
              <a:rPr lang="ru-RU" sz="2000" dirty="0">
                <a:solidFill>
                  <a:schemeClr val="bg1"/>
                </a:solidFill>
              </a:rPr>
              <a:t> раз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Каждая операция </a:t>
            </a:r>
            <a:r>
              <a:rPr lang="ru-RU" sz="2000" dirty="0" err="1">
                <a:solidFill>
                  <a:schemeClr val="bg1"/>
                </a:solidFill>
              </a:rPr>
              <a:t>FindSet</a:t>
            </a:r>
            <a:r>
              <a:rPr lang="ru-RU" sz="2000" dirty="0">
                <a:solidFill>
                  <a:schemeClr val="bg1"/>
                </a:solidFill>
              </a:rPr>
              <a:t> – </a:t>
            </a:r>
            <a:r>
              <a:rPr lang="en-US" sz="2000" dirty="0">
                <a:solidFill>
                  <a:schemeClr val="bg1"/>
                </a:solidFill>
              </a:rPr>
              <a:t>O(log N)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78834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СНМ на основе деревьев 1/2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Лес</a:t>
            </a:r>
          </a:p>
          <a:p>
            <a:pPr lvl="1"/>
            <a:r>
              <a:rPr lang="ru-RU" sz="2000" dirty="0"/>
              <a:t>элементы каждого множества объединяем в дерево</a:t>
            </a:r>
            <a:endParaRPr lang="en-US" sz="2000" dirty="0"/>
          </a:p>
          <a:p>
            <a:pPr lvl="1"/>
            <a:r>
              <a:rPr lang="en-US" sz="2000" dirty="0" err="1"/>
              <a:t>FindSet</a:t>
            </a:r>
            <a:r>
              <a:rPr lang="en-US" sz="2000" dirty="0"/>
              <a:t> </a:t>
            </a:r>
            <a:r>
              <a:rPr lang="ru-RU" sz="2000" dirty="0"/>
              <a:t>=</a:t>
            </a:r>
            <a:r>
              <a:rPr lang="en-US" sz="2000" dirty="0"/>
              <a:t> </a:t>
            </a:r>
            <a:r>
              <a:rPr lang="ru-RU" sz="2000" dirty="0"/>
              <a:t>корень дерева, содержащего элемент,</a:t>
            </a:r>
            <a:r>
              <a:rPr lang="en-US" sz="2000" dirty="0"/>
              <a:t> </a:t>
            </a:r>
            <a:r>
              <a:rPr lang="en-US" sz="2000" dirty="0" err="1"/>
              <a:t>MergeSets</a:t>
            </a:r>
            <a:r>
              <a:rPr lang="en-US" sz="2000" dirty="0"/>
              <a:t> </a:t>
            </a:r>
            <a:r>
              <a:rPr lang="ru-RU" sz="2000" dirty="0"/>
              <a:t>= объединение деревьев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#</a:t>
            </a:r>
            <a:r>
              <a:rPr lang="ru-RU" sz="2400" dirty="0"/>
              <a:t> элементов </a:t>
            </a:r>
            <a:r>
              <a:rPr lang="en-US" sz="2400" dirty="0"/>
              <a:t>^ 2</a:t>
            </a:r>
            <a:r>
              <a:rPr lang="ru-RU" sz="2400" dirty="0"/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en-US" sz="2400" dirty="0">
                <a:solidFill>
                  <a:schemeClr val="bg1"/>
                </a:solidFill>
              </a:rPr>
              <a:t> –</a:t>
            </a:r>
            <a:r>
              <a:rPr lang="ru-RU" sz="2400" dirty="0">
                <a:solidFill>
                  <a:schemeClr val="bg1"/>
                </a:solidFill>
              </a:rPr>
              <a:t> O(</a:t>
            </a:r>
            <a:r>
              <a:rPr lang="en-US" sz="2400" dirty="0">
                <a:solidFill>
                  <a:schemeClr val="bg1"/>
                </a:solidFill>
              </a:rPr>
              <a:t>#</a:t>
            </a:r>
            <a:r>
              <a:rPr lang="ru-RU" sz="2400" dirty="0">
                <a:solidFill>
                  <a:schemeClr val="bg1"/>
                </a:solidFill>
              </a:rPr>
              <a:t> элементов) 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3" name="Объект 3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Лес с объединением по рангу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= высота его дерева</a:t>
            </a:r>
          </a:p>
          <a:p>
            <a:r>
              <a:rPr lang="en-US" sz="2400" dirty="0">
                <a:solidFill>
                  <a:schemeClr val="bg1"/>
                </a:solidFill>
              </a:rPr>
              <a:t>N = # </a:t>
            </a:r>
            <a:r>
              <a:rPr lang="ru-RU" sz="2400" dirty="0">
                <a:solidFill>
                  <a:schemeClr val="bg1"/>
                </a:solidFill>
              </a:rPr>
              <a:t>элементов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ru-RU" sz="2400" dirty="0" err="1">
                <a:solidFill>
                  <a:schemeClr val="bg1"/>
                </a:solidFill>
              </a:rPr>
              <a:t>FindSet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 * </a:t>
            </a:r>
            <a:r>
              <a:rPr lang="ru-RU" sz="2400" dirty="0" err="1">
                <a:solidFill>
                  <a:schemeClr val="bg1"/>
                </a:solidFill>
              </a:rPr>
              <a:t>log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Корнем становится корень дерева с большей высотой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может увеличиться не более </a:t>
            </a:r>
            <a:r>
              <a:rPr lang="en-US" sz="2000" dirty="0">
                <a:solidFill>
                  <a:schemeClr val="bg1"/>
                </a:solidFill>
              </a:rPr>
              <a:t>log(N)</a:t>
            </a:r>
            <a:r>
              <a:rPr lang="ru-RU" sz="2000" dirty="0">
                <a:solidFill>
                  <a:schemeClr val="bg1"/>
                </a:solidFill>
              </a:rPr>
              <a:t> раз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Каждая операция </a:t>
            </a:r>
            <a:r>
              <a:rPr lang="ru-RU" sz="2000" dirty="0" err="1">
                <a:solidFill>
                  <a:schemeClr val="bg1"/>
                </a:solidFill>
              </a:rPr>
              <a:t>FindSet</a:t>
            </a:r>
            <a:r>
              <a:rPr lang="ru-RU" sz="2000" dirty="0">
                <a:solidFill>
                  <a:schemeClr val="bg1"/>
                </a:solidFill>
              </a:rPr>
              <a:t> – </a:t>
            </a:r>
            <a:r>
              <a:rPr lang="en-US" sz="2000" dirty="0">
                <a:solidFill>
                  <a:schemeClr val="bg1"/>
                </a:solidFill>
              </a:rPr>
              <a:t>O(log N)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50272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СНМ на основе деревьев 1/2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Лес</a:t>
            </a:r>
          </a:p>
          <a:p>
            <a:pPr lvl="1"/>
            <a:r>
              <a:rPr lang="ru-RU" sz="2000" dirty="0"/>
              <a:t>элементы каждого множества объединяем в дерево</a:t>
            </a:r>
            <a:endParaRPr lang="en-US" sz="2000" dirty="0"/>
          </a:p>
          <a:p>
            <a:pPr lvl="1"/>
            <a:r>
              <a:rPr lang="en-US" sz="2000" dirty="0" err="1"/>
              <a:t>FindSet</a:t>
            </a:r>
            <a:r>
              <a:rPr lang="en-US" sz="2000" dirty="0"/>
              <a:t> </a:t>
            </a:r>
            <a:r>
              <a:rPr lang="ru-RU" sz="2000" dirty="0"/>
              <a:t>=</a:t>
            </a:r>
            <a:r>
              <a:rPr lang="en-US" sz="2000" dirty="0"/>
              <a:t> </a:t>
            </a:r>
            <a:r>
              <a:rPr lang="ru-RU" sz="2000" dirty="0"/>
              <a:t>корень дерева, содержащего элемент,</a:t>
            </a:r>
            <a:r>
              <a:rPr lang="en-US" sz="2000" dirty="0"/>
              <a:t> </a:t>
            </a:r>
            <a:r>
              <a:rPr lang="en-US" sz="2000" dirty="0" err="1"/>
              <a:t>MergeSets</a:t>
            </a:r>
            <a:r>
              <a:rPr lang="en-US" sz="2000" dirty="0"/>
              <a:t> </a:t>
            </a:r>
            <a:r>
              <a:rPr lang="ru-RU" sz="2000" dirty="0"/>
              <a:t>= объединение деревьев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#</a:t>
            </a:r>
            <a:r>
              <a:rPr lang="ru-RU" sz="2400" dirty="0"/>
              <a:t> элементов </a:t>
            </a:r>
            <a:r>
              <a:rPr lang="en-US" sz="2400" dirty="0"/>
              <a:t>^ 2</a:t>
            </a:r>
            <a:r>
              <a:rPr lang="ru-RU" sz="2400" dirty="0"/>
              <a:t>)</a:t>
            </a:r>
          </a:p>
          <a:p>
            <a:r>
              <a:rPr lang="ru-RU" sz="2400" dirty="0"/>
              <a:t>все </a:t>
            </a:r>
            <a:r>
              <a:rPr lang="en-US" sz="2400" dirty="0" err="1"/>
              <a:t>MergeSets</a:t>
            </a:r>
            <a:r>
              <a:rPr lang="en-US" sz="2400" dirty="0"/>
              <a:t> –</a:t>
            </a:r>
            <a:r>
              <a:rPr lang="ru-RU" sz="2400" dirty="0"/>
              <a:t> O(</a:t>
            </a:r>
            <a:r>
              <a:rPr lang="en-US" sz="2400" dirty="0"/>
              <a:t>#</a:t>
            </a:r>
            <a:r>
              <a:rPr lang="ru-RU" sz="2400" dirty="0"/>
              <a:t> элементов) 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3" name="Объект 3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Лес с объединением по рангу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= высота его дерева</a:t>
            </a:r>
          </a:p>
          <a:p>
            <a:r>
              <a:rPr lang="en-US" sz="2400" dirty="0">
                <a:solidFill>
                  <a:schemeClr val="bg1"/>
                </a:solidFill>
              </a:rPr>
              <a:t>N = # </a:t>
            </a:r>
            <a:r>
              <a:rPr lang="ru-RU" sz="2400" dirty="0">
                <a:solidFill>
                  <a:schemeClr val="bg1"/>
                </a:solidFill>
              </a:rPr>
              <a:t>элементов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ru-RU" sz="2400" dirty="0" err="1">
                <a:solidFill>
                  <a:schemeClr val="bg1"/>
                </a:solidFill>
              </a:rPr>
              <a:t>FindSet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 * </a:t>
            </a:r>
            <a:r>
              <a:rPr lang="ru-RU" sz="2400" dirty="0" err="1">
                <a:solidFill>
                  <a:schemeClr val="bg1"/>
                </a:solidFill>
              </a:rPr>
              <a:t>log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Корнем становится корень дерева с большей высотой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может увеличиться не более </a:t>
            </a:r>
            <a:r>
              <a:rPr lang="en-US" sz="2000" dirty="0">
                <a:solidFill>
                  <a:schemeClr val="bg1"/>
                </a:solidFill>
              </a:rPr>
              <a:t>log(N)</a:t>
            </a:r>
            <a:r>
              <a:rPr lang="ru-RU" sz="2000" dirty="0">
                <a:solidFill>
                  <a:schemeClr val="bg1"/>
                </a:solidFill>
              </a:rPr>
              <a:t> раз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Каждая операция </a:t>
            </a:r>
            <a:r>
              <a:rPr lang="ru-RU" sz="2000" dirty="0" err="1">
                <a:solidFill>
                  <a:schemeClr val="bg1"/>
                </a:solidFill>
              </a:rPr>
              <a:t>FindSet</a:t>
            </a:r>
            <a:r>
              <a:rPr lang="ru-RU" sz="2000" dirty="0">
                <a:solidFill>
                  <a:schemeClr val="bg1"/>
                </a:solidFill>
              </a:rPr>
              <a:t> – </a:t>
            </a:r>
            <a:r>
              <a:rPr lang="en-US" sz="2000" dirty="0">
                <a:solidFill>
                  <a:schemeClr val="bg1"/>
                </a:solidFill>
              </a:rPr>
              <a:t>O(log N)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18335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СНМ на основе деревьев 1/2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Лес</a:t>
            </a:r>
          </a:p>
          <a:p>
            <a:pPr lvl="1"/>
            <a:r>
              <a:rPr lang="ru-RU" sz="2000" dirty="0"/>
              <a:t>элементы каждого множества объединяем в дерево</a:t>
            </a:r>
            <a:endParaRPr lang="en-US" sz="2000" dirty="0"/>
          </a:p>
          <a:p>
            <a:pPr lvl="1"/>
            <a:r>
              <a:rPr lang="en-US" sz="2000" dirty="0" err="1"/>
              <a:t>FindSet</a:t>
            </a:r>
            <a:r>
              <a:rPr lang="en-US" sz="2000" dirty="0"/>
              <a:t> </a:t>
            </a:r>
            <a:r>
              <a:rPr lang="ru-RU" sz="2000" dirty="0"/>
              <a:t>=</a:t>
            </a:r>
            <a:r>
              <a:rPr lang="en-US" sz="2000" dirty="0"/>
              <a:t> </a:t>
            </a:r>
            <a:r>
              <a:rPr lang="ru-RU" sz="2000" dirty="0"/>
              <a:t>корень дерева, содержащего элемент,</a:t>
            </a:r>
            <a:r>
              <a:rPr lang="en-US" sz="2000" dirty="0"/>
              <a:t> </a:t>
            </a:r>
            <a:r>
              <a:rPr lang="en-US" sz="2000" dirty="0" err="1"/>
              <a:t>MergeSets</a:t>
            </a:r>
            <a:r>
              <a:rPr lang="en-US" sz="2000" dirty="0"/>
              <a:t> </a:t>
            </a:r>
            <a:r>
              <a:rPr lang="ru-RU" sz="2000" dirty="0"/>
              <a:t>= объединение деревьев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#</a:t>
            </a:r>
            <a:r>
              <a:rPr lang="ru-RU" sz="2400" dirty="0"/>
              <a:t> элементов </a:t>
            </a:r>
            <a:r>
              <a:rPr lang="en-US" sz="2400" dirty="0"/>
              <a:t>^ 2</a:t>
            </a:r>
            <a:r>
              <a:rPr lang="ru-RU" sz="2400" dirty="0"/>
              <a:t>)</a:t>
            </a:r>
          </a:p>
          <a:p>
            <a:r>
              <a:rPr lang="ru-RU" sz="2400" dirty="0"/>
              <a:t>все </a:t>
            </a:r>
            <a:r>
              <a:rPr lang="en-US" sz="2400" dirty="0" err="1"/>
              <a:t>MergeSets</a:t>
            </a:r>
            <a:r>
              <a:rPr lang="en-US" sz="2400" dirty="0"/>
              <a:t> –</a:t>
            </a:r>
            <a:r>
              <a:rPr lang="ru-RU" sz="2400" dirty="0"/>
              <a:t> O(</a:t>
            </a:r>
            <a:r>
              <a:rPr lang="en-US" sz="2400" dirty="0"/>
              <a:t>#</a:t>
            </a:r>
            <a:r>
              <a:rPr lang="ru-RU" sz="2400" dirty="0"/>
              <a:t> элементов) 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3" name="Объект 3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Лес с объединением по рангу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= высота его дерева</a:t>
            </a:r>
          </a:p>
          <a:p>
            <a:r>
              <a:rPr lang="en-US" sz="2400" dirty="0">
                <a:solidFill>
                  <a:schemeClr val="bg1"/>
                </a:solidFill>
              </a:rPr>
              <a:t>N = # </a:t>
            </a:r>
            <a:r>
              <a:rPr lang="ru-RU" sz="2400" dirty="0">
                <a:solidFill>
                  <a:schemeClr val="bg1"/>
                </a:solidFill>
              </a:rPr>
              <a:t>элементов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ru-RU" sz="2400" dirty="0" err="1">
                <a:solidFill>
                  <a:schemeClr val="bg1"/>
                </a:solidFill>
              </a:rPr>
              <a:t>FindSet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 * </a:t>
            </a:r>
            <a:r>
              <a:rPr lang="ru-RU" sz="2400" dirty="0" err="1">
                <a:solidFill>
                  <a:schemeClr val="bg1"/>
                </a:solidFill>
              </a:rPr>
              <a:t>log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Корнем становится корень дерева с большей высотой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может увеличиться не более </a:t>
            </a:r>
            <a:r>
              <a:rPr lang="en-US" sz="2000" dirty="0">
                <a:solidFill>
                  <a:schemeClr val="bg1"/>
                </a:solidFill>
              </a:rPr>
              <a:t>log(N)</a:t>
            </a:r>
            <a:r>
              <a:rPr lang="ru-RU" sz="2000" dirty="0">
                <a:solidFill>
                  <a:schemeClr val="bg1"/>
                </a:solidFill>
              </a:rPr>
              <a:t> раз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Каждая операция </a:t>
            </a:r>
            <a:r>
              <a:rPr lang="ru-RU" sz="2000" dirty="0" err="1">
                <a:solidFill>
                  <a:schemeClr val="bg1"/>
                </a:solidFill>
              </a:rPr>
              <a:t>FindSet</a:t>
            </a:r>
            <a:r>
              <a:rPr lang="ru-RU" sz="2000" dirty="0">
                <a:solidFill>
                  <a:schemeClr val="bg1"/>
                </a:solidFill>
              </a:rPr>
              <a:t> – </a:t>
            </a:r>
            <a:r>
              <a:rPr lang="en-US" sz="2000" dirty="0">
                <a:solidFill>
                  <a:schemeClr val="bg1"/>
                </a:solidFill>
              </a:rPr>
              <a:t>O(log N)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  <p:grpSp>
        <p:nvGrpSpPr>
          <p:cNvPr id="31" name="Группа 30"/>
          <p:cNvGrpSpPr/>
          <p:nvPr/>
        </p:nvGrpSpPr>
        <p:grpSpPr>
          <a:xfrm>
            <a:off x="786530" y="4731670"/>
            <a:ext cx="936626" cy="576263"/>
            <a:chOff x="1199456" y="5748116"/>
            <a:chExt cx="936626" cy="576263"/>
          </a:xfrm>
        </p:grpSpPr>
        <p:sp>
          <p:nvSpPr>
            <p:cNvPr id="65566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2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3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4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5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6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63" name="Прямая соединительная линия 62"/>
            <p:cNvCxnSpPr>
              <a:stCxn id="65566" idx="3"/>
              <a:endCxn id="65573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>
              <a:stCxn id="65566" idx="5"/>
              <a:endCxn id="65575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>
              <a:stCxn id="65574" idx="0"/>
              <a:endCxn id="65566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>
              <a:stCxn id="65576" idx="1"/>
              <a:endCxn id="65566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>
              <a:stCxn id="65566" idx="2"/>
              <a:endCxn id="65572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Группа 29"/>
          <p:cNvGrpSpPr/>
          <p:nvPr/>
        </p:nvGrpSpPr>
        <p:grpSpPr>
          <a:xfrm>
            <a:off x="2207568" y="4581128"/>
            <a:ext cx="143686" cy="1023395"/>
            <a:chOff x="2856013" y="5244085"/>
            <a:chExt cx="144463" cy="1152526"/>
          </a:xfrm>
        </p:grpSpPr>
        <p:sp>
          <p:nvSpPr>
            <p:cNvPr id="6557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82" name="Прямая соединительная линия 81"/>
            <p:cNvCxnSpPr>
              <a:stCxn id="65578" idx="2"/>
              <a:endCxn id="6557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/>
            <p:cNvCxnSpPr>
              <a:stCxn id="65579" idx="2"/>
              <a:endCxn id="6557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Плюс 33"/>
          <p:cNvSpPr/>
          <p:nvPr/>
        </p:nvSpPr>
        <p:spPr>
          <a:xfrm>
            <a:off x="1821223" y="4959030"/>
            <a:ext cx="266182" cy="26618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221310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СНМ на основе деревьев 1/2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Лес</a:t>
            </a:r>
          </a:p>
          <a:p>
            <a:pPr lvl="1"/>
            <a:r>
              <a:rPr lang="ru-RU" sz="2000" dirty="0"/>
              <a:t>элементы каждого множества объединяем в дерево</a:t>
            </a:r>
            <a:endParaRPr lang="en-US" sz="2000" dirty="0"/>
          </a:p>
          <a:p>
            <a:pPr lvl="1"/>
            <a:r>
              <a:rPr lang="en-US" sz="2000" dirty="0" err="1"/>
              <a:t>FindSet</a:t>
            </a:r>
            <a:r>
              <a:rPr lang="en-US" sz="2000" dirty="0"/>
              <a:t> </a:t>
            </a:r>
            <a:r>
              <a:rPr lang="ru-RU" sz="2000" dirty="0"/>
              <a:t>=</a:t>
            </a:r>
            <a:r>
              <a:rPr lang="en-US" sz="2000" dirty="0"/>
              <a:t> </a:t>
            </a:r>
            <a:r>
              <a:rPr lang="ru-RU" sz="2000" dirty="0"/>
              <a:t>корень дерева, содержащего элемент,</a:t>
            </a:r>
            <a:r>
              <a:rPr lang="en-US" sz="2000" dirty="0"/>
              <a:t> </a:t>
            </a:r>
            <a:r>
              <a:rPr lang="en-US" sz="2000" dirty="0" err="1"/>
              <a:t>MergeSets</a:t>
            </a:r>
            <a:r>
              <a:rPr lang="en-US" sz="2000" dirty="0"/>
              <a:t> </a:t>
            </a:r>
            <a:r>
              <a:rPr lang="ru-RU" sz="2000" dirty="0"/>
              <a:t>= объединение деревьев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#</a:t>
            </a:r>
            <a:r>
              <a:rPr lang="ru-RU" sz="2400" dirty="0"/>
              <a:t> элементов </a:t>
            </a:r>
            <a:r>
              <a:rPr lang="en-US" sz="2400" dirty="0"/>
              <a:t>^ 2</a:t>
            </a:r>
            <a:r>
              <a:rPr lang="ru-RU" sz="2400" dirty="0"/>
              <a:t>)</a:t>
            </a:r>
          </a:p>
          <a:p>
            <a:r>
              <a:rPr lang="ru-RU" sz="2400" dirty="0"/>
              <a:t>все </a:t>
            </a:r>
            <a:r>
              <a:rPr lang="en-US" sz="2400" dirty="0" err="1"/>
              <a:t>MergeSets</a:t>
            </a:r>
            <a:r>
              <a:rPr lang="en-US" sz="2400" dirty="0"/>
              <a:t> –</a:t>
            </a:r>
            <a:r>
              <a:rPr lang="ru-RU" sz="2400" dirty="0"/>
              <a:t> O(</a:t>
            </a:r>
            <a:r>
              <a:rPr lang="en-US" sz="2400" dirty="0"/>
              <a:t>#</a:t>
            </a:r>
            <a:r>
              <a:rPr lang="ru-RU" sz="2400" dirty="0"/>
              <a:t> элементов) 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3" name="Объект 3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Лес с объединением по рангу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= высота его дерева</a:t>
            </a:r>
          </a:p>
          <a:p>
            <a:r>
              <a:rPr lang="en-US" sz="2400" dirty="0">
                <a:solidFill>
                  <a:schemeClr val="bg1"/>
                </a:solidFill>
              </a:rPr>
              <a:t>N = # </a:t>
            </a:r>
            <a:r>
              <a:rPr lang="ru-RU" sz="2400" dirty="0">
                <a:solidFill>
                  <a:schemeClr val="bg1"/>
                </a:solidFill>
              </a:rPr>
              <a:t>элементов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ru-RU" sz="2400" dirty="0" err="1">
                <a:solidFill>
                  <a:schemeClr val="bg1"/>
                </a:solidFill>
              </a:rPr>
              <a:t>FindSet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 * </a:t>
            </a:r>
            <a:r>
              <a:rPr lang="ru-RU" sz="2400" dirty="0" err="1">
                <a:solidFill>
                  <a:schemeClr val="bg1"/>
                </a:solidFill>
              </a:rPr>
              <a:t>log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Корнем становится корень дерева с большей высотой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может увеличиться не более </a:t>
            </a:r>
            <a:r>
              <a:rPr lang="en-US" sz="2000" dirty="0">
                <a:solidFill>
                  <a:schemeClr val="bg1"/>
                </a:solidFill>
              </a:rPr>
              <a:t>log(N)</a:t>
            </a:r>
            <a:r>
              <a:rPr lang="ru-RU" sz="2000" dirty="0">
                <a:solidFill>
                  <a:schemeClr val="bg1"/>
                </a:solidFill>
              </a:rPr>
              <a:t> раз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Каждая операция </a:t>
            </a:r>
            <a:r>
              <a:rPr lang="ru-RU" sz="2000" dirty="0" err="1">
                <a:solidFill>
                  <a:schemeClr val="bg1"/>
                </a:solidFill>
              </a:rPr>
              <a:t>FindSet</a:t>
            </a:r>
            <a:r>
              <a:rPr lang="ru-RU" sz="2000" dirty="0">
                <a:solidFill>
                  <a:schemeClr val="bg1"/>
                </a:solidFill>
              </a:rPr>
              <a:t> – </a:t>
            </a:r>
            <a:r>
              <a:rPr lang="en-US" sz="2000" dirty="0">
                <a:solidFill>
                  <a:schemeClr val="bg1"/>
                </a:solidFill>
              </a:rPr>
              <a:t>O(log N)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  <p:grpSp>
        <p:nvGrpSpPr>
          <p:cNvPr id="31" name="Группа 30"/>
          <p:cNvGrpSpPr/>
          <p:nvPr/>
        </p:nvGrpSpPr>
        <p:grpSpPr>
          <a:xfrm>
            <a:off x="786530" y="4731670"/>
            <a:ext cx="936626" cy="576263"/>
            <a:chOff x="1199456" y="5748116"/>
            <a:chExt cx="936626" cy="576263"/>
          </a:xfrm>
        </p:grpSpPr>
        <p:sp>
          <p:nvSpPr>
            <p:cNvPr id="65566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2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3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4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5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6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63" name="Прямая соединительная линия 62"/>
            <p:cNvCxnSpPr>
              <a:stCxn id="65566" idx="3"/>
              <a:endCxn id="65573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>
              <a:stCxn id="65566" idx="5"/>
              <a:endCxn id="65575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>
              <a:stCxn id="65574" idx="0"/>
              <a:endCxn id="65566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>
              <a:stCxn id="65576" idx="1"/>
              <a:endCxn id="65566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>
              <a:stCxn id="65566" idx="2"/>
              <a:endCxn id="65572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Группа 29"/>
          <p:cNvGrpSpPr/>
          <p:nvPr/>
        </p:nvGrpSpPr>
        <p:grpSpPr>
          <a:xfrm>
            <a:off x="2207568" y="4581128"/>
            <a:ext cx="143686" cy="1023395"/>
            <a:chOff x="2856013" y="5244085"/>
            <a:chExt cx="144463" cy="1152526"/>
          </a:xfrm>
        </p:grpSpPr>
        <p:sp>
          <p:nvSpPr>
            <p:cNvPr id="6557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82" name="Прямая соединительная линия 81"/>
            <p:cNvCxnSpPr>
              <a:stCxn id="65578" idx="2"/>
              <a:endCxn id="6557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/>
            <p:cNvCxnSpPr>
              <a:stCxn id="65579" idx="2"/>
              <a:endCxn id="6557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Группа 90"/>
          <p:cNvGrpSpPr/>
          <p:nvPr/>
        </p:nvGrpSpPr>
        <p:grpSpPr>
          <a:xfrm>
            <a:off x="2910441" y="4731670"/>
            <a:ext cx="936626" cy="576263"/>
            <a:chOff x="1199456" y="5748116"/>
            <a:chExt cx="936626" cy="576263"/>
          </a:xfrm>
        </p:grpSpPr>
        <p:sp>
          <p:nvSpPr>
            <p:cNvPr id="92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3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4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5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6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7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98" name="Прямая соединительная линия 97"/>
            <p:cNvCxnSpPr>
              <a:stCxn id="92" idx="3"/>
              <a:endCxn id="94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единительная линия 98"/>
            <p:cNvCxnSpPr>
              <a:stCxn id="92" idx="5"/>
              <a:endCxn id="96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единительная линия 99"/>
            <p:cNvCxnSpPr>
              <a:stCxn id="95" idx="0"/>
              <a:endCxn id="92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единительная линия 100"/>
            <p:cNvCxnSpPr>
              <a:stCxn id="97" idx="1"/>
              <a:endCxn id="92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Прямая соединительная линия 101"/>
            <p:cNvCxnSpPr>
              <a:stCxn id="92" idx="2"/>
              <a:endCxn id="93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Группа 102"/>
          <p:cNvGrpSpPr/>
          <p:nvPr/>
        </p:nvGrpSpPr>
        <p:grpSpPr>
          <a:xfrm>
            <a:off x="3990561" y="5019702"/>
            <a:ext cx="143686" cy="1023395"/>
            <a:chOff x="2856013" y="5244085"/>
            <a:chExt cx="144463" cy="1152526"/>
          </a:xfrm>
        </p:grpSpPr>
        <p:sp>
          <p:nvSpPr>
            <p:cNvPr id="104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5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6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07" name="Прямая соединительная линия 106"/>
            <p:cNvCxnSpPr>
              <a:stCxn id="105" idx="2"/>
              <a:endCxn id="104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/>
            <p:cNvCxnSpPr>
              <a:stCxn id="106" idx="2"/>
              <a:endCxn id="105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Плюс 33"/>
          <p:cNvSpPr/>
          <p:nvPr/>
        </p:nvSpPr>
        <p:spPr>
          <a:xfrm>
            <a:off x="1821223" y="4959030"/>
            <a:ext cx="266182" cy="26618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Равно 34"/>
          <p:cNvSpPr/>
          <p:nvPr/>
        </p:nvSpPr>
        <p:spPr>
          <a:xfrm>
            <a:off x="2495600" y="4935173"/>
            <a:ext cx="270825" cy="27082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7" name="Прямая соединительная линия 36"/>
          <p:cNvCxnSpPr>
            <a:stCxn id="104" idx="2"/>
            <a:endCxn id="92" idx="6"/>
          </p:cNvCxnSpPr>
          <p:nvPr/>
        </p:nvCxnSpPr>
        <p:spPr>
          <a:xfrm flipH="1" flipV="1">
            <a:off x="3413679" y="4803902"/>
            <a:ext cx="648725" cy="215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041717" y="5739782"/>
            <a:ext cx="813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плохо</a:t>
            </a:r>
          </a:p>
        </p:txBody>
      </p:sp>
    </p:spTree>
    <p:extLst>
      <p:ext uri="{BB962C8B-B14F-4D97-AF65-F5344CB8AC3E}">
        <p14:creationId xmlns:p14="http://schemas.microsoft.com/office/powerpoint/2010/main" val="314709622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СНМ на основе деревьев 1/2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Лес</a:t>
            </a:r>
          </a:p>
          <a:p>
            <a:pPr lvl="1"/>
            <a:r>
              <a:rPr lang="ru-RU" sz="2000" dirty="0"/>
              <a:t>элементы каждого множества объединяем в дерево</a:t>
            </a:r>
            <a:endParaRPr lang="en-US" sz="2000" dirty="0"/>
          </a:p>
          <a:p>
            <a:pPr lvl="1"/>
            <a:r>
              <a:rPr lang="en-US" sz="2000" dirty="0" err="1"/>
              <a:t>FindSet</a:t>
            </a:r>
            <a:r>
              <a:rPr lang="en-US" sz="2000" dirty="0"/>
              <a:t> </a:t>
            </a:r>
            <a:r>
              <a:rPr lang="ru-RU" sz="2000" dirty="0"/>
              <a:t>=</a:t>
            </a:r>
            <a:r>
              <a:rPr lang="en-US" sz="2000" dirty="0"/>
              <a:t> </a:t>
            </a:r>
            <a:r>
              <a:rPr lang="ru-RU" sz="2000" dirty="0"/>
              <a:t>корень дерева, содержащего элемент,</a:t>
            </a:r>
            <a:r>
              <a:rPr lang="en-US" sz="2000" dirty="0"/>
              <a:t> </a:t>
            </a:r>
            <a:r>
              <a:rPr lang="en-US" sz="2000" dirty="0" err="1"/>
              <a:t>MergeSets</a:t>
            </a:r>
            <a:r>
              <a:rPr lang="en-US" sz="2000" dirty="0"/>
              <a:t> </a:t>
            </a:r>
            <a:r>
              <a:rPr lang="ru-RU" sz="2000" dirty="0"/>
              <a:t>= объединение деревьев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#</a:t>
            </a:r>
            <a:r>
              <a:rPr lang="ru-RU" sz="2400" dirty="0"/>
              <a:t> элементов </a:t>
            </a:r>
            <a:r>
              <a:rPr lang="en-US" sz="2400" dirty="0"/>
              <a:t>^ 2</a:t>
            </a:r>
            <a:r>
              <a:rPr lang="ru-RU" sz="2400" dirty="0"/>
              <a:t>)</a:t>
            </a:r>
          </a:p>
          <a:p>
            <a:r>
              <a:rPr lang="ru-RU" sz="2400" dirty="0"/>
              <a:t>все </a:t>
            </a:r>
            <a:r>
              <a:rPr lang="en-US" sz="2400" dirty="0" err="1"/>
              <a:t>MergeSets</a:t>
            </a:r>
            <a:r>
              <a:rPr lang="en-US" sz="2400" dirty="0"/>
              <a:t> –</a:t>
            </a:r>
            <a:r>
              <a:rPr lang="ru-RU" sz="2400" dirty="0"/>
              <a:t> O(</a:t>
            </a:r>
            <a:r>
              <a:rPr lang="en-US" sz="2400" dirty="0"/>
              <a:t>#</a:t>
            </a:r>
            <a:r>
              <a:rPr lang="ru-RU" sz="2400" dirty="0"/>
              <a:t> элементов) 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3" name="Объект 3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Лес с объединением по рангу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= высота его дерева</a:t>
            </a:r>
          </a:p>
          <a:p>
            <a:r>
              <a:rPr lang="en-US" sz="2400" dirty="0">
                <a:solidFill>
                  <a:schemeClr val="bg1"/>
                </a:solidFill>
              </a:rPr>
              <a:t>N = # </a:t>
            </a:r>
            <a:r>
              <a:rPr lang="ru-RU" sz="2400" dirty="0">
                <a:solidFill>
                  <a:schemeClr val="bg1"/>
                </a:solidFill>
              </a:rPr>
              <a:t>элементов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ru-RU" sz="2400" dirty="0" err="1">
                <a:solidFill>
                  <a:schemeClr val="bg1"/>
                </a:solidFill>
              </a:rPr>
              <a:t>FindSet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 * </a:t>
            </a:r>
            <a:r>
              <a:rPr lang="ru-RU" sz="2400" dirty="0" err="1">
                <a:solidFill>
                  <a:schemeClr val="bg1"/>
                </a:solidFill>
              </a:rPr>
              <a:t>log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Корнем становится корень дерева с большей высотой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может увеличиться не более </a:t>
            </a:r>
            <a:r>
              <a:rPr lang="en-US" sz="2000" dirty="0">
                <a:solidFill>
                  <a:schemeClr val="bg1"/>
                </a:solidFill>
              </a:rPr>
              <a:t>log(N)</a:t>
            </a:r>
            <a:r>
              <a:rPr lang="ru-RU" sz="2000" dirty="0">
                <a:solidFill>
                  <a:schemeClr val="bg1"/>
                </a:solidFill>
              </a:rPr>
              <a:t> раз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Каждая операция </a:t>
            </a:r>
            <a:r>
              <a:rPr lang="ru-RU" sz="2000" dirty="0" err="1">
                <a:solidFill>
                  <a:schemeClr val="bg1"/>
                </a:solidFill>
              </a:rPr>
              <a:t>FindSet</a:t>
            </a:r>
            <a:r>
              <a:rPr lang="ru-RU" sz="2000" dirty="0">
                <a:solidFill>
                  <a:schemeClr val="bg1"/>
                </a:solidFill>
              </a:rPr>
              <a:t> – </a:t>
            </a:r>
            <a:r>
              <a:rPr lang="en-US" sz="2000" dirty="0">
                <a:solidFill>
                  <a:schemeClr val="bg1"/>
                </a:solidFill>
              </a:rPr>
              <a:t>O(log N)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  <p:grpSp>
        <p:nvGrpSpPr>
          <p:cNvPr id="31" name="Группа 30"/>
          <p:cNvGrpSpPr/>
          <p:nvPr/>
        </p:nvGrpSpPr>
        <p:grpSpPr>
          <a:xfrm>
            <a:off x="786530" y="4731670"/>
            <a:ext cx="936626" cy="576263"/>
            <a:chOff x="1199456" y="5748116"/>
            <a:chExt cx="936626" cy="576263"/>
          </a:xfrm>
        </p:grpSpPr>
        <p:sp>
          <p:nvSpPr>
            <p:cNvPr id="65566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2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3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4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5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6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63" name="Прямая соединительная линия 62"/>
            <p:cNvCxnSpPr>
              <a:stCxn id="65566" idx="3"/>
              <a:endCxn id="65573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>
              <a:stCxn id="65566" idx="5"/>
              <a:endCxn id="65575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>
              <a:stCxn id="65574" idx="0"/>
              <a:endCxn id="65566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>
              <a:stCxn id="65576" idx="1"/>
              <a:endCxn id="65566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>
              <a:stCxn id="65566" idx="2"/>
              <a:endCxn id="65572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Группа 29"/>
          <p:cNvGrpSpPr/>
          <p:nvPr/>
        </p:nvGrpSpPr>
        <p:grpSpPr>
          <a:xfrm>
            <a:off x="2207568" y="4581128"/>
            <a:ext cx="143686" cy="1023395"/>
            <a:chOff x="2856013" y="5244085"/>
            <a:chExt cx="144463" cy="1152526"/>
          </a:xfrm>
        </p:grpSpPr>
        <p:sp>
          <p:nvSpPr>
            <p:cNvPr id="6557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82" name="Прямая соединительная линия 81"/>
            <p:cNvCxnSpPr>
              <a:stCxn id="65578" idx="2"/>
              <a:endCxn id="6557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/>
            <p:cNvCxnSpPr>
              <a:stCxn id="65579" idx="2"/>
              <a:endCxn id="6557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Группа 90"/>
          <p:cNvGrpSpPr/>
          <p:nvPr/>
        </p:nvGrpSpPr>
        <p:grpSpPr>
          <a:xfrm>
            <a:off x="2910441" y="4731670"/>
            <a:ext cx="936626" cy="576263"/>
            <a:chOff x="1199456" y="5748116"/>
            <a:chExt cx="936626" cy="576263"/>
          </a:xfrm>
        </p:grpSpPr>
        <p:sp>
          <p:nvSpPr>
            <p:cNvPr id="92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3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4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5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6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7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98" name="Прямая соединительная линия 97"/>
            <p:cNvCxnSpPr>
              <a:stCxn id="92" idx="3"/>
              <a:endCxn id="94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единительная линия 98"/>
            <p:cNvCxnSpPr>
              <a:stCxn id="92" idx="5"/>
              <a:endCxn id="96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единительная линия 99"/>
            <p:cNvCxnSpPr>
              <a:stCxn id="95" idx="0"/>
              <a:endCxn id="92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единительная линия 100"/>
            <p:cNvCxnSpPr>
              <a:stCxn id="97" idx="1"/>
              <a:endCxn id="92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Прямая соединительная линия 101"/>
            <p:cNvCxnSpPr>
              <a:stCxn id="92" idx="2"/>
              <a:endCxn id="93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Группа 102"/>
          <p:cNvGrpSpPr/>
          <p:nvPr/>
        </p:nvGrpSpPr>
        <p:grpSpPr>
          <a:xfrm>
            <a:off x="3990561" y="5019702"/>
            <a:ext cx="143686" cy="1023395"/>
            <a:chOff x="2856013" y="5244085"/>
            <a:chExt cx="144463" cy="1152526"/>
          </a:xfrm>
        </p:grpSpPr>
        <p:sp>
          <p:nvSpPr>
            <p:cNvPr id="104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5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6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07" name="Прямая соединительная линия 106"/>
            <p:cNvCxnSpPr>
              <a:stCxn id="105" idx="2"/>
              <a:endCxn id="104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/>
            <p:cNvCxnSpPr>
              <a:stCxn id="106" idx="2"/>
              <a:endCxn id="105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Плюс 33"/>
          <p:cNvSpPr/>
          <p:nvPr/>
        </p:nvSpPr>
        <p:spPr>
          <a:xfrm>
            <a:off x="1821223" y="4959030"/>
            <a:ext cx="266182" cy="26618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Равно 34"/>
          <p:cNvSpPr/>
          <p:nvPr/>
        </p:nvSpPr>
        <p:spPr>
          <a:xfrm>
            <a:off x="2495600" y="4935173"/>
            <a:ext cx="270825" cy="27082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7" name="Прямая соединительная линия 36"/>
          <p:cNvCxnSpPr>
            <a:stCxn id="104" idx="2"/>
            <a:endCxn id="92" idx="6"/>
          </p:cNvCxnSpPr>
          <p:nvPr/>
        </p:nvCxnSpPr>
        <p:spPr>
          <a:xfrm flipH="1" flipV="1">
            <a:off x="3413679" y="4803902"/>
            <a:ext cx="648725" cy="215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Группа 133"/>
          <p:cNvGrpSpPr/>
          <p:nvPr/>
        </p:nvGrpSpPr>
        <p:grpSpPr>
          <a:xfrm>
            <a:off x="4583310" y="4980229"/>
            <a:ext cx="936626" cy="576263"/>
            <a:chOff x="1199456" y="5748116"/>
            <a:chExt cx="936626" cy="576263"/>
          </a:xfrm>
        </p:grpSpPr>
        <p:sp>
          <p:nvSpPr>
            <p:cNvPr id="135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6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7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8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9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0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41" name="Прямая соединительная линия 140"/>
            <p:cNvCxnSpPr>
              <a:stCxn id="135" idx="3"/>
              <a:endCxn id="137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Прямая соединительная линия 141"/>
            <p:cNvCxnSpPr>
              <a:stCxn id="135" idx="5"/>
              <a:endCxn id="139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Прямая соединительная линия 142"/>
            <p:cNvCxnSpPr>
              <a:stCxn id="138" idx="0"/>
              <a:endCxn id="135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Прямая соединительная линия 143"/>
            <p:cNvCxnSpPr>
              <a:stCxn id="140" idx="1"/>
              <a:endCxn id="135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Прямая соединительная линия 144"/>
            <p:cNvCxnSpPr>
              <a:stCxn id="135" idx="2"/>
              <a:endCxn id="136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Группа 145"/>
          <p:cNvGrpSpPr/>
          <p:nvPr/>
        </p:nvGrpSpPr>
        <p:grpSpPr>
          <a:xfrm>
            <a:off x="5620631" y="4599365"/>
            <a:ext cx="143686" cy="1023395"/>
            <a:chOff x="2856013" y="5244085"/>
            <a:chExt cx="144463" cy="1152526"/>
          </a:xfrm>
        </p:grpSpPr>
        <p:sp>
          <p:nvSpPr>
            <p:cNvPr id="14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50" name="Прямая соединительная линия 149"/>
            <p:cNvCxnSpPr>
              <a:stCxn id="148" idx="2"/>
              <a:endCxn id="14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Прямая соединительная линия 150"/>
            <p:cNvCxnSpPr>
              <a:stCxn id="149" idx="2"/>
              <a:endCxn id="14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4" name="Прямая соединительная линия 153"/>
          <p:cNvCxnSpPr>
            <a:stCxn id="147" idx="5"/>
            <a:endCxn id="135" idx="0"/>
          </p:cNvCxnSpPr>
          <p:nvPr/>
        </p:nvCxnSpPr>
        <p:spPr>
          <a:xfrm flipH="1">
            <a:off x="5024636" y="4708857"/>
            <a:ext cx="617037" cy="271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68095" y="4883090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или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41717" y="5739782"/>
            <a:ext cx="813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плохо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767890" y="5756362"/>
            <a:ext cx="996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хорошо</a:t>
            </a:r>
          </a:p>
        </p:txBody>
      </p:sp>
    </p:spTree>
    <p:extLst>
      <p:ext uri="{BB962C8B-B14F-4D97-AF65-F5344CB8AC3E}">
        <p14:creationId xmlns:p14="http://schemas.microsoft.com/office/powerpoint/2010/main" val="182894525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СНМ на основе деревьев 1/2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Лес</a:t>
            </a:r>
          </a:p>
          <a:p>
            <a:pPr lvl="1"/>
            <a:r>
              <a:rPr lang="ru-RU" sz="2000" dirty="0"/>
              <a:t>элементы каждого множества объединяем в дерево</a:t>
            </a:r>
            <a:endParaRPr lang="en-US" sz="2000" dirty="0"/>
          </a:p>
          <a:p>
            <a:pPr lvl="1"/>
            <a:r>
              <a:rPr lang="en-US" sz="2000" dirty="0" err="1"/>
              <a:t>FindSet</a:t>
            </a:r>
            <a:r>
              <a:rPr lang="en-US" sz="2000" dirty="0"/>
              <a:t> </a:t>
            </a:r>
            <a:r>
              <a:rPr lang="ru-RU" sz="2000" dirty="0"/>
              <a:t>=</a:t>
            </a:r>
            <a:r>
              <a:rPr lang="en-US" sz="2000" dirty="0"/>
              <a:t> </a:t>
            </a:r>
            <a:r>
              <a:rPr lang="ru-RU" sz="2000" dirty="0"/>
              <a:t>корень дерева, содержащего элемент,</a:t>
            </a:r>
            <a:r>
              <a:rPr lang="en-US" sz="2000" dirty="0"/>
              <a:t> </a:t>
            </a:r>
            <a:r>
              <a:rPr lang="en-US" sz="2000" dirty="0" err="1"/>
              <a:t>MergeSets</a:t>
            </a:r>
            <a:r>
              <a:rPr lang="en-US" sz="2000" dirty="0"/>
              <a:t> </a:t>
            </a:r>
            <a:r>
              <a:rPr lang="ru-RU" sz="2000" dirty="0"/>
              <a:t>= объединение деревьев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#</a:t>
            </a:r>
            <a:r>
              <a:rPr lang="ru-RU" sz="2400" dirty="0"/>
              <a:t> элементов </a:t>
            </a:r>
            <a:r>
              <a:rPr lang="en-US" sz="2400" dirty="0"/>
              <a:t>^ 2</a:t>
            </a:r>
            <a:r>
              <a:rPr lang="ru-RU" sz="2400" dirty="0"/>
              <a:t>)</a:t>
            </a:r>
          </a:p>
          <a:p>
            <a:r>
              <a:rPr lang="ru-RU" sz="2400" dirty="0"/>
              <a:t>все </a:t>
            </a:r>
            <a:r>
              <a:rPr lang="en-US" sz="2400" dirty="0" err="1"/>
              <a:t>MergeSets</a:t>
            </a:r>
            <a:r>
              <a:rPr lang="en-US" sz="2400" dirty="0"/>
              <a:t> –</a:t>
            </a:r>
            <a:r>
              <a:rPr lang="ru-RU" sz="2400" dirty="0"/>
              <a:t> O(</a:t>
            </a:r>
            <a:r>
              <a:rPr lang="en-US" sz="2400" dirty="0"/>
              <a:t>#</a:t>
            </a:r>
            <a:r>
              <a:rPr lang="ru-RU" sz="2400" dirty="0"/>
              <a:t> элементов) 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3" name="Объект 3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Лес с объединением по рангу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= высота его дерева</a:t>
            </a:r>
          </a:p>
          <a:p>
            <a:r>
              <a:rPr lang="en-US" sz="2400" dirty="0">
                <a:solidFill>
                  <a:schemeClr val="bg1"/>
                </a:solidFill>
              </a:rPr>
              <a:t>N = # </a:t>
            </a:r>
            <a:r>
              <a:rPr lang="ru-RU" sz="2400" dirty="0">
                <a:solidFill>
                  <a:schemeClr val="bg1"/>
                </a:solidFill>
              </a:rPr>
              <a:t>элементов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ru-RU" sz="2400" dirty="0" err="1">
                <a:solidFill>
                  <a:schemeClr val="bg1"/>
                </a:solidFill>
              </a:rPr>
              <a:t>FindSet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 * </a:t>
            </a:r>
            <a:r>
              <a:rPr lang="ru-RU" sz="2400" dirty="0" err="1">
                <a:solidFill>
                  <a:schemeClr val="bg1"/>
                </a:solidFill>
              </a:rPr>
              <a:t>log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Корнем становится корень дерева с большей высотой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может увеличиться не более </a:t>
            </a:r>
            <a:r>
              <a:rPr lang="en-US" sz="2000" dirty="0">
                <a:solidFill>
                  <a:schemeClr val="bg1"/>
                </a:solidFill>
              </a:rPr>
              <a:t>log(N)</a:t>
            </a:r>
            <a:r>
              <a:rPr lang="ru-RU" sz="2000" dirty="0">
                <a:solidFill>
                  <a:schemeClr val="bg1"/>
                </a:solidFill>
              </a:rPr>
              <a:t> раз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Каждая операция </a:t>
            </a:r>
            <a:r>
              <a:rPr lang="ru-RU" sz="2000" dirty="0" err="1">
                <a:solidFill>
                  <a:schemeClr val="bg1"/>
                </a:solidFill>
              </a:rPr>
              <a:t>FindSet</a:t>
            </a:r>
            <a:r>
              <a:rPr lang="ru-RU" sz="2000" dirty="0">
                <a:solidFill>
                  <a:schemeClr val="bg1"/>
                </a:solidFill>
              </a:rPr>
              <a:t> – </a:t>
            </a:r>
            <a:r>
              <a:rPr lang="en-US" sz="2000" dirty="0">
                <a:solidFill>
                  <a:schemeClr val="bg1"/>
                </a:solidFill>
              </a:rPr>
              <a:t>O(log N)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  <p:grpSp>
        <p:nvGrpSpPr>
          <p:cNvPr id="31" name="Группа 30"/>
          <p:cNvGrpSpPr/>
          <p:nvPr/>
        </p:nvGrpSpPr>
        <p:grpSpPr>
          <a:xfrm>
            <a:off x="786530" y="4731670"/>
            <a:ext cx="936626" cy="576263"/>
            <a:chOff x="1199456" y="5748116"/>
            <a:chExt cx="936626" cy="576263"/>
          </a:xfrm>
        </p:grpSpPr>
        <p:sp>
          <p:nvSpPr>
            <p:cNvPr id="65566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2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3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4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5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6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63" name="Прямая соединительная линия 62"/>
            <p:cNvCxnSpPr>
              <a:stCxn id="65566" idx="3"/>
              <a:endCxn id="65573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>
              <a:stCxn id="65566" idx="5"/>
              <a:endCxn id="65575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>
              <a:stCxn id="65574" idx="0"/>
              <a:endCxn id="65566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>
              <a:stCxn id="65576" idx="1"/>
              <a:endCxn id="65566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>
              <a:stCxn id="65566" idx="2"/>
              <a:endCxn id="65572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Группа 29"/>
          <p:cNvGrpSpPr/>
          <p:nvPr/>
        </p:nvGrpSpPr>
        <p:grpSpPr>
          <a:xfrm>
            <a:off x="2207568" y="4581128"/>
            <a:ext cx="143686" cy="1023395"/>
            <a:chOff x="2856013" y="5244085"/>
            <a:chExt cx="144463" cy="1152526"/>
          </a:xfrm>
        </p:grpSpPr>
        <p:sp>
          <p:nvSpPr>
            <p:cNvPr id="6557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82" name="Прямая соединительная линия 81"/>
            <p:cNvCxnSpPr>
              <a:stCxn id="65578" idx="2"/>
              <a:endCxn id="6557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/>
            <p:cNvCxnSpPr>
              <a:stCxn id="65579" idx="2"/>
              <a:endCxn id="6557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Группа 90"/>
          <p:cNvGrpSpPr/>
          <p:nvPr/>
        </p:nvGrpSpPr>
        <p:grpSpPr>
          <a:xfrm>
            <a:off x="2910441" y="4731670"/>
            <a:ext cx="936626" cy="576263"/>
            <a:chOff x="1199456" y="5748116"/>
            <a:chExt cx="936626" cy="576263"/>
          </a:xfrm>
        </p:grpSpPr>
        <p:sp>
          <p:nvSpPr>
            <p:cNvPr id="92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3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4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5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6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7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98" name="Прямая соединительная линия 97"/>
            <p:cNvCxnSpPr>
              <a:stCxn id="92" idx="3"/>
              <a:endCxn id="94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единительная линия 98"/>
            <p:cNvCxnSpPr>
              <a:stCxn id="92" idx="5"/>
              <a:endCxn id="96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единительная линия 99"/>
            <p:cNvCxnSpPr>
              <a:stCxn id="95" idx="0"/>
              <a:endCxn id="92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единительная линия 100"/>
            <p:cNvCxnSpPr>
              <a:stCxn id="97" idx="1"/>
              <a:endCxn id="92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Прямая соединительная линия 101"/>
            <p:cNvCxnSpPr>
              <a:stCxn id="92" idx="2"/>
              <a:endCxn id="93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Группа 102"/>
          <p:cNvGrpSpPr/>
          <p:nvPr/>
        </p:nvGrpSpPr>
        <p:grpSpPr>
          <a:xfrm>
            <a:off x="3990561" y="5019702"/>
            <a:ext cx="143686" cy="1023395"/>
            <a:chOff x="2856013" y="5244085"/>
            <a:chExt cx="144463" cy="1152526"/>
          </a:xfrm>
        </p:grpSpPr>
        <p:sp>
          <p:nvSpPr>
            <p:cNvPr id="104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5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6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07" name="Прямая соединительная линия 106"/>
            <p:cNvCxnSpPr>
              <a:stCxn id="105" idx="2"/>
              <a:endCxn id="104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/>
            <p:cNvCxnSpPr>
              <a:stCxn id="106" idx="2"/>
              <a:endCxn id="105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Плюс 33"/>
          <p:cNvSpPr/>
          <p:nvPr/>
        </p:nvSpPr>
        <p:spPr>
          <a:xfrm>
            <a:off x="1821223" y="4959030"/>
            <a:ext cx="266182" cy="26618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Равно 34"/>
          <p:cNvSpPr/>
          <p:nvPr/>
        </p:nvSpPr>
        <p:spPr>
          <a:xfrm>
            <a:off x="2495600" y="4935173"/>
            <a:ext cx="270825" cy="27082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7" name="Прямая соединительная линия 36"/>
          <p:cNvCxnSpPr>
            <a:stCxn id="104" idx="2"/>
            <a:endCxn id="92" idx="6"/>
          </p:cNvCxnSpPr>
          <p:nvPr/>
        </p:nvCxnSpPr>
        <p:spPr>
          <a:xfrm flipH="1" flipV="1">
            <a:off x="3413679" y="4803902"/>
            <a:ext cx="648725" cy="215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Группа 133"/>
          <p:cNvGrpSpPr/>
          <p:nvPr/>
        </p:nvGrpSpPr>
        <p:grpSpPr>
          <a:xfrm>
            <a:off x="4583310" y="4980229"/>
            <a:ext cx="936626" cy="576263"/>
            <a:chOff x="1199456" y="5748116"/>
            <a:chExt cx="936626" cy="576263"/>
          </a:xfrm>
        </p:grpSpPr>
        <p:sp>
          <p:nvSpPr>
            <p:cNvPr id="135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6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7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8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9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0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41" name="Прямая соединительная линия 140"/>
            <p:cNvCxnSpPr>
              <a:stCxn id="135" idx="3"/>
              <a:endCxn id="137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Прямая соединительная линия 141"/>
            <p:cNvCxnSpPr>
              <a:stCxn id="135" idx="5"/>
              <a:endCxn id="139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Прямая соединительная линия 142"/>
            <p:cNvCxnSpPr>
              <a:stCxn id="138" idx="0"/>
              <a:endCxn id="135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Прямая соединительная линия 143"/>
            <p:cNvCxnSpPr>
              <a:stCxn id="140" idx="1"/>
              <a:endCxn id="135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Прямая соединительная линия 144"/>
            <p:cNvCxnSpPr>
              <a:stCxn id="135" idx="2"/>
              <a:endCxn id="136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Группа 145"/>
          <p:cNvGrpSpPr/>
          <p:nvPr/>
        </p:nvGrpSpPr>
        <p:grpSpPr>
          <a:xfrm>
            <a:off x="5620631" y="4599365"/>
            <a:ext cx="143686" cy="1023395"/>
            <a:chOff x="2856013" y="5244085"/>
            <a:chExt cx="144463" cy="1152526"/>
          </a:xfrm>
        </p:grpSpPr>
        <p:sp>
          <p:nvSpPr>
            <p:cNvPr id="14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50" name="Прямая соединительная линия 149"/>
            <p:cNvCxnSpPr>
              <a:stCxn id="148" idx="2"/>
              <a:endCxn id="14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Прямая соединительная линия 150"/>
            <p:cNvCxnSpPr>
              <a:stCxn id="149" idx="2"/>
              <a:endCxn id="14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4" name="Прямая соединительная линия 153"/>
          <p:cNvCxnSpPr>
            <a:stCxn id="147" idx="5"/>
            <a:endCxn id="135" idx="0"/>
          </p:cNvCxnSpPr>
          <p:nvPr/>
        </p:nvCxnSpPr>
        <p:spPr>
          <a:xfrm flipH="1">
            <a:off x="5024636" y="4708857"/>
            <a:ext cx="617037" cy="271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68095" y="4883090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или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41717" y="5739782"/>
            <a:ext cx="813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плохо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767890" y="5756362"/>
            <a:ext cx="996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хорошо</a:t>
            </a:r>
          </a:p>
        </p:txBody>
      </p:sp>
    </p:spTree>
    <p:extLst>
      <p:ext uri="{BB962C8B-B14F-4D97-AF65-F5344CB8AC3E}">
        <p14:creationId xmlns:p14="http://schemas.microsoft.com/office/powerpoint/2010/main" val="370747720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СНМ на основе деревьев 1/2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Лес</a:t>
            </a:r>
          </a:p>
          <a:p>
            <a:pPr lvl="1"/>
            <a:r>
              <a:rPr lang="ru-RU" sz="2000" dirty="0"/>
              <a:t>элементы каждого множества объединяем в дерево</a:t>
            </a:r>
            <a:endParaRPr lang="en-US" sz="2000" dirty="0"/>
          </a:p>
          <a:p>
            <a:pPr lvl="1"/>
            <a:r>
              <a:rPr lang="en-US" sz="2000" dirty="0" err="1"/>
              <a:t>FindSet</a:t>
            </a:r>
            <a:r>
              <a:rPr lang="en-US" sz="2000" dirty="0"/>
              <a:t> </a:t>
            </a:r>
            <a:r>
              <a:rPr lang="ru-RU" sz="2000" dirty="0"/>
              <a:t>=</a:t>
            </a:r>
            <a:r>
              <a:rPr lang="en-US" sz="2000" dirty="0"/>
              <a:t> </a:t>
            </a:r>
            <a:r>
              <a:rPr lang="ru-RU" sz="2000" dirty="0"/>
              <a:t>корень дерева, содержащего элемент,</a:t>
            </a:r>
            <a:r>
              <a:rPr lang="en-US" sz="2000" dirty="0"/>
              <a:t> </a:t>
            </a:r>
            <a:r>
              <a:rPr lang="en-US" sz="2000" dirty="0" err="1"/>
              <a:t>MergeSets</a:t>
            </a:r>
            <a:r>
              <a:rPr lang="en-US" sz="2000" dirty="0"/>
              <a:t> </a:t>
            </a:r>
            <a:r>
              <a:rPr lang="ru-RU" sz="2000" dirty="0"/>
              <a:t>= объединение деревьев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#</a:t>
            </a:r>
            <a:r>
              <a:rPr lang="ru-RU" sz="2400" dirty="0"/>
              <a:t> элементов </a:t>
            </a:r>
            <a:r>
              <a:rPr lang="en-US" sz="2400" dirty="0"/>
              <a:t>^ 2</a:t>
            </a:r>
            <a:r>
              <a:rPr lang="ru-RU" sz="2400" dirty="0"/>
              <a:t>)</a:t>
            </a:r>
          </a:p>
          <a:p>
            <a:r>
              <a:rPr lang="ru-RU" sz="2400" dirty="0"/>
              <a:t>все </a:t>
            </a:r>
            <a:r>
              <a:rPr lang="en-US" sz="2400" dirty="0" err="1"/>
              <a:t>MergeSets</a:t>
            </a:r>
            <a:r>
              <a:rPr lang="en-US" sz="2400" dirty="0"/>
              <a:t> –</a:t>
            </a:r>
            <a:r>
              <a:rPr lang="ru-RU" sz="2400" dirty="0"/>
              <a:t> O(</a:t>
            </a:r>
            <a:r>
              <a:rPr lang="en-US" sz="2400" dirty="0"/>
              <a:t>#</a:t>
            </a:r>
            <a:r>
              <a:rPr lang="ru-RU" sz="2400" dirty="0"/>
              <a:t> элементов) 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3" name="Объект 3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Лес с объединением по рангу </a:t>
            </a:r>
          </a:p>
          <a:p>
            <a:pPr lvl="1"/>
            <a:r>
              <a:rPr lang="ru-RU" sz="2000" dirty="0"/>
              <a:t>Ранг множества = высота его дерева</a:t>
            </a:r>
          </a:p>
          <a:p>
            <a:r>
              <a:rPr lang="en-US" sz="2400" dirty="0">
                <a:solidFill>
                  <a:schemeClr val="bg1"/>
                </a:solidFill>
              </a:rPr>
              <a:t>N = # </a:t>
            </a:r>
            <a:r>
              <a:rPr lang="ru-RU" sz="2400" dirty="0">
                <a:solidFill>
                  <a:schemeClr val="bg1"/>
                </a:solidFill>
              </a:rPr>
              <a:t>элементов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ru-RU" sz="2400" dirty="0" err="1">
                <a:solidFill>
                  <a:schemeClr val="bg1"/>
                </a:solidFill>
              </a:rPr>
              <a:t>FindSet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 * </a:t>
            </a:r>
            <a:r>
              <a:rPr lang="ru-RU" sz="2400" dirty="0" err="1">
                <a:solidFill>
                  <a:schemeClr val="bg1"/>
                </a:solidFill>
              </a:rPr>
              <a:t>log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Корнем становится корень дерева с большей высотой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может увеличиться не более </a:t>
            </a:r>
            <a:r>
              <a:rPr lang="en-US" sz="2000" dirty="0">
                <a:solidFill>
                  <a:schemeClr val="bg1"/>
                </a:solidFill>
              </a:rPr>
              <a:t>log(N)</a:t>
            </a:r>
            <a:r>
              <a:rPr lang="ru-RU" sz="2000" dirty="0">
                <a:solidFill>
                  <a:schemeClr val="bg1"/>
                </a:solidFill>
              </a:rPr>
              <a:t> раз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Каждая операция </a:t>
            </a:r>
            <a:r>
              <a:rPr lang="ru-RU" sz="2000" dirty="0" err="1">
                <a:solidFill>
                  <a:schemeClr val="bg1"/>
                </a:solidFill>
              </a:rPr>
              <a:t>FindSet</a:t>
            </a:r>
            <a:r>
              <a:rPr lang="ru-RU" sz="2000" dirty="0">
                <a:solidFill>
                  <a:schemeClr val="bg1"/>
                </a:solidFill>
              </a:rPr>
              <a:t> – </a:t>
            </a:r>
            <a:r>
              <a:rPr lang="en-US" sz="2000" dirty="0">
                <a:solidFill>
                  <a:schemeClr val="bg1"/>
                </a:solidFill>
              </a:rPr>
              <a:t>O(log N)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endParaRPr lang="ru-RU" sz="2000" dirty="0"/>
          </a:p>
          <a:p>
            <a:endParaRPr lang="ru-RU" sz="2400" dirty="0"/>
          </a:p>
        </p:txBody>
      </p:sp>
      <p:grpSp>
        <p:nvGrpSpPr>
          <p:cNvPr id="31" name="Группа 30"/>
          <p:cNvGrpSpPr/>
          <p:nvPr/>
        </p:nvGrpSpPr>
        <p:grpSpPr>
          <a:xfrm>
            <a:off x="786530" y="4731670"/>
            <a:ext cx="936626" cy="576263"/>
            <a:chOff x="1199456" y="5748116"/>
            <a:chExt cx="936626" cy="576263"/>
          </a:xfrm>
        </p:grpSpPr>
        <p:sp>
          <p:nvSpPr>
            <p:cNvPr id="65566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2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3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4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5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6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63" name="Прямая соединительная линия 62"/>
            <p:cNvCxnSpPr>
              <a:stCxn id="65566" idx="3"/>
              <a:endCxn id="65573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>
              <a:stCxn id="65566" idx="5"/>
              <a:endCxn id="65575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>
              <a:stCxn id="65574" idx="0"/>
              <a:endCxn id="65566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>
              <a:stCxn id="65576" idx="1"/>
              <a:endCxn id="65566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>
              <a:stCxn id="65566" idx="2"/>
              <a:endCxn id="65572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Группа 29"/>
          <p:cNvGrpSpPr/>
          <p:nvPr/>
        </p:nvGrpSpPr>
        <p:grpSpPr>
          <a:xfrm>
            <a:off x="2207568" y="4581128"/>
            <a:ext cx="143686" cy="1023395"/>
            <a:chOff x="2856013" y="5244085"/>
            <a:chExt cx="144463" cy="1152526"/>
          </a:xfrm>
        </p:grpSpPr>
        <p:sp>
          <p:nvSpPr>
            <p:cNvPr id="6557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82" name="Прямая соединительная линия 81"/>
            <p:cNvCxnSpPr>
              <a:stCxn id="65578" idx="2"/>
              <a:endCxn id="6557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/>
            <p:cNvCxnSpPr>
              <a:stCxn id="65579" idx="2"/>
              <a:endCxn id="6557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Группа 90"/>
          <p:cNvGrpSpPr/>
          <p:nvPr/>
        </p:nvGrpSpPr>
        <p:grpSpPr>
          <a:xfrm>
            <a:off x="2910441" y="4731670"/>
            <a:ext cx="936626" cy="576263"/>
            <a:chOff x="1199456" y="5748116"/>
            <a:chExt cx="936626" cy="576263"/>
          </a:xfrm>
        </p:grpSpPr>
        <p:sp>
          <p:nvSpPr>
            <p:cNvPr id="92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3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4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5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6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7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98" name="Прямая соединительная линия 97"/>
            <p:cNvCxnSpPr>
              <a:stCxn id="92" idx="3"/>
              <a:endCxn id="94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единительная линия 98"/>
            <p:cNvCxnSpPr>
              <a:stCxn id="92" idx="5"/>
              <a:endCxn id="96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единительная линия 99"/>
            <p:cNvCxnSpPr>
              <a:stCxn id="95" idx="0"/>
              <a:endCxn id="92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единительная линия 100"/>
            <p:cNvCxnSpPr>
              <a:stCxn id="97" idx="1"/>
              <a:endCxn id="92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Прямая соединительная линия 101"/>
            <p:cNvCxnSpPr>
              <a:stCxn id="92" idx="2"/>
              <a:endCxn id="93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Группа 102"/>
          <p:cNvGrpSpPr/>
          <p:nvPr/>
        </p:nvGrpSpPr>
        <p:grpSpPr>
          <a:xfrm>
            <a:off x="3990561" y="5019702"/>
            <a:ext cx="143686" cy="1023395"/>
            <a:chOff x="2856013" y="5244085"/>
            <a:chExt cx="144463" cy="1152526"/>
          </a:xfrm>
        </p:grpSpPr>
        <p:sp>
          <p:nvSpPr>
            <p:cNvPr id="104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5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6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07" name="Прямая соединительная линия 106"/>
            <p:cNvCxnSpPr>
              <a:stCxn id="105" idx="2"/>
              <a:endCxn id="104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/>
            <p:cNvCxnSpPr>
              <a:stCxn id="106" idx="2"/>
              <a:endCxn id="105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Плюс 33"/>
          <p:cNvSpPr/>
          <p:nvPr/>
        </p:nvSpPr>
        <p:spPr>
          <a:xfrm>
            <a:off x="1821223" y="4959030"/>
            <a:ext cx="266182" cy="26618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Равно 34"/>
          <p:cNvSpPr/>
          <p:nvPr/>
        </p:nvSpPr>
        <p:spPr>
          <a:xfrm>
            <a:off x="2495600" y="4935173"/>
            <a:ext cx="270825" cy="27082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7" name="Прямая соединительная линия 36"/>
          <p:cNvCxnSpPr>
            <a:stCxn id="104" idx="2"/>
            <a:endCxn id="92" idx="6"/>
          </p:cNvCxnSpPr>
          <p:nvPr/>
        </p:nvCxnSpPr>
        <p:spPr>
          <a:xfrm flipH="1" flipV="1">
            <a:off x="3413679" y="4803902"/>
            <a:ext cx="648725" cy="215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Группа 133"/>
          <p:cNvGrpSpPr/>
          <p:nvPr/>
        </p:nvGrpSpPr>
        <p:grpSpPr>
          <a:xfrm>
            <a:off x="4583310" y="4980229"/>
            <a:ext cx="936626" cy="576263"/>
            <a:chOff x="1199456" y="5748116"/>
            <a:chExt cx="936626" cy="576263"/>
          </a:xfrm>
        </p:grpSpPr>
        <p:sp>
          <p:nvSpPr>
            <p:cNvPr id="135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6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7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8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9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0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41" name="Прямая соединительная линия 140"/>
            <p:cNvCxnSpPr>
              <a:stCxn id="135" idx="3"/>
              <a:endCxn id="137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Прямая соединительная линия 141"/>
            <p:cNvCxnSpPr>
              <a:stCxn id="135" idx="5"/>
              <a:endCxn id="139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Прямая соединительная линия 142"/>
            <p:cNvCxnSpPr>
              <a:stCxn id="138" idx="0"/>
              <a:endCxn id="135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Прямая соединительная линия 143"/>
            <p:cNvCxnSpPr>
              <a:stCxn id="140" idx="1"/>
              <a:endCxn id="135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Прямая соединительная линия 144"/>
            <p:cNvCxnSpPr>
              <a:stCxn id="135" idx="2"/>
              <a:endCxn id="136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Группа 145"/>
          <p:cNvGrpSpPr/>
          <p:nvPr/>
        </p:nvGrpSpPr>
        <p:grpSpPr>
          <a:xfrm>
            <a:off x="5620631" y="4599365"/>
            <a:ext cx="143686" cy="1023395"/>
            <a:chOff x="2856013" y="5244085"/>
            <a:chExt cx="144463" cy="1152526"/>
          </a:xfrm>
        </p:grpSpPr>
        <p:sp>
          <p:nvSpPr>
            <p:cNvPr id="14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50" name="Прямая соединительная линия 149"/>
            <p:cNvCxnSpPr>
              <a:stCxn id="148" idx="2"/>
              <a:endCxn id="14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Прямая соединительная линия 150"/>
            <p:cNvCxnSpPr>
              <a:stCxn id="149" idx="2"/>
              <a:endCxn id="14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4" name="Прямая соединительная линия 153"/>
          <p:cNvCxnSpPr>
            <a:stCxn id="147" idx="5"/>
            <a:endCxn id="135" idx="0"/>
          </p:cNvCxnSpPr>
          <p:nvPr/>
        </p:nvCxnSpPr>
        <p:spPr>
          <a:xfrm flipH="1">
            <a:off x="5024636" y="4708857"/>
            <a:ext cx="617037" cy="271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68095" y="4883090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или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41717" y="5739782"/>
            <a:ext cx="813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плохо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767890" y="5756362"/>
            <a:ext cx="996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хорошо</a:t>
            </a:r>
          </a:p>
        </p:txBody>
      </p:sp>
    </p:spTree>
    <p:extLst>
      <p:ext uri="{BB962C8B-B14F-4D97-AF65-F5344CB8AC3E}">
        <p14:creationId xmlns:p14="http://schemas.microsoft.com/office/powerpoint/2010/main" val="415170052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СНМ на основе деревьев 1/2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Лес</a:t>
            </a:r>
          </a:p>
          <a:p>
            <a:pPr lvl="1"/>
            <a:r>
              <a:rPr lang="ru-RU" sz="2000" dirty="0"/>
              <a:t>элементы каждого множества объединяем в дерево</a:t>
            </a:r>
            <a:endParaRPr lang="en-US" sz="2000" dirty="0"/>
          </a:p>
          <a:p>
            <a:pPr lvl="1"/>
            <a:r>
              <a:rPr lang="en-US" sz="2000" dirty="0" err="1"/>
              <a:t>FindSet</a:t>
            </a:r>
            <a:r>
              <a:rPr lang="en-US" sz="2000" dirty="0"/>
              <a:t> </a:t>
            </a:r>
            <a:r>
              <a:rPr lang="ru-RU" sz="2000" dirty="0"/>
              <a:t>=</a:t>
            </a:r>
            <a:r>
              <a:rPr lang="en-US" sz="2000" dirty="0"/>
              <a:t> </a:t>
            </a:r>
            <a:r>
              <a:rPr lang="ru-RU" sz="2000" dirty="0"/>
              <a:t>корень дерева, содержащего элемент,</a:t>
            </a:r>
            <a:r>
              <a:rPr lang="en-US" sz="2000" dirty="0"/>
              <a:t> </a:t>
            </a:r>
            <a:r>
              <a:rPr lang="en-US" sz="2000" dirty="0" err="1"/>
              <a:t>MergeSets</a:t>
            </a:r>
            <a:r>
              <a:rPr lang="en-US" sz="2000" dirty="0"/>
              <a:t> </a:t>
            </a:r>
            <a:r>
              <a:rPr lang="ru-RU" sz="2000" dirty="0"/>
              <a:t>= объединение деревьев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#</a:t>
            </a:r>
            <a:r>
              <a:rPr lang="ru-RU" sz="2400" dirty="0"/>
              <a:t> элементов </a:t>
            </a:r>
            <a:r>
              <a:rPr lang="en-US" sz="2400" dirty="0"/>
              <a:t>^ 2</a:t>
            </a:r>
            <a:r>
              <a:rPr lang="ru-RU" sz="2400" dirty="0"/>
              <a:t>)</a:t>
            </a:r>
          </a:p>
          <a:p>
            <a:r>
              <a:rPr lang="ru-RU" sz="2400" dirty="0"/>
              <a:t>все </a:t>
            </a:r>
            <a:r>
              <a:rPr lang="en-US" sz="2400" dirty="0" err="1"/>
              <a:t>MergeSets</a:t>
            </a:r>
            <a:r>
              <a:rPr lang="en-US" sz="2400" dirty="0"/>
              <a:t> –</a:t>
            </a:r>
            <a:r>
              <a:rPr lang="ru-RU" sz="2400" dirty="0"/>
              <a:t> O(</a:t>
            </a:r>
            <a:r>
              <a:rPr lang="en-US" sz="2400" dirty="0"/>
              <a:t>#</a:t>
            </a:r>
            <a:r>
              <a:rPr lang="ru-RU" sz="2400" dirty="0"/>
              <a:t> элементов) 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3" name="Объект 3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Лес с объединением по рангу </a:t>
            </a:r>
          </a:p>
          <a:p>
            <a:pPr lvl="1"/>
            <a:r>
              <a:rPr lang="ru-RU" sz="2000" dirty="0"/>
              <a:t>Ранг множества = высота его дерева</a:t>
            </a:r>
          </a:p>
          <a:p>
            <a:r>
              <a:rPr lang="en-US" sz="2400" dirty="0"/>
              <a:t>N = # </a:t>
            </a:r>
            <a:r>
              <a:rPr lang="ru-RU" sz="2400" dirty="0"/>
              <a:t>элементов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ru-RU" sz="2400" dirty="0" err="1">
                <a:solidFill>
                  <a:schemeClr val="bg1"/>
                </a:solidFill>
              </a:rPr>
              <a:t>FindSet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 * </a:t>
            </a:r>
            <a:r>
              <a:rPr lang="ru-RU" sz="2400" dirty="0" err="1">
                <a:solidFill>
                  <a:schemeClr val="bg1"/>
                </a:solidFill>
              </a:rPr>
              <a:t>log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Корнем становится корень дерева с большей высотой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может увеличиться не более </a:t>
            </a:r>
            <a:r>
              <a:rPr lang="en-US" sz="2000" dirty="0">
                <a:solidFill>
                  <a:schemeClr val="bg1"/>
                </a:solidFill>
              </a:rPr>
              <a:t>log(N)</a:t>
            </a:r>
            <a:r>
              <a:rPr lang="ru-RU" sz="2000" dirty="0">
                <a:solidFill>
                  <a:schemeClr val="bg1"/>
                </a:solidFill>
              </a:rPr>
              <a:t> раз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Каждая операция </a:t>
            </a:r>
            <a:r>
              <a:rPr lang="ru-RU" sz="2000" dirty="0" err="1">
                <a:solidFill>
                  <a:schemeClr val="bg1"/>
                </a:solidFill>
              </a:rPr>
              <a:t>FindSet</a:t>
            </a:r>
            <a:r>
              <a:rPr lang="ru-RU" sz="2000" dirty="0">
                <a:solidFill>
                  <a:schemeClr val="bg1"/>
                </a:solidFill>
              </a:rPr>
              <a:t> – </a:t>
            </a:r>
            <a:r>
              <a:rPr lang="en-US" sz="2000" dirty="0">
                <a:solidFill>
                  <a:schemeClr val="bg1"/>
                </a:solidFill>
              </a:rPr>
              <a:t>O(log N)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  <p:grpSp>
        <p:nvGrpSpPr>
          <p:cNvPr id="31" name="Группа 30"/>
          <p:cNvGrpSpPr/>
          <p:nvPr/>
        </p:nvGrpSpPr>
        <p:grpSpPr>
          <a:xfrm>
            <a:off x="786530" y="4731670"/>
            <a:ext cx="936626" cy="576263"/>
            <a:chOff x="1199456" y="5748116"/>
            <a:chExt cx="936626" cy="576263"/>
          </a:xfrm>
        </p:grpSpPr>
        <p:sp>
          <p:nvSpPr>
            <p:cNvPr id="65566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2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3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4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5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6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63" name="Прямая соединительная линия 62"/>
            <p:cNvCxnSpPr>
              <a:stCxn id="65566" idx="3"/>
              <a:endCxn id="65573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>
              <a:stCxn id="65566" idx="5"/>
              <a:endCxn id="65575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>
              <a:stCxn id="65574" idx="0"/>
              <a:endCxn id="65566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>
              <a:stCxn id="65576" idx="1"/>
              <a:endCxn id="65566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>
              <a:stCxn id="65566" idx="2"/>
              <a:endCxn id="65572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Группа 29"/>
          <p:cNvGrpSpPr/>
          <p:nvPr/>
        </p:nvGrpSpPr>
        <p:grpSpPr>
          <a:xfrm>
            <a:off x="2207568" y="4581128"/>
            <a:ext cx="143686" cy="1023395"/>
            <a:chOff x="2856013" y="5244085"/>
            <a:chExt cx="144463" cy="1152526"/>
          </a:xfrm>
        </p:grpSpPr>
        <p:sp>
          <p:nvSpPr>
            <p:cNvPr id="6557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82" name="Прямая соединительная линия 81"/>
            <p:cNvCxnSpPr>
              <a:stCxn id="65578" idx="2"/>
              <a:endCxn id="6557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/>
            <p:cNvCxnSpPr>
              <a:stCxn id="65579" idx="2"/>
              <a:endCxn id="6557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Группа 90"/>
          <p:cNvGrpSpPr/>
          <p:nvPr/>
        </p:nvGrpSpPr>
        <p:grpSpPr>
          <a:xfrm>
            <a:off x="2910441" y="4731670"/>
            <a:ext cx="936626" cy="576263"/>
            <a:chOff x="1199456" y="5748116"/>
            <a:chExt cx="936626" cy="576263"/>
          </a:xfrm>
        </p:grpSpPr>
        <p:sp>
          <p:nvSpPr>
            <p:cNvPr id="92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3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4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5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6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7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98" name="Прямая соединительная линия 97"/>
            <p:cNvCxnSpPr>
              <a:stCxn id="92" idx="3"/>
              <a:endCxn id="94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единительная линия 98"/>
            <p:cNvCxnSpPr>
              <a:stCxn id="92" idx="5"/>
              <a:endCxn id="96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единительная линия 99"/>
            <p:cNvCxnSpPr>
              <a:stCxn id="95" idx="0"/>
              <a:endCxn id="92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единительная линия 100"/>
            <p:cNvCxnSpPr>
              <a:stCxn id="97" idx="1"/>
              <a:endCxn id="92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Прямая соединительная линия 101"/>
            <p:cNvCxnSpPr>
              <a:stCxn id="92" idx="2"/>
              <a:endCxn id="93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Группа 102"/>
          <p:cNvGrpSpPr/>
          <p:nvPr/>
        </p:nvGrpSpPr>
        <p:grpSpPr>
          <a:xfrm>
            <a:off x="3990561" y="5019702"/>
            <a:ext cx="143686" cy="1023395"/>
            <a:chOff x="2856013" y="5244085"/>
            <a:chExt cx="144463" cy="1152526"/>
          </a:xfrm>
        </p:grpSpPr>
        <p:sp>
          <p:nvSpPr>
            <p:cNvPr id="104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5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6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07" name="Прямая соединительная линия 106"/>
            <p:cNvCxnSpPr>
              <a:stCxn id="105" idx="2"/>
              <a:endCxn id="104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/>
            <p:cNvCxnSpPr>
              <a:stCxn id="106" idx="2"/>
              <a:endCxn id="105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Плюс 33"/>
          <p:cNvSpPr/>
          <p:nvPr/>
        </p:nvSpPr>
        <p:spPr>
          <a:xfrm>
            <a:off x="1821223" y="4959030"/>
            <a:ext cx="266182" cy="26618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Равно 34"/>
          <p:cNvSpPr/>
          <p:nvPr/>
        </p:nvSpPr>
        <p:spPr>
          <a:xfrm>
            <a:off x="2495600" y="4935173"/>
            <a:ext cx="270825" cy="27082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7" name="Прямая соединительная линия 36"/>
          <p:cNvCxnSpPr>
            <a:stCxn id="104" idx="2"/>
            <a:endCxn id="92" idx="6"/>
          </p:cNvCxnSpPr>
          <p:nvPr/>
        </p:nvCxnSpPr>
        <p:spPr>
          <a:xfrm flipH="1" flipV="1">
            <a:off x="3413679" y="4803902"/>
            <a:ext cx="648725" cy="215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Группа 133"/>
          <p:cNvGrpSpPr/>
          <p:nvPr/>
        </p:nvGrpSpPr>
        <p:grpSpPr>
          <a:xfrm>
            <a:off x="4583310" y="4980229"/>
            <a:ext cx="936626" cy="576263"/>
            <a:chOff x="1199456" y="5748116"/>
            <a:chExt cx="936626" cy="576263"/>
          </a:xfrm>
        </p:grpSpPr>
        <p:sp>
          <p:nvSpPr>
            <p:cNvPr id="135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6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7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8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9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0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41" name="Прямая соединительная линия 140"/>
            <p:cNvCxnSpPr>
              <a:stCxn id="135" idx="3"/>
              <a:endCxn id="137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Прямая соединительная линия 141"/>
            <p:cNvCxnSpPr>
              <a:stCxn id="135" idx="5"/>
              <a:endCxn id="139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Прямая соединительная линия 142"/>
            <p:cNvCxnSpPr>
              <a:stCxn id="138" idx="0"/>
              <a:endCxn id="135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Прямая соединительная линия 143"/>
            <p:cNvCxnSpPr>
              <a:stCxn id="140" idx="1"/>
              <a:endCxn id="135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Прямая соединительная линия 144"/>
            <p:cNvCxnSpPr>
              <a:stCxn id="135" idx="2"/>
              <a:endCxn id="136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Группа 145"/>
          <p:cNvGrpSpPr/>
          <p:nvPr/>
        </p:nvGrpSpPr>
        <p:grpSpPr>
          <a:xfrm>
            <a:off x="5620631" y="4599365"/>
            <a:ext cx="143686" cy="1023395"/>
            <a:chOff x="2856013" y="5244085"/>
            <a:chExt cx="144463" cy="1152526"/>
          </a:xfrm>
        </p:grpSpPr>
        <p:sp>
          <p:nvSpPr>
            <p:cNvPr id="14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50" name="Прямая соединительная линия 149"/>
            <p:cNvCxnSpPr>
              <a:stCxn id="148" idx="2"/>
              <a:endCxn id="14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Прямая соединительная линия 150"/>
            <p:cNvCxnSpPr>
              <a:stCxn id="149" idx="2"/>
              <a:endCxn id="14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4" name="Прямая соединительная линия 153"/>
          <p:cNvCxnSpPr>
            <a:stCxn id="147" idx="5"/>
            <a:endCxn id="135" idx="0"/>
          </p:cNvCxnSpPr>
          <p:nvPr/>
        </p:nvCxnSpPr>
        <p:spPr>
          <a:xfrm flipH="1">
            <a:off x="5024636" y="4708857"/>
            <a:ext cx="617037" cy="271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68095" y="4883090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или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41717" y="5739782"/>
            <a:ext cx="813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плохо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767890" y="5756362"/>
            <a:ext cx="996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хорошо</a:t>
            </a:r>
          </a:p>
        </p:txBody>
      </p:sp>
    </p:spTree>
    <p:extLst>
      <p:ext uri="{BB962C8B-B14F-4D97-AF65-F5344CB8AC3E}">
        <p14:creationId xmlns:p14="http://schemas.microsoft.com/office/powerpoint/2010/main" val="226058386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СНМ на основе деревьев 1/2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Лес</a:t>
            </a:r>
          </a:p>
          <a:p>
            <a:pPr lvl="1"/>
            <a:r>
              <a:rPr lang="ru-RU" sz="2000" dirty="0"/>
              <a:t>элементы каждого множества объединяем в дерево</a:t>
            </a:r>
            <a:endParaRPr lang="en-US" sz="2000" dirty="0"/>
          </a:p>
          <a:p>
            <a:pPr lvl="1"/>
            <a:r>
              <a:rPr lang="en-US" sz="2000" dirty="0" err="1"/>
              <a:t>FindSet</a:t>
            </a:r>
            <a:r>
              <a:rPr lang="en-US" sz="2000" dirty="0"/>
              <a:t> </a:t>
            </a:r>
            <a:r>
              <a:rPr lang="ru-RU" sz="2000" dirty="0"/>
              <a:t>=</a:t>
            </a:r>
            <a:r>
              <a:rPr lang="en-US" sz="2000" dirty="0"/>
              <a:t> </a:t>
            </a:r>
            <a:r>
              <a:rPr lang="ru-RU" sz="2000" dirty="0"/>
              <a:t>корень дерева, содержащего элемент,</a:t>
            </a:r>
            <a:r>
              <a:rPr lang="en-US" sz="2000" dirty="0"/>
              <a:t> </a:t>
            </a:r>
            <a:r>
              <a:rPr lang="en-US" sz="2000" dirty="0" err="1"/>
              <a:t>MergeSets</a:t>
            </a:r>
            <a:r>
              <a:rPr lang="en-US" sz="2000" dirty="0"/>
              <a:t> </a:t>
            </a:r>
            <a:r>
              <a:rPr lang="ru-RU" sz="2000" dirty="0"/>
              <a:t>= объединение деревьев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#</a:t>
            </a:r>
            <a:r>
              <a:rPr lang="ru-RU" sz="2400" dirty="0"/>
              <a:t> элементов </a:t>
            </a:r>
            <a:r>
              <a:rPr lang="en-US" sz="2400" dirty="0"/>
              <a:t>^ 2</a:t>
            </a:r>
            <a:r>
              <a:rPr lang="ru-RU" sz="2400" dirty="0"/>
              <a:t>)</a:t>
            </a:r>
          </a:p>
          <a:p>
            <a:r>
              <a:rPr lang="ru-RU" sz="2400" dirty="0"/>
              <a:t>все </a:t>
            </a:r>
            <a:r>
              <a:rPr lang="en-US" sz="2400" dirty="0" err="1"/>
              <a:t>MergeSets</a:t>
            </a:r>
            <a:r>
              <a:rPr lang="en-US" sz="2400" dirty="0"/>
              <a:t> –</a:t>
            </a:r>
            <a:r>
              <a:rPr lang="ru-RU" sz="2400" dirty="0"/>
              <a:t> O(</a:t>
            </a:r>
            <a:r>
              <a:rPr lang="en-US" sz="2400" dirty="0"/>
              <a:t>#</a:t>
            </a:r>
            <a:r>
              <a:rPr lang="ru-RU" sz="2400" dirty="0"/>
              <a:t> элементов) 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3" name="Объект 3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Лес с объединением по рангу </a:t>
            </a:r>
          </a:p>
          <a:p>
            <a:pPr lvl="1"/>
            <a:r>
              <a:rPr lang="ru-RU" sz="2000" dirty="0"/>
              <a:t>Ранг множества = высота его дерева</a:t>
            </a:r>
          </a:p>
          <a:p>
            <a:r>
              <a:rPr lang="en-US" sz="2400" dirty="0"/>
              <a:t>N = # </a:t>
            </a:r>
            <a:r>
              <a:rPr lang="ru-RU" sz="2400" dirty="0"/>
              <a:t>элементов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N * </a:t>
            </a:r>
            <a:r>
              <a:rPr lang="ru-RU" sz="2400" dirty="0" err="1"/>
              <a:t>log</a:t>
            </a:r>
            <a:r>
              <a:rPr lang="ru-RU" sz="2400" dirty="0"/>
              <a:t> </a:t>
            </a:r>
            <a:r>
              <a:rPr lang="en-US" sz="2400" dirty="0"/>
              <a:t>N</a:t>
            </a:r>
            <a:r>
              <a:rPr lang="ru-RU" sz="2400" dirty="0"/>
              <a:t>)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все </a:t>
            </a:r>
            <a:r>
              <a:rPr lang="en-US" sz="2400" dirty="0" err="1">
                <a:solidFill>
                  <a:schemeClr val="bg1"/>
                </a:solidFill>
              </a:rPr>
              <a:t>MergeSets</a:t>
            </a:r>
            <a:r>
              <a:rPr lang="ru-RU" sz="2400" dirty="0">
                <a:solidFill>
                  <a:schemeClr val="bg1"/>
                </a:solidFill>
              </a:rPr>
              <a:t> – O(</a:t>
            </a:r>
            <a:r>
              <a:rPr lang="en-US" sz="2400" dirty="0">
                <a:solidFill>
                  <a:schemeClr val="bg1"/>
                </a:solidFill>
              </a:rPr>
              <a:t>N</a:t>
            </a:r>
            <a:r>
              <a:rPr lang="ru-RU" sz="2400" dirty="0">
                <a:solidFill>
                  <a:schemeClr val="bg1"/>
                </a:solidFill>
              </a:rPr>
              <a:t>)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Корнем становится корень дерева с большей высотой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может увеличиться не более </a:t>
            </a:r>
            <a:r>
              <a:rPr lang="en-US" sz="2000" dirty="0">
                <a:solidFill>
                  <a:schemeClr val="bg1"/>
                </a:solidFill>
              </a:rPr>
              <a:t>log(N)</a:t>
            </a:r>
            <a:r>
              <a:rPr lang="ru-RU" sz="2000" dirty="0">
                <a:solidFill>
                  <a:schemeClr val="bg1"/>
                </a:solidFill>
              </a:rPr>
              <a:t> раз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Каждая операция </a:t>
            </a:r>
            <a:r>
              <a:rPr lang="ru-RU" sz="2000" dirty="0" err="1">
                <a:solidFill>
                  <a:schemeClr val="bg1"/>
                </a:solidFill>
              </a:rPr>
              <a:t>FindSet</a:t>
            </a:r>
            <a:r>
              <a:rPr lang="ru-RU" sz="2000" dirty="0">
                <a:solidFill>
                  <a:schemeClr val="bg1"/>
                </a:solidFill>
              </a:rPr>
              <a:t> – </a:t>
            </a:r>
            <a:r>
              <a:rPr lang="en-US" sz="2000" dirty="0">
                <a:solidFill>
                  <a:schemeClr val="bg1"/>
                </a:solidFill>
              </a:rPr>
              <a:t>O(log N)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endParaRPr lang="ru-RU" sz="2000" dirty="0"/>
          </a:p>
          <a:p>
            <a:endParaRPr lang="ru-RU" sz="2400" dirty="0"/>
          </a:p>
        </p:txBody>
      </p:sp>
      <p:grpSp>
        <p:nvGrpSpPr>
          <p:cNvPr id="31" name="Группа 30"/>
          <p:cNvGrpSpPr/>
          <p:nvPr/>
        </p:nvGrpSpPr>
        <p:grpSpPr>
          <a:xfrm>
            <a:off x="786530" y="4731670"/>
            <a:ext cx="936626" cy="576263"/>
            <a:chOff x="1199456" y="5748116"/>
            <a:chExt cx="936626" cy="576263"/>
          </a:xfrm>
        </p:grpSpPr>
        <p:sp>
          <p:nvSpPr>
            <p:cNvPr id="65566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2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3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4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5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6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63" name="Прямая соединительная линия 62"/>
            <p:cNvCxnSpPr>
              <a:stCxn id="65566" idx="3"/>
              <a:endCxn id="65573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>
              <a:stCxn id="65566" idx="5"/>
              <a:endCxn id="65575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>
              <a:stCxn id="65574" idx="0"/>
              <a:endCxn id="65566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>
              <a:stCxn id="65576" idx="1"/>
              <a:endCxn id="65566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>
              <a:stCxn id="65566" idx="2"/>
              <a:endCxn id="65572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Группа 29"/>
          <p:cNvGrpSpPr/>
          <p:nvPr/>
        </p:nvGrpSpPr>
        <p:grpSpPr>
          <a:xfrm>
            <a:off x="2207568" y="4581128"/>
            <a:ext cx="143686" cy="1023395"/>
            <a:chOff x="2856013" y="5244085"/>
            <a:chExt cx="144463" cy="1152526"/>
          </a:xfrm>
        </p:grpSpPr>
        <p:sp>
          <p:nvSpPr>
            <p:cNvPr id="6557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82" name="Прямая соединительная линия 81"/>
            <p:cNvCxnSpPr>
              <a:stCxn id="65578" idx="2"/>
              <a:endCxn id="6557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/>
            <p:cNvCxnSpPr>
              <a:stCxn id="65579" idx="2"/>
              <a:endCxn id="6557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Группа 90"/>
          <p:cNvGrpSpPr/>
          <p:nvPr/>
        </p:nvGrpSpPr>
        <p:grpSpPr>
          <a:xfrm>
            <a:off x="2910441" y="4731670"/>
            <a:ext cx="936626" cy="576263"/>
            <a:chOff x="1199456" y="5748116"/>
            <a:chExt cx="936626" cy="576263"/>
          </a:xfrm>
        </p:grpSpPr>
        <p:sp>
          <p:nvSpPr>
            <p:cNvPr id="92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3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4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5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6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7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98" name="Прямая соединительная линия 97"/>
            <p:cNvCxnSpPr>
              <a:stCxn id="92" idx="3"/>
              <a:endCxn id="94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единительная линия 98"/>
            <p:cNvCxnSpPr>
              <a:stCxn id="92" idx="5"/>
              <a:endCxn id="96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единительная линия 99"/>
            <p:cNvCxnSpPr>
              <a:stCxn id="95" idx="0"/>
              <a:endCxn id="92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единительная линия 100"/>
            <p:cNvCxnSpPr>
              <a:stCxn id="97" idx="1"/>
              <a:endCxn id="92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Прямая соединительная линия 101"/>
            <p:cNvCxnSpPr>
              <a:stCxn id="92" idx="2"/>
              <a:endCxn id="93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Группа 102"/>
          <p:cNvGrpSpPr/>
          <p:nvPr/>
        </p:nvGrpSpPr>
        <p:grpSpPr>
          <a:xfrm>
            <a:off x="3990561" y="5019702"/>
            <a:ext cx="143686" cy="1023395"/>
            <a:chOff x="2856013" y="5244085"/>
            <a:chExt cx="144463" cy="1152526"/>
          </a:xfrm>
        </p:grpSpPr>
        <p:sp>
          <p:nvSpPr>
            <p:cNvPr id="104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5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6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07" name="Прямая соединительная линия 106"/>
            <p:cNvCxnSpPr>
              <a:stCxn id="105" idx="2"/>
              <a:endCxn id="104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/>
            <p:cNvCxnSpPr>
              <a:stCxn id="106" idx="2"/>
              <a:endCxn id="105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Плюс 33"/>
          <p:cNvSpPr/>
          <p:nvPr/>
        </p:nvSpPr>
        <p:spPr>
          <a:xfrm>
            <a:off x="1821223" y="4959030"/>
            <a:ext cx="266182" cy="26618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Равно 34"/>
          <p:cNvSpPr/>
          <p:nvPr/>
        </p:nvSpPr>
        <p:spPr>
          <a:xfrm>
            <a:off x="2495600" y="4935173"/>
            <a:ext cx="270825" cy="27082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7" name="Прямая соединительная линия 36"/>
          <p:cNvCxnSpPr>
            <a:stCxn id="104" idx="2"/>
            <a:endCxn id="92" idx="6"/>
          </p:cNvCxnSpPr>
          <p:nvPr/>
        </p:nvCxnSpPr>
        <p:spPr>
          <a:xfrm flipH="1" flipV="1">
            <a:off x="3413679" y="4803902"/>
            <a:ext cx="648725" cy="215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Группа 133"/>
          <p:cNvGrpSpPr/>
          <p:nvPr/>
        </p:nvGrpSpPr>
        <p:grpSpPr>
          <a:xfrm>
            <a:off x="4583310" y="4980229"/>
            <a:ext cx="936626" cy="576263"/>
            <a:chOff x="1199456" y="5748116"/>
            <a:chExt cx="936626" cy="576263"/>
          </a:xfrm>
        </p:grpSpPr>
        <p:sp>
          <p:nvSpPr>
            <p:cNvPr id="135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6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7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8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9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0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41" name="Прямая соединительная линия 140"/>
            <p:cNvCxnSpPr>
              <a:stCxn id="135" idx="3"/>
              <a:endCxn id="137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Прямая соединительная линия 141"/>
            <p:cNvCxnSpPr>
              <a:stCxn id="135" idx="5"/>
              <a:endCxn id="139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Прямая соединительная линия 142"/>
            <p:cNvCxnSpPr>
              <a:stCxn id="138" idx="0"/>
              <a:endCxn id="135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Прямая соединительная линия 143"/>
            <p:cNvCxnSpPr>
              <a:stCxn id="140" idx="1"/>
              <a:endCxn id="135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Прямая соединительная линия 144"/>
            <p:cNvCxnSpPr>
              <a:stCxn id="135" idx="2"/>
              <a:endCxn id="136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Группа 145"/>
          <p:cNvGrpSpPr/>
          <p:nvPr/>
        </p:nvGrpSpPr>
        <p:grpSpPr>
          <a:xfrm>
            <a:off x="5620631" y="4599365"/>
            <a:ext cx="143686" cy="1023395"/>
            <a:chOff x="2856013" y="5244085"/>
            <a:chExt cx="144463" cy="1152526"/>
          </a:xfrm>
        </p:grpSpPr>
        <p:sp>
          <p:nvSpPr>
            <p:cNvPr id="14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50" name="Прямая соединительная линия 149"/>
            <p:cNvCxnSpPr>
              <a:stCxn id="148" idx="2"/>
              <a:endCxn id="14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Прямая соединительная линия 150"/>
            <p:cNvCxnSpPr>
              <a:stCxn id="149" idx="2"/>
              <a:endCxn id="14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4" name="Прямая соединительная линия 153"/>
          <p:cNvCxnSpPr>
            <a:stCxn id="147" idx="5"/>
            <a:endCxn id="135" idx="0"/>
          </p:cNvCxnSpPr>
          <p:nvPr/>
        </p:nvCxnSpPr>
        <p:spPr>
          <a:xfrm flipH="1">
            <a:off x="5024636" y="4708857"/>
            <a:ext cx="617037" cy="271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68095" y="4883090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или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41717" y="5739782"/>
            <a:ext cx="813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плохо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767890" y="5756362"/>
            <a:ext cx="996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хорошо</a:t>
            </a:r>
          </a:p>
        </p:txBody>
      </p:sp>
    </p:spTree>
    <p:extLst>
      <p:ext uri="{BB962C8B-B14F-4D97-AF65-F5344CB8AC3E}">
        <p14:creationId xmlns:p14="http://schemas.microsoft.com/office/powerpoint/2010/main" val="209801173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СНМ на основе деревьев 1/2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Лес</a:t>
            </a:r>
          </a:p>
          <a:p>
            <a:pPr lvl="1"/>
            <a:r>
              <a:rPr lang="ru-RU" sz="2000" dirty="0"/>
              <a:t>элементы каждого множества объединяем в дерево</a:t>
            </a:r>
            <a:endParaRPr lang="en-US" sz="2000" dirty="0"/>
          </a:p>
          <a:p>
            <a:pPr lvl="1"/>
            <a:r>
              <a:rPr lang="en-US" sz="2000" dirty="0" err="1"/>
              <a:t>FindSet</a:t>
            </a:r>
            <a:r>
              <a:rPr lang="en-US" sz="2000" dirty="0"/>
              <a:t> </a:t>
            </a:r>
            <a:r>
              <a:rPr lang="ru-RU" sz="2000" dirty="0"/>
              <a:t>=</a:t>
            </a:r>
            <a:r>
              <a:rPr lang="en-US" sz="2000" dirty="0"/>
              <a:t> </a:t>
            </a:r>
            <a:r>
              <a:rPr lang="ru-RU" sz="2000" dirty="0"/>
              <a:t>корень дерева, содержащего элемент,</a:t>
            </a:r>
            <a:r>
              <a:rPr lang="en-US" sz="2000" dirty="0"/>
              <a:t> </a:t>
            </a:r>
            <a:r>
              <a:rPr lang="en-US" sz="2000" dirty="0" err="1"/>
              <a:t>MergeSets</a:t>
            </a:r>
            <a:r>
              <a:rPr lang="en-US" sz="2000" dirty="0"/>
              <a:t> </a:t>
            </a:r>
            <a:r>
              <a:rPr lang="ru-RU" sz="2000" dirty="0"/>
              <a:t>= объединение деревьев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#</a:t>
            </a:r>
            <a:r>
              <a:rPr lang="ru-RU" sz="2400" dirty="0"/>
              <a:t> элементов </a:t>
            </a:r>
            <a:r>
              <a:rPr lang="en-US" sz="2400" dirty="0"/>
              <a:t>^ 2</a:t>
            </a:r>
            <a:r>
              <a:rPr lang="ru-RU" sz="2400" dirty="0"/>
              <a:t>)</a:t>
            </a:r>
          </a:p>
          <a:p>
            <a:r>
              <a:rPr lang="ru-RU" sz="2400" dirty="0"/>
              <a:t>все </a:t>
            </a:r>
            <a:r>
              <a:rPr lang="en-US" sz="2400" dirty="0" err="1"/>
              <a:t>MergeSets</a:t>
            </a:r>
            <a:r>
              <a:rPr lang="en-US" sz="2400" dirty="0"/>
              <a:t> –</a:t>
            </a:r>
            <a:r>
              <a:rPr lang="ru-RU" sz="2400" dirty="0"/>
              <a:t> O(</a:t>
            </a:r>
            <a:r>
              <a:rPr lang="en-US" sz="2400" dirty="0"/>
              <a:t>#</a:t>
            </a:r>
            <a:r>
              <a:rPr lang="ru-RU" sz="2400" dirty="0"/>
              <a:t> элементов) 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3" name="Объект 3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Лес с объединением по рангу </a:t>
            </a:r>
          </a:p>
          <a:p>
            <a:pPr lvl="1"/>
            <a:r>
              <a:rPr lang="ru-RU" sz="2000" dirty="0"/>
              <a:t>Ранг множества = высота его дерева</a:t>
            </a:r>
          </a:p>
          <a:p>
            <a:r>
              <a:rPr lang="en-US" sz="2400" dirty="0"/>
              <a:t>N = # </a:t>
            </a:r>
            <a:r>
              <a:rPr lang="ru-RU" sz="2400" dirty="0"/>
              <a:t>элементов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N * </a:t>
            </a:r>
            <a:r>
              <a:rPr lang="ru-RU" sz="2400" dirty="0" err="1"/>
              <a:t>log</a:t>
            </a:r>
            <a:r>
              <a:rPr lang="ru-RU" sz="2400" dirty="0"/>
              <a:t> </a:t>
            </a:r>
            <a:r>
              <a:rPr lang="en-US" sz="2400" dirty="0"/>
              <a:t>N</a:t>
            </a:r>
            <a:r>
              <a:rPr lang="ru-RU" sz="2400" dirty="0"/>
              <a:t>)</a:t>
            </a:r>
          </a:p>
          <a:p>
            <a:r>
              <a:rPr lang="ru-RU" sz="2400" dirty="0"/>
              <a:t>все </a:t>
            </a:r>
            <a:r>
              <a:rPr lang="en-US" sz="2400" dirty="0" err="1"/>
              <a:t>MergeSets</a:t>
            </a:r>
            <a:r>
              <a:rPr lang="ru-RU" sz="2400" dirty="0"/>
              <a:t> – O(</a:t>
            </a:r>
            <a:r>
              <a:rPr lang="en-US" sz="2400" dirty="0"/>
              <a:t>N</a:t>
            </a:r>
            <a:r>
              <a:rPr lang="ru-RU" sz="2400" dirty="0"/>
              <a:t>)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Корнем становится корень дерева с большей высотой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может увеличиться не более </a:t>
            </a:r>
            <a:r>
              <a:rPr lang="en-US" sz="2000" dirty="0">
                <a:solidFill>
                  <a:schemeClr val="bg1"/>
                </a:solidFill>
              </a:rPr>
              <a:t>log(N)</a:t>
            </a:r>
            <a:r>
              <a:rPr lang="ru-RU" sz="2000" dirty="0">
                <a:solidFill>
                  <a:schemeClr val="bg1"/>
                </a:solidFill>
              </a:rPr>
              <a:t> раз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Каждая операция </a:t>
            </a:r>
            <a:r>
              <a:rPr lang="ru-RU" sz="2000" dirty="0" err="1">
                <a:solidFill>
                  <a:schemeClr val="bg1"/>
                </a:solidFill>
              </a:rPr>
              <a:t>FindSet</a:t>
            </a:r>
            <a:r>
              <a:rPr lang="ru-RU" sz="2000" dirty="0">
                <a:solidFill>
                  <a:schemeClr val="bg1"/>
                </a:solidFill>
              </a:rPr>
              <a:t> – </a:t>
            </a:r>
            <a:r>
              <a:rPr lang="en-US" sz="2000" dirty="0">
                <a:solidFill>
                  <a:schemeClr val="bg1"/>
                </a:solidFill>
              </a:rPr>
              <a:t>O(log N)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  <p:grpSp>
        <p:nvGrpSpPr>
          <p:cNvPr id="31" name="Группа 30"/>
          <p:cNvGrpSpPr/>
          <p:nvPr/>
        </p:nvGrpSpPr>
        <p:grpSpPr>
          <a:xfrm>
            <a:off x="786530" y="4731670"/>
            <a:ext cx="936626" cy="576263"/>
            <a:chOff x="1199456" y="5748116"/>
            <a:chExt cx="936626" cy="576263"/>
          </a:xfrm>
        </p:grpSpPr>
        <p:sp>
          <p:nvSpPr>
            <p:cNvPr id="65566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2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3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4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5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6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63" name="Прямая соединительная линия 62"/>
            <p:cNvCxnSpPr>
              <a:stCxn id="65566" idx="3"/>
              <a:endCxn id="65573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>
              <a:stCxn id="65566" idx="5"/>
              <a:endCxn id="65575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>
              <a:stCxn id="65574" idx="0"/>
              <a:endCxn id="65566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>
              <a:stCxn id="65576" idx="1"/>
              <a:endCxn id="65566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>
              <a:stCxn id="65566" idx="2"/>
              <a:endCxn id="65572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Группа 29"/>
          <p:cNvGrpSpPr/>
          <p:nvPr/>
        </p:nvGrpSpPr>
        <p:grpSpPr>
          <a:xfrm>
            <a:off x="2207568" y="4581128"/>
            <a:ext cx="143686" cy="1023395"/>
            <a:chOff x="2856013" y="5244085"/>
            <a:chExt cx="144463" cy="1152526"/>
          </a:xfrm>
        </p:grpSpPr>
        <p:sp>
          <p:nvSpPr>
            <p:cNvPr id="6557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82" name="Прямая соединительная линия 81"/>
            <p:cNvCxnSpPr>
              <a:stCxn id="65578" idx="2"/>
              <a:endCxn id="6557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/>
            <p:cNvCxnSpPr>
              <a:stCxn id="65579" idx="2"/>
              <a:endCxn id="6557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Группа 90"/>
          <p:cNvGrpSpPr/>
          <p:nvPr/>
        </p:nvGrpSpPr>
        <p:grpSpPr>
          <a:xfrm>
            <a:off x="2910441" y="4731670"/>
            <a:ext cx="936626" cy="576263"/>
            <a:chOff x="1199456" y="5748116"/>
            <a:chExt cx="936626" cy="576263"/>
          </a:xfrm>
        </p:grpSpPr>
        <p:sp>
          <p:nvSpPr>
            <p:cNvPr id="92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3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4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5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6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7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98" name="Прямая соединительная линия 97"/>
            <p:cNvCxnSpPr>
              <a:stCxn id="92" idx="3"/>
              <a:endCxn id="94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единительная линия 98"/>
            <p:cNvCxnSpPr>
              <a:stCxn id="92" idx="5"/>
              <a:endCxn id="96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единительная линия 99"/>
            <p:cNvCxnSpPr>
              <a:stCxn id="95" idx="0"/>
              <a:endCxn id="92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единительная линия 100"/>
            <p:cNvCxnSpPr>
              <a:stCxn id="97" idx="1"/>
              <a:endCxn id="92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Прямая соединительная линия 101"/>
            <p:cNvCxnSpPr>
              <a:stCxn id="92" idx="2"/>
              <a:endCxn id="93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Группа 102"/>
          <p:cNvGrpSpPr/>
          <p:nvPr/>
        </p:nvGrpSpPr>
        <p:grpSpPr>
          <a:xfrm>
            <a:off x="3990561" y="5019702"/>
            <a:ext cx="143686" cy="1023395"/>
            <a:chOff x="2856013" y="5244085"/>
            <a:chExt cx="144463" cy="1152526"/>
          </a:xfrm>
        </p:grpSpPr>
        <p:sp>
          <p:nvSpPr>
            <p:cNvPr id="104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5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6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07" name="Прямая соединительная линия 106"/>
            <p:cNvCxnSpPr>
              <a:stCxn id="105" idx="2"/>
              <a:endCxn id="104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/>
            <p:cNvCxnSpPr>
              <a:stCxn id="106" idx="2"/>
              <a:endCxn id="105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Плюс 33"/>
          <p:cNvSpPr/>
          <p:nvPr/>
        </p:nvSpPr>
        <p:spPr>
          <a:xfrm>
            <a:off x="1821223" y="4959030"/>
            <a:ext cx="266182" cy="26618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Равно 34"/>
          <p:cNvSpPr/>
          <p:nvPr/>
        </p:nvSpPr>
        <p:spPr>
          <a:xfrm>
            <a:off x="2495600" y="4935173"/>
            <a:ext cx="270825" cy="27082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7" name="Прямая соединительная линия 36"/>
          <p:cNvCxnSpPr>
            <a:stCxn id="104" idx="2"/>
            <a:endCxn id="92" idx="6"/>
          </p:cNvCxnSpPr>
          <p:nvPr/>
        </p:nvCxnSpPr>
        <p:spPr>
          <a:xfrm flipH="1" flipV="1">
            <a:off x="3413679" y="4803902"/>
            <a:ext cx="648725" cy="215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Группа 133"/>
          <p:cNvGrpSpPr/>
          <p:nvPr/>
        </p:nvGrpSpPr>
        <p:grpSpPr>
          <a:xfrm>
            <a:off x="4583310" y="4980229"/>
            <a:ext cx="936626" cy="576263"/>
            <a:chOff x="1199456" y="5748116"/>
            <a:chExt cx="936626" cy="576263"/>
          </a:xfrm>
        </p:grpSpPr>
        <p:sp>
          <p:nvSpPr>
            <p:cNvPr id="135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6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7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8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9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0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41" name="Прямая соединительная линия 140"/>
            <p:cNvCxnSpPr>
              <a:stCxn id="135" idx="3"/>
              <a:endCxn id="137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Прямая соединительная линия 141"/>
            <p:cNvCxnSpPr>
              <a:stCxn id="135" idx="5"/>
              <a:endCxn id="139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Прямая соединительная линия 142"/>
            <p:cNvCxnSpPr>
              <a:stCxn id="138" idx="0"/>
              <a:endCxn id="135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Прямая соединительная линия 143"/>
            <p:cNvCxnSpPr>
              <a:stCxn id="140" idx="1"/>
              <a:endCxn id="135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Прямая соединительная линия 144"/>
            <p:cNvCxnSpPr>
              <a:stCxn id="135" idx="2"/>
              <a:endCxn id="136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Группа 145"/>
          <p:cNvGrpSpPr/>
          <p:nvPr/>
        </p:nvGrpSpPr>
        <p:grpSpPr>
          <a:xfrm>
            <a:off x="5620631" y="4599365"/>
            <a:ext cx="143686" cy="1023395"/>
            <a:chOff x="2856013" y="5244085"/>
            <a:chExt cx="144463" cy="1152526"/>
          </a:xfrm>
        </p:grpSpPr>
        <p:sp>
          <p:nvSpPr>
            <p:cNvPr id="14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50" name="Прямая соединительная линия 149"/>
            <p:cNvCxnSpPr>
              <a:stCxn id="148" idx="2"/>
              <a:endCxn id="14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Прямая соединительная линия 150"/>
            <p:cNvCxnSpPr>
              <a:stCxn id="149" idx="2"/>
              <a:endCxn id="14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4" name="Прямая соединительная линия 153"/>
          <p:cNvCxnSpPr>
            <a:stCxn id="147" idx="5"/>
            <a:endCxn id="135" idx="0"/>
          </p:cNvCxnSpPr>
          <p:nvPr/>
        </p:nvCxnSpPr>
        <p:spPr>
          <a:xfrm flipH="1">
            <a:off x="5024636" y="4708857"/>
            <a:ext cx="617037" cy="271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68095" y="4883090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или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41717" y="5739782"/>
            <a:ext cx="813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плохо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767890" y="5756362"/>
            <a:ext cx="996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хорошо</a:t>
            </a:r>
          </a:p>
        </p:txBody>
      </p:sp>
    </p:spTree>
    <p:extLst>
      <p:ext uri="{BB962C8B-B14F-4D97-AF65-F5344CB8AC3E}">
        <p14:creationId xmlns:p14="http://schemas.microsoft.com/office/powerpoint/2010/main" val="61451313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СНМ на основе деревьев 1/2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Лес</a:t>
            </a:r>
          </a:p>
          <a:p>
            <a:pPr lvl="1"/>
            <a:r>
              <a:rPr lang="ru-RU" sz="2000" dirty="0"/>
              <a:t>элементы каждого множества объединяем в дерево</a:t>
            </a:r>
            <a:endParaRPr lang="en-US" sz="2000" dirty="0"/>
          </a:p>
          <a:p>
            <a:pPr lvl="1"/>
            <a:r>
              <a:rPr lang="en-US" sz="2000" dirty="0" err="1"/>
              <a:t>FindSet</a:t>
            </a:r>
            <a:r>
              <a:rPr lang="en-US" sz="2000" dirty="0"/>
              <a:t> </a:t>
            </a:r>
            <a:r>
              <a:rPr lang="ru-RU" sz="2000" dirty="0"/>
              <a:t>=</a:t>
            </a:r>
            <a:r>
              <a:rPr lang="en-US" sz="2000" dirty="0"/>
              <a:t> </a:t>
            </a:r>
            <a:r>
              <a:rPr lang="ru-RU" sz="2000" dirty="0"/>
              <a:t>корень дерева, содержащего элемент,</a:t>
            </a:r>
            <a:r>
              <a:rPr lang="en-US" sz="2000" dirty="0"/>
              <a:t> </a:t>
            </a:r>
            <a:r>
              <a:rPr lang="en-US" sz="2000" dirty="0" err="1"/>
              <a:t>MergeSets</a:t>
            </a:r>
            <a:r>
              <a:rPr lang="en-US" sz="2000" dirty="0"/>
              <a:t> </a:t>
            </a:r>
            <a:r>
              <a:rPr lang="ru-RU" sz="2000" dirty="0"/>
              <a:t>= объединение деревьев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#</a:t>
            </a:r>
            <a:r>
              <a:rPr lang="ru-RU" sz="2400" dirty="0"/>
              <a:t> элементов </a:t>
            </a:r>
            <a:r>
              <a:rPr lang="en-US" sz="2400" dirty="0"/>
              <a:t>^ 2</a:t>
            </a:r>
            <a:r>
              <a:rPr lang="ru-RU" sz="2400" dirty="0"/>
              <a:t>)</a:t>
            </a:r>
          </a:p>
          <a:p>
            <a:r>
              <a:rPr lang="ru-RU" sz="2400" dirty="0"/>
              <a:t>все </a:t>
            </a:r>
            <a:r>
              <a:rPr lang="en-US" sz="2400" dirty="0" err="1"/>
              <a:t>MergeSets</a:t>
            </a:r>
            <a:r>
              <a:rPr lang="en-US" sz="2400" dirty="0"/>
              <a:t> –</a:t>
            </a:r>
            <a:r>
              <a:rPr lang="ru-RU" sz="2400" dirty="0"/>
              <a:t> O(</a:t>
            </a:r>
            <a:r>
              <a:rPr lang="en-US" sz="2400" dirty="0"/>
              <a:t>#</a:t>
            </a:r>
            <a:r>
              <a:rPr lang="ru-RU" sz="2400" dirty="0"/>
              <a:t> элементов) 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3" name="Объект 3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Лес с объединением по рангу </a:t>
            </a:r>
          </a:p>
          <a:p>
            <a:pPr lvl="1"/>
            <a:r>
              <a:rPr lang="ru-RU" sz="2000" dirty="0"/>
              <a:t>Ранг множества = высота его дерева</a:t>
            </a:r>
          </a:p>
          <a:p>
            <a:r>
              <a:rPr lang="en-US" sz="2400" dirty="0"/>
              <a:t>N = # </a:t>
            </a:r>
            <a:r>
              <a:rPr lang="ru-RU" sz="2400" dirty="0"/>
              <a:t>элементов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N * </a:t>
            </a:r>
            <a:r>
              <a:rPr lang="ru-RU" sz="2400" dirty="0" err="1"/>
              <a:t>log</a:t>
            </a:r>
            <a:r>
              <a:rPr lang="ru-RU" sz="2400" dirty="0"/>
              <a:t> </a:t>
            </a:r>
            <a:r>
              <a:rPr lang="en-US" sz="2400" dirty="0"/>
              <a:t>N</a:t>
            </a:r>
            <a:r>
              <a:rPr lang="ru-RU" sz="2400" dirty="0"/>
              <a:t>)</a:t>
            </a:r>
          </a:p>
          <a:p>
            <a:r>
              <a:rPr lang="ru-RU" sz="2400" dirty="0"/>
              <a:t>все </a:t>
            </a:r>
            <a:r>
              <a:rPr lang="en-US" sz="2400" dirty="0" err="1"/>
              <a:t>MergeSets</a:t>
            </a:r>
            <a:r>
              <a:rPr lang="ru-RU" sz="2400" dirty="0"/>
              <a:t> – O(</a:t>
            </a:r>
            <a:r>
              <a:rPr lang="en-US" sz="2400" dirty="0"/>
              <a:t>N</a:t>
            </a:r>
            <a:r>
              <a:rPr lang="ru-RU" sz="2400" dirty="0"/>
              <a:t>) </a:t>
            </a:r>
          </a:p>
          <a:p>
            <a:pPr lvl="1"/>
            <a:r>
              <a:rPr lang="ru-RU" sz="2000" dirty="0"/>
              <a:t>Корнем становится корень дерева с большей высотой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Ранг множества может увеличиться не более </a:t>
            </a:r>
            <a:r>
              <a:rPr lang="en-US" sz="2000" dirty="0">
                <a:solidFill>
                  <a:schemeClr val="bg1"/>
                </a:solidFill>
              </a:rPr>
              <a:t>log(N)</a:t>
            </a:r>
            <a:r>
              <a:rPr lang="ru-RU" sz="2000" dirty="0">
                <a:solidFill>
                  <a:schemeClr val="bg1"/>
                </a:solidFill>
              </a:rPr>
              <a:t> раз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Каждая операция </a:t>
            </a:r>
            <a:r>
              <a:rPr lang="ru-RU" sz="2000" dirty="0" err="1">
                <a:solidFill>
                  <a:schemeClr val="bg1"/>
                </a:solidFill>
              </a:rPr>
              <a:t>FindSet</a:t>
            </a:r>
            <a:r>
              <a:rPr lang="ru-RU" sz="2000" dirty="0">
                <a:solidFill>
                  <a:schemeClr val="bg1"/>
                </a:solidFill>
              </a:rPr>
              <a:t> – </a:t>
            </a:r>
            <a:r>
              <a:rPr lang="en-US" sz="2000" dirty="0">
                <a:solidFill>
                  <a:schemeClr val="bg1"/>
                </a:solidFill>
              </a:rPr>
              <a:t>O(log N)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  <p:grpSp>
        <p:nvGrpSpPr>
          <p:cNvPr id="31" name="Группа 30"/>
          <p:cNvGrpSpPr/>
          <p:nvPr/>
        </p:nvGrpSpPr>
        <p:grpSpPr>
          <a:xfrm>
            <a:off x="786530" y="4731670"/>
            <a:ext cx="936626" cy="576263"/>
            <a:chOff x="1199456" y="5748116"/>
            <a:chExt cx="936626" cy="576263"/>
          </a:xfrm>
        </p:grpSpPr>
        <p:sp>
          <p:nvSpPr>
            <p:cNvPr id="65566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2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3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4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5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6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63" name="Прямая соединительная линия 62"/>
            <p:cNvCxnSpPr>
              <a:stCxn id="65566" idx="3"/>
              <a:endCxn id="65573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>
              <a:stCxn id="65566" idx="5"/>
              <a:endCxn id="65575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>
              <a:stCxn id="65574" idx="0"/>
              <a:endCxn id="65566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>
              <a:stCxn id="65576" idx="1"/>
              <a:endCxn id="65566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>
              <a:stCxn id="65566" idx="2"/>
              <a:endCxn id="65572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Группа 29"/>
          <p:cNvGrpSpPr/>
          <p:nvPr/>
        </p:nvGrpSpPr>
        <p:grpSpPr>
          <a:xfrm>
            <a:off x="2207568" y="4581128"/>
            <a:ext cx="143686" cy="1023395"/>
            <a:chOff x="2856013" y="5244085"/>
            <a:chExt cx="144463" cy="1152526"/>
          </a:xfrm>
        </p:grpSpPr>
        <p:sp>
          <p:nvSpPr>
            <p:cNvPr id="6557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82" name="Прямая соединительная линия 81"/>
            <p:cNvCxnSpPr>
              <a:stCxn id="65578" idx="2"/>
              <a:endCxn id="6557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/>
            <p:cNvCxnSpPr>
              <a:stCxn id="65579" idx="2"/>
              <a:endCxn id="6557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Группа 90"/>
          <p:cNvGrpSpPr/>
          <p:nvPr/>
        </p:nvGrpSpPr>
        <p:grpSpPr>
          <a:xfrm>
            <a:off x="2910441" y="4731670"/>
            <a:ext cx="936626" cy="576263"/>
            <a:chOff x="1199456" y="5748116"/>
            <a:chExt cx="936626" cy="576263"/>
          </a:xfrm>
        </p:grpSpPr>
        <p:sp>
          <p:nvSpPr>
            <p:cNvPr id="92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3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4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5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6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7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98" name="Прямая соединительная линия 97"/>
            <p:cNvCxnSpPr>
              <a:stCxn id="92" idx="3"/>
              <a:endCxn id="94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единительная линия 98"/>
            <p:cNvCxnSpPr>
              <a:stCxn id="92" idx="5"/>
              <a:endCxn id="96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единительная линия 99"/>
            <p:cNvCxnSpPr>
              <a:stCxn id="95" idx="0"/>
              <a:endCxn id="92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единительная линия 100"/>
            <p:cNvCxnSpPr>
              <a:stCxn id="97" idx="1"/>
              <a:endCxn id="92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Прямая соединительная линия 101"/>
            <p:cNvCxnSpPr>
              <a:stCxn id="92" idx="2"/>
              <a:endCxn id="93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Группа 102"/>
          <p:cNvGrpSpPr/>
          <p:nvPr/>
        </p:nvGrpSpPr>
        <p:grpSpPr>
          <a:xfrm>
            <a:off x="3990561" y="5019702"/>
            <a:ext cx="143686" cy="1023395"/>
            <a:chOff x="2856013" y="5244085"/>
            <a:chExt cx="144463" cy="1152526"/>
          </a:xfrm>
        </p:grpSpPr>
        <p:sp>
          <p:nvSpPr>
            <p:cNvPr id="104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5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6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07" name="Прямая соединительная линия 106"/>
            <p:cNvCxnSpPr>
              <a:stCxn id="105" idx="2"/>
              <a:endCxn id="104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/>
            <p:cNvCxnSpPr>
              <a:stCxn id="106" idx="2"/>
              <a:endCxn id="105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Плюс 33"/>
          <p:cNvSpPr/>
          <p:nvPr/>
        </p:nvSpPr>
        <p:spPr>
          <a:xfrm>
            <a:off x="1821223" y="4959030"/>
            <a:ext cx="266182" cy="26618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Равно 34"/>
          <p:cNvSpPr/>
          <p:nvPr/>
        </p:nvSpPr>
        <p:spPr>
          <a:xfrm>
            <a:off x="2495600" y="4935173"/>
            <a:ext cx="270825" cy="27082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7" name="Прямая соединительная линия 36"/>
          <p:cNvCxnSpPr>
            <a:stCxn id="104" idx="2"/>
            <a:endCxn id="92" idx="6"/>
          </p:cNvCxnSpPr>
          <p:nvPr/>
        </p:nvCxnSpPr>
        <p:spPr>
          <a:xfrm flipH="1" flipV="1">
            <a:off x="3413679" y="4803902"/>
            <a:ext cx="648725" cy="215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Группа 133"/>
          <p:cNvGrpSpPr/>
          <p:nvPr/>
        </p:nvGrpSpPr>
        <p:grpSpPr>
          <a:xfrm>
            <a:off x="4583310" y="4980229"/>
            <a:ext cx="936626" cy="576263"/>
            <a:chOff x="1199456" y="5748116"/>
            <a:chExt cx="936626" cy="576263"/>
          </a:xfrm>
        </p:grpSpPr>
        <p:sp>
          <p:nvSpPr>
            <p:cNvPr id="135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6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7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8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9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0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41" name="Прямая соединительная линия 140"/>
            <p:cNvCxnSpPr>
              <a:stCxn id="135" idx="3"/>
              <a:endCxn id="137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Прямая соединительная линия 141"/>
            <p:cNvCxnSpPr>
              <a:stCxn id="135" idx="5"/>
              <a:endCxn id="139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Прямая соединительная линия 142"/>
            <p:cNvCxnSpPr>
              <a:stCxn id="138" idx="0"/>
              <a:endCxn id="135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Прямая соединительная линия 143"/>
            <p:cNvCxnSpPr>
              <a:stCxn id="140" idx="1"/>
              <a:endCxn id="135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Прямая соединительная линия 144"/>
            <p:cNvCxnSpPr>
              <a:stCxn id="135" idx="2"/>
              <a:endCxn id="136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Группа 145"/>
          <p:cNvGrpSpPr/>
          <p:nvPr/>
        </p:nvGrpSpPr>
        <p:grpSpPr>
          <a:xfrm>
            <a:off x="5620631" y="4599365"/>
            <a:ext cx="143686" cy="1023395"/>
            <a:chOff x="2856013" y="5244085"/>
            <a:chExt cx="144463" cy="1152526"/>
          </a:xfrm>
        </p:grpSpPr>
        <p:sp>
          <p:nvSpPr>
            <p:cNvPr id="14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50" name="Прямая соединительная линия 149"/>
            <p:cNvCxnSpPr>
              <a:stCxn id="148" idx="2"/>
              <a:endCxn id="14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Прямая соединительная линия 150"/>
            <p:cNvCxnSpPr>
              <a:stCxn id="149" idx="2"/>
              <a:endCxn id="14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4" name="Прямая соединительная линия 153"/>
          <p:cNvCxnSpPr>
            <a:stCxn id="147" idx="5"/>
            <a:endCxn id="135" idx="0"/>
          </p:cNvCxnSpPr>
          <p:nvPr/>
        </p:nvCxnSpPr>
        <p:spPr>
          <a:xfrm flipH="1">
            <a:off x="5024636" y="4708857"/>
            <a:ext cx="617037" cy="271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68095" y="4883090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или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41717" y="5739782"/>
            <a:ext cx="813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плохо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767890" y="5756362"/>
            <a:ext cx="996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хорошо</a:t>
            </a:r>
          </a:p>
        </p:txBody>
      </p:sp>
    </p:spTree>
    <p:extLst>
      <p:ext uri="{BB962C8B-B14F-4D97-AF65-F5344CB8AC3E}">
        <p14:creationId xmlns:p14="http://schemas.microsoft.com/office/powerpoint/2010/main" val="196505289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СНМ на основе деревьев 1/2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Лес</a:t>
            </a:r>
          </a:p>
          <a:p>
            <a:pPr lvl="1"/>
            <a:r>
              <a:rPr lang="ru-RU" sz="2000" dirty="0"/>
              <a:t>элементы каждого множества объединяем в дерево</a:t>
            </a:r>
            <a:endParaRPr lang="en-US" sz="2000" dirty="0"/>
          </a:p>
          <a:p>
            <a:pPr lvl="1"/>
            <a:r>
              <a:rPr lang="en-US" sz="2000" dirty="0" err="1"/>
              <a:t>FindSet</a:t>
            </a:r>
            <a:r>
              <a:rPr lang="en-US" sz="2000" dirty="0"/>
              <a:t> </a:t>
            </a:r>
            <a:r>
              <a:rPr lang="ru-RU" sz="2000" dirty="0"/>
              <a:t>=</a:t>
            </a:r>
            <a:r>
              <a:rPr lang="en-US" sz="2000" dirty="0"/>
              <a:t> </a:t>
            </a:r>
            <a:r>
              <a:rPr lang="ru-RU" sz="2000" dirty="0"/>
              <a:t>корень дерева, содержащего элемент,</a:t>
            </a:r>
            <a:r>
              <a:rPr lang="en-US" sz="2000" dirty="0"/>
              <a:t> </a:t>
            </a:r>
            <a:r>
              <a:rPr lang="en-US" sz="2000" dirty="0" err="1"/>
              <a:t>MergeSets</a:t>
            </a:r>
            <a:r>
              <a:rPr lang="en-US" sz="2000" dirty="0"/>
              <a:t> </a:t>
            </a:r>
            <a:r>
              <a:rPr lang="ru-RU" sz="2000" dirty="0"/>
              <a:t>= объединение деревьев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#</a:t>
            </a:r>
            <a:r>
              <a:rPr lang="ru-RU" sz="2400" dirty="0"/>
              <a:t> элементов </a:t>
            </a:r>
            <a:r>
              <a:rPr lang="en-US" sz="2400" dirty="0"/>
              <a:t>^ 2</a:t>
            </a:r>
            <a:r>
              <a:rPr lang="ru-RU" sz="2400" dirty="0"/>
              <a:t>)</a:t>
            </a:r>
          </a:p>
          <a:p>
            <a:r>
              <a:rPr lang="ru-RU" sz="2400" dirty="0"/>
              <a:t>все </a:t>
            </a:r>
            <a:r>
              <a:rPr lang="en-US" sz="2400" dirty="0" err="1"/>
              <a:t>MergeSets</a:t>
            </a:r>
            <a:r>
              <a:rPr lang="en-US" sz="2400" dirty="0"/>
              <a:t> –</a:t>
            </a:r>
            <a:r>
              <a:rPr lang="ru-RU" sz="2400" dirty="0"/>
              <a:t> O(</a:t>
            </a:r>
            <a:r>
              <a:rPr lang="en-US" sz="2400" dirty="0"/>
              <a:t>#</a:t>
            </a:r>
            <a:r>
              <a:rPr lang="ru-RU" sz="2400" dirty="0"/>
              <a:t> элементов) 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3" name="Объект 3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Лес с объединением по рангу </a:t>
            </a:r>
          </a:p>
          <a:p>
            <a:pPr lvl="1"/>
            <a:r>
              <a:rPr lang="ru-RU" sz="2000" dirty="0"/>
              <a:t>Ранг множества = высота его дерева</a:t>
            </a:r>
          </a:p>
          <a:p>
            <a:r>
              <a:rPr lang="en-US" sz="2400" dirty="0"/>
              <a:t>N = # </a:t>
            </a:r>
            <a:r>
              <a:rPr lang="ru-RU" sz="2400" dirty="0"/>
              <a:t>элементов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N * </a:t>
            </a:r>
            <a:r>
              <a:rPr lang="ru-RU" sz="2400" dirty="0" err="1"/>
              <a:t>log</a:t>
            </a:r>
            <a:r>
              <a:rPr lang="ru-RU" sz="2400" dirty="0"/>
              <a:t> </a:t>
            </a:r>
            <a:r>
              <a:rPr lang="en-US" sz="2400" dirty="0"/>
              <a:t>N</a:t>
            </a:r>
            <a:r>
              <a:rPr lang="ru-RU" sz="2400" dirty="0"/>
              <a:t>)</a:t>
            </a:r>
          </a:p>
          <a:p>
            <a:r>
              <a:rPr lang="ru-RU" sz="2400" dirty="0"/>
              <a:t>все </a:t>
            </a:r>
            <a:r>
              <a:rPr lang="en-US" sz="2400" dirty="0" err="1"/>
              <a:t>MergeSets</a:t>
            </a:r>
            <a:r>
              <a:rPr lang="ru-RU" sz="2400" dirty="0"/>
              <a:t> – O(</a:t>
            </a:r>
            <a:r>
              <a:rPr lang="en-US" sz="2400" dirty="0"/>
              <a:t>N</a:t>
            </a:r>
            <a:r>
              <a:rPr lang="ru-RU" sz="2400" dirty="0"/>
              <a:t>) </a:t>
            </a:r>
          </a:p>
          <a:p>
            <a:pPr lvl="1"/>
            <a:r>
              <a:rPr lang="ru-RU" sz="2000" dirty="0"/>
              <a:t>Корнем становится корень дерева с большей высотой</a:t>
            </a:r>
          </a:p>
          <a:p>
            <a:pPr lvl="1"/>
            <a:r>
              <a:rPr lang="ru-RU" sz="2000" dirty="0"/>
              <a:t>Ранг множества может увеличиться не более </a:t>
            </a:r>
            <a:r>
              <a:rPr lang="en-US" sz="2000" dirty="0"/>
              <a:t>log(N)</a:t>
            </a:r>
            <a:r>
              <a:rPr lang="ru-RU" sz="2000" dirty="0"/>
              <a:t> раз</a:t>
            </a:r>
            <a:endParaRPr lang="en-US" sz="2000" dirty="0"/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Каждая операция </a:t>
            </a:r>
            <a:r>
              <a:rPr lang="ru-RU" sz="2000" dirty="0" err="1">
                <a:solidFill>
                  <a:schemeClr val="bg1"/>
                </a:solidFill>
              </a:rPr>
              <a:t>FindSet</a:t>
            </a:r>
            <a:r>
              <a:rPr lang="ru-RU" sz="2000" dirty="0">
                <a:solidFill>
                  <a:schemeClr val="bg1"/>
                </a:solidFill>
              </a:rPr>
              <a:t> – </a:t>
            </a:r>
            <a:r>
              <a:rPr lang="en-US" sz="2000" dirty="0">
                <a:solidFill>
                  <a:schemeClr val="bg1"/>
                </a:solidFill>
              </a:rPr>
              <a:t>O(log N)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  <p:grpSp>
        <p:nvGrpSpPr>
          <p:cNvPr id="31" name="Группа 30"/>
          <p:cNvGrpSpPr/>
          <p:nvPr/>
        </p:nvGrpSpPr>
        <p:grpSpPr>
          <a:xfrm>
            <a:off x="786530" y="4731670"/>
            <a:ext cx="936626" cy="576263"/>
            <a:chOff x="1199456" y="5748116"/>
            <a:chExt cx="936626" cy="576263"/>
          </a:xfrm>
        </p:grpSpPr>
        <p:sp>
          <p:nvSpPr>
            <p:cNvPr id="65566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2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3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4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5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6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63" name="Прямая соединительная линия 62"/>
            <p:cNvCxnSpPr>
              <a:stCxn id="65566" idx="3"/>
              <a:endCxn id="65573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>
              <a:stCxn id="65566" idx="5"/>
              <a:endCxn id="65575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>
              <a:stCxn id="65574" idx="0"/>
              <a:endCxn id="65566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>
              <a:stCxn id="65576" idx="1"/>
              <a:endCxn id="65566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>
              <a:stCxn id="65566" idx="2"/>
              <a:endCxn id="65572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Группа 29"/>
          <p:cNvGrpSpPr/>
          <p:nvPr/>
        </p:nvGrpSpPr>
        <p:grpSpPr>
          <a:xfrm>
            <a:off x="2207568" y="4581128"/>
            <a:ext cx="143686" cy="1023395"/>
            <a:chOff x="2856013" y="5244085"/>
            <a:chExt cx="144463" cy="1152526"/>
          </a:xfrm>
        </p:grpSpPr>
        <p:sp>
          <p:nvSpPr>
            <p:cNvPr id="6557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82" name="Прямая соединительная линия 81"/>
            <p:cNvCxnSpPr>
              <a:stCxn id="65578" idx="2"/>
              <a:endCxn id="6557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/>
            <p:cNvCxnSpPr>
              <a:stCxn id="65579" idx="2"/>
              <a:endCxn id="6557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Группа 90"/>
          <p:cNvGrpSpPr/>
          <p:nvPr/>
        </p:nvGrpSpPr>
        <p:grpSpPr>
          <a:xfrm>
            <a:off x="2910441" y="4731670"/>
            <a:ext cx="936626" cy="576263"/>
            <a:chOff x="1199456" y="5748116"/>
            <a:chExt cx="936626" cy="576263"/>
          </a:xfrm>
        </p:grpSpPr>
        <p:sp>
          <p:nvSpPr>
            <p:cNvPr id="92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3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4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5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6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7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98" name="Прямая соединительная линия 97"/>
            <p:cNvCxnSpPr>
              <a:stCxn id="92" idx="3"/>
              <a:endCxn id="94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единительная линия 98"/>
            <p:cNvCxnSpPr>
              <a:stCxn id="92" idx="5"/>
              <a:endCxn id="96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единительная линия 99"/>
            <p:cNvCxnSpPr>
              <a:stCxn id="95" idx="0"/>
              <a:endCxn id="92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единительная линия 100"/>
            <p:cNvCxnSpPr>
              <a:stCxn id="97" idx="1"/>
              <a:endCxn id="92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Прямая соединительная линия 101"/>
            <p:cNvCxnSpPr>
              <a:stCxn id="92" idx="2"/>
              <a:endCxn id="93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Группа 102"/>
          <p:cNvGrpSpPr/>
          <p:nvPr/>
        </p:nvGrpSpPr>
        <p:grpSpPr>
          <a:xfrm>
            <a:off x="3990561" y="5019702"/>
            <a:ext cx="143686" cy="1023395"/>
            <a:chOff x="2856013" y="5244085"/>
            <a:chExt cx="144463" cy="1152526"/>
          </a:xfrm>
        </p:grpSpPr>
        <p:sp>
          <p:nvSpPr>
            <p:cNvPr id="104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5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6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07" name="Прямая соединительная линия 106"/>
            <p:cNvCxnSpPr>
              <a:stCxn id="105" idx="2"/>
              <a:endCxn id="104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/>
            <p:cNvCxnSpPr>
              <a:stCxn id="106" idx="2"/>
              <a:endCxn id="105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Плюс 33"/>
          <p:cNvSpPr/>
          <p:nvPr/>
        </p:nvSpPr>
        <p:spPr>
          <a:xfrm>
            <a:off x="1821223" y="4959030"/>
            <a:ext cx="266182" cy="26618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Равно 34"/>
          <p:cNvSpPr/>
          <p:nvPr/>
        </p:nvSpPr>
        <p:spPr>
          <a:xfrm>
            <a:off x="2495600" y="4935173"/>
            <a:ext cx="270825" cy="27082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7" name="Прямая соединительная линия 36"/>
          <p:cNvCxnSpPr>
            <a:stCxn id="104" idx="2"/>
            <a:endCxn id="92" idx="6"/>
          </p:cNvCxnSpPr>
          <p:nvPr/>
        </p:nvCxnSpPr>
        <p:spPr>
          <a:xfrm flipH="1" flipV="1">
            <a:off x="3413679" y="4803902"/>
            <a:ext cx="648725" cy="215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Группа 133"/>
          <p:cNvGrpSpPr/>
          <p:nvPr/>
        </p:nvGrpSpPr>
        <p:grpSpPr>
          <a:xfrm>
            <a:off x="4583310" y="4980229"/>
            <a:ext cx="936626" cy="576263"/>
            <a:chOff x="1199456" y="5748116"/>
            <a:chExt cx="936626" cy="576263"/>
          </a:xfrm>
        </p:grpSpPr>
        <p:sp>
          <p:nvSpPr>
            <p:cNvPr id="135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6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7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8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9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0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41" name="Прямая соединительная линия 140"/>
            <p:cNvCxnSpPr>
              <a:stCxn id="135" idx="3"/>
              <a:endCxn id="137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Прямая соединительная линия 141"/>
            <p:cNvCxnSpPr>
              <a:stCxn id="135" idx="5"/>
              <a:endCxn id="139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Прямая соединительная линия 142"/>
            <p:cNvCxnSpPr>
              <a:stCxn id="138" idx="0"/>
              <a:endCxn id="135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Прямая соединительная линия 143"/>
            <p:cNvCxnSpPr>
              <a:stCxn id="140" idx="1"/>
              <a:endCxn id="135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Прямая соединительная линия 144"/>
            <p:cNvCxnSpPr>
              <a:stCxn id="135" idx="2"/>
              <a:endCxn id="136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Группа 145"/>
          <p:cNvGrpSpPr/>
          <p:nvPr/>
        </p:nvGrpSpPr>
        <p:grpSpPr>
          <a:xfrm>
            <a:off x="5620631" y="4599365"/>
            <a:ext cx="143686" cy="1023395"/>
            <a:chOff x="2856013" y="5244085"/>
            <a:chExt cx="144463" cy="1152526"/>
          </a:xfrm>
        </p:grpSpPr>
        <p:sp>
          <p:nvSpPr>
            <p:cNvPr id="14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50" name="Прямая соединительная линия 149"/>
            <p:cNvCxnSpPr>
              <a:stCxn id="148" idx="2"/>
              <a:endCxn id="14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Прямая соединительная линия 150"/>
            <p:cNvCxnSpPr>
              <a:stCxn id="149" idx="2"/>
              <a:endCxn id="14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4" name="Прямая соединительная линия 153"/>
          <p:cNvCxnSpPr>
            <a:stCxn id="147" idx="5"/>
            <a:endCxn id="135" idx="0"/>
          </p:cNvCxnSpPr>
          <p:nvPr/>
        </p:nvCxnSpPr>
        <p:spPr>
          <a:xfrm flipH="1">
            <a:off x="5024636" y="4708857"/>
            <a:ext cx="617037" cy="271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68095" y="4883090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или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41717" y="5739782"/>
            <a:ext cx="813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плохо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767890" y="5756362"/>
            <a:ext cx="996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хорошо</a:t>
            </a:r>
          </a:p>
        </p:txBody>
      </p:sp>
    </p:spTree>
    <p:extLst>
      <p:ext uri="{BB962C8B-B14F-4D97-AF65-F5344CB8AC3E}">
        <p14:creationId xmlns:p14="http://schemas.microsoft.com/office/powerpoint/2010/main" val="36124633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СНМ на основе деревьев 1/2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Лес</a:t>
            </a:r>
          </a:p>
          <a:p>
            <a:pPr lvl="1"/>
            <a:r>
              <a:rPr lang="ru-RU" sz="2000" dirty="0"/>
              <a:t>элементы каждого множества объединяем в дерево</a:t>
            </a:r>
            <a:endParaRPr lang="en-US" sz="2000" dirty="0"/>
          </a:p>
          <a:p>
            <a:pPr lvl="1"/>
            <a:r>
              <a:rPr lang="en-US" sz="2000" dirty="0" err="1"/>
              <a:t>FindSet</a:t>
            </a:r>
            <a:r>
              <a:rPr lang="en-US" sz="2000" dirty="0"/>
              <a:t> </a:t>
            </a:r>
            <a:r>
              <a:rPr lang="ru-RU" sz="2000" dirty="0"/>
              <a:t>=</a:t>
            </a:r>
            <a:r>
              <a:rPr lang="en-US" sz="2000" dirty="0"/>
              <a:t> </a:t>
            </a:r>
            <a:r>
              <a:rPr lang="ru-RU" sz="2000" dirty="0"/>
              <a:t>корень дерева, содержащего элемент,</a:t>
            </a:r>
            <a:r>
              <a:rPr lang="en-US" sz="2000" dirty="0"/>
              <a:t> </a:t>
            </a:r>
            <a:r>
              <a:rPr lang="en-US" sz="2000" dirty="0" err="1"/>
              <a:t>MergeSets</a:t>
            </a:r>
            <a:r>
              <a:rPr lang="en-US" sz="2000" dirty="0"/>
              <a:t> </a:t>
            </a:r>
            <a:r>
              <a:rPr lang="ru-RU" sz="2000" dirty="0"/>
              <a:t>= объединение деревьев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#</a:t>
            </a:r>
            <a:r>
              <a:rPr lang="ru-RU" sz="2400" dirty="0"/>
              <a:t> элементов </a:t>
            </a:r>
            <a:r>
              <a:rPr lang="en-US" sz="2400" dirty="0"/>
              <a:t>^ 2</a:t>
            </a:r>
            <a:r>
              <a:rPr lang="ru-RU" sz="2400" dirty="0"/>
              <a:t>)</a:t>
            </a:r>
          </a:p>
          <a:p>
            <a:r>
              <a:rPr lang="ru-RU" sz="2400" dirty="0"/>
              <a:t>все </a:t>
            </a:r>
            <a:r>
              <a:rPr lang="en-US" sz="2400" dirty="0" err="1"/>
              <a:t>MergeSets</a:t>
            </a:r>
            <a:r>
              <a:rPr lang="en-US" sz="2400" dirty="0"/>
              <a:t> –</a:t>
            </a:r>
            <a:r>
              <a:rPr lang="ru-RU" sz="2400" dirty="0"/>
              <a:t> O(</a:t>
            </a:r>
            <a:r>
              <a:rPr lang="en-US" sz="2400" dirty="0"/>
              <a:t>#</a:t>
            </a:r>
            <a:r>
              <a:rPr lang="ru-RU" sz="2400" dirty="0"/>
              <a:t> элементов) </a:t>
            </a:r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33" name="Объект 3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Лес с объединением по рангу </a:t>
            </a:r>
          </a:p>
          <a:p>
            <a:pPr lvl="1"/>
            <a:r>
              <a:rPr lang="ru-RU" sz="2000" dirty="0"/>
              <a:t>Ранг множества = высота его дерева</a:t>
            </a:r>
          </a:p>
          <a:p>
            <a:r>
              <a:rPr lang="en-US" sz="2400" dirty="0"/>
              <a:t>N = # </a:t>
            </a:r>
            <a:r>
              <a:rPr lang="ru-RU" sz="2400" dirty="0"/>
              <a:t>элементов</a:t>
            </a:r>
          </a:p>
          <a:p>
            <a:r>
              <a:rPr lang="ru-RU" sz="2400" dirty="0"/>
              <a:t>все </a:t>
            </a:r>
            <a:r>
              <a:rPr lang="ru-RU" sz="2400" dirty="0" err="1"/>
              <a:t>FindSet</a:t>
            </a:r>
            <a:r>
              <a:rPr lang="ru-RU" sz="2400" dirty="0"/>
              <a:t> – O(</a:t>
            </a:r>
            <a:r>
              <a:rPr lang="en-US" sz="2400" dirty="0"/>
              <a:t>N * </a:t>
            </a:r>
            <a:r>
              <a:rPr lang="ru-RU" sz="2400" dirty="0" err="1"/>
              <a:t>log</a:t>
            </a:r>
            <a:r>
              <a:rPr lang="ru-RU" sz="2400" dirty="0"/>
              <a:t> </a:t>
            </a:r>
            <a:r>
              <a:rPr lang="en-US" sz="2400" dirty="0"/>
              <a:t>N</a:t>
            </a:r>
            <a:r>
              <a:rPr lang="ru-RU" sz="2400" dirty="0"/>
              <a:t>)</a:t>
            </a:r>
          </a:p>
          <a:p>
            <a:r>
              <a:rPr lang="ru-RU" sz="2400" dirty="0"/>
              <a:t>все </a:t>
            </a:r>
            <a:r>
              <a:rPr lang="en-US" sz="2400" dirty="0" err="1"/>
              <a:t>MergeSets</a:t>
            </a:r>
            <a:r>
              <a:rPr lang="ru-RU" sz="2400" dirty="0"/>
              <a:t> – O(</a:t>
            </a:r>
            <a:r>
              <a:rPr lang="en-US" sz="2400" dirty="0"/>
              <a:t>N</a:t>
            </a:r>
            <a:r>
              <a:rPr lang="ru-RU" sz="2400" dirty="0"/>
              <a:t>) </a:t>
            </a:r>
          </a:p>
          <a:p>
            <a:pPr lvl="1"/>
            <a:r>
              <a:rPr lang="ru-RU" sz="2000" dirty="0"/>
              <a:t>Корнем становится корень дерева с большей высотой</a:t>
            </a:r>
          </a:p>
          <a:p>
            <a:pPr lvl="1"/>
            <a:r>
              <a:rPr lang="ru-RU" sz="2000" dirty="0"/>
              <a:t>Ранг множества может увеличиться не более </a:t>
            </a:r>
            <a:r>
              <a:rPr lang="en-US" sz="2000" dirty="0"/>
              <a:t>log(N)</a:t>
            </a:r>
            <a:r>
              <a:rPr lang="ru-RU" sz="2000" dirty="0"/>
              <a:t> раз</a:t>
            </a:r>
            <a:endParaRPr lang="en-US" sz="2000" dirty="0"/>
          </a:p>
          <a:p>
            <a:pPr lvl="1"/>
            <a:r>
              <a:rPr lang="ru-RU" sz="2000" dirty="0"/>
              <a:t>Каждая операция </a:t>
            </a:r>
            <a:r>
              <a:rPr lang="ru-RU" sz="2000" dirty="0" err="1"/>
              <a:t>FindSet</a:t>
            </a:r>
            <a:r>
              <a:rPr lang="ru-RU" sz="2000" dirty="0"/>
              <a:t> – </a:t>
            </a:r>
            <a:r>
              <a:rPr lang="en-US" sz="2000" dirty="0"/>
              <a:t>O(log N)</a:t>
            </a:r>
            <a:endParaRPr lang="ru-RU" sz="2000" dirty="0"/>
          </a:p>
          <a:p>
            <a:pPr lvl="1"/>
            <a:endParaRPr lang="ru-RU" sz="2000" dirty="0"/>
          </a:p>
          <a:p>
            <a:endParaRPr lang="ru-RU" sz="2400" dirty="0"/>
          </a:p>
        </p:txBody>
      </p:sp>
      <p:grpSp>
        <p:nvGrpSpPr>
          <p:cNvPr id="31" name="Группа 30"/>
          <p:cNvGrpSpPr/>
          <p:nvPr/>
        </p:nvGrpSpPr>
        <p:grpSpPr>
          <a:xfrm>
            <a:off x="786530" y="4731670"/>
            <a:ext cx="936626" cy="576263"/>
            <a:chOff x="1199456" y="5748116"/>
            <a:chExt cx="936626" cy="576263"/>
          </a:xfrm>
        </p:grpSpPr>
        <p:sp>
          <p:nvSpPr>
            <p:cNvPr id="65566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2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3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4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5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6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63" name="Прямая соединительная линия 62"/>
            <p:cNvCxnSpPr>
              <a:stCxn id="65566" idx="3"/>
              <a:endCxn id="65573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>
              <a:stCxn id="65566" idx="5"/>
              <a:endCxn id="65575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>
              <a:stCxn id="65574" idx="0"/>
              <a:endCxn id="65566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>
              <a:stCxn id="65576" idx="1"/>
              <a:endCxn id="65566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>
              <a:stCxn id="65566" idx="2"/>
              <a:endCxn id="65572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Группа 29"/>
          <p:cNvGrpSpPr/>
          <p:nvPr/>
        </p:nvGrpSpPr>
        <p:grpSpPr>
          <a:xfrm>
            <a:off x="2207568" y="4581128"/>
            <a:ext cx="143686" cy="1023395"/>
            <a:chOff x="2856013" y="5244085"/>
            <a:chExt cx="144463" cy="1152526"/>
          </a:xfrm>
        </p:grpSpPr>
        <p:sp>
          <p:nvSpPr>
            <p:cNvPr id="6557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57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82" name="Прямая соединительная линия 81"/>
            <p:cNvCxnSpPr>
              <a:stCxn id="65578" idx="2"/>
              <a:endCxn id="6557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/>
            <p:cNvCxnSpPr>
              <a:stCxn id="65579" idx="2"/>
              <a:endCxn id="6557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Группа 90"/>
          <p:cNvGrpSpPr/>
          <p:nvPr/>
        </p:nvGrpSpPr>
        <p:grpSpPr>
          <a:xfrm>
            <a:off x="2910441" y="4731670"/>
            <a:ext cx="936626" cy="576263"/>
            <a:chOff x="1199456" y="5748116"/>
            <a:chExt cx="936626" cy="576263"/>
          </a:xfrm>
        </p:grpSpPr>
        <p:sp>
          <p:nvSpPr>
            <p:cNvPr id="92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3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4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5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6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7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98" name="Прямая соединительная линия 97"/>
            <p:cNvCxnSpPr>
              <a:stCxn id="92" idx="3"/>
              <a:endCxn id="94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единительная линия 98"/>
            <p:cNvCxnSpPr>
              <a:stCxn id="92" idx="5"/>
              <a:endCxn id="96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Прямая соединительная линия 99"/>
            <p:cNvCxnSpPr>
              <a:stCxn id="95" idx="0"/>
              <a:endCxn id="92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Прямая соединительная линия 100"/>
            <p:cNvCxnSpPr>
              <a:stCxn id="97" idx="1"/>
              <a:endCxn id="92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Прямая соединительная линия 101"/>
            <p:cNvCxnSpPr>
              <a:stCxn id="92" idx="2"/>
              <a:endCxn id="93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Группа 102"/>
          <p:cNvGrpSpPr/>
          <p:nvPr/>
        </p:nvGrpSpPr>
        <p:grpSpPr>
          <a:xfrm>
            <a:off x="3990561" y="5019702"/>
            <a:ext cx="143686" cy="1023395"/>
            <a:chOff x="2856013" y="5244085"/>
            <a:chExt cx="144463" cy="1152526"/>
          </a:xfrm>
        </p:grpSpPr>
        <p:sp>
          <p:nvSpPr>
            <p:cNvPr id="104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5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6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07" name="Прямая соединительная линия 106"/>
            <p:cNvCxnSpPr>
              <a:stCxn id="105" idx="2"/>
              <a:endCxn id="104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/>
            <p:cNvCxnSpPr>
              <a:stCxn id="106" idx="2"/>
              <a:endCxn id="105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Плюс 33"/>
          <p:cNvSpPr/>
          <p:nvPr/>
        </p:nvSpPr>
        <p:spPr>
          <a:xfrm>
            <a:off x="1821223" y="4959030"/>
            <a:ext cx="266182" cy="26618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Равно 34"/>
          <p:cNvSpPr/>
          <p:nvPr/>
        </p:nvSpPr>
        <p:spPr>
          <a:xfrm>
            <a:off x="2495600" y="4935173"/>
            <a:ext cx="270825" cy="270825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7" name="Прямая соединительная линия 36"/>
          <p:cNvCxnSpPr>
            <a:stCxn id="104" idx="2"/>
            <a:endCxn id="92" idx="6"/>
          </p:cNvCxnSpPr>
          <p:nvPr/>
        </p:nvCxnSpPr>
        <p:spPr>
          <a:xfrm flipH="1" flipV="1">
            <a:off x="3413679" y="4803902"/>
            <a:ext cx="648725" cy="215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Группа 133"/>
          <p:cNvGrpSpPr/>
          <p:nvPr/>
        </p:nvGrpSpPr>
        <p:grpSpPr>
          <a:xfrm>
            <a:off x="4583310" y="4980229"/>
            <a:ext cx="936626" cy="576263"/>
            <a:chOff x="1199456" y="5748116"/>
            <a:chExt cx="936626" cy="576263"/>
          </a:xfrm>
        </p:grpSpPr>
        <p:sp>
          <p:nvSpPr>
            <p:cNvPr id="135" name="Oval 14"/>
            <p:cNvSpPr>
              <a:spLocks noChangeArrowheads="1"/>
            </p:cNvSpPr>
            <p:nvPr/>
          </p:nvSpPr>
          <p:spPr bwMode="auto">
            <a:xfrm>
              <a:off x="1578869" y="5748116"/>
              <a:ext cx="123825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6" name="Oval 30"/>
            <p:cNvSpPr>
              <a:spLocks noChangeArrowheads="1"/>
            </p:cNvSpPr>
            <p:nvPr/>
          </p:nvSpPr>
          <p:spPr bwMode="auto">
            <a:xfrm>
              <a:off x="1199456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7" name="Oval 31"/>
            <p:cNvSpPr>
              <a:spLocks noChangeArrowheads="1"/>
            </p:cNvSpPr>
            <p:nvPr/>
          </p:nvSpPr>
          <p:spPr bwMode="auto">
            <a:xfrm>
              <a:off x="1367731" y="6164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8" name="Oval 32"/>
            <p:cNvSpPr>
              <a:spLocks noChangeArrowheads="1"/>
            </p:cNvSpPr>
            <p:nvPr/>
          </p:nvSpPr>
          <p:spPr bwMode="auto">
            <a:xfrm>
              <a:off x="1559819" y="6179916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9" name="Oval 33"/>
            <p:cNvSpPr>
              <a:spLocks noChangeArrowheads="1"/>
            </p:cNvSpPr>
            <p:nvPr/>
          </p:nvSpPr>
          <p:spPr bwMode="auto">
            <a:xfrm>
              <a:off x="1791594" y="6156104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0" name="Oval 34"/>
            <p:cNvSpPr>
              <a:spLocks noChangeArrowheads="1"/>
            </p:cNvSpPr>
            <p:nvPr/>
          </p:nvSpPr>
          <p:spPr bwMode="auto">
            <a:xfrm>
              <a:off x="1991619" y="6037041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41" name="Прямая соединительная линия 140"/>
            <p:cNvCxnSpPr>
              <a:stCxn id="135" idx="3"/>
              <a:endCxn id="137" idx="0"/>
            </p:cNvCxnSpPr>
            <p:nvPr/>
          </p:nvCxnSpPr>
          <p:spPr>
            <a:xfrm flipH="1">
              <a:off x="1439963" y="5871423"/>
              <a:ext cx="157040" cy="29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Прямая соединительная линия 141"/>
            <p:cNvCxnSpPr>
              <a:stCxn id="135" idx="5"/>
              <a:endCxn id="139" idx="1"/>
            </p:cNvCxnSpPr>
            <p:nvPr/>
          </p:nvCxnSpPr>
          <p:spPr>
            <a:xfrm>
              <a:off x="1684560" y="5871423"/>
              <a:ext cx="128190" cy="305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Прямая соединительная линия 142"/>
            <p:cNvCxnSpPr>
              <a:stCxn id="138" idx="0"/>
              <a:endCxn id="135" idx="4"/>
            </p:cNvCxnSpPr>
            <p:nvPr/>
          </p:nvCxnSpPr>
          <p:spPr>
            <a:xfrm flipV="1">
              <a:off x="1632051" y="5892579"/>
              <a:ext cx="8731" cy="2873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Прямая соединительная линия 143"/>
            <p:cNvCxnSpPr>
              <a:stCxn id="140" idx="1"/>
              <a:endCxn id="135" idx="6"/>
            </p:cNvCxnSpPr>
            <p:nvPr/>
          </p:nvCxnSpPr>
          <p:spPr>
            <a:xfrm flipH="1" flipV="1">
              <a:off x="1702694" y="5820348"/>
              <a:ext cx="310081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Прямая соединительная линия 144"/>
            <p:cNvCxnSpPr>
              <a:stCxn id="135" idx="2"/>
              <a:endCxn id="136" idx="7"/>
            </p:cNvCxnSpPr>
            <p:nvPr/>
          </p:nvCxnSpPr>
          <p:spPr>
            <a:xfrm flipH="1">
              <a:off x="1322763" y="5820348"/>
              <a:ext cx="256106" cy="237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Группа 145"/>
          <p:cNvGrpSpPr/>
          <p:nvPr/>
        </p:nvGrpSpPr>
        <p:grpSpPr>
          <a:xfrm>
            <a:off x="5620631" y="4599365"/>
            <a:ext cx="143686" cy="1023395"/>
            <a:chOff x="2856013" y="5244085"/>
            <a:chExt cx="144463" cy="1152526"/>
          </a:xfrm>
        </p:grpSpPr>
        <p:sp>
          <p:nvSpPr>
            <p:cNvPr id="147" name="Oval 23"/>
            <p:cNvSpPr>
              <a:spLocks noChangeArrowheads="1"/>
            </p:cNvSpPr>
            <p:nvPr/>
          </p:nvSpPr>
          <p:spPr bwMode="auto">
            <a:xfrm rot="5400000">
              <a:off x="2856013" y="5244085"/>
              <a:ext cx="144463" cy="144463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8" name="Oval 24"/>
            <p:cNvSpPr>
              <a:spLocks noChangeArrowheads="1"/>
            </p:cNvSpPr>
            <p:nvPr/>
          </p:nvSpPr>
          <p:spPr bwMode="auto">
            <a:xfrm rot="5400000">
              <a:off x="2856013" y="5747323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9" name="Oval 25"/>
            <p:cNvSpPr>
              <a:spLocks noChangeArrowheads="1"/>
            </p:cNvSpPr>
            <p:nvPr/>
          </p:nvSpPr>
          <p:spPr bwMode="auto">
            <a:xfrm rot="5400000">
              <a:off x="2856013" y="6252148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50" name="Прямая соединительная линия 149"/>
            <p:cNvCxnSpPr>
              <a:stCxn id="148" idx="2"/>
              <a:endCxn id="147" idx="6"/>
            </p:cNvCxnSpPr>
            <p:nvPr/>
          </p:nvCxnSpPr>
          <p:spPr>
            <a:xfrm rot="5400000" flipH="1">
              <a:off x="2748856" y="5567935"/>
              <a:ext cx="3587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Прямая соединительная линия 150"/>
            <p:cNvCxnSpPr>
              <a:stCxn id="149" idx="2"/>
              <a:endCxn id="148" idx="6"/>
            </p:cNvCxnSpPr>
            <p:nvPr/>
          </p:nvCxnSpPr>
          <p:spPr>
            <a:xfrm rot="5400000" flipH="1">
              <a:off x="2748063" y="6071967"/>
              <a:ext cx="36036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4" name="Прямая соединительная линия 153"/>
          <p:cNvCxnSpPr>
            <a:stCxn id="147" idx="5"/>
            <a:endCxn id="135" idx="0"/>
          </p:cNvCxnSpPr>
          <p:nvPr/>
        </p:nvCxnSpPr>
        <p:spPr>
          <a:xfrm flipH="1">
            <a:off x="5024636" y="4708857"/>
            <a:ext cx="617037" cy="271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68095" y="4883090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или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41717" y="5739782"/>
            <a:ext cx="813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плохо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767890" y="5756362"/>
            <a:ext cx="996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хорошо</a:t>
            </a:r>
          </a:p>
        </p:txBody>
      </p:sp>
    </p:spTree>
    <p:extLst>
      <p:ext uri="{BB962C8B-B14F-4D97-AF65-F5344CB8AC3E}">
        <p14:creationId xmlns:p14="http://schemas.microsoft.com/office/powerpoint/2010/main" val="256819571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Лес с объединением по рангу и сжатием путей</a:t>
            </a:r>
          </a:p>
          <a:p>
            <a:pPr lvl="1"/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(</a:t>
            </a:r>
            <a:r>
              <a:rPr lang="en-US" dirty="0">
                <a:solidFill>
                  <a:schemeClr val="bg1"/>
                </a:solidFill>
              </a:rPr>
              <a:t>…, x</a:t>
            </a:r>
            <a:r>
              <a:rPr lang="ru-RU" dirty="0">
                <a:solidFill>
                  <a:schemeClr val="bg1"/>
                </a:solidFill>
              </a:rPr>
              <a:t>) делает все элементы на пути от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до корня сыновьями корня</a:t>
            </a:r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FindSet</a:t>
            </a:r>
            <a:r>
              <a:rPr lang="en-US" dirty="0">
                <a:solidFill>
                  <a:schemeClr val="bg1"/>
                </a:solidFill>
              </a:rPr>
              <a:t> – O(N log</a:t>
            </a:r>
            <a:r>
              <a:rPr lang="en-US" baseline="30000" dirty="0">
                <a:solidFill>
                  <a:schemeClr val="bg1"/>
                </a:solidFill>
              </a:rPr>
              <a:t>*</a:t>
            </a:r>
            <a:r>
              <a:rPr lang="en-US" dirty="0">
                <a:solidFill>
                  <a:schemeClr val="bg1"/>
                </a:solidFill>
              </a:rPr>
              <a:t>(N))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log</a:t>
            </a:r>
            <a:r>
              <a:rPr lang="en-US" baseline="30000" dirty="0">
                <a:solidFill>
                  <a:schemeClr val="bg1"/>
                </a:solidFill>
              </a:rPr>
              <a:t>*</a:t>
            </a:r>
            <a:r>
              <a:rPr lang="en-US" dirty="0">
                <a:solidFill>
                  <a:schemeClr val="bg1"/>
                </a:solidFill>
              </a:rPr>
              <a:t>(c) = </a:t>
            </a:r>
            <a:r>
              <a:rPr lang="ru-RU" dirty="0">
                <a:solidFill>
                  <a:schemeClr val="bg1"/>
                </a:solidFill>
              </a:rPr>
              <a:t>число итераций в цикле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while (c &gt; 1) c = log(c)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–</a:t>
            </a:r>
            <a:r>
              <a:rPr lang="ru-RU" dirty="0">
                <a:solidFill>
                  <a:schemeClr val="bg1"/>
                </a:solidFill>
              </a:rPr>
              <a:t>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СНМ на основе деревьев 2/2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Доказательство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оценки числа операций см. в учебнике </a:t>
            </a:r>
            <a:r>
              <a:rPr lang="ru-RU" dirty="0" err="1">
                <a:solidFill>
                  <a:schemeClr val="bg1"/>
                </a:solidFill>
              </a:rPr>
              <a:t>Кормена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Лес с объединением по рангу и сжатием путей</a:t>
            </a:r>
          </a:p>
          <a:p>
            <a:pPr lvl="1"/>
            <a:r>
              <a:rPr lang="ru-RU" dirty="0" err="1">
                <a:solidFill>
                  <a:schemeClr val="bg1"/>
                </a:solidFill>
              </a:rPr>
              <a:t>FindSet</a:t>
            </a:r>
            <a:r>
              <a:rPr lang="ru-RU" dirty="0">
                <a:solidFill>
                  <a:schemeClr val="bg1"/>
                </a:solidFill>
              </a:rPr>
              <a:t>(</a:t>
            </a:r>
            <a:r>
              <a:rPr lang="en-US" dirty="0">
                <a:solidFill>
                  <a:schemeClr val="bg1"/>
                </a:solidFill>
              </a:rPr>
              <a:t>…, x</a:t>
            </a:r>
            <a:r>
              <a:rPr lang="ru-RU" dirty="0">
                <a:solidFill>
                  <a:schemeClr val="bg1"/>
                </a:solidFill>
              </a:rPr>
              <a:t>) делает все элементы на пути от </a:t>
            </a:r>
            <a:r>
              <a:rPr lang="en-US" dirty="0">
                <a:solidFill>
                  <a:schemeClr val="bg1"/>
                </a:solidFill>
              </a:rPr>
              <a:t>x</a:t>
            </a:r>
            <a:r>
              <a:rPr lang="ru-RU" dirty="0">
                <a:solidFill>
                  <a:schemeClr val="bg1"/>
                </a:solidFill>
              </a:rPr>
              <a:t> до корня сыновьями корня</a:t>
            </a:r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FindSet</a:t>
            </a:r>
            <a:r>
              <a:rPr lang="en-US" dirty="0">
                <a:solidFill>
                  <a:schemeClr val="bg1"/>
                </a:solidFill>
              </a:rPr>
              <a:t> – O(N log</a:t>
            </a:r>
            <a:r>
              <a:rPr lang="en-US" baseline="30000" dirty="0">
                <a:solidFill>
                  <a:schemeClr val="bg1"/>
                </a:solidFill>
              </a:rPr>
              <a:t>*</a:t>
            </a:r>
            <a:r>
              <a:rPr lang="en-US" dirty="0">
                <a:solidFill>
                  <a:schemeClr val="bg1"/>
                </a:solidFill>
              </a:rPr>
              <a:t>(N))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log</a:t>
            </a:r>
            <a:r>
              <a:rPr lang="en-US" baseline="30000" dirty="0">
                <a:solidFill>
                  <a:schemeClr val="bg1"/>
                </a:solidFill>
              </a:rPr>
              <a:t>*</a:t>
            </a:r>
            <a:r>
              <a:rPr lang="en-US" dirty="0">
                <a:solidFill>
                  <a:schemeClr val="bg1"/>
                </a:solidFill>
              </a:rPr>
              <a:t>(c) = </a:t>
            </a:r>
            <a:r>
              <a:rPr lang="ru-RU" dirty="0">
                <a:solidFill>
                  <a:schemeClr val="bg1"/>
                </a:solidFill>
              </a:rPr>
              <a:t>число итераций в цикле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while (c &gt; 1) c = log(c)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–</a:t>
            </a:r>
            <a:r>
              <a:rPr lang="ru-RU" dirty="0">
                <a:solidFill>
                  <a:schemeClr val="bg1"/>
                </a:solidFill>
              </a:rPr>
              <a:t>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 </a:t>
            </a:r>
          </a:p>
          <a:p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СНМ на основе деревьев 2/2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Доказательство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оценки числа операций см. в учебнике </a:t>
            </a:r>
            <a:r>
              <a:rPr lang="ru-RU" dirty="0" err="1">
                <a:solidFill>
                  <a:schemeClr val="bg1"/>
                </a:solidFill>
              </a:rPr>
              <a:t>Кормена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93327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Лес с объединением по рангу и сжатием путей</a:t>
            </a:r>
          </a:p>
          <a:p>
            <a:pPr lvl="1"/>
            <a:r>
              <a:rPr lang="ru-RU" dirty="0" err="1"/>
              <a:t>FindSet</a:t>
            </a:r>
            <a:r>
              <a:rPr lang="ru-RU" dirty="0"/>
              <a:t>(</a:t>
            </a:r>
            <a:r>
              <a:rPr lang="en-US" dirty="0"/>
              <a:t>…, x</a:t>
            </a:r>
            <a:r>
              <a:rPr lang="ru-RU" dirty="0"/>
              <a:t>) делает все элементы на пути от </a:t>
            </a:r>
            <a:r>
              <a:rPr lang="en-US" dirty="0"/>
              <a:t>x</a:t>
            </a:r>
            <a:r>
              <a:rPr lang="ru-RU" dirty="0"/>
              <a:t> до корня сыновьями корня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FindSet</a:t>
            </a:r>
            <a:r>
              <a:rPr lang="en-US" dirty="0">
                <a:solidFill>
                  <a:schemeClr val="bg1"/>
                </a:solidFill>
              </a:rPr>
              <a:t> – O(N log</a:t>
            </a:r>
            <a:r>
              <a:rPr lang="en-US" baseline="30000" dirty="0">
                <a:solidFill>
                  <a:schemeClr val="bg1"/>
                </a:solidFill>
              </a:rPr>
              <a:t>*</a:t>
            </a:r>
            <a:r>
              <a:rPr lang="en-US" dirty="0">
                <a:solidFill>
                  <a:schemeClr val="bg1"/>
                </a:solidFill>
              </a:rPr>
              <a:t>(N))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log</a:t>
            </a:r>
            <a:r>
              <a:rPr lang="en-US" baseline="30000" dirty="0">
                <a:solidFill>
                  <a:schemeClr val="bg1"/>
                </a:solidFill>
              </a:rPr>
              <a:t>*</a:t>
            </a:r>
            <a:r>
              <a:rPr lang="en-US" dirty="0">
                <a:solidFill>
                  <a:schemeClr val="bg1"/>
                </a:solidFill>
              </a:rPr>
              <a:t>(c) = </a:t>
            </a:r>
            <a:r>
              <a:rPr lang="ru-RU" dirty="0">
                <a:solidFill>
                  <a:schemeClr val="bg1"/>
                </a:solidFill>
              </a:rPr>
              <a:t>число итераций в цикле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while (c &gt; 1) c = log(c)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–</a:t>
            </a:r>
            <a:r>
              <a:rPr lang="ru-RU" dirty="0">
                <a:solidFill>
                  <a:schemeClr val="bg1"/>
                </a:solidFill>
              </a:rPr>
              <a:t>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 </a:t>
            </a:r>
          </a:p>
          <a:p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СНМ на основе деревьев 2/2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Доказательство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оценки числа операций см. в учебнике </a:t>
            </a:r>
            <a:r>
              <a:rPr lang="ru-RU" dirty="0" err="1">
                <a:solidFill>
                  <a:schemeClr val="bg1"/>
                </a:solidFill>
              </a:rPr>
              <a:t>Кормена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85957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Лес с объединением по рангу и сжатием путей</a:t>
            </a:r>
          </a:p>
          <a:p>
            <a:pPr lvl="1"/>
            <a:r>
              <a:rPr lang="ru-RU" dirty="0" err="1"/>
              <a:t>FindSet</a:t>
            </a:r>
            <a:r>
              <a:rPr lang="ru-RU" dirty="0"/>
              <a:t>(</a:t>
            </a:r>
            <a:r>
              <a:rPr lang="en-US" dirty="0"/>
              <a:t>…, x</a:t>
            </a:r>
            <a:r>
              <a:rPr lang="ru-RU" dirty="0"/>
              <a:t>) делает все элементы на пути от </a:t>
            </a:r>
            <a:r>
              <a:rPr lang="en-US" dirty="0"/>
              <a:t>x</a:t>
            </a:r>
            <a:r>
              <a:rPr lang="ru-RU" dirty="0"/>
              <a:t> до корня сыновьями корня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FindSet</a:t>
            </a:r>
            <a:r>
              <a:rPr lang="en-US" dirty="0">
                <a:solidFill>
                  <a:schemeClr val="bg1"/>
                </a:solidFill>
              </a:rPr>
              <a:t> – O(N log</a:t>
            </a:r>
            <a:r>
              <a:rPr lang="en-US" baseline="30000" dirty="0">
                <a:solidFill>
                  <a:schemeClr val="bg1"/>
                </a:solidFill>
              </a:rPr>
              <a:t>*</a:t>
            </a:r>
            <a:r>
              <a:rPr lang="en-US" dirty="0">
                <a:solidFill>
                  <a:schemeClr val="bg1"/>
                </a:solidFill>
              </a:rPr>
              <a:t>(N))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log</a:t>
            </a:r>
            <a:r>
              <a:rPr lang="en-US" baseline="30000" dirty="0">
                <a:solidFill>
                  <a:schemeClr val="bg1"/>
                </a:solidFill>
              </a:rPr>
              <a:t>*</a:t>
            </a:r>
            <a:r>
              <a:rPr lang="en-US" dirty="0">
                <a:solidFill>
                  <a:schemeClr val="bg1"/>
                </a:solidFill>
              </a:rPr>
              <a:t>(c) = </a:t>
            </a:r>
            <a:r>
              <a:rPr lang="ru-RU" dirty="0">
                <a:solidFill>
                  <a:schemeClr val="bg1"/>
                </a:solidFill>
              </a:rPr>
              <a:t>число итераций в цикле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while (c &gt; 1) c = log(c)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–</a:t>
            </a:r>
            <a:r>
              <a:rPr lang="ru-RU" dirty="0">
                <a:solidFill>
                  <a:schemeClr val="bg1"/>
                </a:solidFill>
              </a:rPr>
              <a:t>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 </a:t>
            </a:r>
          </a:p>
          <a:p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СНМ на основе деревьев 2/2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Доказательство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оценки числа операций см. в учебнике </a:t>
            </a:r>
            <a:r>
              <a:rPr lang="ru-RU" dirty="0" err="1">
                <a:solidFill>
                  <a:schemeClr val="bg1"/>
                </a:solidFill>
              </a:rPr>
              <a:t>Кормена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9" name="Группа 38"/>
          <p:cNvGrpSpPr/>
          <p:nvPr/>
        </p:nvGrpSpPr>
        <p:grpSpPr>
          <a:xfrm>
            <a:off x="1127874" y="3068390"/>
            <a:ext cx="1512168" cy="1368722"/>
            <a:chOff x="1983880" y="4757442"/>
            <a:chExt cx="1512168" cy="1368722"/>
          </a:xfrm>
        </p:grpSpPr>
        <p:sp>
          <p:nvSpPr>
            <p:cNvPr id="69671" name="Oval 44"/>
            <p:cNvSpPr>
              <a:spLocks noChangeArrowheads="1"/>
            </p:cNvSpPr>
            <p:nvPr/>
          </p:nvSpPr>
          <p:spPr bwMode="auto">
            <a:xfrm>
              <a:off x="2560662" y="4757442"/>
              <a:ext cx="144463" cy="142875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2" name="Oval 45"/>
            <p:cNvSpPr>
              <a:spLocks noChangeArrowheads="1"/>
            </p:cNvSpPr>
            <p:nvPr/>
          </p:nvSpPr>
          <p:spPr bwMode="auto">
            <a:xfrm>
              <a:off x="1983880" y="5191201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3" name="Oval 46"/>
            <p:cNvSpPr>
              <a:spLocks noChangeArrowheads="1"/>
            </p:cNvSpPr>
            <p:nvPr/>
          </p:nvSpPr>
          <p:spPr bwMode="auto">
            <a:xfrm>
              <a:off x="3134569" y="5191201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4" name="Oval 47"/>
            <p:cNvSpPr>
              <a:spLocks noChangeArrowheads="1"/>
            </p:cNvSpPr>
            <p:nvPr/>
          </p:nvSpPr>
          <p:spPr bwMode="auto">
            <a:xfrm>
              <a:off x="1983880" y="5622108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5" name="Oval 48"/>
            <p:cNvSpPr>
              <a:spLocks noChangeArrowheads="1"/>
            </p:cNvSpPr>
            <p:nvPr/>
          </p:nvSpPr>
          <p:spPr bwMode="auto">
            <a:xfrm>
              <a:off x="2343920" y="5191201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6" name="Oval 49"/>
            <p:cNvSpPr>
              <a:spLocks noChangeArrowheads="1"/>
            </p:cNvSpPr>
            <p:nvPr/>
          </p:nvSpPr>
          <p:spPr bwMode="auto">
            <a:xfrm>
              <a:off x="2559944" y="5623249"/>
              <a:ext cx="144463" cy="142875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7" name="Oval 50"/>
            <p:cNvSpPr>
              <a:spLocks noChangeArrowheads="1"/>
            </p:cNvSpPr>
            <p:nvPr/>
          </p:nvSpPr>
          <p:spPr bwMode="auto">
            <a:xfrm>
              <a:off x="2199060" y="562324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8" name="Oval 51"/>
            <p:cNvSpPr>
              <a:spLocks noChangeArrowheads="1"/>
            </p:cNvSpPr>
            <p:nvPr/>
          </p:nvSpPr>
          <p:spPr bwMode="auto">
            <a:xfrm>
              <a:off x="3350593" y="562324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9" name="Oval 52"/>
            <p:cNvSpPr>
              <a:spLocks noChangeArrowheads="1"/>
            </p:cNvSpPr>
            <p:nvPr/>
          </p:nvSpPr>
          <p:spPr bwMode="auto">
            <a:xfrm>
              <a:off x="2989362" y="562324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80" name="Oval 53"/>
            <p:cNvSpPr>
              <a:spLocks noChangeArrowheads="1"/>
            </p:cNvSpPr>
            <p:nvPr/>
          </p:nvSpPr>
          <p:spPr bwMode="auto">
            <a:xfrm>
              <a:off x="3351585" y="598328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90" name="Text Box 64"/>
            <p:cNvSpPr txBox="1">
              <a:spLocks noChangeArrowheads="1"/>
            </p:cNvSpPr>
            <p:nvPr/>
          </p:nvSpPr>
          <p:spPr bwMode="auto">
            <a:xfrm>
              <a:off x="2495849" y="5657554"/>
              <a:ext cx="28405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dirty="0">
                  <a:latin typeface="Calibri" pitchFamily="34" charset="0"/>
                  <a:cs typeface="Calibri" pitchFamily="34" charset="0"/>
                </a:rPr>
                <a:t>х</a:t>
              </a:r>
            </a:p>
          </p:txBody>
        </p:sp>
        <p:cxnSp>
          <p:nvCxnSpPr>
            <p:cNvPr id="76" name="Прямая соединительная линия 75"/>
            <p:cNvCxnSpPr>
              <a:stCxn id="69676" idx="0"/>
              <a:endCxn id="69671" idx="4"/>
            </p:cNvCxnSpPr>
            <p:nvPr/>
          </p:nvCxnSpPr>
          <p:spPr>
            <a:xfrm flipV="1">
              <a:off x="2632176" y="4900317"/>
              <a:ext cx="718" cy="72293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Прямая соединительная линия 76"/>
            <p:cNvCxnSpPr>
              <a:stCxn id="69679" idx="0"/>
              <a:endCxn id="69673" idx="3"/>
            </p:cNvCxnSpPr>
            <p:nvPr/>
          </p:nvCxnSpPr>
          <p:spPr>
            <a:xfrm flipV="1">
              <a:off x="3061594" y="5313152"/>
              <a:ext cx="94131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Прямая соединительная линия 77"/>
            <p:cNvCxnSpPr>
              <a:stCxn id="69673" idx="1"/>
              <a:endCxn id="69671" idx="5"/>
            </p:cNvCxnSpPr>
            <p:nvPr/>
          </p:nvCxnSpPr>
          <p:spPr>
            <a:xfrm flipH="1" flipV="1">
              <a:off x="2683969" y="4879393"/>
              <a:ext cx="471756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/>
            <p:cNvCxnSpPr>
              <a:stCxn id="69676" idx="1"/>
              <a:endCxn id="69675" idx="5"/>
            </p:cNvCxnSpPr>
            <p:nvPr/>
          </p:nvCxnSpPr>
          <p:spPr>
            <a:xfrm flipH="1" flipV="1">
              <a:off x="2467227" y="5313152"/>
              <a:ext cx="113873" cy="3310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Прямая соединительная линия 79"/>
            <p:cNvCxnSpPr>
              <a:stCxn id="69677" idx="0"/>
              <a:endCxn id="69675" idx="3"/>
            </p:cNvCxnSpPr>
            <p:nvPr/>
          </p:nvCxnSpPr>
          <p:spPr>
            <a:xfrm flipV="1">
              <a:off x="2271292" y="5313152"/>
              <a:ext cx="93784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/>
            <p:cNvCxnSpPr>
              <a:stCxn id="69674" idx="0"/>
              <a:endCxn id="69672" idx="4"/>
            </p:cNvCxnSpPr>
            <p:nvPr/>
          </p:nvCxnSpPr>
          <p:spPr>
            <a:xfrm flipV="1">
              <a:off x="2056112" y="5334076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/>
            <p:cNvCxnSpPr>
              <a:stCxn id="69672" idx="7"/>
              <a:endCxn id="69671" idx="3"/>
            </p:cNvCxnSpPr>
            <p:nvPr/>
          </p:nvCxnSpPr>
          <p:spPr>
            <a:xfrm flipV="1">
              <a:off x="2107187" y="4879393"/>
              <a:ext cx="474631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Прямая соединительная линия 96"/>
            <p:cNvCxnSpPr>
              <a:stCxn id="69675" idx="0"/>
              <a:endCxn id="69671" idx="4"/>
            </p:cNvCxnSpPr>
            <p:nvPr/>
          </p:nvCxnSpPr>
          <p:spPr>
            <a:xfrm flipV="1">
              <a:off x="2416152" y="4900317"/>
              <a:ext cx="216742" cy="29088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Прямая соединительная линия 97"/>
            <p:cNvCxnSpPr>
              <a:stCxn id="69680" idx="0"/>
              <a:endCxn id="69678" idx="4"/>
            </p:cNvCxnSpPr>
            <p:nvPr/>
          </p:nvCxnSpPr>
          <p:spPr>
            <a:xfrm flipH="1" flipV="1">
              <a:off x="3422825" y="5766124"/>
              <a:ext cx="992" cy="2171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единительная линия 98"/>
            <p:cNvCxnSpPr>
              <a:stCxn id="69678" idx="0"/>
              <a:endCxn id="69673" idx="5"/>
            </p:cNvCxnSpPr>
            <p:nvPr/>
          </p:nvCxnSpPr>
          <p:spPr>
            <a:xfrm flipH="1" flipV="1">
              <a:off x="3257876" y="5313152"/>
              <a:ext cx="164949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Группа 39"/>
          <p:cNvGrpSpPr/>
          <p:nvPr/>
        </p:nvGrpSpPr>
        <p:grpSpPr>
          <a:xfrm>
            <a:off x="4151784" y="3058055"/>
            <a:ext cx="1512168" cy="1368722"/>
            <a:chOff x="3696647" y="4745400"/>
            <a:chExt cx="1512168" cy="1368722"/>
          </a:xfrm>
        </p:grpSpPr>
        <p:sp>
          <p:nvSpPr>
            <p:cNvPr id="140" name="Oval 44"/>
            <p:cNvSpPr>
              <a:spLocks noChangeArrowheads="1"/>
            </p:cNvSpPr>
            <p:nvPr/>
          </p:nvSpPr>
          <p:spPr bwMode="auto">
            <a:xfrm>
              <a:off x="4273429" y="4745400"/>
              <a:ext cx="144463" cy="142875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1" name="Oval 45"/>
            <p:cNvSpPr>
              <a:spLocks noChangeArrowheads="1"/>
            </p:cNvSpPr>
            <p:nvPr/>
          </p:nvSpPr>
          <p:spPr bwMode="auto">
            <a:xfrm>
              <a:off x="3696647" y="517915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2" name="Oval 46"/>
            <p:cNvSpPr>
              <a:spLocks noChangeArrowheads="1"/>
            </p:cNvSpPr>
            <p:nvPr/>
          </p:nvSpPr>
          <p:spPr bwMode="auto">
            <a:xfrm>
              <a:off x="4847336" y="517915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3" name="Oval 47"/>
            <p:cNvSpPr>
              <a:spLocks noChangeArrowheads="1"/>
            </p:cNvSpPr>
            <p:nvPr/>
          </p:nvSpPr>
          <p:spPr bwMode="auto">
            <a:xfrm>
              <a:off x="3696647" y="5610066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4" name="Oval 48"/>
            <p:cNvSpPr>
              <a:spLocks noChangeArrowheads="1"/>
            </p:cNvSpPr>
            <p:nvPr/>
          </p:nvSpPr>
          <p:spPr bwMode="auto">
            <a:xfrm>
              <a:off x="4056687" y="517915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5" name="Oval 49"/>
            <p:cNvSpPr>
              <a:spLocks noChangeArrowheads="1"/>
            </p:cNvSpPr>
            <p:nvPr/>
          </p:nvSpPr>
          <p:spPr bwMode="auto">
            <a:xfrm>
              <a:off x="4272711" y="5611207"/>
              <a:ext cx="144463" cy="142875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6" name="Oval 50"/>
            <p:cNvSpPr>
              <a:spLocks noChangeArrowheads="1"/>
            </p:cNvSpPr>
            <p:nvPr/>
          </p:nvSpPr>
          <p:spPr bwMode="auto">
            <a:xfrm>
              <a:off x="3911827" y="561120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7" name="Oval 51"/>
            <p:cNvSpPr>
              <a:spLocks noChangeArrowheads="1"/>
            </p:cNvSpPr>
            <p:nvPr/>
          </p:nvSpPr>
          <p:spPr bwMode="auto">
            <a:xfrm>
              <a:off x="5063360" y="561120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8" name="Oval 52"/>
            <p:cNvSpPr>
              <a:spLocks noChangeArrowheads="1"/>
            </p:cNvSpPr>
            <p:nvPr/>
          </p:nvSpPr>
          <p:spPr bwMode="auto">
            <a:xfrm>
              <a:off x="4702129" y="561120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9" name="Oval 53"/>
            <p:cNvSpPr>
              <a:spLocks noChangeArrowheads="1"/>
            </p:cNvSpPr>
            <p:nvPr/>
          </p:nvSpPr>
          <p:spPr bwMode="auto">
            <a:xfrm>
              <a:off x="5064352" y="597124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50" name="Text Box 64"/>
            <p:cNvSpPr txBox="1">
              <a:spLocks noChangeArrowheads="1"/>
            </p:cNvSpPr>
            <p:nvPr/>
          </p:nvSpPr>
          <p:spPr bwMode="auto">
            <a:xfrm>
              <a:off x="4208616" y="5645512"/>
              <a:ext cx="28405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dirty="0">
                  <a:latin typeface="Calibri" pitchFamily="34" charset="0"/>
                  <a:cs typeface="Calibri" pitchFamily="34" charset="0"/>
                </a:rPr>
                <a:t>х</a:t>
              </a:r>
            </a:p>
          </p:txBody>
        </p:sp>
        <p:cxnSp>
          <p:nvCxnSpPr>
            <p:cNvPr id="151" name="Прямая соединительная линия 150"/>
            <p:cNvCxnSpPr>
              <a:stCxn id="145" idx="0"/>
              <a:endCxn id="140" idx="4"/>
            </p:cNvCxnSpPr>
            <p:nvPr/>
          </p:nvCxnSpPr>
          <p:spPr>
            <a:xfrm flipV="1">
              <a:off x="4344943" y="4888275"/>
              <a:ext cx="718" cy="722932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Прямая соединительная линия 151"/>
            <p:cNvCxnSpPr>
              <a:stCxn id="148" idx="0"/>
              <a:endCxn id="142" idx="3"/>
            </p:cNvCxnSpPr>
            <p:nvPr/>
          </p:nvCxnSpPr>
          <p:spPr>
            <a:xfrm flipV="1">
              <a:off x="4774361" y="5301110"/>
              <a:ext cx="94131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Прямая соединительная линия 152"/>
            <p:cNvCxnSpPr>
              <a:stCxn id="142" idx="1"/>
              <a:endCxn id="140" idx="5"/>
            </p:cNvCxnSpPr>
            <p:nvPr/>
          </p:nvCxnSpPr>
          <p:spPr>
            <a:xfrm flipH="1" flipV="1">
              <a:off x="4396736" y="4867351"/>
              <a:ext cx="471756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Прямая соединительная линия 154"/>
            <p:cNvCxnSpPr>
              <a:stCxn id="146" idx="0"/>
              <a:endCxn id="144" idx="3"/>
            </p:cNvCxnSpPr>
            <p:nvPr/>
          </p:nvCxnSpPr>
          <p:spPr>
            <a:xfrm flipV="1">
              <a:off x="3984059" y="5301110"/>
              <a:ext cx="93784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Прямая соединительная линия 155"/>
            <p:cNvCxnSpPr>
              <a:stCxn id="143" idx="0"/>
              <a:endCxn id="141" idx="4"/>
            </p:cNvCxnSpPr>
            <p:nvPr/>
          </p:nvCxnSpPr>
          <p:spPr>
            <a:xfrm flipV="1">
              <a:off x="3768879" y="5322034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Прямая соединительная линия 156"/>
            <p:cNvCxnSpPr>
              <a:stCxn id="141" idx="7"/>
              <a:endCxn id="140" idx="3"/>
            </p:cNvCxnSpPr>
            <p:nvPr/>
          </p:nvCxnSpPr>
          <p:spPr>
            <a:xfrm flipV="1">
              <a:off x="3819954" y="4867351"/>
              <a:ext cx="474631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Прямая соединительная линия 157"/>
            <p:cNvCxnSpPr>
              <a:stCxn id="144" idx="0"/>
              <a:endCxn id="140" idx="4"/>
            </p:cNvCxnSpPr>
            <p:nvPr/>
          </p:nvCxnSpPr>
          <p:spPr>
            <a:xfrm flipV="1">
              <a:off x="4128919" y="4888275"/>
              <a:ext cx="216742" cy="290884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Прямая соединительная линия 158"/>
            <p:cNvCxnSpPr>
              <a:stCxn id="149" idx="0"/>
              <a:endCxn id="147" idx="4"/>
            </p:cNvCxnSpPr>
            <p:nvPr/>
          </p:nvCxnSpPr>
          <p:spPr>
            <a:xfrm flipH="1" flipV="1">
              <a:off x="5135592" y="5754082"/>
              <a:ext cx="992" cy="2171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Прямая соединительная линия 159"/>
            <p:cNvCxnSpPr>
              <a:stCxn id="147" idx="0"/>
              <a:endCxn id="142" idx="5"/>
            </p:cNvCxnSpPr>
            <p:nvPr/>
          </p:nvCxnSpPr>
          <p:spPr>
            <a:xfrm flipH="1" flipV="1">
              <a:off x="4970643" y="5301110"/>
              <a:ext cx="164949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Стрелка вниз 42"/>
          <p:cNvSpPr/>
          <p:nvPr/>
        </p:nvSpPr>
        <p:spPr>
          <a:xfrm rot="16200000">
            <a:off x="3204837" y="2619533"/>
            <a:ext cx="215667" cy="1550704"/>
          </a:xfrm>
          <a:prstGeom prst="downArrow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2495600" y="2924944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FindSet</a:t>
            </a:r>
            <a:r>
              <a:rPr lang="en-US" dirty="0"/>
              <a:t>(…, x)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639354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Лес с объединением по рангу и сжатием путей</a:t>
            </a:r>
          </a:p>
          <a:p>
            <a:pPr lvl="1"/>
            <a:r>
              <a:rPr lang="ru-RU" dirty="0" err="1"/>
              <a:t>FindSet</a:t>
            </a:r>
            <a:r>
              <a:rPr lang="ru-RU" dirty="0"/>
              <a:t>(</a:t>
            </a:r>
            <a:r>
              <a:rPr lang="en-US" dirty="0"/>
              <a:t>…, x</a:t>
            </a:r>
            <a:r>
              <a:rPr lang="ru-RU" dirty="0"/>
              <a:t>) делает все элементы на пути от </a:t>
            </a:r>
            <a:r>
              <a:rPr lang="en-US" dirty="0"/>
              <a:t>x</a:t>
            </a:r>
            <a:r>
              <a:rPr lang="ru-RU" dirty="0"/>
              <a:t> до корня сыновьями корня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ru-RU" dirty="0"/>
          </a:p>
          <a:p>
            <a:r>
              <a:rPr lang="ru-RU" dirty="0"/>
              <a:t>все </a:t>
            </a:r>
            <a:r>
              <a:rPr lang="en-US" dirty="0" err="1"/>
              <a:t>FindSet</a:t>
            </a:r>
            <a:r>
              <a:rPr lang="en-US" dirty="0"/>
              <a:t> – O(N log</a:t>
            </a:r>
            <a:r>
              <a:rPr lang="en-US" baseline="30000" dirty="0"/>
              <a:t>*</a:t>
            </a:r>
            <a:r>
              <a:rPr lang="en-US" dirty="0"/>
              <a:t>(N))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log</a:t>
            </a:r>
            <a:r>
              <a:rPr lang="en-US" baseline="30000" dirty="0">
                <a:solidFill>
                  <a:schemeClr val="bg1"/>
                </a:solidFill>
              </a:rPr>
              <a:t>*</a:t>
            </a:r>
            <a:r>
              <a:rPr lang="en-US" dirty="0">
                <a:solidFill>
                  <a:schemeClr val="bg1"/>
                </a:solidFill>
              </a:rPr>
              <a:t>(c) = </a:t>
            </a:r>
            <a:r>
              <a:rPr lang="ru-RU" dirty="0">
                <a:solidFill>
                  <a:schemeClr val="bg1"/>
                </a:solidFill>
              </a:rPr>
              <a:t>число итераций в цикле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while (c &gt; 1) c = log(c)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–</a:t>
            </a:r>
            <a:r>
              <a:rPr lang="ru-RU" dirty="0">
                <a:solidFill>
                  <a:schemeClr val="bg1"/>
                </a:solidFill>
              </a:rPr>
              <a:t>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 </a:t>
            </a:r>
          </a:p>
          <a:p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СНМ на основе деревьев 2/2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Доказательство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оценки числа операций см. в учебнике </a:t>
            </a:r>
            <a:r>
              <a:rPr lang="ru-RU" dirty="0" err="1">
                <a:solidFill>
                  <a:schemeClr val="bg1"/>
                </a:solidFill>
              </a:rPr>
              <a:t>Кормена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9" name="Группа 38"/>
          <p:cNvGrpSpPr/>
          <p:nvPr/>
        </p:nvGrpSpPr>
        <p:grpSpPr>
          <a:xfrm>
            <a:off x="1127874" y="3068390"/>
            <a:ext cx="1512168" cy="1368722"/>
            <a:chOff x="1983880" y="4757442"/>
            <a:chExt cx="1512168" cy="1368722"/>
          </a:xfrm>
        </p:grpSpPr>
        <p:sp>
          <p:nvSpPr>
            <p:cNvPr id="69671" name="Oval 44"/>
            <p:cNvSpPr>
              <a:spLocks noChangeArrowheads="1"/>
            </p:cNvSpPr>
            <p:nvPr/>
          </p:nvSpPr>
          <p:spPr bwMode="auto">
            <a:xfrm>
              <a:off x="2560662" y="4757442"/>
              <a:ext cx="144463" cy="142875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2" name="Oval 45"/>
            <p:cNvSpPr>
              <a:spLocks noChangeArrowheads="1"/>
            </p:cNvSpPr>
            <p:nvPr/>
          </p:nvSpPr>
          <p:spPr bwMode="auto">
            <a:xfrm>
              <a:off x="1983880" y="5191201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3" name="Oval 46"/>
            <p:cNvSpPr>
              <a:spLocks noChangeArrowheads="1"/>
            </p:cNvSpPr>
            <p:nvPr/>
          </p:nvSpPr>
          <p:spPr bwMode="auto">
            <a:xfrm>
              <a:off x="3134569" y="5191201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4" name="Oval 47"/>
            <p:cNvSpPr>
              <a:spLocks noChangeArrowheads="1"/>
            </p:cNvSpPr>
            <p:nvPr/>
          </p:nvSpPr>
          <p:spPr bwMode="auto">
            <a:xfrm>
              <a:off x="1983880" y="5622108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5" name="Oval 48"/>
            <p:cNvSpPr>
              <a:spLocks noChangeArrowheads="1"/>
            </p:cNvSpPr>
            <p:nvPr/>
          </p:nvSpPr>
          <p:spPr bwMode="auto">
            <a:xfrm>
              <a:off x="2343920" y="5191201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6" name="Oval 49"/>
            <p:cNvSpPr>
              <a:spLocks noChangeArrowheads="1"/>
            </p:cNvSpPr>
            <p:nvPr/>
          </p:nvSpPr>
          <p:spPr bwMode="auto">
            <a:xfrm>
              <a:off x="2559944" y="5623249"/>
              <a:ext cx="144463" cy="142875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7" name="Oval 50"/>
            <p:cNvSpPr>
              <a:spLocks noChangeArrowheads="1"/>
            </p:cNvSpPr>
            <p:nvPr/>
          </p:nvSpPr>
          <p:spPr bwMode="auto">
            <a:xfrm>
              <a:off x="2199060" y="562324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8" name="Oval 51"/>
            <p:cNvSpPr>
              <a:spLocks noChangeArrowheads="1"/>
            </p:cNvSpPr>
            <p:nvPr/>
          </p:nvSpPr>
          <p:spPr bwMode="auto">
            <a:xfrm>
              <a:off x="3350593" y="562324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9" name="Oval 52"/>
            <p:cNvSpPr>
              <a:spLocks noChangeArrowheads="1"/>
            </p:cNvSpPr>
            <p:nvPr/>
          </p:nvSpPr>
          <p:spPr bwMode="auto">
            <a:xfrm>
              <a:off x="2989362" y="562324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80" name="Oval 53"/>
            <p:cNvSpPr>
              <a:spLocks noChangeArrowheads="1"/>
            </p:cNvSpPr>
            <p:nvPr/>
          </p:nvSpPr>
          <p:spPr bwMode="auto">
            <a:xfrm>
              <a:off x="3351585" y="598328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90" name="Text Box 64"/>
            <p:cNvSpPr txBox="1">
              <a:spLocks noChangeArrowheads="1"/>
            </p:cNvSpPr>
            <p:nvPr/>
          </p:nvSpPr>
          <p:spPr bwMode="auto">
            <a:xfrm>
              <a:off x="2495849" y="5657554"/>
              <a:ext cx="28405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dirty="0">
                  <a:latin typeface="Calibri" pitchFamily="34" charset="0"/>
                  <a:cs typeface="Calibri" pitchFamily="34" charset="0"/>
                </a:rPr>
                <a:t>х</a:t>
              </a:r>
            </a:p>
          </p:txBody>
        </p:sp>
        <p:cxnSp>
          <p:nvCxnSpPr>
            <p:cNvPr id="76" name="Прямая соединительная линия 75"/>
            <p:cNvCxnSpPr>
              <a:stCxn id="69676" idx="0"/>
              <a:endCxn id="69671" idx="4"/>
            </p:cNvCxnSpPr>
            <p:nvPr/>
          </p:nvCxnSpPr>
          <p:spPr>
            <a:xfrm flipV="1">
              <a:off x="2632176" y="4900317"/>
              <a:ext cx="718" cy="72293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Прямая соединительная линия 76"/>
            <p:cNvCxnSpPr>
              <a:stCxn id="69679" idx="0"/>
              <a:endCxn id="69673" idx="3"/>
            </p:cNvCxnSpPr>
            <p:nvPr/>
          </p:nvCxnSpPr>
          <p:spPr>
            <a:xfrm flipV="1">
              <a:off x="3061594" y="5313152"/>
              <a:ext cx="94131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Прямая соединительная линия 77"/>
            <p:cNvCxnSpPr>
              <a:stCxn id="69673" idx="1"/>
              <a:endCxn id="69671" idx="5"/>
            </p:cNvCxnSpPr>
            <p:nvPr/>
          </p:nvCxnSpPr>
          <p:spPr>
            <a:xfrm flipH="1" flipV="1">
              <a:off x="2683969" y="4879393"/>
              <a:ext cx="471756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/>
            <p:cNvCxnSpPr>
              <a:stCxn id="69676" idx="1"/>
              <a:endCxn id="69675" idx="5"/>
            </p:cNvCxnSpPr>
            <p:nvPr/>
          </p:nvCxnSpPr>
          <p:spPr>
            <a:xfrm flipH="1" flipV="1">
              <a:off x="2467227" y="5313152"/>
              <a:ext cx="113873" cy="3310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Прямая соединительная линия 79"/>
            <p:cNvCxnSpPr>
              <a:stCxn id="69677" idx="0"/>
              <a:endCxn id="69675" idx="3"/>
            </p:cNvCxnSpPr>
            <p:nvPr/>
          </p:nvCxnSpPr>
          <p:spPr>
            <a:xfrm flipV="1">
              <a:off x="2271292" y="5313152"/>
              <a:ext cx="93784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/>
            <p:cNvCxnSpPr>
              <a:stCxn id="69674" idx="0"/>
              <a:endCxn id="69672" idx="4"/>
            </p:cNvCxnSpPr>
            <p:nvPr/>
          </p:nvCxnSpPr>
          <p:spPr>
            <a:xfrm flipV="1">
              <a:off x="2056112" y="5334076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/>
            <p:cNvCxnSpPr>
              <a:stCxn id="69672" idx="7"/>
              <a:endCxn id="69671" idx="3"/>
            </p:cNvCxnSpPr>
            <p:nvPr/>
          </p:nvCxnSpPr>
          <p:spPr>
            <a:xfrm flipV="1">
              <a:off x="2107187" y="4879393"/>
              <a:ext cx="474631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Прямая соединительная линия 96"/>
            <p:cNvCxnSpPr>
              <a:stCxn id="69675" idx="0"/>
              <a:endCxn id="69671" idx="4"/>
            </p:cNvCxnSpPr>
            <p:nvPr/>
          </p:nvCxnSpPr>
          <p:spPr>
            <a:xfrm flipV="1">
              <a:off x="2416152" y="4900317"/>
              <a:ext cx="216742" cy="29088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Прямая соединительная линия 97"/>
            <p:cNvCxnSpPr>
              <a:stCxn id="69680" idx="0"/>
              <a:endCxn id="69678" idx="4"/>
            </p:cNvCxnSpPr>
            <p:nvPr/>
          </p:nvCxnSpPr>
          <p:spPr>
            <a:xfrm flipH="1" flipV="1">
              <a:off x="3422825" y="5766124"/>
              <a:ext cx="992" cy="2171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единительная линия 98"/>
            <p:cNvCxnSpPr>
              <a:stCxn id="69678" idx="0"/>
              <a:endCxn id="69673" idx="5"/>
            </p:cNvCxnSpPr>
            <p:nvPr/>
          </p:nvCxnSpPr>
          <p:spPr>
            <a:xfrm flipH="1" flipV="1">
              <a:off x="3257876" y="5313152"/>
              <a:ext cx="164949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Группа 39"/>
          <p:cNvGrpSpPr/>
          <p:nvPr/>
        </p:nvGrpSpPr>
        <p:grpSpPr>
          <a:xfrm>
            <a:off x="4151784" y="3058055"/>
            <a:ext cx="1512168" cy="1368722"/>
            <a:chOff x="3696647" y="4745400"/>
            <a:chExt cx="1512168" cy="1368722"/>
          </a:xfrm>
        </p:grpSpPr>
        <p:sp>
          <p:nvSpPr>
            <p:cNvPr id="140" name="Oval 44"/>
            <p:cNvSpPr>
              <a:spLocks noChangeArrowheads="1"/>
            </p:cNvSpPr>
            <p:nvPr/>
          </p:nvSpPr>
          <p:spPr bwMode="auto">
            <a:xfrm>
              <a:off x="4273429" y="4745400"/>
              <a:ext cx="144463" cy="142875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1" name="Oval 45"/>
            <p:cNvSpPr>
              <a:spLocks noChangeArrowheads="1"/>
            </p:cNvSpPr>
            <p:nvPr/>
          </p:nvSpPr>
          <p:spPr bwMode="auto">
            <a:xfrm>
              <a:off x="3696647" y="517915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2" name="Oval 46"/>
            <p:cNvSpPr>
              <a:spLocks noChangeArrowheads="1"/>
            </p:cNvSpPr>
            <p:nvPr/>
          </p:nvSpPr>
          <p:spPr bwMode="auto">
            <a:xfrm>
              <a:off x="4847336" y="517915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3" name="Oval 47"/>
            <p:cNvSpPr>
              <a:spLocks noChangeArrowheads="1"/>
            </p:cNvSpPr>
            <p:nvPr/>
          </p:nvSpPr>
          <p:spPr bwMode="auto">
            <a:xfrm>
              <a:off x="3696647" y="5610066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4" name="Oval 48"/>
            <p:cNvSpPr>
              <a:spLocks noChangeArrowheads="1"/>
            </p:cNvSpPr>
            <p:nvPr/>
          </p:nvSpPr>
          <p:spPr bwMode="auto">
            <a:xfrm>
              <a:off x="4056687" y="517915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5" name="Oval 49"/>
            <p:cNvSpPr>
              <a:spLocks noChangeArrowheads="1"/>
            </p:cNvSpPr>
            <p:nvPr/>
          </p:nvSpPr>
          <p:spPr bwMode="auto">
            <a:xfrm>
              <a:off x="4272711" y="5611207"/>
              <a:ext cx="144463" cy="142875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6" name="Oval 50"/>
            <p:cNvSpPr>
              <a:spLocks noChangeArrowheads="1"/>
            </p:cNvSpPr>
            <p:nvPr/>
          </p:nvSpPr>
          <p:spPr bwMode="auto">
            <a:xfrm>
              <a:off x="3911827" y="561120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7" name="Oval 51"/>
            <p:cNvSpPr>
              <a:spLocks noChangeArrowheads="1"/>
            </p:cNvSpPr>
            <p:nvPr/>
          </p:nvSpPr>
          <p:spPr bwMode="auto">
            <a:xfrm>
              <a:off x="5063360" y="561120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8" name="Oval 52"/>
            <p:cNvSpPr>
              <a:spLocks noChangeArrowheads="1"/>
            </p:cNvSpPr>
            <p:nvPr/>
          </p:nvSpPr>
          <p:spPr bwMode="auto">
            <a:xfrm>
              <a:off x="4702129" y="561120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9" name="Oval 53"/>
            <p:cNvSpPr>
              <a:spLocks noChangeArrowheads="1"/>
            </p:cNvSpPr>
            <p:nvPr/>
          </p:nvSpPr>
          <p:spPr bwMode="auto">
            <a:xfrm>
              <a:off x="5064352" y="597124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50" name="Text Box 64"/>
            <p:cNvSpPr txBox="1">
              <a:spLocks noChangeArrowheads="1"/>
            </p:cNvSpPr>
            <p:nvPr/>
          </p:nvSpPr>
          <p:spPr bwMode="auto">
            <a:xfrm>
              <a:off x="4208616" y="5645512"/>
              <a:ext cx="28405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dirty="0">
                  <a:latin typeface="Calibri" pitchFamily="34" charset="0"/>
                  <a:cs typeface="Calibri" pitchFamily="34" charset="0"/>
                </a:rPr>
                <a:t>х</a:t>
              </a:r>
            </a:p>
          </p:txBody>
        </p:sp>
        <p:cxnSp>
          <p:nvCxnSpPr>
            <p:cNvPr id="151" name="Прямая соединительная линия 150"/>
            <p:cNvCxnSpPr>
              <a:stCxn id="145" idx="0"/>
              <a:endCxn id="140" idx="4"/>
            </p:cNvCxnSpPr>
            <p:nvPr/>
          </p:nvCxnSpPr>
          <p:spPr>
            <a:xfrm flipV="1">
              <a:off x="4344943" y="4888275"/>
              <a:ext cx="718" cy="722932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Прямая соединительная линия 151"/>
            <p:cNvCxnSpPr>
              <a:stCxn id="148" idx="0"/>
              <a:endCxn id="142" idx="3"/>
            </p:cNvCxnSpPr>
            <p:nvPr/>
          </p:nvCxnSpPr>
          <p:spPr>
            <a:xfrm flipV="1">
              <a:off x="4774361" y="5301110"/>
              <a:ext cx="94131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Прямая соединительная линия 152"/>
            <p:cNvCxnSpPr>
              <a:stCxn id="142" idx="1"/>
              <a:endCxn id="140" idx="5"/>
            </p:cNvCxnSpPr>
            <p:nvPr/>
          </p:nvCxnSpPr>
          <p:spPr>
            <a:xfrm flipH="1" flipV="1">
              <a:off x="4396736" y="4867351"/>
              <a:ext cx="471756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Прямая соединительная линия 154"/>
            <p:cNvCxnSpPr>
              <a:stCxn id="146" idx="0"/>
              <a:endCxn id="144" idx="3"/>
            </p:cNvCxnSpPr>
            <p:nvPr/>
          </p:nvCxnSpPr>
          <p:spPr>
            <a:xfrm flipV="1">
              <a:off x="3984059" y="5301110"/>
              <a:ext cx="93784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Прямая соединительная линия 155"/>
            <p:cNvCxnSpPr>
              <a:stCxn id="143" idx="0"/>
              <a:endCxn id="141" idx="4"/>
            </p:cNvCxnSpPr>
            <p:nvPr/>
          </p:nvCxnSpPr>
          <p:spPr>
            <a:xfrm flipV="1">
              <a:off x="3768879" y="5322034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Прямая соединительная линия 156"/>
            <p:cNvCxnSpPr>
              <a:stCxn id="141" idx="7"/>
              <a:endCxn id="140" idx="3"/>
            </p:cNvCxnSpPr>
            <p:nvPr/>
          </p:nvCxnSpPr>
          <p:spPr>
            <a:xfrm flipV="1">
              <a:off x="3819954" y="4867351"/>
              <a:ext cx="474631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Прямая соединительная линия 157"/>
            <p:cNvCxnSpPr>
              <a:stCxn id="144" idx="0"/>
              <a:endCxn id="140" idx="4"/>
            </p:cNvCxnSpPr>
            <p:nvPr/>
          </p:nvCxnSpPr>
          <p:spPr>
            <a:xfrm flipV="1">
              <a:off x="4128919" y="4888275"/>
              <a:ext cx="216742" cy="290884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Прямая соединительная линия 158"/>
            <p:cNvCxnSpPr>
              <a:stCxn id="149" idx="0"/>
              <a:endCxn id="147" idx="4"/>
            </p:cNvCxnSpPr>
            <p:nvPr/>
          </p:nvCxnSpPr>
          <p:spPr>
            <a:xfrm flipH="1" flipV="1">
              <a:off x="5135592" y="5754082"/>
              <a:ext cx="992" cy="2171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Прямая соединительная линия 159"/>
            <p:cNvCxnSpPr>
              <a:stCxn id="147" idx="0"/>
              <a:endCxn id="142" idx="5"/>
            </p:cNvCxnSpPr>
            <p:nvPr/>
          </p:nvCxnSpPr>
          <p:spPr>
            <a:xfrm flipH="1" flipV="1">
              <a:off x="4970643" y="5301110"/>
              <a:ext cx="164949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Стрелка вниз 42"/>
          <p:cNvSpPr/>
          <p:nvPr/>
        </p:nvSpPr>
        <p:spPr>
          <a:xfrm rot="16200000">
            <a:off x="3204837" y="2619533"/>
            <a:ext cx="215667" cy="1550704"/>
          </a:xfrm>
          <a:prstGeom prst="downArrow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2495600" y="2924944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FindSet</a:t>
            </a:r>
            <a:r>
              <a:rPr lang="en-US" dirty="0"/>
              <a:t>(…, x)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303707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Лес с объединением по рангу и сжатием путей</a:t>
            </a:r>
          </a:p>
          <a:p>
            <a:pPr lvl="1"/>
            <a:r>
              <a:rPr lang="ru-RU" dirty="0" err="1"/>
              <a:t>FindSet</a:t>
            </a:r>
            <a:r>
              <a:rPr lang="ru-RU" dirty="0"/>
              <a:t>(</a:t>
            </a:r>
            <a:r>
              <a:rPr lang="en-US" dirty="0"/>
              <a:t>…, x</a:t>
            </a:r>
            <a:r>
              <a:rPr lang="ru-RU" dirty="0"/>
              <a:t>) делает все элементы на пути от </a:t>
            </a:r>
            <a:r>
              <a:rPr lang="en-US" dirty="0"/>
              <a:t>x</a:t>
            </a:r>
            <a:r>
              <a:rPr lang="ru-RU" dirty="0"/>
              <a:t> до корня сыновьями корня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ru-RU" dirty="0"/>
          </a:p>
          <a:p>
            <a:r>
              <a:rPr lang="ru-RU" dirty="0"/>
              <a:t>все </a:t>
            </a:r>
            <a:r>
              <a:rPr lang="en-US" dirty="0" err="1"/>
              <a:t>FindSet</a:t>
            </a:r>
            <a:r>
              <a:rPr lang="en-US" dirty="0"/>
              <a:t> – O(N log</a:t>
            </a:r>
            <a:r>
              <a:rPr lang="en-US" baseline="30000" dirty="0"/>
              <a:t>*</a:t>
            </a:r>
            <a:r>
              <a:rPr lang="en-US" dirty="0"/>
              <a:t>(N))</a:t>
            </a:r>
          </a:p>
          <a:p>
            <a:pPr lvl="1"/>
            <a:r>
              <a:rPr lang="en-US" dirty="0"/>
              <a:t>log</a:t>
            </a:r>
            <a:r>
              <a:rPr lang="en-US" baseline="30000" dirty="0"/>
              <a:t>*</a:t>
            </a:r>
            <a:r>
              <a:rPr lang="en-US" dirty="0"/>
              <a:t>(c) = </a:t>
            </a:r>
            <a:r>
              <a:rPr lang="ru-RU" dirty="0"/>
              <a:t>число итераций в цикле</a:t>
            </a:r>
          </a:p>
          <a:p>
            <a:pPr lvl="1"/>
            <a:r>
              <a:rPr lang="en-US" dirty="0"/>
              <a:t>while (c &gt; 1) c = log(c)</a:t>
            </a:r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все </a:t>
            </a:r>
            <a:r>
              <a:rPr lang="en-US" dirty="0" err="1">
                <a:solidFill>
                  <a:schemeClr val="bg1"/>
                </a:solidFill>
              </a:rPr>
              <a:t>MergeSets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–</a:t>
            </a:r>
            <a:r>
              <a:rPr lang="ru-RU" dirty="0">
                <a:solidFill>
                  <a:schemeClr val="bg1"/>
                </a:solidFill>
              </a:rPr>
              <a:t> O(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) </a:t>
            </a:r>
          </a:p>
          <a:p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СНМ на основе деревьев 2/2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Доказательство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оценки числа операций см. в учебнике </a:t>
            </a:r>
            <a:r>
              <a:rPr lang="ru-RU" dirty="0" err="1">
                <a:solidFill>
                  <a:schemeClr val="bg1"/>
                </a:solidFill>
              </a:rPr>
              <a:t>Кормена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9" name="Группа 38"/>
          <p:cNvGrpSpPr/>
          <p:nvPr/>
        </p:nvGrpSpPr>
        <p:grpSpPr>
          <a:xfrm>
            <a:off x="1127874" y="3068390"/>
            <a:ext cx="1512168" cy="1368722"/>
            <a:chOff x="1983880" y="4757442"/>
            <a:chExt cx="1512168" cy="1368722"/>
          </a:xfrm>
        </p:grpSpPr>
        <p:sp>
          <p:nvSpPr>
            <p:cNvPr id="69671" name="Oval 44"/>
            <p:cNvSpPr>
              <a:spLocks noChangeArrowheads="1"/>
            </p:cNvSpPr>
            <p:nvPr/>
          </p:nvSpPr>
          <p:spPr bwMode="auto">
            <a:xfrm>
              <a:off x="2560662" y="4757442"/>
              <a:ext cx="144463" cy="142875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2" name="Oval 45"/>
            <p:cNvSpPr>
              <a:spLocks noChangeArrowheads="1"/>
            </p:cNvSpPr>
            <p:nvPr/>
          </p:nvSpPr>
          <p:spPr bwMode="auto">
            <a:xfrm>
              <a:off x="1983880" y="5191201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3" name="Oval 46"/>
            <p:cNvSpPr>
              <a:spLocks noChangeArrowheads="1"/>
            </p:cNvSpPr>
            <p:nvPr/>
          </p:nvSpPr>
          <p:spPr bwMode="auto">
            <a:xfrm>
              <a:off x="3134569" y="5191201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4" name="Oval 47"/>
            <p:cNvSpPr>
              <a:spLocks noChangeArrowheads="1"/>
            </p:cNvSpPr>
            <p:nvPr/>
          </p:nvSpPr>
          <p:spPr bwMode="auto">
            <a:xfrm>
              <a:off x="1983880" y="5622108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5" name="Oval 48"/>
            <p:cNvSpPr>
              <a:spLocks noChangeArrowheads="1"/>
            </p:cNvSpPr>
            <p:nvPr/>
          </p:nvSpPr>
          <p:spPr bwMode="auto">
            <a:xfrm>
              <a:off x="2343920" y="5191201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6" name="Oval 49"/>
            <p:cNvSpPr>
              <a:spLocks noChangeArrowheads="1"/>
            </p:cNvSpPr>
            <p:nvPr/>
          </p:nvSpPr>
          <p:spPr bwMode="auto">
            <a:xfrm>
              <a:off x="2559944" y="5623249"/>
              <a:ext cx="144463" cy="142875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7" name="Oval 50"/>
            <p:cNvSpPr>
              <a:spLocks noChangeArrowheads="1"/>
            </p:cNvSpPr>
            <p:nvPr/>
          </p:nvSpPr>
          <p:spPr bwMode="auto">
            <a:xfrm>
              <a:off x="2199060" y="562324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8" name="Oval 51"/>
            <p:cNvSpPr>
              <a:spLocks noChangeArrowheads="1"/>
            </p:cNvSpPr>
            <p:nvPr/>
          </p:nvSpPr>
          <p:spPr bwMode="auto">
            <a:xfrm>
              <a:off x="3350593" y="562324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9" name="Oval 52"/>
            <p:cNvSpPr>
              <a:spLocks noChangeArrowheads="1"/>
            </p:cNvSpPr>
            <p:nvPr/>
          </p:nvSpPr>
          <p:spPr bwMode="auto">
            <a:xfrm>
              <a:off x="2989362" y="562324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80" name="Oval 53"/>
            <p:cNvSpPr>
              <a:spLocks noChangeArrowheads="1"/>
            </p:cNvSpPr>
            <p:nvPr/>
          </p:nvSpPr>
          <p:spPr bwMode="auto">
            <a:xfrm>
              <a:off x="3351585" y="598328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90" name="Text Box 64"/>
            <p:cNvSpPr txBox="1">
              <a:spLocks noChangeArrowheads="1"/>
            </p:cNvSpPr>
            <p:nvPr/>
          </p:nvSpPr>
          <p:spPr bwMode="auto">
            <a:xfrm>
              <a:off x="2495849" y="5657554"/>
              <a:ext cx="28405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dirty="0">
                  <a:latin typeface="Calibri" pitchFamily="34" charset="0"/>
                  <a:cs typeface="Calibri" pitchFamily="34" charset="0"/>
                </a:rPr>
                <a:t>х</a:t>
              </a:r>
            </a:p>
          </p:txBody>
        </p:sp>
        <p:cxnSp>
          <p:nvCxnSpPr>
            <p:cNvPr id="76" name="Прямая соединительная линия 75"/>
            <p:cNvCxnSpPr>
              <a:stCxn id="69676" idx="0"/>
              <a:endCxn id="69671" idx="4"/>
            </p:cNvCxnSpPr>
            <p:nvPr/>
          </p:nvCxnSpPr>
          <p:spPr>
            <a:xfrm flipV="1">
              <a:off x="2632176" y="4900317"/>
              <a:ext cx="718" cy="72293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Прямая соединительная линия 76"/>
            <p:cNvCxnSpPr>
              <a:stCxn id="69679" idx="0"/>
              <a:endCxn id="69673" idx="3"/>
            </p:cNvCxnSpPr>
            <p:nvPr/>
          </p:nvCxnSpPr>
          <p:spPr>
            <a:xfrm flipV="1">
              <a:off x="3061594" y="5313152"/>
              <a:ext cx="94131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Прямая соединительная линия 77"/>
            <p:cNvCxnSpPr>
              <a:stCxn id="69673" idx="1"/>
              <a:endCxn id="69671" idx="5"/>
            </p:cNvCxnSpPr>
            <p:nvPr/>
          </p:nvCxnSpPr>
          <p:spPr>
            <a:xfrm flipH="1" flipV="1">
              <a:off x="2683969" y="4879393"/>
              <a:ext cx="471756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/>
            <p:cNvCxnSpPr>
              <a:stCxn id="69676" idx="1"/>
              <a:endCxn id="69675" idx="5"/>
            </p:cNvCxnSpPr>
            <p:nvPr/>
          </p:nvCxnSpPr>
          <p:spPr>
            <a:xfrm flipH="1" flipV="1">
              <a:off x="2467227" y="5313152"/>
              <a:ext cx="113873" cy="3310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Прямая соединительная линия 79"/>
            <p:cNvCxnSpPr>
              <a:stCxn id="69677" idx="0"/>
              <a:endCxn id="69675" idx="3"/>
            </p:cNvCxnSpPr>
            <p:nvPr/>
          </p:nvCxnSpPr>
          <p:spPr>
            <a:xfrm flipV="1">
              <a:off x="2271292" y="5313152"/>
              <a:ext cx="93784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/>
            <p:cNvCxnSpPr>
              <a:stCxn id="69674" idx="0"/>
              <a:endCxn id="69672" idx="4"/>
            </p:cNvCxnSpPr>
            <p:nvPr/>
          </p:nvCxnSpPr>
          <p:spPr>
            <a:xfrm flipV="1">
              <a:off x="2056112" y="5334076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/>
            <p:cNvCxnSpPr>
              <a:stCxn id="69672" idx="7"/>
              <a:endCxn id="69671" idx="3"/>
            </p:cNvCxnSpPr>
            <p:nvPr/>
          </p:nvCxnSpPr>
          <p:spPr>
            <a:xfrm flipV="1">
              <a:off x="2107187" y="4879393"/>
              <a:ext cx="474631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Прямая соединительная линия 96"/>
            <p:cNvCxnSpPr>
              <a:stCxn id="69675" idx="0"/>
              <a:endCxn id="69671" idx="4"/>
            </p:cNvCxnSpPr>
            <p:nvPr/>
          </p:nvCxnSpPr>
          <p:spPr>
            <a:xfrm flipV="1">
              <a:off x="2416152" y="4900317"/>
              <a:ext cx="216742" cy="29088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Прямая соединительная линия 97"/>
            <p:cNvCxnSpPr>
              <a:stCxn id="69680" idx="0"/>
              <a:endCxn id="69678" idx="4"/>
            </p:cNvCxnSpPr>
            <p:nvPr/>
          </p:nvCxnSpPr>
          <p:spPr>
            <a:xfrm flipH="1" flipV="1">
              <a:off x="3422825" y="5766124"/>
              <a:ext cx="992" cy="2171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единительная линия 98"/>
            <p:cNvCxnSpPr>
              <a:stCxn id="69678" idx="0"/>
              <a:endCxn id="69673" idx="5"/>
            </p:cNvCxnSpPr>
            <p:nvPr/>
          </p:nvCxnSpPr>
          <p:spPr>
            <a:xfrm flipH="1" flipV="1">
              <a:off x="3257876" y="5313152"/>
              <a:ext cx="164949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Группа 39"/>
          <p:cNvGrpSpPr/>
          <p:nvPr/>
        </p:nvGrpSpPr>
        <p:grpSpPr>
          <a:xfrm>
            <a:off x="4151784" y="3058055"/>
            <a:ext cx="1512168" cy="1368722"/>
            <a:chOff x="3696647" y="4745400"/>
            <a:chExt cx="1512168" cy="1368722"/>
          </a:xfrm>
        </p:grpSpPr>
        <p:sp>
          <p:nvSpPr>
            <p:cNvPr id="140" name="Oval 44"/>
            <p:cNvSpPr>
              <a:spLocks noChangeArrowheads="1"/>
            </p:cNvSpPr>
            <p:nvPr/>
          </p:nvSpPr>
          <p:spPr bwMode="auto">
            <a:xfrm>
              <a:off x="4273429" y="4745400"/>
              <a:ext cx="144463" cy="142875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1" name="Oval 45"/>
            <p:cNvSpPr>
              <a:spLocks noChangeArrowheads="1"/>
            </p:cNvSpPr>
            <p:nvPr/>
          </p:nvSpPr>
          <p:spPr bwMode="auto">
            <a:xfrm>
              <a:off x="3696647" y="517915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2" name="Oval 46"/>
            <p:cNvSpPr>
              <a:spLocks noChangeArrowheads="1"/>
            </p:cNvSpPr>
            <p:nvPr/>
          </p:nvSpPr>
          <p:spPr bwMode="auto">
            <a:xfrm>
              <a:off x="4847336" y="517915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3" name="Oval 47"/>
            <p:cNvSpPr>
              <a:spLocks noChangeArrowheads="1"/>
            </p:cNvSpPr>
            <p:nvPr/>
          </p:nvSpPr>
          <p:spPr bwMode="auto">
            <a:xfrm>
              <a:off x="3696647" y="5610066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4" name="Oval 48"/>
            <p:cNvSpPr>
              <a:spLocks noChangeArrowheads="1"/>
            </p:cNvSpPr>
            <p:nvPr/>
          </p:nvSpPr>
          <p:spPr bwMode="auto">
            <a:xfrm>
              <a:off x="4056687" y="517915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5" name="Oval 49"/>
            <p:cNvSpPr>
              <a:spLocks noChangeArrowheads="1"/>
            </p:cNvSpPr>
            <p:nvPr/>
          </p:nvSpPr>
          <p:spPr bwMode="auto">
            <a:xfrm>
              <a:off x="4272711" y="5611207"/>
              <a:ext cx="144463" cy="142875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6" name="Oval 50"/>
            <p:cNvSpPr>
              <a:spLocks noChangeArrowheads="1"/>
            </p:cNvSpPr>
            <p:nvPr/>
          </p:nvSpPr>
          <p:spPr bwMode="auto">
            <a:xfrm>
              <a:off x="3911827" y="561120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7" name="Oval 51"/>
            <p:cNvSpPr>
              <a:spLocks noChangeArrowheads="1"/>
            </p:cNvSpPr>
            <p:nvPr/>
          </p:nvSpPr>
          <p:spPr bwMode="auto">
            <a:xfrm>
              <a:off x="5063360" y="561120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8" name="Oval 52"/>
            <p:cNvSpPr>
              <a:spLocks noChangeArrowheads="1"/>
            </p:cNvSpPr>
            <p:nvPr/>
          </p:nvSpPr>
          <p:spPr bwMode="auto">
            <a:xfrm>
              <a:off x="4702129" y="561120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9" name="Oval 53"/>
            <p:cNvSpPr>
              <a:spLocks noChangeArrowheads="1"/>
            </p:cNvSpPr>
            <p:nvPr/>
          </p:nvSpPr>
          <p:spPr bwMode="auto">
            <a:xfrm>
              <a:off x="5064352" y="597124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50" name="Text Box 64"/>
            <p:cNvSpPr txBox="1">
              <a:spLocks noChangeArrowheads="1"/>
            </p:cNvSpPr>
            <p:nvPr/>
          </p:nvSpPr>
          <p:spPr bwMode="auto">
            <a:xfrm>
              <a:off x="4208616" y="5645512"/>
              <a:ext cx="28405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dirty="0">
                  <a:latin typeface="Calibri" pitchFamily="34" charset="0"/>
                  <a:cs typeface="Calibri" pitchFamily="34" charset="0"/>
                </a:rPr>
                <a:t>х</a:t>
              </a:r>
            </a:p>
          </p:txBody>
        </p:sp>
        <p:cxnSp>
          <p:nvCxnSpPr>
            <p:cNvPr id="151" name="Прямая соединительная линия 150"/>
            <p:cNvCxnSpPr>
              <a:stCxn id="145" idx="0"/>
              <a:endCxn id="140" idx="4"/>
            </p:cNvCxnSpPr>
            <p:nvPr/>
          </p:nvCxnSpPr>
          <p:spPr>
            <a:xfrm flipV="1">
              <a:off x="4344943" y="4888275"/>
              <a:ext cx="718" cy="722932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Прямая соединительная линия 151"/>
            <p:cNvCxnSpPr>
              <a:stCxn id="148" idx="0"/>
              <a:endCxn id="142" idx="3"/>
            </p:cNvCxnSpPr>
            <p:nvPr/>
          </p:nvCxnSpPr>
          <p:spPr>
            <a:xfrm flipV="1">
              <a:off x="4774361" y="5301110"/>
              <a:ext cx="94131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Прямая соединительная линия 152"/>
            <p:cNvCxnSpPr>
              <a:stCxn id="142" idx="1"/>
              <a:endCxn id="140" idx="5"/>
            </p:cNvCxnSpPr>
            <p:nvPr/>
          </p:nvCxnSpPr>
          <p:spPr>
            <a:xfrm flipH="1" flipV="1">
              <a:off x="4396736" y="4867351"/>
              <a:ext cx="471756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Прямая соединительная линия 154"/>
            <p:cNvCxnSpPr>
              <a:stCxn id="146" idx="0"/>
              <a:endCxn id="144" idx="3"/>
            </p:cNvCxnSpPr>
            <p:nvPr/>
          </p:nvCxnSpPr>
          <p:spPr>
            <a:xfrm flipV="1">
              <a:off x="3984059" y="5301110"/>
              <a:ext cx="93784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Прямая соединительная линия 155"/>
            <p:cNvCxnSpPr>
              <a:stCxn id="143" idx="0"/>
              <a:endCxn id="141" idx="4"/>
            </p:cNvCxnSpPr>
            <p:nvPr/>
          </p:nvCxnSpPr>
          <p:spPr>
            <a:xfrm flipV="1">
              <a:off x="3768879" y="5322034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Прямая соединительная линия 156"/>
            <p:cNvCxnSpPr>
              <a:stCxn id="141" idx="7"/>
              <a:endCxn id="140" idx="3"/>
            </p:cNvCxnSpPr>
            <p:nvPr/>
          </p:nvCxnSpPr>
          <p:spPr>
            <a:xfrm flipV="1">
              <a:off x="3819954" y="4867351"/>
              <a:ext cx="474631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Прямая соединительная линия 157"/>
            <p:cNvCxnSpPr>
              <a:stCxn id="144" idx="0"/>
              <a:endCxn id="140" idx="4"/>
            </p:cNvCxnSpPr>
            <p:nvPr/>
          </p:nvCxnSpPr>
          <p:spPr>
            <a:xfrm flipV="1">
              <a:off x="4128919" y="4888275"/>
              <a:ext cx="216742" cy="290884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Прямая соединительная линия 158"/>
            <p:cNvCxnSpPr>
              <a:stCxn id="149" idx="0"/>
              <a:endCxn id="147" idx="4"/>
            </p:cNvCxnSpPr>
            <p:nvPr/>
          </p:nvCxnSpPr>
          <p:spPr>
            <a:xfrm flipH="1" flipV="1">
              <a:off x="5135592" y="5754082"/>
              <a:ext cx="992" cy="2171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Прямая соединительная линия 159"/>
            <p:cNvCxnSpPr>
              <a:stCxn id="147" idx="0"/>
              <a:endCxn id="142" idx="5"/>
            </p:cNvCxnSpPr>
            <p:nvPr/>
          </p:nvCxnSpPr>
          <p:spPr>
            <a:xfrm flipH="1" flipV="1">
              <a:off x="4970643" y="5301110"/>
              <a:ext cx="164949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Стрелка вниз 42"/>
          <p:cNvSpPr/>
          <p:nvPr/>
        </p:nvSpPr>
        <p:spPr>
          <a:xfrm rot="16200000">
            <a:off x="3204837" y="2619533"/>
            <a:ext cx="215667" cy="1550704"/>
          </a:xfrm>
          <a:prstGeom prst="downArrow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2495600" y="2924944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FindSet</a:t>
            </a:r>
            <a:r>
              <a:rPr lang="en-US" dirty="0"/>
              <a:t>(…, x)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318097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Лес с объединением по рангу и сжатием путей</a:t>
            </a:r>
          </a:p>
          <a:p>
            <a:pPr lvl="1"/>
            <a:r>
              <a:rPr lang="ru-RU" dirty="0" err="1"/>
              <a:t>FindSet</a:t>
            </a:r>
            <a:r>
              <a:rPr lang="ru-RU" dirty="0"/>
              <a:t>(</a:t>
            </a:r>
            <a:r>
              <a:rPr lang="en-US" dirty="0"/>
              <a:t>…, x</a:t>
            </a:r>
            <a:r>
              <a:rPr lang="ru-RU" dirty="0"/>
              <a:t>) делает все элементы на пути от </a:t>
            </a:r>
            <a:r>
              <a:rPr lang="en-US" dirty="0"/>
              <a:t>x</a:t>
            </a:r>
            <a:r>
              <a:rPr lang="ru-RU" dirty="0"/>
              <a:t> до корня сыновьями корня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ru-RU" dirty="0"/>
          </a:p>
          <a:p>
            <a:r>
              <a:rPr lang="ru-RU" dirty="0"/>
              <a:t>все </a:t>
            </a:r>
            <a:r>
              <a:rPr lang="en-US" dirty="0" err="1"/>
              <a:t>FindSet</a:t>
            </a:r>
            <a:r>
              <a:rPr lang="en-US" dirty="0"/>
              <a:t> – O(N log</a:t>
            </a:r>
            <a:r>
              <a:rPr lang="en-US" baseline="30000" dirty="0"/>
              <a:t>*</a:t>
            </a:r>
            <a:r>
              <a:rPr lang="en-US" dirty="0"/>
              <a:t>(N))</a:t>
            </a:r>
          </a:p>
          <a:p>
            <a:pPr lvl="1"/>
            <a:r>
              <a:rPr lang="en-US" dirty="0"/>
              <a:t>log</a:t>
            </a:r>
            <a:r>
              <a:rPr lang="en-US" baseline="30000" dirty="0"/>
              <a:t>*</a:t>
            </a:r>
            <a:r>
              <a:rPr lang="en-US" dirty="0"/>
              <a:t>(c) = </a:t>
            </a:r>
            <a:r>
              <a:rPr lang="ru-RU" dirty="0"/>
              <a:t>число итераций в цикле</a:t>
            </a:r>
          </a:p>
          <a:p>
            <a:pPr lvl="1"/>
            <a:r>
              <a:rPr lang="en-US" dirty="0"/>
              <a:t>while (c &gt; 1) c = log(c)</a:t>
            </a:r>
            <a:endParaRPr lang="ru-RU" dirty="0"/>
          </a:p>
          <a:p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</a:t>
            </a:r>
            <a:r>
              <a:rPr lang="en-US" dirty="0"/>
              <a:t>–</a:t>
            </a:r>
            <a:r>
              <a:rPr lang="ru-RU" dirty="0"/>
              <a:t> O(</a:t>
            </a:r>
            <a:r>
              <a:rPr lang="en-US" dirty="0"/>
              <a:t>N</a:t>
            </a:r>
            <a:r>
              <a:rPr lang="ru-RU" dirty="0"/>
              <a:t>) </a:t>
            </a:r>
          </a:p>
          <a:p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СНМ на основе деревьев 2/2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Доказательство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оценки числа операций см. в учебнике </a:t>
            </a:r>
            <a:r>
              <a:rPr lang="ru-RU" dirty="0" err="1">
                <a:solidFill>
                  <a:schemeClr val="bg1"/>
                </a:solidFill>
              </a:rPr>
              <a:t>Кормена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9" name="Группа 38"/>
          <p:cNvGrpSpPr/>
          <p:nvPr/>
        </p:nvGrpSpPr>
        <p:grpSpPr>
          <a:xfrm>
            <a:off x="1127874" y="3068390"/>
            <a:ext cx="1512168" cy="1368722"/>
            <a:chOff x="1983880" y="4757442"/>
            <a:chExt cx="1512168" cy="1368722"/>
          </a:xfrm>
        </p:grpSpPr>
        <p:sp>
          <p:nvSpPr>
            <p:cNvPr id="69671" name="Oval 44"/>
            <p:cNvSpPr>
              <a:spLocks noChangeArrowheads="1"/>
            </p:cNvSpPr>
            <p:nvPr/>
          </p:nvSpPr>
          <p:spPr bwMode="auto">
            <a:xfrm>
              <a:off x="2560662" y="4757442"/>
              <a:ext cx="144463" cy="142875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2" name="Oval 45"/>
            <p:cNvSpPr>
              <a:spLocks noChangeArrowheads="1"/>
            </p:cNvSpPr>
            <p:nvPr/>
          </p:nvSpPr>
          <p:spPr bwMode="auto">
            <a:xfrm>
              <a:off x="1983880" y="5191201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3" name="Oval 46"/>
            <p:cNvSpPr>
              <a:spLocks noChangeArrowheads="1"/>
            </p:cNvSpPr>
            <p:nvPr/>
          </p:nvSpPr>
          <p:spPr bwMode="auto">
            <a:xfrm>
              <a:off x="3134569" y="5191201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4" name="Oval 47"/>
            <p:cNvSpPr>
              <a:spLocks noChangeArrowheads="1"/>
            </p:cNvSpPr>
            <p:nvPr/>
          </p:nvSpPr>
          <p:spPr bwMode="auto">
            <a:xfrm>
              <a:off x="1983880" y="5622108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5" name="Oval 48"/>
            <p:cNvSpPr>
              <a:spLocks noChangeArrowheads="1"/>
            </p:cNvSpPr>
            <p:nvPr/>
          </p:nvSpPr>
          <p:spPr bwMode="auto">
            <a:xfrm>
              <a:off x="2343920" y="5191201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6" name="Oval 49"/>
            <p:cNvSpPr>
              <a:spLocks noChangeArrowheads="1"/>
            </p:cNvSpPr>
            <p:nvPr/>
          </p:nvSpPr>
          <p:spPr bwMode="auto">
            <a:xfrm>
              <a:off x="2559944" y="5623249"/>
              <a:ext cx="144463" cy="142875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7" name="Oval 50"/>
            <p:cNvSpPr>
              <a:spLocks noChangeArrowheads="1"/>
            </p:cNvSpPr>
            <p:nvPr/>
          </p:nvSpPr>
          <p:spPr bwMode="auto">
            <a:xfrm>
              <a:off x="2199060" y="562324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8" name="Oval 51"/>
            <p:cNvSpPr>
              <a:spLocks noChangeArrowheads="1"/>
            </p:cNvSpPr>
            <p:nvPr/>
          </p:nvSpPr>
          <p:spPr bwMode="auto">
            <a:xfrm>
              <a:off x="3350593" y="562324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9" name="Oval 52"/>
            <p:cNvSpPr>
              <a:spLocks noChangeArrowheads="1"/>
            </p:cNvSpPr>
            <p:nvPr/>
          </p:nvSpPr>
          <p:spPr bwMode="auto">
            <a:xfrm>
              <a:off x="2989362" y="562324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80" name="Oval 53"/>
            <p:cNvSpPr>
              <a:spLocks noChangeArrowheads="1"/>
            </p:cNvSpPr>
            <p:nvPr/>
          </p:nvSpPr>
          <p:spPr bwMode="auto">
            <a:xfrm>
              <a:off x="3351585" y="598328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90" name="Text Box 64"/>
            <p:cNvSpPr txBox="1">
              <a:spLocks noChangeArrowheads="1"/>
            </p:cNvSpPr>
            <p:nvPr/>
          </p:nvSpPr>
          <p:spPr bwMode="auto">
            <a:xfrm>
              <a:off x="2495849" y="5657554"/>
              <a:ext cx="28405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dirty="0">
                  <a:latin typeface="Calibri" pitchFamily="34" charset="0"/>
                  <a:cs typeface="Calibri" pitchFamily="34" charset="0"/>
                </a:rPr>
                <a:t>х</a:t>
              </a:r>
            </a:p>
          </p:txBody>
        </p:sp>
        <p:cxnSp>
          <p:nvCxnSpPr>
            <p:cNvPr id="76" name="Прямая соединительная линия 75"/>
            <p:cNvCxnSpPr>
              <a:stCxn id="69676" idx="0"/>
              <a:endCxn id="69671" idx="4"/>
            </p:cNvCxnSpPr>
            <p:nvPr/>
          </p:nvCxnSpPr>
          <p:spPr>
            <a:xfrm flipV="1">
              <a:off x="2632176" y="4900317"/>
              <a:ext cx="718" cy="72293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Прямая соединительная линия 76"/>
            <p:cNvCxnSpPr>
              <a:stCxn id="69679" idx="0"/>
              <a:endCxn id="69673" idx="3"/>
            </p:cNvCxnSpPr>
            <p:nvPr/>
          </p:nvCxnSpPr>
          <p:spPr>
            <a:xfrm flipV="1">
              <a:off x="3061594" y="5313152"/>
              <a:ext cx="94131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Прямая соединительная линия 77"/>
            <p:cNvCxnSpPr>
              <a:stCxn id="69673" idx="1"/>
              <a:endCxn id="69671" idx="5"/>
            </p:cNvCxnSpPr>
            <p:nvPr/>
          </p:nvCxnSpPr>
          <p:spPr>
            <a:xfrm flipH="1" flipV="1">
              <a:off x="2683969" y="4879393"/>
              <a:ext cx="471756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/>
            <p:cNvCxnSpPr>
              <a:stCxn id="69676" idx="1"/>
              <a:endCxn id="69675" idx="5"/>
            </p:cNvCxnSpPr>
            <p:nvPr/>
          </p:nvCxnSpPr>
          <p:spPr>
            <a:xfrm flipH="1" flipV="1">
              <a:off x="2467227" y="5313152"/>
              <a:ext cx="113873" cy="3310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Прямая соединительная линия 79"/>
            <p:cNvCxnSpPr>
              <a:stCxn id="69677" idx="0"/>
              <a:endCxn id="69675" idx="3"/>
            </p:cNvCxnSpPr>
            <p:nvPr/>
          </p:nvCxnSpPr>
          <p:spPr>
            <a:xfrm flipV="1">
              <a:off x="2271292" y="5313152"/>
              <a:ext cx="93784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/>
            <p:cNvCxnSpPr>
              <a:stCxn id="69674" idx="0"/>
              <a:endCxn id="69672" idx="4"/>
            </p:cNvCxnSpPr>
            <p:nvPr/>
          </p:nvCxnSpPr>
          <p:spPr>
            <a:xfrm flipV="1">
              <a:off x="2056112" y="5334076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/>
            <p:cNvCxnSpPr>
              <a:stCxn id="69672" idx="7"/>
              <a:endCxn id="69671" idx="3"/>
            </p:cNvCxnSpPr>
            <p:nvPr/>
          </p:nvCxnSpPr>
          <p:spPr>
            <a:xfrm flipV="1">
              <a:off x="2107187" y="4879393"/>
              <a:ext cx="474631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Прямая соединительная линия 96"/>
            <p:cNvCxnSpPr>
              <a:stCxn id="69675" idx="0"/>
              <a:endCxn id="69671" idx="4"/>
            </p:cNvCxnSpPr>
            <p:nvPr/>
          </p:nvCxnSpPr>
          <p:spPr>
            <a:xfrm flipV="1">
              <a:off x="2416152" y="4900317"/>
              <a:ext cx="216742" cy="29088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Прямая соединительная линия 97"/>
            <p:cNvCxnSpPr>
              <a:stCxn id="69680" idx="0"/>
              <a:endCxn id="69678" idx="4"/>
            </p:cNvCxnSpPr>
            <p:nvPr/>
          </p:nvCxnSpPr>
          <p:spPr>
            <a:xfrm flipH="1" flipV="1">
              <a:off x="3422825" y="5766124"/>
              <a:ext cx="992" cy="2171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единительная линия 98"/>
            <p:cNvCxnSpPr>
              <a:stCxn id="69678" idx="0"/>
              <a:endCxn id="69673" idx="5"/>
            </p:cNvCxnSpPr>
            <p:nvPr/>
          </p:nvCxnSpPr>
          <p:spPr>
            <a:xfrm flipH="1" flipV="1">
              <a:off x="3257876" y="5313152"/>
              <a:ext cx="164949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Группа 39"/>
          <p:cNvGrpSpPr/>
          <p:nvPr/>
        </p:nvGrpSpPr>
        <p:grpSpPr>
          <a:xfrm>
            <a:off x="4151784" y="3058055"/>
            <a:ext cx="1512168" cy="1368722"/>
            <a:chOff x="3696647" y="4745400"/>
            <a:chExt cx="1512168" cy="1368722"/>
          </a:xfrm>
        </p:grpSpPr>
        <p:sp>
          <p:nvSpPr>
            <p:cNvPr id="140" name="Oval 44"/>
            <p:cNvSpPr>
              <a:spLocks noChangeArrowheads="1"/>
            </p:cNvSpPr>
            <p:nvPr/>
          </p:nvSpPr>
          <p:spPr bwMode="auto">
            <a:xfrm>
              <a:off x="4273429" y="4745400"/>
              <a:ext cx="144463" cy="142875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1" name="Oval 45"/>
            <p:cNvSpPr>
              <a:spLocks noChangeArrowheads="1"/>
            </p:cNvSpPr>
            <p:nvPr/>
          </p:nvSpPr>
          <p:spPr bwMode="auto">
            <a:xfrm>
              <a:off x="3696647" y="517915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2" name="Oval 46"/>
            <p:cNvSpPr>
              <a:spLocks noChangeArrowheads="1"/>
            </p:cNvSpPr>
            <p:nvPr/>
          </p:nvSpPr>
          <p:spPr bwMode="auto">
            <a:xfrm>
              <a:off x="4847336" y="517915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3" name="Oval 47"/>
            <p:cNvSpPr>
              <a:spLocks noChangeArrowheads="1"/>
            </p:cNvSpPr>
            <p:nvPr/>
          </p:nvSpPr>
          <p:spPr bwMode="auto">
            <a:xfrm>
              <a:off x="3696647" y="5610066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4" name="Oval 48"/>
            <p:cNvSpPr>
              <a:spLocks noChangeArrowheads="1"/>
            </p:cNvSpPr>
            <p:nvPr/>
          </p:nvSpPr>
          <p:spPr bwMode="auto">
            <a:xfrm>
              <a:off x="4056687" y="517915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5" name="Oval 49"/>
            <p:cNvSpPr>
              <a:spLocks noChangeArrowheads="1"/>
            </p:cNvSpPr>
            <p:nvPr/>
          </p:nvSpPr>
          <p:spPr bwMode="auto">
            <a:xfrm>
              <a:off x="4272711" y="5611207"/>
              <a:ext cx="144463" cy="142875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6" name="Oval 50"/>
            <p:cNvSpPr>
              <a:spLocks noChangeArrowheads="1"/>
            </p:cNvSpPr>
            <p:nvPr/>
          </p:nvSpPr>
          <p:spPr bwMode="auto">
            <a:xfrm>
              <a:off x="3911827" y="561120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7" name="Oval 51"/>
            <p:cNvSpPr>
              <a:spLocks noChangeArrowheads="1"/>
            </p:cNvSpPr>
            <p:nvPr/>
          </p:nvSpPr>
          <p:spPr bwMode="auto">
            <a:xfrm>
              <a:off x="5063360" y="561120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8" name="Oval 52"/>
            <p:cNvSpPr>
              <a:spLocks noChangeArrowheads="1"/>
            </p:cNvSpPr>
            <p:nvPr/>
          </p:nvSpPr>
          <p:spPr bwMode="auto">
            <a:xfrm>
              <a:off x="4702129" y="561120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9" name="Oval 53"/>
            <p:cNvSpPr>
              <a:spLocks noChangeArrowheads="1"/>
            </p:cNvSpPr>
            <p:nvPr/>
          </p:nvSpPr>
          <p:spPr bwMode="auto">
            <a:xfrm>
              <a:off x="5064352" y="597124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50" name="Text Box 64"/>
            <p:cNvSpPr txBox="1">
              <a:spLocks noChangeArrowheads="1"/>
            </p:cNvSpPr>
            <p:nvPr/>
          </p:nvSpPr>
          <p:spPr bwMode="auto">
            <a:xfrm>
              <a:off x="4208616" y="5645512"/>
              <a:ext cx="28405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dirty="0">
                  <a:latin typeface="Calibri" pitchFamily="34" charset="0"/>
                  <a:cs typeface="Calibri" pitchFamily="34" charset="0"/>
                </a:rPr>
                <a:t>х</a:t>
              </a:r>
            </a:p>
          </p:txBody>
        </p:sp>
        <p:cxnSp>
          <p:nvCxnSpPr>
            <p:cNvPr id="151" name="Прямая соединительная линия 150"/>
            <p:cNvCxnSpPr>
              <a:stCxn id="145" idx="0"/>
              <a:endCxn id="140" idx="4"/>
            </p:cNvCxnSpPr>
            <p:nvPr/>
          </p:nvCxnSpPr>
          <p:spPr>
            <a:xfrm flipV="1">
              <a:off x="4344943" y="4888275"/>
              <a:ext cx="718" cy="722932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Прямая соединительная линия 151"/>
            <p:cNvCxnSpPr>
              <a:stCxn id="148" idx="0"/>
              <a:endCxn id="142" idx="3"/>
            </p:cNvCxnSpPr>
            <p:nvPr/>
          </p:nvCxnSpPr>
          <p:spPr>
            <a:xfrm flipV="1">
              <a:off x="4774361" y="5301110"/>
              <a:ext cx="94131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Прямая соединительная линия 152"/>
            <p:cNvCxnSpPr>
              <a:stCxn id="142" idx="1"/>
              <a:endCxn id="140" idx="5"/>
            </p:cNvCxnSpPr>
            <p:nvPr/>
          </p:nvCxnSpPr>
          <p:spPr>
            <a:xfrm flipH="1" flipV="1">
              <a:off x="4396736" y="4867351"/>
              <a:ext cx="471756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Прямая соединительная линия 154"/>
            <p:cNvCxnSpPr>
              <a:stCxn id="146" idx="0"/>
              <a:endCxn id="144" idx="3"/>
            </p:cNvCxnSpPr>
            <p:nvPr/>
          </p:nvCxnSpPr>
          <p:spPr>
            <a:xfrm flipV="1">
              <a:off x="3984059" y="5301110"/>
              <a:ext cx="93784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Прямая соединительная линия 155"/>
            <p:cNvCxnSpPr>
              <a:stCxn id="143" idx="0"/>
              <a:endCxn id="141" idx="4"/>
            </p:cNvCxnSpPr>
            <p:nvPr/>
          </p:nvCxnSpPr>
          <p:spPr>
            <a:xfrm flipV="1">
              <a:off x="3768879" y="5322034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Прямая соединительная линия 156"/>
            <p:cNvCxnSpPr>
              <a:stCxn id="141" idx="7"/>
              <a:endCxn id="140" idx="3"/>
            </p:cNvCxnSpPr>
            <p:nvPr/>
          </p:nvCxnSpPr>
          <p:spPr>
            <a:xfrm flipV="1">
              <a:off x="3819954" y="4867351"/>
              <a:ext cx="474631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Прямая соединительная линия 157"/>
            <p:cNvCxnSpPr>
              <a:stCxn id="144" idx="0"/>
              <a:endCxn id="140" idx="4"/>
            </p:cNvCxnSpPr>
            <p:nvPr/>
          </p:nvCxnSpPr>
          <p:spPr>
            <a:xfrm flipV="1">
              <a:off x="4128919" y="4888275"/>
              <a:ext cx="216742" cy="290884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Прямая соединительная линия 158"/>
            <p:cNvCxnSpPr>
              <a:stCxn id="149" idx="0"/>
              <a:endCxn id="147" idx="4"/>
            </p:cNvCxnSpPr>
            <p:nvPr/>
          </p:nvCxnSpPr>
          <p:spPr>
            <a:xfrm flipH="1" flipV="1">
              <a:off x="5135592" y="5754082"/>
              <a:ext cx="992" cy="2171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Прямая соединительная линия 159"/>
            <p:cNvCxnSpPr>
              <a:stCxn id="147" idx="0"/>
              <a:endCxn id="142" idx="5"/>
            </p:cNvCxnSpPr>
            <p:nvPr/>
          </p:nvCxnSpPr>
          <p:spPr>
            <a:xfrm flipH="1" flipV="1">
              <a:off x="4970643" y="5301110"/>
              <a:ext cx="164949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Стрелка вниз 42"/>
          <p:cNvSpPr/>
          <p:nvPr/>
        </p:nvSpPr>
        <p:spPr>
          <a:xfrm rot="16200000">
            <a:off x="3204837" y="2619533"/>
            <a:ext cx="215667" cy="1550704"/>
          </a:xfrm>
          <a:prstGeom prst="downArrow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2495600" y="2924944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FindSet</a:t>
            </a:r>
            <a:r>
              <a:rPr lang="en-US" dirty="0"/>
              <a:t>(…, x)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460727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Лес с объединением по рангу и сжатием путей</a:t>
            </a:r>
          </a:p>
          <a:p>
            <a:pPr lvl="1"/>
            <a:r>
              <a:rPr lang="ru-RU" dirty="0" err="1"/>
              <a:t>FindSet</a:t>
            </a:r>
            <a:r>
              <a:rPr lang="ru-RU" dirty="0"/>
              <a:t>(</a:t>
            </a:r>
            <a:r>
              <a:rPr lang="en-US" dirty="0"/>
              <a:t>…, x</a:t>
            </a:r>
            <a:r>
              <a:rPr lang="ru-RU" dirty="0"/>
              <a:t>) делает все элементы на пути от </a:t>
            </a:r>
            <a:r>
              <a:rPr lang="en-US" dirty="0"/>
              <a:t>x</a:t>
            </a:r>
            <a:r>
              <a:rPr lang="ru-RU" dirty="0"/>
              <a:t> до корня сыновьями корня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ru-RU" dirty="0"/>
          </a:p>
          <a:p>
            <a:r>
              <a:rPr lang="ru-RU" dirty="0"/>
              <a:t>все </a:t>
            </a:r>
            <a:r>
              <a:rPr lang="en-US" dirty="0" err="1"/>
              <a:t>FindSet</a:t>
            </a:r>
            <a:r>
              <a:rPr lang="en-US" dirty="0"/>
              <a:t> – O(N log</a:t>
            </a:r>
            <a:r>
              <a:rPr lang="en-US" baseline="30000" dirty="0"/>
              <a:t>*</a:t>
            </a:r>
            <a:r>
              <a:rPr lang="en-US" dirty="0"/>
              <a:t>(N))</a:t>
            </a:r>
          </a:p>
          <a:p>
            <a:pPr lvl="1"/>
            <a:r>
              <a:rPr lang="en-US" dirty="0"/>
              <a:t>log</a:t>
            </a:r>
            <a:r>
              <a:rPr lang="en-US" baseline="30000" dirty="0"/>
              <a:t>*</a:t>
            </a:r>
            <a:r>
              <a:rPr lang="en-US" dirty="0"/>
              <a:t>(c) = </a:t>
            </a:r>
            <a:r>
              <a:rPr lang="ru-RU" dirty="0"/>
              <a:t>число итераций в цикле</a:t>
            </a:r>
          </a:p>
          <a:p>
            <a:pPr lvl="1"/>
            <a:r>
              <a:rPr lang="en-US" dirty="0"/>
              <a:t>while (c &gt; 1) c = log(c)</a:t>
            </a:r>
            <a:endParaRPr lang="ru-RU" dirty="0"/>
          </a:p>
          <a:p>
            <a:r>
              <a:rPr lang="ru-RU" dirty="0"/>
              <a:t>все </a:t>
            </a:r>
            <a:r>
              <a:rPr lang="en-US" dirty="0" err="1"/>
              <a:t>MergeSets</a:t>
            </a:r>
            <a:r>
              <a:rPr lang="ru-RU" dirty="0"/>
              <a:t> </a:t>
            </a:r>
            <a:r>
              <a:rPr lang="en-US" dirty="0"/>
              <a:t>–</a:t>
            </a:r>
            <a:r>
              <a:rPr lang="ru-RU" dirty="0"/>
              <a:t> O(</a:t>
            </a:r>
            <a:r>
              <a:rPr lang="en-US" dirty="0"/>
              <a:t>N</a:t>
            </a:r>
            <a:r>
              <a:rPr lang="ru-RU" dirty="0"/>
              <a:t>) </a:t>
            </a:r>
          </a:p>
          <a:p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Реализация СНМ на основе деревьев 2/2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Доказательство</a:t>
            </a:r>
            <a:r>
              <a:rPr lang="en-US" dirty="0"/>
              <a:t> </a:t>
            </a:r>
            <a:r>
              <a:rPr lang="ru-RU" dirty="0"/>
              <a:t>оценки числа операций см. в учебнике </a:t>
            </a:r>
            <a:r>
              <a:rPr lang="ru-RU" dirty="0" err="1"/>
              <a:t>Кормена</a:t>
            </a:r>
            <a:endParaRPr lang="en-US" dirty="0"/>
          </a:p>
        </p:txBody>
      </p:sp>
      <p:grpSp>
        <p:nvGrpSpPr>
          <p:cNvPr id="39" name="Группа 38"/>
          <p:cNvGrpSpPr/>
          <p:nvPr/>
        </p:nvGrpSpPr>
        <p:grpSpPr>
          <a:xfrm>
            <a:off x="1127874" y="3068390"/>
            <a:ext cx="1512168" cy="1368722"/>
            <a:chOff x="1983880" y="4757442"/>
            <a:chExt cx="1512168" cy="1368722"/>
          </a:xfrm>
        </p:grpSpPr>
        <p:sp>
          <p:nvSpPr>
            <p:cNvPr id="69671" name="Oval 44"/>
            <p:cNvSpPr>
              <a:spLocks noChangeArrowheads="1"/>
            </p:cNvSpPr>
            <p:nvPr/>
          </p:nvSpPr>
          <p:spPr bwMode="auto">
            <a:xfrm>
              <a:off x="2560662" y="4757442"/>
              <a:ext cx="144463" cy="142875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2" name="Oval 45"/>
            <p:cNvSpPr>
              <a:spLocks noChangeArrowheads="1"/>
            </p:cNvSpPr>
            <p:nvPr/>
          </p:nvSpPr>
          <p:spPr bwMode="auto">
            <a:xfrm>
              <a:off x="1983880" y="5191201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3" name="Oval 46"/>
            <p:cNvSpPr>
              <a:spLocks noChangeArrowheads="1"/>
            </p:cNvSpPr>
            <p:nvPr/>
          </p:nvSpPr>
          <p:spPr bwMode="auto">
            <a:xfrm>
              <a:off x="3134569" y="5191201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4" name="Oval 47"/>
            <p:cNvSpPr>
              <a:spLocks noChangeArrowheads="1"/>
            </p:cNvSpPr>
            <p:nvPr/>
          </p:nvSpPr>
          <p:spPr bwMode="auto">
            <a:xfrm>
              <a:off x="1983880" y="5622108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5" name="Oval 48"/>
            <p:cNvSpPr>
              <a:spLocks noChangeArrowheads="1"/>
            </p:cNvSpPr>
            <p:nvPr/>
          </p:nvSpPr>
          <p:spPr bwMode="auto">
            <a:xfrm>
              <a:off x="2343920" y="5191201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6" name="Oval 49"/>
            <p:cNvSpPr>
              <a:spLocks noChangeArrowheads="1"/>
            </p:cNvSpPr>
            <p:nvPr/>
          </p:nvSpPr>
          <p:spPr bwMode="auto">
            <a:xfrm>
              <a:off x="2559944" y="5623249"/>
              <a:ext cx="144463" cy="142875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7" name="Oval 50"/>
            <p:cNvSpPr>
              <a:spLocks noChangeArrowheads="1"/>
            </p:cNvSpPr>
            <p:nvPr/>
          </p:nvSpPr>
          <p:spPr bwMode="auto">
            <a:xfrm>
              <a:off x="2199060" y="562324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8" name="Oval 51"/>
            <p:cNvSpPr>
              <a:spLocks noChangeArrowheads="1"/>
            </p:cNvSpPr>
            <p:nvPr/>
          </p:nvSpPr>
          <p:spPr bwMode="auto">
            <a:xfrm>
              <a:off x="3350593" y="562324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79" name="Oval 52"/>
            <p:cNvSpPr>
              <a:spLocks noChangeArrowheads="1"/>
            </p:cNvSpPr>
            <p:nvPr/>
          </p:nvSpPr>
          <p:spPr bwMode="auto">
            <a:xfrm>
              <a:off x="2989362" y="562324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80" name="Oval 53"/>
            <p:cNvSpPr>
              <a:spLocks noChangeArrowheads="1"/>
            </p:cNvSpPr>
            <p:nvPr/>
          </p:nvSpPr>
          <p:spPr bwMode="auto">
            <a:xfrm>
              <a:off x="3351585" y="598328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9690" name="Text Box 64"/>
            <p:cNvSpPr txBox="1">
              <a:spLocks noChangeArrowheads="1"/>
            </p:cNvSpPr>
            <p:nvPr/>
          </p:nvSpPr>
          <p:spPr bwMode="auto">
            <a:xfrm>
              <a:off x="2495849" y="5657554"/>
              <a:ext cx="28405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dirty="0">
                  <a:latin typeface="Calibri" pitchFamily="34" charset="0"/>
                  <a:cs typeface="Calibri" pitchFamily="34" charset="0"/>
                </a:rPr>
                <a:t>х</a:t>
              </a:r>
            </a:p>
          </p:txBody>
        </p:sp>
        <p:cxnSp>
          <p:nvCxnSpPr>
            <p:cNvPr id="76" name="Прямая соединительная линия 75"/>
            <p:cNvCxnSpPr>
              <a:stCxn id="69676" idx="0"/>
              <a:endCxn id="69671" idx="4"/>
            </p:cNvCxnSpPr>
            <p:nvPr/>
          </p:nvCxnSpPr>
          <p:spPr>
            <a:xfrm flipV="1">
              <a:off x="2632176" y="4900317"/>
              <a:ext cx="718" cy="72293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Прямая соединительная линия 76"/>
            <p:cNvCxnSpPr>
              <a:stCxn id="69679" idx="0"/>
              <a:endCxn id="69673" idx="3"/>
            </p:cNvCxnSpPr>
            <p:nvPr/>
          </p:nvCxnSpPr>
          <p:spPr>
            <a:xfrm flipV="1">
              <a:off x="3061594" y="5313152"/>
              <a:ext cx="94131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Прямая соединительная линия 77"/>
            <p:cNvCxnSpPr>
              <a:stCxn id="69673" idx="1"/>
              <a:endCxn id="69671" idx="5"/>
            </p:cNvCxnSpPr>
            <p:nvPr/>
          </p:nvCxnSpPr>
          <p:spPr>
            <a:xfrm flipH="1" flipV="1">
              <a:off x="2683969" y="4879393"/>
              <a:ext cx="471756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/>
            <p:cNvCxnSpPr>
              <a:stCxn id="69676" idx="1"/>
              <a:endCxn id="69675" idx="5"/>
            </p:cNvCxnSpPr>
            <p:nvPr/>
          </p:nvCxnSpPr>
          <p:spPr>
            <a:xfrm flipH="1" flipV="1">
              <a:off x="2467227" y="5313152"/>
              <a:ext cx="113873" cy="3310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Прямая соединительная линия 79"/>
            <p:cNvCxnSpPr>
              <a:stCxn id="69677" idx="0"/>
              <a:endCxn id="69675" idx="3"/>
            </p:cNvCxnSpPr>
            <p:nvPr/>
          </p:nvCxnSpPr>
          <p:spPr>
            <a:xfrm flipV="1">
              <a:off x="2271292" y="5313152"/>
              <a:ext cx="93784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/>
            <p:cNvCxnSpPr>
              <a:stCxn id="69674" idx="0"/>
              <a:endCxn id="69672" idx="4"/>
            </p:cNvCxnSpPr>
            <p:nvPr/>
          </p:nvCxnSpPr>
          <p:spPr>
            <a:xfrm flipV="1">
              <a:off x="2056112" y="5334076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/>
            <p:cNvCxnSpPr>
              <a:stCxn id="69672" idx="7"/>
              <a:endCxn id="69671" idx="3"/>
            </p:cNvCxnSpPr>
            <p:nvPr/>
          </p:nvCxnSpPr>
          <p:spPr>
            <a:xfrm flipV="1">
              <a:off x="2107187" y="4879393"/>
              <a:ext cx="474631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Прямая соединительная линия 96"/>
            <p:cNvCxnSpPr>
              <a:stCxn id="69675" idx="0"/>
              <a:endCxn id="69671" idx="4"/>
            </p:cNvCxnSpPr>
            <p:nvPr/>
          </p:nvCxnSpPr>
          <p:spPr>
            <a:xfrm flipV="1">
              <a:off x="2416152" y="4900317"/>
              <a:ext cx="216742" cy="29088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Прямая соединительная линия 97"/>
            <p:cNvCxnSpPr>
              <a:stCxn id="69680" idx="0"/>
              <a:endCxn id="69678" idx="4"/>
            </p:cNvCxnSpPr>
            <p:nvPr/>
          </p:nvCxnSpPr>
          <p:spPr>
            <a:xfrm flipH="1" flipV="1">
              <a:off x="3422825" y="5766124"/>
              <a:ext cx="992" cy="2171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Прямая соединительная линия 98"/>
            <p:cNvCxnSpPr>
              <a:stCxn id="69678" idx="0"/>
              <a:endCxn id="69673" idx="5"/>
            </p:cNvCxnSpPr>
            <p:nvPr/>
          </p:nvCxnSpPr>
          <p:spPr>
            <a:xfrm flipH="1" flipV="1">
              <a:off x="3257876" y="5313152"/>
              <a:ext cx="164949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Группа 39"/>
          <p:cNvGrpSpPr/>
          <p:nvPr/>
        </p:nvGrpSpPr>
        <p:grpSpPr>
          <a:xfrm>
            <a:off x="4151784" y="3058055"/>
            <a:ext cx="1512168" cy="1368722"/>
            <a:chOff x="3696647" y="4745400"/>
            <a:chExt cx="1512168" cy="1368722"/>
          </a:xfrm>
        </p:grpSpPr>
        <p:sp>
          <p:nvSpPr>
            <p:cNvPr id="140" name="Oval 44"/>
            <p:cNvSpPr>
              <a:spLocks noChangeArrowheads="1"/>
            </p:cNvSpPr>
            <p:nvPr/>
          </p:nvSpPr>
          <p:spPr bwMode="auto">
            <a:xfrm>
              <a:off x="4273429" y="4745400"/>
              <a:ext cx="144463" cy="142875"/>
            </a:xfrm>
            <a:prstGeom prst="ellipse">
              <a:avLst/>
            </a:prstGeom>
            <a:solidFill>
              <a:srgbClr val="EF5A1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1" name="Oval 45"/>
            <p:cNvSpPr>
              <a:spLocks noChangeArrowheads="1"/>
            </p:cNvSpPr>
            <p:nvPr/>
          </p:nvSpPr>
          <p:spPr bwMode="auto">
            <a:xfrm>
              <a:off x="3696647" y="517915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2" name="Oval 46"/>
            <p:cNvSpPr>
              <a:spLocks noChangeArrowheads="1"/>
            </p:cNvSpPr>
            <p:nvPr/>
          </p:nvSpPr>
          <p:spPr bwMode="auto">
            <a:xfrm>
              <a:off x="4847336" y="517915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3" name="Oval 47"/>
            <p:cNvSpPr>
              <a:spLocks noChangeArrowheads="1"/>
            </p:cNvSpPr>
            <p:nvPr/>
          </p:nvSpPr>
          <p:spPr bwMode="auto">
            <a:xfrm>
              <a:off x="3696647" y="5610066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4" name="Oval 48"/>
            <p:cNvSpPr>
              <a:spLocks noChangeArrowheads="1"/>
            </p:cNvSpPr>
            <p:nvPr/>
          </p:nvSpPr>
          <p:spPr bwMode="auto">
            <a:xfrm>
              <a:off x="4056687" y="5179159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5" name="Oval 49"/>
            <p:cNvSpPr>
              <a:spLocks noChangeArrowheads="1"/>
            </p:cNvSpPr>
            <p:nvPr/>
          </p:nvSpPr>
          <p:spPr bwMode="auto">
            <a:xfrm>
              <a:off x="4272711" y="5611207"/>
              <a:ext cx="144463" cy="142875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6" name="Oval 50"/>
            <p:cNvSpPr>
              <a:spLocks noChangeArrowheads="1"/>
            </p:cNvSpPr>
            <p:nvPr/>
          </p:nvSpPr>
          <p:spPr bwMode="auto">
            <a:xfrm>
              <a:off x="3911827" y="561120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7" name="Oval 51"/>
            <p:cNvSpPr>
              <a:spLocks noChangeArrowheads="1"/>
            </p:cNvSpPr>
            <p:nvPr/>
          </p:nvSpPr>
          <p:spPr bwMode="auto">
            <a:xfrm>
              <a:off x="5063360" y="561120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8" name="Oval 52"/>
            <p:cNvSpPr>
              <a:spLocks noChangeArrowheads="1"/>
            </p:cNvSpPr>
            <p:nvPr/>
          </p:nvSpPr>
          <p:spPr bwMode="auto">
            <a:xfrm>
              <a:off x="4702129" y="561120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9" name="Oval 53"/>
            <p:cNvSpPr>
              <a:spLocks noChangeArrowheads="1"/>
            </p:cNvSpPr>
            <p:nvPr/>
          </p:nvSpPr>
          <p:spPr bwMode="auto">
            <a:xfrm>
              <a:off x="5064352" y="5971247"/>
              <a:ext cx="144463" cy="1428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u-RU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50" name="Text Box 64"/>
            <p:cNvSpPr txBox="1">
              <a:spLocks noChangeArrowheads="1"/>
            </p:cNvSpPr>
            <p:nvPr/>
          </p:nvSpPr>
          <p:spPr bwMode="auto">
            <a:xfrm>
              <a:off x="4208616" y="5645512"/>
              <a:ext cx="28405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dirty="0">
                  <a:latin typeface="Calibri" pitchFamily="34" charset="0"/>
                  <a:cs typeface="Calibri" pitchFamily="34" charset="0"/>
                </a:rPr>
                <a:t>х</a:t>
              </a:r>
            </a:p>
          </p:txBody>
        </p:sp>
        <p:cxnSp>
          <p:nvCxnSpPr>
            <p:cNvPr id="151" name="Прямая соединительная линия 150"/>
            <p:cNvCxnSpPr>
              <a:stCxn id="145" idx="0"/>
              <a:endCxn id="140" idx="4"/>
            </p:cNvCxnSpPr>
            <p:nvPr/>
          </p:nvCxnSpPr>
          <p:spPr>
            <a:xfrm flipV="1">
              <a:off x="4344943" y="4888275"/>
              <a:ext cx="718" cy="722932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Прямая соединительная линия 151"/>
            <p:cNvCxnSpPr>
              <a:stCxn id="148" idx="0"/>
              <a:endCxn id="142" idx="3"/>
            </p:cNvCxnSpPr>
            <p:nvPr/>
          </p:nvCxnSpPr>
          <p:spPr>
            <a:xfrm flipV="1">
              <a:off x="4774361" y="5301110"/>
              <a:ext cx="94131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Прямая соединительная линия 152"/>
            <p:cNvCxnSpPr>
              <a:stCxn id="142" idx="1"/>
              <a:endCxn id="140" idx="5"/>
            </p:cNvCxnSpPr>
            <p:nvPr/>
          </p:nvCxnSpPr>
          <p:spPr>
            <a:xfrm flipH="1" flipV="1">
              <a:off x="4396736" y="4867351"/>
              <a:ext cx="471756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Прямая соединительная линия 154"/>
            <p:cNvCxnSpPr>
              <a:stCxn id="146" idx="0"/>
              <a:endCxn id="144" idx="3"/>
            </p:cNvCxnSpPr>
            <p:nvPr/>
          </p:nvCxnSpPr>
          <p:spPr>
            <a:xfrm flipV="1">
              <a:off x="3984059" y="5301110"/>
              <a:ext cx="93784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Прямая соединительная линия 155"/>
            <p:cNvCxnSpPr>
              <a:stCxn id="143" idx="0"/>
              <a:endCxn id="141" idx="4"/>
            </p:cNvCxnSpPr>
            <p:nvPr/>
          </p:nvCxnSpPr>
          <p:spPr>
            <a:xfrm flipV="1">
              <a:off x="3768879" y="5322034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Прямая соединительная линия 156"/>
            <p:cNvCxnSpPr>
              <a:stCxn id="141" idx="7"/>
              <a:endCxn id="140" idx="3"/>
            </p:cNvCxnSpPr>
            <p:nvPr/>
          </p:nvCxnSpPr>
          <p:spPr>
            <a:xfrm flipV="1">
              <a:off x="3819954" y="4867351"/>
              <a:ext cx="474631" cy="332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Прямая соединительная линия 157"/>
            <p:cNvCxnSpPr>
              <a:stCxn id="144" idx="0"/>
              <a:endCxn id="140" idx="4"/>
            </p:cNvCxnSpPr>
            <p:nvPr/>
          </p:nvCxnSpPr>
          <p:spPr>
            <a:xfrm flipV="1">
              <a:off x="4128919" y="4888275"/>
              <a:ext cx="216742" cy="290884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Прямая соединительная линия 158"/>
            <p:cNvCxnSpPr>
              <a:stCxn id="149" idx="0"/>
              <a:endCxn id="147" idx="4"/>
            </p:cNvCxnSpPr>
            <p:nvPr/>
          </p:nvCxnSpPr>
          <p:spPr>
            <a:xfrm flipH="1" flipV="1">
              <a:off x="5135592" y="5754082"/>
              <a:ext cx="992" cy="2171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Прямая соединительная линия 159"/>
            <p:cNvCxnSpPr>
              <a:stCxn id="147" idx="0"/>
              <a:endCxn id="142" idx="5"/>
            </p:cNvCxnSpPr>
            <p:nvPr/>
          </p:nvCxnSpPr>
          <p:spPr>
            <a:xfrm flipH="1" flipV="1">
              <a:off x="4970643" y="5301110"/>
              <a:ext cx="164949" cy="3100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Стрелка вниз 42"/>
          <p:cNvSpPr/>
          <p:nvPr/>
        </p:nvSpPr>
        <p:spPr>
          <a:xfrm rot="16200000">
            <a:off x="3204837" y="2619533"/>
            <a:ext cx="215667" cy="1550704"/>
          </a:xfrm>
          <a:prstGeom prst="downArrow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2495600" y="2924944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FindSet</a:t>
            </a:r>
            <a:r>
              <a:rPr lang="en-US" dirty="0"/>
              <a:t>(…, x)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823730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Реализация СНМ со сжатием путей на языке Си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typedef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* Parent;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* Rank;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} TDSU;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TDSU*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MakeSets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count)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TDSU*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malloc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(TDSU));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assert(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!= NULL);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calloc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(count,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assert(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 != NULL);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for 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element = 0; element &lt; count;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                   ++element)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 = element;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calloc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(count,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assert(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 != NULL);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return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void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DestroySets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(TDSU*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FindSet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(TDSU*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element)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if (element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return element;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 =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FindSet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return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void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MergeSets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(TDSU*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assert(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assert(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if 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&gt;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return;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if 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+=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784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Реализация СНМ со сжатием путей на языке Си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Parent;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Rank;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TDSU*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MakeSets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count)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TDSU*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malloc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(TDSU));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assert(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!= NULL);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calloc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(count,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assert(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 != NULL);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for 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element = 0; element &lt; count;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                   ++element)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 = element;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calloc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(count,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assert(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 != NULL);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return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void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DestroySets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(TDSU*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FindSet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(TDSU*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element)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if (element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return element;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 =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FindSet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return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void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MergeSets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(TDSU*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assert(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assert(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if 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&gt;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return;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if 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+=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79278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Реализация СНМ со сжатием путей на языке Си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Parent;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Rank;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MakeSets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calloc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 !=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element = 0; element &lt;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++element)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-&gt;Parent[element] = element;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-&gt;Rank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calloc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-&gt;Rank !=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void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DestroySets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(TDSU*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FindSet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(TDSU*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element)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if (element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return element;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 =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FindSet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return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void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MergeSets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(TDSU*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assert(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assert(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if 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&gt;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return;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if 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+=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88375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Реализация СНМ со сжатием путей на языке Си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Parent;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Rank;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MakeSets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calloc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 !=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element = 0; element &lt;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++element)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-&gt;Parent[element] = element;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-&gt;Rank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calloc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-&gt;Rank !=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DestroySets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-&gt;Rank);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FindSet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(TDSU*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element)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if (element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return element;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 =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FindSet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return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-&gt;Parent[element];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void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MergeSets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(TDSU*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assert(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assert(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if 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&gt;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return;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if 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+=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22304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Реализация СНМ со сжатием путей на языке Си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Parent;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Rank;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MakeSets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calloc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 !=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element = 0; element &lt;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++element)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-&gt;Parent[element] = element;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-&gt;Rank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calloc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-&gt;Rank !=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DestroySets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-&gt;Rank);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void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MergeSets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(TDSU*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assert(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assert(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if 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&gt;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return;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if (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] +=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84607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Реализация СНМ со сжатием путей на языке Си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Parent;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Rank;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MakeSets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calloc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 !=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element = 0; element &lt;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++element)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-&gt;Parent[element] = element;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-&gt;Rank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calloc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count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-&gt;Rank !=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DestroySets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-&gt;Rank);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FindSet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MergeSets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TDSU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6F008A"/>
                </a:solidFill>
                <a:latin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&gt;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-&gt;Parent[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setX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==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dsu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-&gt;Rank[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setY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+= 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55808669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Минимальный каркас графа</a:t>
            </a:r>
          </a:p>
        </p:txBody>
      </p:sp>
      <p:sp>
        <p:nvSpPr>
          <p:cNvPr id="47106" name="Rectangle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ru-RU" dirty="0">
                <a:solidFill>
                  <a:schemeClr val="bg1"/>
                </a:solidFill>
              </a:rPr>
              <a:t>Неориентированный связный граф </a:t>
            </a:r>
            <a:r>
              <a:rPr lang="en-US" dirty="0">
                <a:solidFill>
                  <a:schemeClr val="bg1"/>
                </a:solidFill>
              </a:rPr>
              <a:t>G</a:t>
            </a:r>
            <a:r>
              <a:rPr lang="ru-RU" dirty="0">
                <a:solidFill>
                  <a:schemeClr val="bg1"/>
                </a:solidFill>
              </a:rPr>
              <a:t> = (</a:t>
            </a:r>
            <a:r>
              <a:rPr lang="en-US" dirty="0">
                <a:solidFill>
                  <a:schemeClr val="bg1"/>
                </a:solidFill>
              </a:rPr>
              <a:t>V, E)</a:t>
            </a:r>
          </a:p>
          <a:p>
            <a:pPr>
              <a:lnSpc>
                <a:spcPct val="80000"/>
              </a:lnSpc>
            </a:pPr>
            <a:endParaRPr lang="ru-RU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r>
              <a:rPr lang="ru-RU" dirty="0">
                <a:solidFill>
                  <a:schemeClr val="bg1"/>
                </a:solidFill>
              </a:rPr>
              <a:t>Веса рёбер </a:t>
            </a:r>
            <a:r>
              <a:rPr lang="en-US" dirty="0">
                <a:solidFill>
                  <a:schemeClr val="bg1"/>
                </a:solidFill>
              </a:rPr>
              <a:t>w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: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E --&gt; R</a:t>
            </a:r>
            <a:r>
              <a:rPr lang="en-US" baseline="30000" dirty="0">
                <a:solidFill>
                  <a:schemeClr val="bg1"/>
                </a:solidFill>
              </a:rPr>
              <a:t>+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=</a:t>
            </a:r>
            <a:r>
              <a:rPr lang="en-US" dirty="0">
                <a:solidFill>
                  <a:schemeClr val="bg1"/>
                </a:solidFill>
              </a:rPr>
              <a:t> [0, </a:t>
            </a:r>
            <a:r>
              <a:rPr lang="en-US" dirty="0">
                <a:solidFill>
                  <a:schemeClr val="bg1"/>
                </a:solidFill>
                <a:sym typeface="Symbol"/>
              </a:rPr>
              <a:t>)</a:t>
            </a:r>
            <a:endParaRPr lang="en-US" sz="3600" b="1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endParaRPr lang="ru-RU" sz="2800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r>
              <a:rPr lang="ru-RU" dirty="0">
                <a:solidFill>
                  <a:schemeClr val="bg1"/>
                </a:solidFill>
              </a:rPr>
              <a:t>Минимальным каркасом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ru-RU" dirty="0" err="1">
                <a:solidFill>
                  <a:schemeClr val="bg1"/>
                </a:solidFill>
              </a:rPr>
              <a:t>остовным</a:t>
            </a:r>
            <a:r>
              <a:rPr lang="ru-RU" dirty="0">
                <a:solidFill>
                  <a:schemeClr val="bg1"/>
                </a:solidFill>
              </a:rPr>
              <a:t> деревом</a:t>
            </a:r>
            <a:r>
              <a:rPr lang="en-US" dirty="0">
                <a:solidFill>
                  <a:schemeClr val="bg1"/>
                </a:solidFill>
              </a:rPr>
              <a:t>)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G</a:t>
            </a:r>
            <a:r>
              <a:rPr lang="ru-RU" dirty="0">
                <a:solidFill>
                  <a:schemeClr val="bg1"/>
                </a:solidFill>
              </a:rPr>
              <a:t> называется такой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каркас</a:t>
            </a:r>
            <a:r>
              <a:rPr lang="en-US" dirty="0">
                <a:solidFill>
                  <a:schemeClr val="bg1"/>
                </a:solidFill>
              </a:rPr>
              <a:t> G</a:t>
            </a:r>
            <a:r>
              <a:rPr lang="ru-RU" dirty="0">
                <a:solidFill>
                  <a:schemeClr val="bg1"/>
                </a:solidFill>
              </a:rPr>
              <a:t>, сумма весов ребер которого минимальна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Минимальный каркас графа</a:t>
            </a:r>
          </a:p>
        </p:txBody>
      </p:sp>
      <p:sp>
        <p:nvSpPr>
          <p:cNvPr id="47106" name="Rectangle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ru-RU" dirty="0"/>
              <a:t>Неориентированный связный граф </a:t>
            </a:r>
            <a:r>
              <a:rPr lang="en-US" dirty="0"/>
              <a:t>G</a:t>
            </a:r>
            <a:r>
              <a:rPr lang="ru-RU" dirty="0"/>
              <a:t> = (</a:t>
            </a:r>
            <a:r>
              <a:rPr lang="en-US" dirty="0"/>
              <a:t>V, E)</a:t>
            </a:r>
          </a:p>
          <a:p>
            <a:pPr>
              <a:lnSpc>
                <a:spcPct val="80000"/>
              </a:lnSpc>
            </a:pPr>
            <a:endParaRPr lang="ru-RU" dirty="0"/>
          </a:p>
          <a:p>
            <a:pPr>
              <a:lnSpc>
                <a:spcPct val="80000"/>
              </a:lnSpc>
            </a:pPr>
            <a:r>
              <a:rPr lang="ru-RU" dirty="0">
                <a:solidFill>
                  <a:schemeClr val="bg1"/>
                </a:solidFill>
              </a:rPr>
              <a:t>Веса рёбер </a:t>
            </a:r>
            <a:r>
              <a:rPr lang="en-US" dirty="0">
                <a:solidFill>
                  <a:schemeClr val="bg1"/>
                </a:solidFill>
              </a:rPr>
              <a:t>w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: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E --&gt; R</a:t>
            </a:r>
            <a:r>
              <a:rPr lang="en-US" baseline="30000" dirty="0">
                <a:solidFill>
                  <a:schemeClr val="bg1"/>
                </a:solidFill>
              </a:rPr>
              <a:t>+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=</a:t>
            </a:r>
            <a:r>
              <a:rPr lang="en-US" dirty="0">
                <a:solidFill>
                  <a:schemeClr val="bg1"/>
                </a:solidFill>
              </a:rPr>
              <a:t> [0, </a:t>
            </a:r>
            <a:r>
              <a:rPr lang="en-US" dirty="0">
                <a:solidFill>
                  <a:schemeClr val="bg1"/>
                </a:solidFill>
                <a:sym typeface="Symbol"/>
              </a:rPr>
              <a:t>)</a:t>
            </a:r>
            <a:endParaRPr lang="en-US" sz="3600" b="1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endParaRPr lang="ru-RU" sz="2800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</a:pPr>
            <a:r>
              <a:rPr lang="ru-RU" dirty="0">
                <a:solidFill>
                  <a:schemeClr val="bg1"/>
                </a:solidFill>
              </a:rPr>
              <a:t>Минимальным каркасом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ru-RU" dirty="0" err="1">
                <a:solidFill>
                  <a:schemeClr val="bg1"/>
                </a:solidFill>
              </a:rPr>
              <a:t>остовным</a:t>
            </a:r>
            <a:r>
              <a:rPr lang="ru-RU" dirty="0">
                <a:solidFill>
                  <a:schemeClr val="bg1"/>
                </a:solidFill>
              </a:rPr>
              <a:t> деревом</a:t>
            </a:r>
            <a:r>
              <a:rPr lang="en-US" dirty="0">
                <a:solidFill>
                  <a:schemeClr val="bg1"/>
                </a:solidFill>
              </a:rPr>
              <a:t>)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G</a:t>
            </a:r>
            <a:r>
              <a:rPr lang="ru-RU" dirty="0">
                <a:solidFill>
                  <a:schemeClr val="bg1"/>
                </a:solidFill>
              </a:rPr>
              <a:t> называется такой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каркас</a:t>
            </a:r>
            <a:r>
              <a:rPr lang="en-US" dirty="0">
                <a:solidFill>
                  <a:schemeClr val="bg1"/>
                </a:solidFill>
              </a:rPr>
              <a:t> G</a:t>
            </a:r>
            <a:r>
              <a:rPr lang="ru-RU" dirty="0">
                <a:solidFill>
                  <a:schemeClr val="bg1"/>
                </a:solidFill>
              </a:rPr>
              <a:t>, сумма весов ребер которого минимальна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10551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Минимальный каркас графа</a:t>
            </a:r>
          </a:p>
        </p:txBody>
      </p:sp>
      <p:sp>
        <p:nvSpPr>
          <p:cNvPr id="47106" name="Rectangle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ru-RU" dirty="0"/>
              <a:t>Неориентированный связный граф </a:t>
            </a:r>
            <a:r>
              <a:rPr lang="en-US" dirty="0"/>
              <a:t>G</a:t>
            </a:r>
            <a:r>
              <a:rPr lang="ru-RU" dirty="0"/>
              <a:t> = (</a:t>
            </a:r>
            <a:r>
              <a:rPr lang="en-US" dirty="0"/>
              <a:t>V, E)</a:t>
            </a:r>
          </a:p>
          <a:p>
            <a:pPr>
              <a:lnSpc>
                <a:spcPct val="80000"/>
              </a:lnSpc>
            </a:pPr>
            <a:endParaRPr lang="ru-RU" dirty="0"/>
          </a:p>
          <a:p>
            <a:pPr>
              <a:lnSpc>
                <a:spcPct val="80000"/>
              </a:lnSpc>
            </a:pPr>
            <a:r>
              <a:rPr lang="ru-RU" dirty="0"/>
              <a:t>Веса рёбер </a:t>
            </a:r>
            <a:r>
              <a:rPr lang="en-US" dirty="0"/>
              <a:t>w</a:t>
            </a:r>
            <a:r>
              <a:rPr lang="ru-RU" dirty="0"/>
              <a:t> 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E --&gt; R</a:t>
            </a:r>
            <a:r>
              <a:rPr lang="en-US" baseline="30000" dirty="0"/>
              <a:t>+</a:t>
            </a:r>
            <a:r>
              <a:rPr lang="en-US" dirty="0"/>
              <a:t> </a:t>
            </a:r>
            <a:r>
              <a:rPr lang="ru-RU" dirty="0"/>
              <a:t>=</a:t>
            </a:r>
            <a:r>
              <a:rPr lang="en-US" dirty="0"/>
              <a:t> [0, </a:t>
            </a:r>
            <a:r>
              <a:rPr lang="en-US" dirty="0">
                <a:sym typeface="Symbol"/>
              </a:rPr>
              <a:t>)</a:t>
            </a:r>
            <a:endParaRPr lang="en-US" sz="3600" b="1" dirty="0"/>
          </a:p>
          <a:p>
            <a:pPr>
              <a:lnSpc>
                <a:spcPct val="80000"/>
              </a:lnSpc>
            </a:pPr>
            <a:endParaRPr lang="ru-RU" sz="2800" dirty="0"/>
          </a:p>
          <a:p>
            <a:pPr>
              <a:lnSpc>
                <a:spcPct val="80000"/>
              </a:lnSpc>
            </a:pPr>
            <a:r>
              <a:rPr lang="ru-RU" dirty="0">
                <a:solidFill>
                  <a:schemeClr val="bg1"/>
                </a:solidFill>
              </a:rPr>
              <a:t>Минимальным каркасом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ru-RU" dirty="0" err="1">
                <a:solidFill>
                  <a:schemeClr val="bg1"/>
                </a:solidFill>
              </a:rPr>
              <a:t>остовным</a:t>
            </a:r>
            <a:r>
              <a:rPr lang="ru-RU" dirty="0">
                <a:solidFill>
                  <a:schemeClr val="bg1"/>
                </a:solidFill>
              </a:rPr>
              <a:t> деревом</a:t>
            </a:r>
            <a:r>
              <a:rPr lang="en-US" dirty="0">
                <a:solidFill>
                  <a:schemeClr val="bg1"/>
                </a:solidFill>
              </a:rPr>
              <a:t>)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G</a:t>
            </a:r>
            <a:r>
              <a:rPr lang="ru-RU" dirty="0">
                <a:solidFill>
                  <a:schemeClr val="bg1"/>
                </a:solidFill>
              </a:rPr>
              <a:t> называется такой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каркас</a:t>
            </a:r>
            <a:r>
              <a:rPr lang="en-US" dirty="0">
                <a:solidFill>
                  <a:schemeClr val="bg1"/>
                </a:solidFill>
              </a:rPr>
              <a:t> G</a:t>
            </a:r>
            <a:r>
              <a:rPr lang="ru-RU" dirty="0">
                <a:solidFill>
                  <a:schemeClr val="bg1"/>
                </a:solidFill>
              </a:rPr>
              <a:t>, сумма весов ребер которого минимальна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83188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Минимальный каркас графа</a:t>
            </a:r>
          </a:p>
        </p:txBody>
      </p:sp>
      <p:sp>
        <p:nvSpPr>
          <p:cNvPr id="47106" name="Rectangle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ru-RU" dirty="0"/>
              <a:t>Неориентированный связный граф </a:t>
            </a:r>
            <a:r>
              <a:rPr lang="en-US" dirty="0"/>
              <a:t>G</a:t>
            </a:r>
            <a:r>
              <a:rPr lang="ru-RU" dirty="0"/>
              <a:t> = (</a:t>
            </a:r>
            <a:r>
              <a:rPr lang="en-US" dirty="0"/>
              <a:t>V, E)</a:t>
            </a:r>
          </a:p>
          <a:p>
            <a:pPr>
              <a:lnSpc>
                <a:spcPct val="80000"/>
              </a:lnSpc>
            </a:pPr>
            <a:endParaRPr lang="ru-RU" dirty="0"/>
          </a:p>
          <a:p>
            <a:pPr>
              <a:lnSpc>
                <a:spcPct val="80000"/>
              </a:lnSpc>
            </a:pPr>
            <a:r>
              <a:rPr lang="ru-RU" dirty="0"/>
              <a:t>Веса рёбер </a:t>
            </a:r>
            <a:r>
              <a:rPr lang="en-US" dirty="0"/>
              <a:t>w</a:t>
            </a:r>
            <a:r>
              <a:rPr lang="ru-RU" dirty="0"/>
              <a:t> 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E --&gt; R</a:t>
            </a:r>
            <a:r>
              <a:rPr lang="en-US" baseline="30000" dirty="0"/>
              <a:t>+</a:t>
            </a:r>
            <a:r>
              <a:rPr lang="en-US" dirty="0"/>
              <a:t> </a:t>
            </a:r>
            <a:r>
              <a:rPr lang="ru-RU" dirty="0"/>
              <a:t>=</a:t>
            </a:r>
            <a:r>
              <a:rPr lang="en-US" dirty="0"/>
              <a:t> [0, </a:t>
            </a:r>
            <a:r>
              <a:rPr lang="en-US" dirty="0">
                <a:sym typeface="Symbol"/>
              </a:rPr>
              <a:t>)</a:t>
            </a:r>
            <a:endParaRPr lang="en-US" sz="3600" b="1" dirty="0"/>
          </a:p>
          <a:p>
            <a:pPr>
              <a:lnSpc>
                <a:spcPct val="80000"/>
              </a:lnSpc>
            </a:pPr>
            <a:endParaRPr lang="ru-RU" sz="2800" dirty="0"/>
          </a:p>
          <a:p>
            <a:pPr>
              <a:lnSpc>
                <a:spcPct val="80000"/>
              </a:lnSpc>
            </a:pPr>
            <a:r>
              <a:rPr lang="ru-RU" dirty="0">
                <a:solidFill>
                  <a:schemeClr val="bg1"/>
                </a:solidFill>
              </a:rPr>
              <a:t>Минимальным каркасом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ru-RU" dirty="0" err="1">
                <a:solidFill>
                  <a:schemeClr val="bg1"/>
                </a:solidFill>
              </a:rPr>
              <a:t>остовным</a:t>
            </a:r>
            <a:r>
              <a:rPr lang="ru-RU" dirty="0">
                <a:solidFill>
                  <a:schemeClr val="bg1"/>
                </a:solidFill>
              </a:rPr>
              <a:t> деревом</a:t>
            </a:r>
            <a:r>
              <a:rPr lang="en-US" dirty="0">
                <a:solidFill>
                  <a:schemeClr val="bg1"/>
                </a:solidFill>
              </a:rPr>
              <a:t>)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G</a:t>
            </a:r>
            <a:r>
              <a:rPr lang="ru-RU" dirty="0">
                <a:solidFill>
                  <a:schemeClr val="bg1"/>
                </a:solidFill>
              </a:rPr>
              <a:t> называется такой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каркас</a:t>
            </a:r>
            <a:r>
              <a:rPr lang="en-US" dirty="0">
                <a:solidFill>
                  <a:schemeClr val="bg1"/>
                </a:solidFill>
              </a:rPr>
              <a:t> G</a:t>
            </a:r>
            <a:r>
              <a:rPr lang="ru-RU" dirty="0">
                <a:solidFill>
                  <a:schemeClr val="bg1"/>
                </a:solidFill>
              </a:rPr>
              <a:t>, сумма весов ребер которого минимальна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978" y="1600200"/>
            <a:ext cx="4536043" cy="45259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rot="16200000">
            <a:off x="10442713" y="3693903"/>
            <a:ext cx="1854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linkClick r:id="rId4"/>
              </a:rPr>
              <a:t>http://frenchtrip.ru</a:t>
            </a:r>
            <a:r>
              <a:rPr lang="en-US" sz="1600" dirty="0"/>
              <a:t> 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19477597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Минимальный каркас графа</a:t>
            </a:r>
          </a:p>
        </p:txBody>
      </p:sp>
      <p:sp>
        <p:nvSpPr>
          <p:cNvPr id="47106" name="Rectangle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ru-RU" dirty="0"/>
              <a:t>Неориентированный связный граф </a:t>
            </a:r>
            <a:r>
              <a:rPr lang="en-US" dirty="0"/>
              <a:t>G</a:t>
            </a:r>
            <a:r>
              <a:rPr lang="ru-RU" dirty="0"/>
              <a:t> = (</a:t>
            </a:r>
            <a:r>
              <a:rPr lang="en-US" dirty="0"/>
              <a:t>V, E)</a:t>
            </a:r>
          </a:p>
          <a:p>
            <a:pPr>
              <a:lnSpc>
                <a:spcPct val="80000"/>
              </a:lnSpc>
            </a:pPr>
            <a:endParaRPr lang="ru-RU" dirty="0"/>
          </a:p>
          <a:p>
            <a:pPr>
              <a:lnSpc>
                <a:spcPct val="80000"/>
              </a:lnSpc>
            </a:pPr>
            <a:r>
              <a:rPr lang="ru-RU" dirty="0"/>
              <a:t>Веса рёбер </a:t>
            </a:r>
            <a:r>
              <a:rPr lang="en-US" dirty="0"/>
              <a:t>w</a:t>
            </a:r>
            <a:r>
              <a:rPr lang="ru-RU" dirty="0"/>
              <a:t> 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E --&gt; R</a:t>
            </a:r>
            <a:r>
              <a:rPr lang="en-US" baseline="30000" dirty="0"/>
              <a:t>+</a:t>
            </a:r>
            <a:r>
              <a:rPr lang="en-US" dirty="0"/>
              <a:t> </a:t>
            </a:r>
            <a:r>
              <a:rPr lang="ru-RU" dirty="0"/>
              <a:t>=</a:t>
            </a:r>
            <a:r>
              <a:rPr lang="en-US" dirty="0"/>
              <a:t> [0, </a:t>
            </a:r>
            <a:r>
              <a:rPr lang="en-US" dirty="0">
                <a:sym typeface="Symbol"/>
              </a:rPr>
              <a:t>)</a:t>
            </a:r>
            <a:endParaRPr lang="en-US" sz="3600" b="1" dirty="0"/>
          </a:p>
          <a:p>
            <a:pPr>
              <a:lnSpc>
                <a:spcPct val="80000"/>
              </a:lnSpc>
            </a:pPr>
            <a:endParaRPr lang="ru-RU" sz="2800" dirty="0"/>
          </a:p>
          <a:p>
            <a:pPr>
              <a:lnSpc>
                <a:spcPct val="80000"/>
              </a:lnSpc>
            </a:pPr>
            <a:r>
              <a:rPr lang="ru-RU" dirty="0"/>
              <a:t>Минимальным каркасом</a:t>
            </a:r>
            <a:r>
              <a:rPr lang="en-US" dirty="0"/>
              <a:t> (</a:t>
            </a:r>
            <a:r>
              <a:rPr lang="ru-RU" dirty="0" err="1"/>
              <a:t>остовным</a:t>
            </a:r>
            <a:r>
              <a:rPr lang="ru-RU" dirty="0"/>
              <a:t> деревом</a:t>
            </a:r>
            <a:r>
              <a:rPr lang="en-US" dirty="0"/>
              <a:t>)</a:t>
            </a:r>
            <a:r>
              <a:rPr lang="ru-RU" dirty="0"/>
              <a:t> </a:t>
            </a:r>
            <a:r>
              <a:rPr lang="en-US" dirty="0"/>
              <a:t>G</a:t>
            </a:r>
            <a:r>
              <a:rPr lang="ru-RU" dirty="0"/>
              <a:t> называется такой</a:t>
            </a:r>
            <a:r>
              <a:rPr lang="en-US" dirty="0"/>
              <a:t> </a:t>
            </a:r>
            <a:r>
              <a:rPr lang="ru-RU" dirty="0"/>
              <a:t>каркас</a:t>
            </a:r>
            <a:r>
              <a:rPr lang="en-US" dirty="0"/>
              <a:t> G</a:t>
            </a:r>
            <a:r>
              <a:rPr lang="ru-RU" dirty="0"/>
              <a:t>, сумма весов ребер которого минимальна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978" y="1600200"/>
            <a:ext cx="4536043" cy="45259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16200000">
            <a:off x="10442713" y="3693903"/>
            <a:ext cx="1854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linkClick r:id="rId4"/>
              </a:rPr>
              <a:t>http://frenchtrip.ru</a:t>
            </a:r>
            <a:r>
              <a:rPr lang="en-US" sz="1600" dirty="0"/>
              <a:t> 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5913862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Минимальный каркас графа</a:t>
            </a:r>
          </a:p>
        </p:txBody>
      </p:sp>
      <p:sp>
        <p:nvSpPr>
          <p:cNvPr id="47106" name="Rectangle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ru-RU" dirty="0"/>
              <a:t>Неориентированный связный граф </a:t>
            </a:r>
            <a:r>
              <a:rPr lang="en-US" dirty="0"/>
              <a:t>G</a:t>
            </a:r>
            <a:r>
              <a:rPr lang="ru-RU" dirty="0"/>
              <a:t> = (</a:t>
            </a:r>
            <a:r>
              <a:rPr lang="en-US" dirty="0"/>
              <a:t>V, E)</a:t>
            </a:r>
          </a:p>
          <a:p>
            <a:pPr>
              <a:lnSpc>
                <a:spcPct val="80000"/>
              </a:lnSpc>
            </a:pPr>
            <a:endParaRPr lang="ru-RU" dirty="0"/>
          </a:p>
          <a:p>
            <a:pPr>
              <a:lnSpc>
                <a:spcPct val="80000"/>
              </a:lnSpc>
            </a:pPr>
            <a:r>
              <a:rPr lang="ru-RU" dirty="0"/>
              <a:t>Веса рёбер </a:t>
            </a:r>
            <a:r>
              <a:rPr lang="en-US" dirty="0"/>
              <a:t>w</a:t>
            </a:r>
            <a:r>
              <a:rPr lang="ru-RU" dirty="0"/>
              <a:t> 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E --&gt; R</a:t>
            </a:r>
            <a:r>
              <a:rPr lang="en-US" baseline="30000" dirty="0"/>
              <a:t>+</a:t>
            </a:r>
            <a:r>
              <a:rPr lang="en-US" dirty="0"/>
              <a:t> </a:t>
            </a:r>
            <a:r>
              <a:rPr lang="ru-RU" dirty="0"/>
              <a:t>=</a:t>
            </a:r>
            <a:r>
              <a:rPr lang="en-US" dirty="0"/>
              <a:t> [0, </a:t>
            </a:r>
            <a:r>
              <a:rPr lang="en-US" dirty="0">
                <a:sym typeface="Symbol"/>
              </a:rPr>
              <a:t>)</a:t>
            </a:r>
            <a:endParaRPr lang="en-US" sz="3600" b="1" dirty="0"/>
          </a:p>
          <a:p>
            <a:pPr>
              <a:lnSpc>
                <a:spcPct val="80000"/>
              </a:lnSpc>
            </a:pPr>
            <a:endParaRPr lang="ru-RU" sz="2800" dirty="0"/>
          </a:p>
          <a:p>
            <a:pPr>
              <a:lnSpc>
                <a:spcPct val="80000"/>
              </a:lnSpc>
            </a:pPr>
            <a:r>
              <a:rPr lang="ru-RU" dirty="0"/>
              <a:t>Минимальным каркасом</a:t>
            </a:r>
            <a:r>
              <a:rPr lang="en-US" dirty="0"/>
              <a:t> (</a:t>
            </a:r>
            <a:r>
              <a:rPr lang="ru-RU" dirty="0" err="1"/>
              <a:t>остовным</a:t>
            </a:r>
            <a:r>
              <a:rPr lang="ru-RU" dirty="0"/>
              <a:t> деревом</a:t>
            </a:r>
            <a:r>
              <a:rPr lang="en-US" dirty="0"/>
              <a:t>)</a:t>
            </a:r>
            <a:r>
              <a:rPr lang="ru-RU" dirty="0"/>
              <a:t> </a:t>
            </a:r>
            <a:r>
              <a:rPr lang="en-US" dirty="0"/>
              <a:t>G</a:t>
            </a:r>
            <a:r>
              <a:rPr lang="ru-RU" dirty="0"/>
              <a:t> называется такой</a:t>
            </a:r>
            <a:r>
              <a:rPr lang="en-US" dirty="0"/>
              <a:t> </a:t>
            </a:r>
            <a:r>
              <a:rPr lang="ru-RU" dirty="0"/>
              <a:t>каркас</a:t>
            </a:r>
            <a:r>
              <a:rPr lang="en-US" dirty="0"/>
              <a:t> G</a:t>
            </a:r>
            <a:r>
              <a:rPr lang="ru-RU" dirty="0"/>
              <a:t>, сумма весов ребер которого минимальна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978" y="1600200"/>
            <a:ext cx="4536043" cy="45259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16200000">
            <a:off x="10442713" y="3693903"/>
            <a:ext cx="1854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linkClick r:id="rId4"/>
              </a:rPr>
              <a:t>http://frenchtrip.ru</a:t>
            </a:r>
            <a:r>
              <a:rPr lang="en-US" sz="1600" dirty="0"/>
              <a:t> </a:t>
            </a:r>
            <a:endParaRPr lang="ru-RU" sz="1600" dirty="0"/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F4645298-7FA4-167A-5135-1F5EDE21C5A2}"/>
              </a:ext>
            </a:extLst>
          </p:cNvPr>
          <p:cNvSpPr/>
          <p:nvPr/>
        </p:nvSpPr>
        <p:spPr>
          <a:xfrm>
            <a:off x="5438490" y="3429000"/>
            <a:ext cx="1728192" cy="1474612"/>
          </a:xfrm>
          <a:prstGeom prst="borderCallout1">
            <a:avLst>
              <a:gd name="adj1" fmla="val 18750"/>
              <a:gd name="adj2" fmla="val -8333"/>
              <a:gd name="adj3" fmla="val -17458"/>
              <a:gd name="adj4" fmla="val -52479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Необязательно, т.к.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можно сдвинуть все веса вверх на </a:t>
            </a:r>
            <a:r>
              <a:rPr lang="en-US" dirty="0">
                <a:solidFill>
                  <a:schemeClr val="tx1"/>
                </a:solidFill>
              </a:rPr>
              <a:t>const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10831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Кр</a:t>
            </a:r>
            <a:r>
              <a:rPr lang="en-US" dirty="0"/>
              <a:t>á</a:t>
            </a:r>
            <a:r>
              <a:rPr lang="ru-RU" dirty="0"/>
              <a:t>скала</a:t>
            </a:r>
          </a:p>
        </p:txBody>
      </p:sp>
      <p:sp>
        <p:nvSpPr>
          <p:cNvPr id="49153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lnSpc>
                <a:spcPct val="80000"/>
              </a:lnSpc>
            </a:pPr>
            <a:r>
              <a:rPr lang="en-US" sz="2800" dirty="0">
                <a:latin typeface="Calibri" pitchFamily="34" charset="0"/>
                <a:cs typeface="Calibri" pitchFamily="34" charset="0"/>
              </a:rPr>
              <a:t>Josef Bernard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Kruskal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Jr. 1928-2010</a:t>
            </a:r>
          </a:p>
          <a:p>
            <a:pPr marL="457200" indent="-457200">
              <a:lnSpc>
                <a:spcPct val="80000"/>
              </a:lnSpc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lnSpc>
                <a:spcPct val="80000"/>
              </a:lnSpc>
            </a:pPr>
            <a:r>
              <a:rPr lang="en-US" sz="2800" dirty="0">
                <a:latin typeface="Calibri" pitchFamily="34" charset="0"/>
                <a:cs typeface="Calibri" pitchFamily="34" charset="0"/>
              </a:rPr>
              <a:t>Joseph. B.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Kruskal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: On the Shortest Spanning Subtree of a Graph and the Traveling Salesman Problem. In: Proceedings of the American Mathematical Society, Vol 7, No. 1 (Feb, 1956), pp. 48–50 </a:t>
            </a:r>
          </a:p>
          <a:p>
            <a:pPr marL="457200" indent="-457200">
              <a:lnSpc>
                <a:spcPct val="80000"/>
              </a:lnSpc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lnSpc>
                <a:spcPct val="8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Быстрое построение минимального каркаса графа</a:t>
            </a:r>
          </a:p>
          <a:p>
            <a:pPr marL="457200" indent="-457200">
              <a:lnSpc>
                <a:spcPct val="80000"/>
              </a:lnSpc>
            </a:pPr>
            <a:endParaRPr lang="ru-RU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389" y="1600201"/>
            <a:ext cx="3595222" cy="4525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479376" y="1430716"/>
            <a:ext cx="11305256" cy="48065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Кр</a:t>
            </a:r>
            <a:r>
              <a:rPr lang="en-US" dirty="0"/>
              <a:t>á</a:t>
            </a:r>
            <a:r>
              <a:rPr lang="ru-RU" dirty="0"/>
              <a:t>скала</a:t>
            </a:r>
          </a:p>
        </p:txBody>
      </p:sp>
      <p:sp>
        <p:nvSpPr>
          <p:cNvPr id="49153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lnSpc>
                <a:spcPct val="80000"/>
              </a:lnSpc>
            </a:pP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Josef Bernard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Kruskal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Jr. 1928-2010</a:t>
            </a:r>
          </a:p>
          <a:p>
            <a:pPr marL="457200" indent="-457200">
              <a:lnSpc>
                <a:spcPct val="80000"/>
              </a:lnSpc>
            </a:pP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>
              <a:lnSpc>
                <a:spcPct val="80000"/>
              </a:lnSpc>
            </a:pP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Joseph. B.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Kruskal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: On the Shortest Spanning Subtree of a Graph and the Traveling Salesman Problem. In: Proceedings of the American Mathematical Society, Vol 7, No. 1 (Feb, 1956), pp. 48–50 </a:t>
            </a:r>
          </a:p>
          <a:p>
            <a:pPr marL="457200" indent="-457200">
              <a:lnSpc>
                <a:spcPct val="80000"/>
              </a:lnSpc>
            </a:pP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Быстрое построение минимального каркаса графа</a:t>
            </a:r>
          </a:p>
          <a:p>
            <a:pPr marL="457200" indent="-457200">
              <a:lnSpc>
                <a:spcPct val="80000"/>
              </a:lnSpc>
            </a:pPr>
            <a:endParaRPr lang="ru-RU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389" y="1600201"/>
            <a:ext cx="3595222" cy="4525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888122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Кр</a:t>
            </a:r>
            <a:r>
              <a:rPr lang="en-US" dirty="0"/>
              <a:t>á</a:t>
            </a:r>
            <a:r>
              <a:rPr lang="ru-RU" dirty="0"/>
              <a:t>скала</a:t>
            </a:r>
          </a:p>
        </p:txBody>
      </p:sp>
      <p:sp>
        <p:nvSpPr>
          <p:cNvPr id="49153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lnSpc>
                <a:spcPct val="80000"/>
              </a:lnSpc>
            </a:pPr>
            <a:r>
              <a:rPr lang="en-US" sz="2800" dirty="0">
                <a:latin typeface="Calibri" pitchFamily="34" charset="0"/>
                <a:cs typeface="Calibri" pitchFamily="34" charset="0"/>
              </a:rPr>
              <a:t>Josef Bernard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Kruskal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Jr. 1928-2010</a:t>
            </a:r>
          </a:p>
          <a:p>
            <a:pPr marL="457200" indent="-457200">
              <a:lnSpc>
                <a:spcPct val="80000"/>
              </a:lnSpc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lnSpc>
                <a:spcPct val="80000"/>
              </a:lnSpc>
            </a:pP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Joseph. B.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Kruskal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: On the Shortest Spanning Subtree of a Graph and the Traveling Salesman Problem. In: Proceedings of the American Mathematical Society, Vol 7, No. 1 (Feb, 1956), pp. 48–50 </a:t>
            </a:r>
          </a:p>
          <a:p>
            <a:pPr marL="457200" indent="-457200">
              <a:lnSpc>
                <a:spcPct val="80000"/>
              </a:lnSpc>
            </a:pPr>
            <a:endParaRPr lang="en-US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Быстрое построение минимального каркаса графа</a:t>
            </a:r>
          </a:p>
          <a:p>
            <a:pPr marL="457200" indent="-457200">
              <a:lnSpc>
                <a:spcPct val="80000"/>
              </a:lnSpc>
            </a:pPr>
            <a:endParaRPr lang="ru-RU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389" y="1600201"/>
            <a:ext cx="3595222" cy="4525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416428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Кр</a:t>
            </a:r>
            <a:r>
              <a:rPr lang="en-US" dirty="0"/>
              <a:t>á</a:t>
            </a:r>
            <a:r>
              <a:rPr lang="ru-RU" dirty="0"/>
              <a:t>скала</a:t>
            </a:r>
          </a:p>
        </p:txBody>
      </p:sp>
      <p:sp>
        <p:nvSpPr>
          <p:cNvPr id="49153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lnSpc>
                <a:spcPct val="80000"/>
              </a:lnSpc>
            </a:pPr>
            <a:r>
              <a:rPr lang="en-US" sz="2800" dirty="0">
                <a:latin typeface="Calibri" pitchFamily="34" charset="0"/>
                <a:cs typeface="Calibri" pitchFamily="34" charset="0"/>
              </a:rPr>
              <a:t>Josef Bernard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Kruskal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Jr. 1928-2010</a:t>
            </a:r>
          </a:p>
          <a:p>
            <a:pPr marL="457200" indent="-457200">
              <a:lnSpc>
                <a:spcPct val="80000"/>
              </a:lnSpc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lnSpc>
                <a:spcPct val="80000"/>
              </a:lnSpc>
            </a:pPr>
            <a:r>
              <a:rPr lang="en-US" sz="2800" dirty="0">
                <a:latin typeface="Calibri" pitchFamily="34" charset="0"/>
                <a:cs typeface="Calibri" pitchFamily="34" charset="0"/>
              </a:rPr>
              <a:t>Joseph. B.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Kruskal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: On the Shortest Spanning Subtree of a Graph and the Traveling Salesman Problem. In: Proceedings of the American Mathematical Society, Vol 7, No. 1 (Feb, 1956), pp. 48–50 </a:t>
            </a:r>
          </a:p>
          <a:p>
            <a:pPr marL="457200" indent="-457200">
              <a:lnSpc>
                <a:spcPct val="80000"/>
              </a:lnSpc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lnSpc>
                <a:spcPct val="80000"/>
              </a:lnSpc>
            </a:pPr>
            <a:r>
              <a:rPr lang="ru-RU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Быстрое построение минимального каркаса графа</a:t>
            </a:r>
          </a:p>
          <a:p>
            <a:pPr marL="457200" indent="-457200">
              <a:lnSpc>
                <a:spcPct val="80000"/>
              </a:lnSpc>
            </a:pPr>
            <a:endParaRPr lang="ru-RU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389" y="1600201"/>
            <a:ext cx="3595222" cy="4525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260283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Кр</a:t>
            </a:r>
            <a:r>
              <a:rPr lang="en-US" dirty="0"/>
              <a:t>á</a:t>
            </a:r>
            <a:r>
              <a:rPr lang="ru-RU" dirty="0"/>
              <a:t>скала</a:t>
            </a:r>
          </a:p>
        </p:txBody>
      </p:sp>
      <p:sp>
        <p:nvSpPr>
          <p:cNvPr id="49153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lnSpc>
                <a:spcPct val="80000"/>
              </a:lnSpc>
            </a:pPr>
            <a:r>
              <a:rPr lang="en-US" sz="2800" dirty="0">
                <a:latin typeface="Calibri" pitchFamily="34" charset="0"/>
                <a:cs typeface="Calibri" pitchFamily="34" charset="0"/>
              </a:rPr>
              <a:t>Josef Bernard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Kruskal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Jr. 1928-2010</a:t>
            </a:r>
          </a:p>
          <a:p>
            <a:pPr marL="457200" indent="-457200">
              <a:lnSpc>
                <a:spcPct val="80000"/>
              </a:lnSpc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lnSpc>
                <a:spcPct val="80000"/>
              </a:lnSpc>
            </a:pPr>
            <a:r>
              <a:rPr lang="en-US" sz="2800" dirty="0">
                <a:latin typeface="Calibri" pitchFamily="34" charset="0"/>
                <a:cs typeface="Calibri" pitchFamily="34" charset="0"/>
              </a:rPr>
              <a:t>Joseph. B. </a:t>
            </a:r>
            <a:r>
              <a:rPr lang="en-US" sz="2800" dirty="0" err="1">
                <a:latin typeface="Calibri" pitchFamily="34" charset="0"/>
                <a:cs typeface="Calibri" pitchFamily="34" charset="0"/>
              </a:rPr>
              <a:t>Kruskal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: On the Shortest Spanning Subtree of a Graph and the Traveling Salesman Problem. In: Proceedings of the American Mathematical Society, Vol 7, No. 1 (Feb, 1956), pp. 48–50 </a:t>
            </a:r>
          </a:p>
          <a:p>
            <a:pPr marL="457200" indent="-457200">
              <a:lnSpc>
                <a:spcPct val="80000"/>
              </a:lnSpc>
            </a:pP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457200" indent="-457200">
              <a:lnSpc>
                <a:spcPct val="80000"/>
              </a:lnSpc>
            </a:pPr>
            <a:r>
              <a:rPr lang="ru-RU" sz="2800" dirty="0">
                <a:latin typeface="Calibri" pitchFamily="34" charset="0"/>
                <a:cs typeface="Calibri" pitchFamily="34" charset="0"/>
              </a:rPr>
              <a:t>Быстрое построение минимального каркаса графа</a:t>
            </a:r>
          </a:p>
          <a:p>
            <a:pPr marL="457200" indent="-457200">
              <a:lnSpc>
                <a:spcPct val="80000"/>
              </a:lnSpc>
            </a:pPr>
            <a:endParaRPr lang="ru-RU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389" y="1600201"/>
            <a:ext cx="3595222" cy="4525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173568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6" name="Picture 4" descr="12_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97211" y="2600548"/>
            <a:ext cx="3671888" cy="306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398" name="Oval 10"/>
          <p:cNvSpPr>
            <a:spLocks noChangeArrowheads="1"/>
          </p:cNvSpPr>
          <p:nvPr/>
        </p:nvSpPr>
        <p:spPr bwMode="auto">
          <a:xfrm>
            <a:off x="7681095" y="2671987"/>
            <a:ext cx="287337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59399" name="Oval 10"/>
          <p:cNvSpPr>
            <a:spLocks noChangeArrowheads="1"/>
          </p:cNvSpPr>
          <p:nvPr/>
        </p:nvSpPr>
        <p:spPr bwMode="auto">
          <a:xfrm>
            <a:off x="9265420" y="2745012"/>
            <a:ext cx="287337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59400" name="Oval 10"/>
          <p:cNvSpPr>
            <a:spLocks noChangeArrowheads="1"/>
          </p:cNvSpPr>
          <p:nvPr/>
        </p:nvSpPr>
        <p:spPr bwMode="auto">
          <a:xfrm>
            <a:off x="6744470" y="3968973"/>
            <a:ext cx="287337" cy="287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59401" name="Oval 10"/>
          <p:cNvSpPr>
            <a:spLocks noChangeArrowheads="1"/>
          </p:cNvSpPr>
          <p:nvPr/>
        </p:nvSpPr>
        <p:spPr bwMode="auto">
          <a:xfrm>
            <a:off x="9913120" y="3895948"/>
            <a:ext cx="287337" cy="287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59402" name="Oval 10"/>
          <p:cNvSpPr>
            <a:spLocks noChangeArrowheads="1"/>
          </p:cNvSpPr>
          <p:nvPr/>
        </p:nvSpPr>
        <p:spPr bwMode="auto">
          <a:xfrm>
            <a:off x="8401820" y="3895948"/>
            <a:ext cx="287337" cy="287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59403" name="Oval 10"/>
          <p:cNvSpPr>
            <a:spLocks noChangeArrowheads="1"/>
          </p:cNvSpPr>
          <p:nvPr/>
        </p:nvSpPr>
        <p:spPr bwMode="auto">
          <a:xfrm>
            <a:off x="9265420" y="5264373"/>
            <a:ext cx="287337" cy="287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59404" name="Oval 10"/>
          <p:cNvSpPr>
            <a:spLocks noChangeArrowheads="1"/>
          </p:cNvSpPr>
          <p:nvPr/>
        </p:nvSpPr>
        <p:spPr bwMode="auto">
          <a:xfrm>
            <a:off x="7536631" y="5264373"/>
            <a:ext cx="287338" cy="287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51212" name="Line 12"/>
          <p:cNvSpPr>
            <a:spLocks noChangeShapeType="1"/>
          </p:cNvSpPr>
          <p:nvPr/>
        </p:nvSpPr>
        <p:spPr bwMode="auto">
          <a:xfrm>
            <a:off x="7896994" y="2960912"/>
            <a:ext cx="576262" cy="935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1213" name="Line 13"/>
          <p:cNvSpPr>
            <a:spLocks noChangeShapeType="1"/>
          </p:cNvSpPr>
          <p:nvPr/>
        </p:nvSpPr>
        <p:spPr bwMode="auto">
          <a:xfrm flipH="1">
            <a:off x="9481320" y="4184873"/>
            <a:ext cx="504825" cy="1079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1214" name="Line 14"/>
          <p:cNvSpPr>
            <a:spLocks noChangeShapeType="1"/>
          </p:cNvSpPr>
          <p:nvPr/>
        </p:nvSpPr>
        <p:spPr bwMode="auto">
          <a:xfrm flipH="1">
            <a:off x="8617720" y="3032348"/>
            <a:ext cx="719137" cy="86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1215" name="Line 15"/>
          <p:cNvSpPr>
            <a:spLocks noChangeShapeType="1"/>
          </p:cNvSpPr>
          <p:nvPr/>
        </p:nvSpPr>
        <p:spPr bwMode="auto">
          <a:xfrm flipH="1">
            <a:off x="8689156" y="4040411"/>
            <a:ext cx="1225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1216" name="Line 16"/>
          <p:cNvSpPr>
            <a:spLocks noChangeShapeType="1"/>
          </p:cNvSpPr>
          <p:nvPr/>
        </p:nvSpPr>
        <p:spPr bwMode="auto">
          <a:xfrm>
            <a:off x="7825557" y="5408836"/>
            <a:ext cx="14398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1217" name="Line 17"/>
          <p:cNvSpPr>
            <a:spLocks noChangeShapeType="1"/>
          </p:cNvSpPr>
          <p:nvPr/>
        </p:nvSpPr>
        <p:spPr bwMode="auto">
          <a:xfrm flipH="1">
            <a:off x="6961956" y="2887887"/>
            <a:ext cx="719138" cy="10810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1218" name="Text Box 18"/>
          <p:cNvSpPr txBox="1">
            <a:spLocks noChangeArrowheads="1"/>
          </p:cNvSpPr>
          <p:nvPr/>
        </p:nvSpPr>
        <p:spPr bwMode="auto">
          <a:xfrm>
            <a:off x="7825557" y="3392711"/>
            <a:ext cx="2968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1</a:t>
            </a:r>
            <a:endParaRPr lang="ru-RU" sz="1600"/>
          </a:p>
        </p:txBody>
      </p:sp>
      <p:sp>
        <p:nvSpPr>
          <p:cNvPr id="51219" name="Text Box 19"/>
          <p:cNvSpPr txBox="1">
            <a:spLocks noChangeArrowheads="1"/>
          </p:cNvSpPr>
          <p:nvPr/>
        </p:nvSpPr>
        <p:spPr bwMode="auto">
          <a:xfrm>
            <a:off x="9697219" y="4688111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3</a:t>
            </a:r>
            <a:endParaRPr lang="ru-RU" sz="1600"/>
          </a:p>
        </p:txBody>
      </p:sp>
      <p:sp>
        <p:nvSpPr>
          <p:cNvPr id="51220" name="Text Box 20"/>
          <p:cNvSpPr txBox="1">
            <a:spLocks noChangeArrowheads="1"/>
          </p:cNvSpPr>
          <p:nvPr/>
        </p:nvSpPr>
        <p:spPr bwMode="auto">
          <a:xfrm>
            <a:off x="8978082" y="3319686"/>
            <a:ext cx="2968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4</a:t>
            </a:r>
            <a:endParaRPr lang="ru-RU" sz="1600"/>
          </a:p>
        </p:txBody>
      </p:sp>
      <p:sp>
        <p:nvSpPr>
          <p:cNvPr id="51221" name="Text Box 21"/>
          <p:cNvSpPr txBox="1">
            <a:spLocks noChangeArrowheads="1"/>
          </p:cNvSpPr>
          <p:nvPr/>
        </p:nvSpPr>
        <p:spPr bwMode="auto">
          <a:xfrm>
            <a:off x="9265419" y="4040411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9</a:t>
            </a:r>
            <a:endParaRPr lang="ru-RU" sz="1600"/>
          </a:p>
        </p:txBody>
      </p:sp>
      <p:sp>
        <p:nvSpPr>
          <p:cNvPr id="51222" name="Text Box 22"/>
          <p:cNvSpPr txBox="1">
            <a:spLocks noChangeArrowheads="1"/>
          </p:cNvSpPr>
          <p:nvPr/>
        </p:nvSpPr>
        <p:spPr bwMode="auto">
          <a:xfrm>
            <a:off x="6888932" y="3248248"/>
            <a:ext cx="4095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23</a:t>
            </a:r>
            <a:endParaRPr lang="ru-RU" sz="1600"/>
          </a:p>
        </p:txBody>
      </p:sp>
      <p:sp>
        <p:nvSpPr>
          <p:cNvPr id="51223" name="Text Box 23"/>
          <p:cNvSpPr txBox="1">
            <a:spLocks noChangeArrowheads="1"/>
          </p:cNvSpPr>
          <p:nvPr/>
        </p:nvSpPr>
        <p:spPr bwMode="auto">
          <a:xfrm>
            <a:off x="8328795" y="5048473"/>
            <a:ext cx="4095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17</a:t>
            </a:r>
            <a:endParaRPr lang="ru-RU" sz="16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ru-RU" sz="1100" dirty="0"/>
              <a:t>(анимация на 14 шагов)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602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9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9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9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9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9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9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9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8" grpId="0" animBg="1"/>
      <p:bldP spid="59399" grpId="0" animBg="1"/>
      <p:bldP spid="59400" grpId="0" animBg="1"/>
      <p:bldP spid="59401" grpId="0" animBg="1"/>
      <p:bldP spid="59402" grpId="0" animBg="1"/>
      <p:bldP spid="59403" grpId="0" animBg="1"/>
      <p:bldP spid="59404" grpId="0" animBg="1"/>
      <p:bldP spid="51212" grpId="0" animBg="1"/>
      <p:bldP spid="51213" grpId="0" animBg="1"/>
      <p:bldP spid="51214" grpId="0" animBg="1"/>
      <p:bldP spid="51215" grpId="0" animBg="1"/>
      <p:bldP spid="51216" grpId="0" animBg="1"/>
      <p:bldP spid="51217" grpId="0" animBg="1"/>
      <p:bldP spid="51218" grpId="0"/>
      <p:bldP spid="51219" grpId="0"/>
      <p:bldP spid="51220" grpId="0"/>
      <p:bldP spid="51221" grpId="0"/>
      <p:bldP spid="51222" grpId="0"/>
      <p:bldP spid="51223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ln>
            <a:solidFill>
              <a:schemeClr val="bg1"/>
            </a:solidFill>
          </a:ln>
        </p:spPr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return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edge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(edge,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(edge, 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(u, v) 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component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false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true</a:t>
            </a: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60296" y="1600201"/>
            <a:ext cx="2822104" cy="415498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Компонента связности – это максимальное по включению множество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вершин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графа, </a:t>
            </a:r>
            <a:r>
              <a:rPr lang="ru-RU" sz="2400" dirty="0" err="1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т.ч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. любые две вершины из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соединяются путем,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проходящим только по вершинам из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ru-RU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" name="Выноска 2 2"/>
          <p:cNvSpPr/>
          <p:nvPr/>
        </p:nvSpPr>
        <p:spPr>
          <a:xfrm rot="16200000">
            <a:off x="-321400" y="1857769"/>
            <a:ext cx="1291887" cy="41041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31747"/>
              <a:gd name="adj6" fmla="val -60472"/>
            </a:avLst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O(# </a:t>
            </a:r>
            <a:r>
              <a:rPr lang="ru-RU" sz="1600" dirty="0">
                <a:solidFill>
                  <a:schemeClr val="bg1"/>
                </a:solidFill>
              </a:rPr>
              <a:t>ребер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6" name="Выноска 2 5"/>
          <p:cNvSpPr/>
          <p:nvPr/>
        </p:nvSpPr>
        <p:spPr>
          <a:xfrm rot="16200000">
            <a:off x="-719568" y="5348029"/>
            <a:ext cx="2088234" cy="410415"/>
          </a:xfrm>
          <a:prstGeom prst="borderCallout2">
            <a:avLst>
              <a:gd name="adj1" fmla="val 37270"/>
              <a:gd name="adj2" fmla="val 104223"/>
              <a:gd name="adj3" fmla="val 37270"/>
              <a:gd name="adj4" fmla="val 109998"/>
              <a:gd name="adj5" fmla="val 515813"/>
              <a:gd name="adj6" fmla="val 134335"/>
            </a:avLst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O(# </a:t>
            </a:r>
            <a:r>
              <a:rPr lang="ru-RU" sz="1600" dirty="0">
                <a:solidFill>
                  <a:schemeClr val="bg1"/>
                </a:solidFill>
              </a:rPr>
              <a:t>вершин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ru-RU" sz="1600" dirty="0">
                <a:solidFill>
                  <a:schemeClr val="bg1"/>
                </a:solidFill>
              </a:rPr>
              <a:t>в дереве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  <a:endParaRPr lang="ru-R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42712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return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edge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(edge,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(edge, 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(u, v) 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component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false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true</a:t>
            </a: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156397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return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edge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(edge,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(edge, 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(u, v) 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component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false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true</a:t>
            </a: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96563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return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edge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(edge,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(edge, 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(u, v) 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component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false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true</a:t>
            </a: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58682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return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edge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(edge,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(edge, 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(u, v) 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component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false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true</a:t>
            </a: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85355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return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edge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(edge, 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(u, v) 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component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false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true</a:t>
            </a: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46367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return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edge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+=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(edge, 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(u, v) 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component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false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true</a:t>
            </a: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78947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return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edge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+=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alibri" pitchFamily="34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(edge, 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(u, v) 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component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false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true</a:t>
            </a: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02714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return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edge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+=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alibri" pitchFamily="34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(u, v) 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component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false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true</a:t>
            </a: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00957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return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edge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+=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alibri" pitchFamily="34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(u, v) 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component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and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component: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false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true</a:t>
            </a: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93562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return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edge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+=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alibri" pitchFamily="34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(u, v) 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components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(components, u)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(components,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35486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return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edge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+=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alibri" pitchFamily="34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(u, v) 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components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(components, u)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(components,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73311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return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edge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+=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alibri" pitchFamily="34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(u, v) 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components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(components, u)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(components,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178497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return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edge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+=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alibri" pitchFamily="34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(u, v) 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components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(components, u)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(components,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setForV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664908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return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edge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+=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alibri" pitchFamily="34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(u, v) 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components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(components, u)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(components,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setForV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</p:txBody>
      </p:sp>
      <p:sp>
        <p:nvSpPr>
          <p:cNvPr id="4" name="Выноска 2 2"/>
          <p:cNvSpPr/>
          <p:nvPr/>
        </p:nvSpPr>
        <p:spPr>
          <a:xfrm rot="16200000">
            <a:off x="-321400" y="1857769"/>
            <a:ext cx="1291887" cy="41041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31747"/>
              <a:gd name="adj6" fmla="val -60472"/>
            </a:avLst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O(# </a:t>
            </a:r>
            <a:r>
              <a:rPr lang="ru-RU" sz="1600" dirty="0">
                <a:solidFill>
                  <a:schemeClr val="tx1"/>
                </a:solidFill>
              </a:rPr>
              <a:t>ребер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ru-R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188261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return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edge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not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+=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alibri" pitchFamily="34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MakesCyclic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(edge, graph):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(u, v) = edge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components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(components, u)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(components,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setForV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</p:txBody>
      </p:sp>
      <p:sp>
        <p:nvSpPr>
          <p:cNvPr id="4" name="Выноска 2 2"/>
          <p:cNvSpPr/>
          <p:nvPr/>
        </p:nvSpPr>
        <p:spPr>
          <a:xfrm rot="16200000">
            <a:off x="-321400" y="1857769"/>
            <a:ext cx="1291887" cy="41041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31747"/>
              <a:gd name="adj6" fmla="val -60472"/>
            </a:avLst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O(# </a:t>
            </a:r>
            <a:r>
              <a:rPr lang="ru-RU" sz="1600" dirty="0">
                <a:solidFill>
                  <a:schemeClr val="tx1"/>
                </a:solidFill>
              </a:rPr>
              <a:t>ребер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6" name="Выноска 2 5"/>
          <p:cNvSpPr/>
          <p:nvPr/>
        </p:nvSpPr>
        <p:spPr>
          <a:xfrm>
            <a:off x="6312024" y="4437112"/>
            <a:ext cx="2088234" cy="410415"/>
          </a:xfrm>
          <a:prstGeom prst="borderCallout2">
            <a:avLst>
              <a:gd name="adj1" fmla="val 47633"/>
              <a:gd name="adj2" fmla="val -6775"/>
              <a:gd name="adj3" fmla="val 47633"/>
              <a:gd name="adj4" fmla="val -21367"/>
              <a:gd name="adj5" fmla="val 119438"/>
              <a:gd name="adj6" fmla="val -77986"/>
            </a:avLst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O(# </a:t>
            </a:r>
            <a:r>
              <a:rPr lang="ru-RU" sz="1600" dirty="0">
                <a:solidFill>
                  <a:schemeClr val="tx1"/>
                </a:solidFill>
              </a:rPr>
              <a:t>вершин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в дереве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ru-R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36852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O(M log</a:t>
            </a:r>
            <a:r>
              <a:rPr lang="ru-RU" dirty="0"/>
              <a:t>(</a:t>
            </a:r>
            <a:r>
              <a:rPr lang="en-US" dirty="0"/>
              <a:t>M</a:t>
            </a:r>
            <a:r>
              <a:rPr lang="ru-RU" dirty="0"/>
              <a:t>)</a:t>
            </a:r>
            <a:r>
              <a:rPr lang="en-US" dirty="0"/>
              <a:t> + N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/>
              <a:t>N))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MakeSets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u)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MergeSets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spcBef>
                <a:spcPts val="300"/>
              </a:spcBef>
            </a:pP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O(M log</a:t>
            </a:r>
            <a:r>
              <a:rPr lang="ru-RU" dirty="0"/>
              <a:t>(</a:t>
            </a:r>
            <a:r>
              <a:rPr lang="en-US" dirty="0"/>
              <a:t>M</a:t>
            </a:r>
            <a:r>
              <a:rPr lang="ru-RU" dirty="0"/>
              <a:t>)</a:t>
            </a:r>
            <a:r>
              <a:rPr lang="en-US" dirty="0"/>
              <a:t> + N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/>
              <a:t>N))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MakeSets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u)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MergeSets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spcBef>
                <a:spcPts val="300"/>
              </a:spcBef>
            </a:pP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16831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O(M log</a:t>
            </a:r>
            <a:r>
              <a:rPr lang="ru-RU" dirty="0"/>
              <a:t>(</a:t>
            </a:r>
            <a:r>
              <a:rPr lang="en-US" dirty="0"/>
              <a:t>M</a:t>
            </a:r>
            <a:r>
              <a:rPr lang="ru-RU" dirty="0"/>
              <a:t>)</a:t>
            </a:r>
            <a:r>
              <a:rPr lang="en-US" dirty="0"/>
              <a:t> + N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/>
              <a:t>N))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MakeSets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u)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MergeSets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spcBef>
                <a:spcPts val="300"/>
              </a:spcBef>
            </a:pP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87571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O(M log</a:t>
            </a:r>
            <a:r>
              <a:rPr lang="ru-RU" dirty="0"/>
              <a:t>(</a:t>
            </a:r>
            <a:r>
              <a:rPr lang="en-US" dirty="0"/>
              <a:t>M</a:t>
            </a:r>
            <a:r>
              <a:rPr lang="ru-RU" dirty="0"/>
              <a:t>)</a:t>
            </a:r>
            <a:r>
              <a:rPr lang="en-US" dirty="0"/>
              <a:t> + N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/>
              <a:t>N))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MakeSets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u)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MergeSets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spcBef>
                <a:spcPts val="300"/>
              </a:spcBef>
            </a:pP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7171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O(M log</a:t>
            </a:r>
            <a:r>
              <a:rPr lang="ru-RU" dirty="0"/>
              <a:t>(</a:t>
            </a:r>
            <a:r>
              <a:rPr lang="en-US" dirty="0"/>
              <a:t>M</a:t>
            </a:r>
            <a:r>
              <a:rPr lang="ru-RU" dirty="0"/>
              <a:t>)</a:t>
            </a:r>
            <a:r>
              <a:rPr lang="en-US" dirty="0"/>
              <a:t> + N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/>
              <a:t>N))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MakeSets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u)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MergeSets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spcBef>
                <a:spcPts val="300"/>
              </a:spcBef>
            </a:pP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00246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O(M log</a:t>
            </a:r>
            <a:r>
              <a:rPr lang="ru-RU" dirty="0"/>
              <a:t>(</a:t>
            </a:r>
            <a:r>
              <a:rPr lang="en-US" dirty="0"/>
              <a:t>M</a:t>
            </a:r>
            <a:r>
              <a:rPr lang="ru-RU" dirty="0"/>
              <a:t>)</a:t>
            </a:r>
            <a:r>
              <a:rPr lang="en-US" dirty="0"/>
              <a:t> + N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/>
              <a:t>N))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MakeSets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u)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MergeSets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spcBef>
                <a:spcPts val="300"/>
              </a:spcBef>
            </a:pP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18917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O(M log</a:t>
            </a:r>
            <a:r>
              <a:rPr lang="ru-RU" dirty="0"/>
              <a:t>(</a:t>
            </a:r>
            <a:r>
              <a:rPr lang="en-US" dirty="0"/>
              <a:t>M</a:t>
            </a:r>
            <a:r>
              <a:rPr lang="ru-RU" dirty="0"/>
              <a:t>)</a:t>
            </a:r>
            <a:r>
              <a:rPr lang="en-US" dirty="0"/>
              <a:t> + N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/>
              <a:t>N))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MakeSets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u)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MergeSets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spcBef>
                <a:spcPts val="300"/>
              </a:spcBef>
            </a:pP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46600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O(M log</a:t>
            </a:r>
            <a:r>
              <a:rPr lang="ru-RU" dirty="0"/>
              <a:t>(</a:t>
            </a:r>
            <a:r>
              <a:rPr lang="en-US" dirty="0"/>
              <a:t>M</a:t>
            </a:r>
            <a:r>
              <a:rPr lang="ru-RU" dirty="0"/>
              <a:t>)</a:t>
            </a:r>
            <a:r>
              <a:rPr lang="en-US" dirty="0"/>
              <a:t> + N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/>
              <a:t>N))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MakeSets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u)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MergeSets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spcBef>
                <a:spcPts val="300"/>
              </a:spcBef>
            </a:pP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413411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O(M log</a:t>
            </a:r>
            <a:r>
              <a:rPr lang="ru-RU" dirty="0"/>
              <a:t>(</a:t>
            </a:r>
            <a:r>
              <a:rPr lang="en-US" dirty="0"/>
              <a:t>M</a:t>
            </a:r>
            <a:r>
              <a:rPr lang="ru-RU" dirty="0"/>
              <a:t>)</a:t>
            </a:r>
            <a:r>
              <a:rPr lang="en-US" dirty="0"/>
              <a:t> + N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/>
              <a:t>N))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MakeSets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u)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MergeSets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spcBef>
                <a:spcPts val="300"/>
              </a:spcBef>
            </a:pP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11881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O(M log</a:t>
            </a:r>
            <a:r>
              <a:rPr lang="ru-RU" dirty="0"/>
              <a:t>(</a:t>
            </a:r>
            <a:r>
              <a:rPr lang="en-US" dirty="0"/>
              <a:t>M</a:t>
            </a:r>
            <a:r>
              <a:rPr lang="ru-RU" dirty="0"/>
              <a:t>)</a:t>
            </a:r>
            <a:r>
              <a:rPr lang="en-US" dirty="0"/>
              <a:t> + N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/>
              <a:t>N))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MakeSets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u)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MergeSets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spcBef>
                <a:spcPts val="300"/>
              </a:spcBef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802722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O(M log</a:t>
            </a:r>
            <a:r>
              <a:rPr lang="ru-RU" dirty="0"/>
              <a:t>(</a:t>
            </a:r>
            <a:r>
              <a:rPr lang="en-US" dirty="0"/>
              <a:t>M</a:t>
            </a:r>
            <a:r>
              <a:rPr lang="ru-RU" dirty="0"/>
              <a:t>)</a:t>
            </a:r>
            <a:r>
              <a:rPr lang="en-US" dirty="0"/>
              <a:t> + N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/>
              <a:t>N))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KrusalMinimumSpanningTree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SortAscending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(left, right):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weight[left] &lt; weight[right]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MakeSets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sortedEdges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u)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FindSet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MergeSets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connectedComponents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setForU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setForV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ru-RU" dirty="0">
              <a:latin typeface="Calibri" pitchFamily="34" charset="0"/>
              <a:cs typeface="Calibri" pitchFamily="34" charset="0"/>
            </a:endParaRPr>
          </a:p>
          <a:p>
            <a:pPr>
              <a:spcBef>
                <a:spcPts val="300"/>
              </a:spcBef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463886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Число операций в алгоритме Краскала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1556792"/>
            <a:ext cx="10972800" cy="4525963"/>
          </a:xfrm>
        </p:spPr>
        <p:txBody>
          <a:bodyPr>
            <a:normAutofit fontScale="92500" lnSpcReduction="10000"/>
          </a:bodyPr>
          <a:lstStyle/>
          <a:p>
            <a:pPr marL="468630"/>
            <a:r>
              <a:rPr lang="en-US" sz="2800" dirty="0">
                <a:solidFill>
                  <a:schemeClr val="bg1"/>
                </a:solidFill>
              </a:rPr>
              <a:t>N = #</a:t>
            </a:r>
            <a:r>
              <a:rPr lang="ru-RU" sz="2800" dirty="0">
                <a:solidFill>
                  <a:schemeClr val="bg1"/>
                </a:solidFill>
              </a:rPr>
              <a:t> вершин, </a:t>
            </a:r>
            <a:r>
              <a:rPr lang="en-US" sz="2800" dirty="0">
                <a:solidFill>
                  <a:schemeClr val="bg1"/>
                </a:solidFill>
              </a:rPr>
              <a:t>M = # </a:t>
            </a:r>
            <a:r>
              <a:rPr lang="ru-RU" sz="2800" dirty="0">
                <a:solidFill>
                  <a:schemeClr val="bg1"/>
                </a:solidFill>
              </a:rPr>
              <a:t>ребер</a:t>
            </a:r>
            <a:endParaRPr lang="en-US" sz="2800" dirty="0">
              <a:solidFill>
                <a:schemeClr val="bg1"/>
              </a:solidFill>
            </a:endParaRPr>
          </a:p>
          <a:p>
            <a:pPr marL="468630"/>
            <a:endParaRPr lang="en-US" sz="3000" dirty="0">
              <a:solidFill>
                <a:schemeClr val="bg1"/>
              </a:solidFill>
            </a:endParaRPr>
          </a:p>
          <a:p>
            <a:pPr marL="468630"/>
            <a:r>
              <a:rPr lang="en-US" sz="3000" dirty="0">
                <a:solidFill>
                  <a:schemeClr val="bg1"/>
                </a:solidFill>
              </a:rPr>
              <a:t># </a:t>
            </a:r>
            <a:r>
              <a:rPr lang="ru-RU" sz="3000" dirty="0">
                <a:solidFill>
                  <a:schemeClr val="bg1"/>
                </a:solidFill>
              </a:rPr>
              <a:t>операций в сортировке ребер = O(</a:t>
            </a:r>
            <a:r>
              <a:rPr lang="en-US" sz="3000" dirty="0">
                <a:solidFill>
                  <a:schemeClr val="bg1"/>
                </a:solidFill>
              </a:rPr>
              <a:t>M</a:t>
            </a:r>
            <a:r>
              <a:rPr lang="ru-RU" sz="3000" dirty="0">
                <a:solidFill>
                  <a:schemeClr val="bg1"/>
                </a:solidFill>
              </a:rPr>
              <a:t> * </a:t>
            </a:r>
            <a:r>
              <a:rPr lang="en-US" sz="3000" dirty="0">
                <a:solidFill>
                  <a:schemeClr val="bg1"/>
                </a:solidFill>
              </a:rPr>
              <a:t>log(M)</a:t>
            </a:r>
            <a:r>
              <a:rPr lang="ru-RU" sz="3000" dirty="0">
                <a:solidFill>
                  <a:schemeClr val="bg1"/>
                </a:solidFill>
              </a:rPr>
              <a:t>)  </a:t>
            </a:r>
            <a:endParaRPr lang="en-US" sz="3000" dirty="0">
              <a:solidFill>
                <a:schemeClr val="bg1"/>
              </a:solidFill>
            </a:endParaRPr>
          </a:p>
          <a:p>
            <a:pPr marL="468630">
              <a:lnSpc>
                <a:spcPct val="80000"/>
              </a:lnSpc>
            </a:pPr>
            <a:endParaRPr lang="ru-RU" sz="3000" dirty="0">
              <a:solidFill>
                <a:schemeClr val="bg1"/>
              </a:solidFill>
            </a:endParaRPr>
          </a:p>
          <a:p>
            <a:pPr marL="468630">
              <a:lnSpc>
                <a:spcPct val="80000"/>
              </a:lnSpc>
            </a:pPr>
            <a:r>
              <a:rPr lang="en-US" sz="3000" dirty="0">
                <a:solidFill>
                  <a:schemeClr val="bg1"/>
                </a:solidFill>
              </a:rPr>
              <a:t># </a:t>
            </a:r>
            <a:r>
              <a:rPr lang="ru-RU" sz="3000" dirty="0">
                <a:solidFill>
                  <a:schemeClr val="bg1"/>
                </a:solidFill>
              </a:rPr>
              <a:t>операций в построении каркаса =</a:t>
            </a:r>
          </a:p>
          <a:p>
            <a:pPr marL="125730" indent="0">
              <a:lnSpc>
                <a:spcPct val="80000"/>
              </a:lnSpc>
              <a:buNone/>
            </a:pPr>
            <a:r>
              <a:rPr lang="ru-RU" sz="3000" dirty="0">
                <a:solidFill>
                  <a:schemeClr val="bg1"/>
                </a:solidFill>
              </a:rPr>
              <a:t>	= O(</a:t>
            </a:r>
            <a:r>
              <a:rPr lang="en-US" sz="3000" dirty="0">
                <a:solidFill>
                  <a:schemeClr val="bg1"/>
                </a:solidFill>
              </a:rPr>
              <a:t>N</a:t>
            </a:r>
            <a:r>
              <a:rPr lang="ru-RU" sz="3000" dirty="0">
                <a:solidFill>
                  <a:schemeClr val="bg1"/>
                </a:solidFill>
              </a:rPr>
              <a:t> * </a:t>
            </a:r>
            <a:r>
              <a:rPr lang="en-US" sz="3000" dirty="0">
                <a:solidFill>
                  <a:schemeClr val="bg1"/>
                </a:solidFill>
              </a:rPr>
              <a:t># </a:t>
            </a:r>
            <a:r>
              <a:rPr lang="ru-RU" sz="3000" dirty="0">
                <a:solidFill>
                  <a:schemeClr val="bg1"/>
                </a:solidFill>
              </a:rPr>
              <a:t>операций в одном вызове </a:t>
            </a:r>
            <a:r>
              <a:rPr lang="en-US" sz="3000" dirty="0">
                <a:solidFill>
                  <a:schemeClr val="bg1"/>
                </a:solidFill>
              </a:rPr>
              <a:t>Find…/Merge…</a:t>
            </a:r>
            <a:r>
              <a:rPr lang="ru-RU" sz="3000" dirty="0">
                <a:solidFill>
                  <a:schemeClr val="bg1"/>
                </a:solidFill>
              </a:rPr>
              <a:t>)</a:t>
            </a:r>
          </a:p>
          <a:p>
            <a:pPr marL="454914">
              <a:lnSpc>
                <a:spcPct val="80000"/>
              </a:lnSpc>
            </a:pPr>
            <a:endParaRPr lang="ru-RU" sz="3000" dirty="0">
              <a:solidFill>
                <a:schemeClr val="bg1"/>
              </a:solidFill>
            </a:endParaRPr>
          </a:p>
          <a:p>
            <a:pPr marL="454914">
              <a:lnSpc>
                <a:spcPct val="80000"/>
              </a:lnSpc>
            </a:pPr>
            <a:r>
              <a:rPr lang="en-US" sz="3000" dirty="0">
                <a:solidFill>
                  <a:schemeClr val="bg1"/>
                </a:solidFill>
              </a:rPr>
              <a:t># </a:t>
            </a:r>
            <a:r>
              <a:rPr lang="ru-RU" sz="3000" dirty="0">
                <a:solidFill>
                  <a:schemeClr val="bg1"/>
                </a:solidFill>
              </a:rPr>
              <a:t>операций в одном вызове </a:t>
            </a:r>
            <a:r>
              <a:rPr lang="en-US" sz="3000" dirty="0">
                <a:solidFill>
                  <a:schemeClr val="bg1"/>
                </a:solidFill>
              </a:rPr>
              <a:t>Find…/Merge…</a:t>
            </a:r>
            <a:r>
              <a:rPr lang="ru-RU" sz="3000" dirty="0">
                <a:solidFill>
                  <a:schemeClr val="bg1"/>
                </a:solidFill>
              </a:rPr>
              <a:t> = </a:t>
            </a:r>
            <a:r>
              <a:rPr lang="en-US" sz="3000" dirty="0">
                <a:solidFill>
                  <a:schemeClr val="bg1"/>
                </a:solidFill>
              </a:rPr>
              <a:t>O(</a:t>
            </a:r>
            <a:r>
              <a:rPr lang="el-G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8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000" dirty="0">
                <a:solidFill>
                  <a:schemeClr val="bg1"/>
                </a:solidFill>
              </a:rPr>
              <a:t>(N))</a:t>
            </a:r>
          </a:p>
          <a:p>
            <a:pPr marL="854964" lvl="1">
              <a:lnSpc>
                <a:spcPct val="80000"/>
              </a:lnSpc>
            </a:pPr>
            <a:r>
              <a:rPr lang="el-G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4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2600" dirty="0">
                <a:solidFill>
                  <a:schemeClr val="bg1"/>
                </a:solidFill>
              </a:rPr>
              <a:t> – </a:t>
            </a:r>
            <a:r>
              <a:rPr lang="ru-RU" sz="2600" dirty="0">
                <a:solidFill>
                  <a:schemeClr val="bg1"/>
                </a:solidFill>
              </a:rPr>
              <a:t>обратная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ru-RU" sz="2600" dirty="0">
                <a:solidFill>
                  <a:schemeClr val="bg1"/>
                </a:solidFill>
              </a:rPr>
              <a:t>функция </a:t>
            </a:r>
            <a:r>
              <a:rPr lang="ru-RU" sz="2600" dirty="0" err="1">
                <a:solidFill>
                  <a:schemeClr val="bg1"/>
                </a:solidFill>
              </a:rPr>
              <a:t>Аккермана</a:t>
            </a:r>
            <a:endParaRPr lang="ru-RU" sz="2600" dirty="0">
              <a:solidFill>
                <a:schemeClr val="bg1"/>
              </a:solidFill>
            </a:endParaRPr>
          </a:p>
          <a:p>
            <a:pPr marL="454914">
              <a:lnSpc>
                <a:spcPct val="80000"/>
              </a:lnSpc>
            </a:pPr>
            <a:endParaRPr lang="ru-RU" sz="3000" dirty="0">
              <a:solidFill>
                <a:schemeClr val="bg1"/>
              </a:solidFill>
            </a:endParaRPr>
          </a:p>
          <a:p>
            <a:pPr marL="454914">
              <a:lnSpc>
                <a:spcPct val="80000"/>
              </a:lnSpc>
            </a:pPr>
            <a:r>
              <a:rPr lang="en-US" sz="3000" dirty="0">
                <a:solidFill>
                  <a:schemeClr val="bg1"/>
                </a:solidFill>
              </a:rPr>
              <a:t># </a:t>
            </a:r>
            <a:r>
              <a:rPr lang="ru-RU" sz="3000" dirty="0">
                <a:solidFill>
                  <a:schemeClr val="bg1"/>
                </a:solidFill>
              </a:rPr>
              <a:t>операций в алгоритме </a:t>
            </a:r>
            <a:r>
              <a:rPr lang="ru-RU" sz="3000" dirty="0" err="1">
                <a:solidFill>
                  <a:schemeClr val="bg1"/>
                </a:solidFill>
              </a:rPr>
              <a:t>Краскала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ru-RU" sz="3000" dirty="0">
                <a:solidFill>
                  <a:schemeClr val="bg1"/>
                </a:solidFill>
              </a:rPr>
              <a:t>= O(</a:t>
            </a:r>
            <a:r>
              <a:rPr lang="en-US" sz="3000" dirty="0">
                <a:solidFill>
                  <a:schemeClr val="bg1"/>
                </a:solidFill>
              </a:rPr>
              <a:t>M</a:t>
            </a:r>
            <a:r>
              <a:rPr lang="ru-RU" sz="3000" dirty="0">
                <a:solidFill>
                  <a:schemeClr val="bg1"/>
                </a:solidFill>
              </a:rPr>
              <a:t> * </a:t>
            </a:r>
            <a:r>
              <a:rPr lang="en-US" sz="3000" dirty="0">
                <a:solidFill>
                  <a:schemeClr val="bg1"/>
                </a:solidFill>
              </a:rPr>
              <a:t>log(M)</a:t>
            </a:r>
            <a:r>
              <a:rPr lang="ru-RU" sz="3000" dirty="0">
                <a:solidFill>
                  <a:schemeClr val="bg1"/>
                </a:solidFill>
              </a:rPr>
              <a:t> + </a:t>
            </a:r>
            <a:r>
              <a:rPr lang="en-US" sz="3000" dirty="0">
                <a:solidFill>
                  <a:schemeClr val="bg1"/>
                </a:solidFill>
              </a:rPr>
              <a:t>N * </a:t>
            </a:r>
            <a:r>
              <a:rPr lang="el-G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8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000" dirty="0">
                <a:solidFill>
                  <a:schemeClr val="bg1"/>
                </a:solidFill>
              </a:rPr>
              <a:t>(N)</a:t>
            </a:r>
            <a:r>
              <a:rPr lang="ru-RU" sz="3000" dirty="0">
                <a:solidFill>
                  <a:schemeClr val="bg1"/>
                </a:solidFill>
              </a:rPr>
              <a:t>) </a:t>
            </a:r>
          </a:p>
          <a:p>
            <a:pPr marL="112014" indent="0">
              <a:lnSpc>
                <a:spcPct val="80000"/>
              </a:lnSpc>
              <a:buNone/>
            </a:pPr>
            <a:endParaRPr lang="ru-RU" sz="3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Число операций в алгоритме Краскала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1556792"/>
            <a:ext cx="10972800" cy="4525963"/>
          </a:xfrm>
        </p:spPr>
        <p:txBody>
          <a:bodyPr>
            <a:normAutofit fontScale="92500" lnSpcReduction="10000"/>
          </a:bodyPr>
          <a:lstStyle/>
          <a:p>
            <a:pPr marL="468630"/>
            <a:r>
              <a:rPr lang="en-US" sz="2800" dirty="0"/>
              <a:t>N = #</a:t>
            </a:r>
            <a:r>
              <a:rPr lang="ru-RU" sz="2800" dirty="0"/>
              <a:t> вершин, </a:t>
            </a:r>
            <a:r>
              <a:rPr lang="en-US" sz="2800" dirty="0"/>
              <a:t>M = # </a:t>
            </a:r>
            <a:r>
              <a:rPr lang="ru-RU" sz="2800" dirty="0"/>
              <a:t>ребер</a:t>
            </a:r>
            <a:endParaRPr lang="en-US" sz="2800" dirty="0"/>
          </a:p>
          <a:p>
            <a:pPr marL="468630"/>
            <a:endParaRPr lang="en-US" sz="3000" dirty="0"/>
          </a:p>
          <a:p>
            <a:pPr marL="468630"/>
            <a:r>
              <a:rPr lang="en-US" sz="3000" dirty="0">
                <a:solidFill>
                  <a:schemeClr val="bg1"/>
                </a:solidFill>
              </a:rPr>
              <a:t># </a:t>
            </a:r>
            <a:r>
              <a:rPr lang="ru-RU" sz="3000" dirty="0">
                <a:solidFill>
                  <a:schemeClr val="bg1"/>
                </a:solidFill>
              </a:rPr>
              <a:t>операций в сортировке ребер = O(</a:t>
            </a:r>
            <a:r>
              <a:rPr lang="en-US" sz="3000" dirty="0">
                <a:solidFill>
                  <a:schemeClr val="bg1"/>
                </a:solidFill>
              </a:rPr>
              <a:t>M</a:t>
            </a:r>
            <a:r>
              <a:rPr lang="ru-RU" sz="3000" dirty="0">
                <a:solidFill>
                  <a:schemeClr val="bg1"/>
                </a:solidFill>
              </a:rPr>
              <a:t> * </a:t>
            </a:r>
            <a:r>
              <a:rPr lang="en-US" sz="3000" dirty="0">
                <a:solidFill>
                  <a:schemeClr val="bg1"/>
                </a:solidFill>
              </a:rPr>
              <a:t>log(M)</a:t>
            </a:r>
            <a:r>
              <a:rPr lang="ru-RU" sz="3000" dirty="0">
                <a:solidFill>
                  <a:schemeClr val="bg1"/>
                </a:solidFill>
              </a:rPr>
              <a:t>)  </a:t>
            </a:r>
            <a:endParaRPr lang="en-US" sz="3000" dirty="0">
              <a:solidFill>
                <a:schemeClr val="bg1"/>
              </a:solidFill>
            </a:endParaRPr>
          </a:p>
          <a:p>
            <a:pPr marL="468630">
              <a:lnSpc>
                <a:spcPct val="80000"/>
              </a:lnSpc>
            </a:pPr>
            <a:endParaRPr lang="ru-RU" sz="3000" dirty="0">
              <a:solidFill>
                <a:schemeClr val="bg1"/>
              </a:solidFill>
            </a:endParaRPr>
          </a:p>
          <a:p>
            <a:pPr marL="468630">
              <a:lnSpc>
                <a:spcPct val="80000"/>
              </a:lnSpc>
            </a:pPr>
            <a:r>
              <a:rPr lang="en-US" sz="3000" dirty="0">
                <a:solidFill>
                  <a:schemeClr val="bg1"/>
                </a:solidFill>
              </a:rPr>
              <a:t># </a:t>
            </a:r>
            <a:r>
              <a:rPr lang="ru-RU" sz="3000" dirty="0">
                <a:solidFill>
                  <a:schemeClr val="bg1"/>
                </a:solidFill>
              </a:rPr>
              <a:t>операций в построении каркаса =</a:t>
            </a:r>
          </a:p>
          <a:p>
            <a:pPr marL="125730" indent="0">
              <a:lnSpc>
                <a:spcPct val="80000"/>
              </a:lnSpc>
              <a:buNone/>
            </a:pPr>
            <a:r>
              <a:rPr lang="ru-RU" sz="3000" dirty="0">
                <a:solidFill>
                  <a:schemeClr val="bg1"/>
                </a:solidFill>
              </a:rPr>
              <a:t>	= O(</a:t>
            </a:r>
            <a:r>
              <a:rPr lang="en-US" sz="3000" dirty="0">
                <a:solidFill>
                  <a:schemeClr val="bg1"/>
                </a:solidFill>
              </a:rPr>
              <a:t>N</a:t>
            </a:r>
            <a:r>
              <a:rPr lang="ru-RU" sz="3000" dirty="0">
                <a:solidFill>
                  <a:schemeClr val="bg1"/>
                </a:solidFill>
              </a:rPr>
              <a:t> * </a:t>
            </a:r>
            <a:r>
              <a:rPr lang="en-US" sz="3000" dirty="0">
                <a:solidFill>
                  <a:schemeClr val="bg1"/>
                </a:solidFill>
              </a:rPr>
              <a:t># </a:t>
            </a:r>
            <a:r>
              <a:rPr lang="ru-RU" sz="3000" dirty="0">
                <a:solidFill>
                  <a:schemeClr val="bg1"/>
                </a:solidFill>
              </a:rPr>
              <a:t>операций в одном вызове </a:t>
            </a:r>
            <a:r>
              <a:rPr lang="en-US" sz="3000" dirty="0">
                <a:solidFill>
                  <a:schemeClr val="bg1"/>
                </a:solidFill>
              </a:rPr>
              <a:t>Find…/Merge…</a:t>
            </a:r>
            <a:r>
              <a:rPr lang="ru-RU" sz="3000" dirty="0">
                <a:solidFill>
                  <a:schemeClr val="bg1"/>
                </a:solidFill>
              </a:rPr>
              <a:t>)</a:t>
            </a:r>
          </a:p>
          <a:p>
            <a:pPr marL="454914">
              <a:lnSpc>
                <a:spcPct val="80000"/>
              </a:lnSpc>
            </a:pPr>
            <a:endParaRPr lang="ru-RU" sz="3000" dirty="0">
              <a:solidFill>
                <a:schemeClr val="bg1"/>
              </a:solidFill>
            </a:endParaRPr>
          </a:p>
          <a:p>
            <a:pPr marL="454914">
              <a:lnSpc>
                <a:spcPct val="80000"/>
              </a:lnSpc>
            </a:pPr>
            <a:r>
              <a:rPr lang="en-US" sz="3000" dirty="0">
                <a:solidFill>
                  <a:schemeClr val="bg1"/>
                </a:solidFill>
              </a:rPr>
              <a:t># </a:t>
            </a:r>
            <a:r>
              <a:rPr lang="ru-RU" sz="3000" dirty="0">
                <a:solidFill>
                  <a:schemeClr val="bg1"/>
                </a:solidFill>
              </a:rPr>
              <a:t>операций в одном вызове </a:t>
            </a:r>
            <a:r>
              <a:rPr lang="en-US" sz="3000" dirty="0">
                <a:solidFill>
                  <a:schemeClr val="bg1"/>
                </a:solidFill>
              </a:rPr>
              <a:t>Find…/Merge…</a:t>
            </a:r>
            <a:r>
              <a:rPr lang="ru-RU" sz="3000" dirty="0">
                <a:solidFill>
                  <a:schemeClr val="bg1"/>
                </a:solidFill>
              </a:rPr>
              <a:t> = </a:t>
            </a:r>
            <a:r>
              <a:rPr lang="en-US" sz="3000" dirty="0">
                <a:solidFill>
                  <a:schemeClr val="bg1"/>
                </a:solidFill>
              </a:rPr>
              <a:t>O(</a:t>
            </a:r>
            <a:r>
              <a:rPr lang="el-G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8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000" dirty="0">
                <a:solidFill>
                  <a:schemeClr val="bg1"/>
                </a:solidFill>
              </a:rPr>
              <a:t>(N))</a:t>
            </a:r>
          </a:p>
          <a:p>
            <a:pPr marL="854964" lvl="1">
              <a:lnSpc>
                <a:spcPct val="80000"/>
              </a:lnSpc>
            </a:pPr>
            <a:r>
              <a:rPr lang="el-G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4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2600" dirty="0">
                <a:solidFill>
                  <a:schemeClr val="bg1"/>
                </a:solidFill>
              </a:rPr>
              <a:t> – </a:t>
            </a:r>
            <a:r>
              <a:rPr lang="ru-RU" sz="2600" dirty="0">
                <a:solidFill>
                  <a:schemeClr val="bg1"/>
                </a:solidFill>
              </a:rPr>
              <a:t>обратная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ru-RU" sz="2600" dirty="0">
                <a:solidFill>
                  <a:schemeClr val="bg1"/>
                </a:solidFill>
              </a:rPr>
              <a:t>функция </a:t>
            </a:r>
            <a:r>
              <a:rPr lang="ru-RU" sz="2600" dirty="0" err="1">
                <a:solidFill>
                  <a:schemeClr val="bg1"/>
                </a:solidFill>
              </a:rPr>
              <a:t>Аккермана</a:t>
            </a:r>
            <a:endParaRPr lang="ru-RU" sz="2600" dirty="0">
              <a:solidFill>
                <a:schemeClr val="bg1"/>
              </a:solidFill>
            </a:endParaRPr>
          </a:p>
          <a:p>
            <a:pPr marL="454914">
              <a:lnSpc>
                <a:spcPct val="80000"/>
              </a:lnSpc>
            </a:pPr>
            <a:endParaRPr lang="ru-RU" sz="3000" dirty="0">
              <a:solidFill>
                <a:schemeClr val="bg1"/>
              </a:solidFill>
            </a:endParaRPr>
          </a:p>
          <a:p>
            <a:pPr marL="454914">
              <a:lnSpc>
                <a:spcPct val="80000"/>
              </a:lnSpc>
            </a:pPr>
            <a:r>
              <a:rPr lang="en-US" sz="3000" dirty="0">
                <a:solidFill>
                  <a:schemeClr val="bg1"/>
                </a:solidFill>
              </a:rPr>
              <a:t># </a:t>
            </a:r>
            <a:r>
              <a:rPr lang="ru-RU" sz="3000" dirty="0">
                <a:solidFill>
                  <a:schemeClr val="bg1"/>
                </a:solidFill>
              </a:rPr>
              <a:t>операций в алгоритме </a:t>
            </a:r>
            <a:r>
              <a:rPr lang="ru-RU" sz="3000" dirty="0" err="1">
                <a:solidFill>
                  <a:schemeClr val="bg1"/>
                </a:solidFill>
              </a:rPr>
              <a:t>Краскала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ru-RU" sz="3000" dirty="0">
                <a:solidFill>
                  <a:schemeClr val="bg1"/>
                </a:solidFill>
              </a:rPr>
              <a:t>= O(</a:t>
            </a:r>
            <a:r>
              <a:rPr lang="en-US" sz="3000" dirty="0">
                <a:solidFill>
                  <a:schemeClr val="bg1"/>
                </a:solidFill>
              </a:rPr>
              <a:t>M</a:t>
            </a:r>
            <a:r>
              <a:rPr lang="ru-RU" sz="3000" dirty="0">
                <a:solidFill>
                  <a:schemeClr val="bg1"/>
                </a:solidFill>
              </a:rPr>
              <a:t> * </a:t>
            </a:r>
            <a:r>
              <a:rPr lang="en-US" sz="3000" dirty="0">
                <a:solidFill>
                  <a:schemeClr val="bg1"/>
                </a:solidFill>
              </a:rPr>
              <a:t>log(M)</a:t>
            </a:r>
            <a:r>
              <a:rPr lang="ru-RU" sz="3000" dirty="0">
                <a:solidFill>
                  <a:schemeClr val="bg1"/>
                </a:solidFill>
              </a:rPr>
              <a:t> + </a:t>
            </a:r>
            <a:r>
              <a:rPr lang="en-US" sz="3000" dirty="0">
                <a:solidFill>
                  <a:schemeClr val="bg1"/>
                </a:solidFill>
              </a:rPr>
              <a:t>N * </a:t>
            </a:r>
            <a:r>
              <a:rPr lang="el-G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8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000" dirty="0">
                <a:solidFill>
                  <a:schemeClr val="bg1"/>
                </a:solidFill>
              </a:rPr>
              <a:t>(N)</a:t>
            </a:r>
            <a:r>
              <a:rPr lang="ru-RU" sz="3000" dirty="0">
                <a:solidFill>
                  <a:schemeClr val="bg1"/>
                </a:solidFill>
              </a:rPr>
              <a:t>) </a:t>
            </a:r>
          </a:p>
          <a:p>
            <a:pPr marL="112014" indent="0">
              <a:lnSpc>
                <a:spcPct val="80000"/>
              </a:lnSpc>
              <a:buNone/>
            </a:pPr>
            <a:endParaRPr lang="ru-RU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68987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Число операций в алгоритме Краскала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1556792"/>
            <a:ext cx="10972800" cy="4525963"/>
          </a:xfrm>
        </p:spPr>
        <p:txBody>
          <a:bodyPr>
            <a:normAutofit fontScale="92500" lnSpcReduction="10000"/>
          </a:bodyPr>
          <a:lstStyle/>
          <a:p>
            <a:pPr marL="468630"/>
            <a:r>
              <a:rPr lang="en-US" sz="2800" dirty="0"/>
              <a:t>N = #</a:t>
            </a:r>
            <a:r>
              <a:rPr lang="ru-RU" sz="2800" dirty="0"/>
              <a:t> вершин, </a:t>
            </a:r>
            <a:r>
              <a:rPr lang="en-US" sz="2800" dirty="0"/>
              <a:t>M = # </a:t>
            </a:r>
            <a:r>
              <a:rPr lang="ru-RU" sz="2800" dirty="0"/>
              <a:t>ребер</a:t>
            </a:r>
            <a:endParaRPr lang="en-US" sz="2800" dirty="0"/>
          </a:p>
          <a:p>
            <a:pPr marL="468630"/>
            <a:endParaRPr lang="en-US" sz="3000" dirty="0"/>
          </a:p>
          <a:p>
            <a:pPr marL="468630"/>
            <a:r>
              <a:rPr lang="en-US" sz="3000" dirty="0"/>
              <a:t># </a:t>
            </a:r>
            <a:r>
              <a:rPr lang="ru-RU" sz="3000" dirty="0"/>
              <a:t>операций в сортировке ребер = O(</a:t>
            </a:r>
            <a:r>
              <a:rPr lang="en-US" sz="3000" dirty="0"/>
              <a:t>M</a:t>
            </a:r>
            <a:r>
              <a:rPr lang="ru-RU" sz="3000" dirty="0"/>
              <a:t> * </a:t>
            </a:r>
            <a:r>
              <a:rPr lang="en-US" sz="3000" dirty="0"/>
              <a:t>log(M)</a:t>
            </a:r>
            <a:r>
              <a:rPr lang="ru-RU" sz="3000" dirty="0"/>
              <a:t>)  </a:t>
            </a:r>
            <a:endParaRPr lang="en-US" sz="3000" dirty="0"/>
          </a:p>
          <a:p>
            <a:pPr marL="468630">
              <a:lnSpc>
                <a:spcPct val="80000"/>
              </a:lnSpc>
            </a:pPr>
            <a:endParaRPr lang="ru-RU" sz="3000" dirty="0"/>
          </a:p>
          <a:p>
            <a:pPr marL="468630">
              <a:lnSpc>
                <a:spcPct val="80000"/>
              </a:lnSpc>
            </a:pPr>
            <a:r>
              <a:rPr lang="en-US" sz="3000" dirty="0">
                <a:solidFill>
                  <a:schemeClr val="bg1"/>
                </a:solidFill>
              </a:rPr>
              <a:t># </a:t>
            </a:r>
            <a:r>
              <a:rPr lang="ru-RU" sz="3000" dirty="0">
                <a:solidFill>
                  <a:schemeClr val="bg1"/>
                </a:solidFill>
              </a:rPr>
              <a:t>операций в построении каркаса =</a:t>
            </a:r>
          </a:p>
          <a:p>
            <a:pPr marL="125730" indent="0">
              <a:lnSpc>
                <a:spcPct val="80000"/>
              </a:lnSpc>
              <a:buNone/>
            </a:pPr>
            <a:r>
              <a:rPr lang="ru-RU" sz="3000" dirty="0">
                <a:solidFill>
                  <a:schemeClr val="bg1"/>
                </a:solidFill>
              </a:rPr>
              <a:t>	= O(</a:t>
            </a:r>
            <a:r>
              <a:rPr lang="en-US" sz="3000" dirty="0">
                <a:solidFill>
                  <a:schemeClr val="bg1"/>
                </a:solidFill>
              </a:rPr>
              <a:t>N</a:t>
            </a:r>
            <a:r>
              <a:rPr lang="ru-RU" sz="3000" dirty="0">
                <a:solidFill>
                  <a:schemeClr val="bg1"/>
                </a:solidFill>
              </a:rPr>
              <a:t> * </a:t>
            </a:r>
            <a:r>
              <a:rPr lang="en-US" sz="3000" dirty="0">
                <a:solidFill>
                  <a:schemeClr val="bg1"/>
                </a:solidFill>
              </a:rPr>
              <a:t># </a:t>
            </a:r>
            <a:r>
              <a:rPr lang="ru-RU" sz="3000" dirty="0">
                <a:solidFill>
                  <a:schemeClr val="bg1"/>
                </a:solidFill>
              </a:rPr>
              <a:t>операций в одном вызове </a:t>
            </a:r>
            <a:r>
              <a:rPr lang="en-US" sz="3000" dirty="0">
                <a:solidFill>
                  <a:schemeClr val="bg1"/>
                </a:solidFill>
              </a:rPr>
              <a:t>Find…/Merge…</a:t>
            </a:r>
            <a:r>
              <a:rPr lang="ru-RU" sz="3000" dirty="0">
                <a:solidFill>
                  <a:schemeClr val="bg1"/>
                </a:solidFill>
              </a:rPr>
              <a:t>)</a:t>
            </a:r>
          </a:p>
          <a:p>
            <a:pPr marL="454914">
              <a:lnSpc>
                <a:spcPct val="80000"/>
              </a:lnSpc>
            </a:pPr>
            <a:endParaRPr lang="ru-RU" sz="3000" dirty="0">
              <a:solidFill>
                <a:schemeClr val="bg1"/>
              </a:solidFill>
            </a:endParaRPr>
          </a:p>
          <a:p>
            <a:pPr marL="454914">
              <a:lnSpc>
                <a:spcPct val="80000"/>
              </a:lnSpc>
            </a:pPr>
            <a:r>
              <a:rPr lang="en-US" sz="3000" dirty="0">
                <a:solidFill>
                  <a:schemeClr val="bg1"/>
                </a:solidFill>
              </a:rPr>
              <a:t># </a:t>
            </a:r>
            <a:r>
              <a:rPr lang="ru-RU" sz="3000" dirty="0">
                <a:solidFill>
                  <a:schemeClr val="bg1"/>
                </a:solidFill>
              </a:rPr>
              <a:t>операций в одном вызове </a:t>
            </a:r>
            <a:r>
              <a:rPr lang="en-US" sz="3000" dirty="0">
                <a:solidFill>
                  <a:schemeClr val="bg1"/>
                </a:solidFill>
              </a:rPr>
              <a:t>Find…/Merge…</a:t>
            </a:r>
            <a:r>
              <a:rPr lang="ru-RU" sz="3000" dirty="0">
                <a:solidFill>
                  <a:schemeClr val="bg1"/>
                </a:solidFill>
              </a:rPr>
              <a:t> = </a:t>
            </a:r>
            <a:r>
              <a:rPr lang="en-US" sz="3000" dirty="0">
                <a:solidFill>
                  <a:schemeClr val="bg1"/>
                </a:solidFill>
              </a:rPr>
              <a:t>O(</a:t>
            </a:r>
            <a:r>
              <a:rPr lang="el-G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8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000" dirty="0">
                <a:solidFill>
                  <a:schemeClr val="bg1"/>
                </a:solidFill>
              </a:rPr>
              <a:t>(N))</a:t>
            </a:r>
          </a:p>
          <a:p>
            <a:pPr marL="854964" lvl="1">
              <a:lnSpc>
                <a:spcPct val="80000"/>
              </a:lnSpc>
            </a:pPr>
            <a:r>
              <a:rPr lang="el-G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4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2600" dirty="0">
                <a:solidFill>
                  <a:schemeClr val="bg1"/>
                </a:solidFill>
              </a:rPr>
              <a:t> – </a:t>
            </a:r>
            <a:r>
              <a:rPr lang="ru-RU" sz="2600" dirty="0">
                <a:solidFill>
                  <a:schemeClr val="bg1"/>
                </a:solidFill>
              </a:rPr>
              <a:t>обратная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ru-RU" sz="2600" dirty="0">
                <a:solidFill>
                  <a:schemeClr val="bg1"/>
                </a:solidFill>
              </a:rPr>
              <a:t>функция </a:t>
            </a:r>
            <a:r>
              <a:rPr lang="ru-RU" sz="2600" dirty="0" err="1">
                <a:solidFill>
                  <a:schemeClr val="bg1"/>
                </a:solidFill>
              </a:rPr>
              <a:t>Аккермана</a:t>
            </a:r>
            <a:endParaRPr lang="ru-RU" sz="2600" dirty="0">
              <a:solidFill>
                <a:schemeClr val="bg1"/>
              </a:solidFill>
            </a:endParaRPr>
          </a:p>
          <a:p>
            <a:pPr marL="454914">
              <a:lnSpc>
                <a:spcPct val="80000"/>
              </a:lnSpc>
            </a:pPr>
            <a:endParaRPr lang="ru-RU" sz="3000" dirty="0">
              <a:solidFill>
                <a:schemeClr val="bg1"/>
              </a:solidFill>
            </a:endParaRPr>
          </a:p>
          <a:p>
            <a:pPr marL="454914">
              <a:lnSpc>
                <a:spcPct val="80000"/>
              </a:lnSpc>
            </a:pPr>
            <a:r>
              <a:rPr lang="en-US" sz="3000" dirty="0">
                <a:solidFill>
                  <a:schemeClr val="bg1"/>
                </a:solidFill>
              </a:rPr>
              <a:t># </a:t>
            </a:r>
            <a:r>
              <a:rPr lang="ru-RU" sz="3000" dirty="0">
                <a:solidFill>
                  <a:schemeClr val="bg1"/>
                </a:solidFill>
              </a:rPr>
              <a:t>операций в алгоритме </a:t>
            </a:r>
            <a:r>
              <a:rPr lang="ru-RU" sz="3000" dirty="0" err="1">
                <a:solidFill>
                  <a:schemeClr val="bg1"/>
                </a:solidFill>
              </a:rPr>
              <a:t>Краскала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ru-RU" sz="3000" dirty="0">
                <a:solidFill>
                  <a:schemeClr val="bg1"/>
                </a:solidFill>
              </a:rPr>
              <a:t>= O(</a:t>
            </a:r>
            <a:r>
              <a:rPr lang="en-US" sz="3000" dirty="0">
                <a:solidFill>
                  <a:schemeClr val="bg1"/>
                </a:solidFill>
              </a:rPr>
              <a:t>M</a:t>
            </a:r>
            <a:r>
              <a:rPr lang="ru-RU" sz="3000" dirty="0">
                <a:solidFill>
                  <a:schemeClr val="bg1"/>
                </a:solidFill>
              </a:rPr>
              <a:t> * </a:t>
            </a:r>
            <a:r>
              <a:rPr lang="en-US" sz="3000" dirty="0">
                <a:solidFill>
                  <a:schemeClr val="bg1"/>
                </a:solidFill>
              </a:rPr>
              <a:t>log(M)</a:t>
            </a:r>
            <a:r>
              <a:rPr lang="ru-RU" sz="3000" dirty="0">
                <a:solidFill>
                  <a:schemeClr val="bg1"/>
                </a:solidFill>
              </a:rPr>
              <a:t> + </a:t>
            </a:r>
            <a:r>
              <a:rPr lang="en-US" sz="3000" dirty="0">
                <a:solidFill>
                  <a:schemeClr val="bg1"/>
                </a:solidFill>
              </a:rPr>
              <a:t>N * </a:t>
            </a:r>
            <a:r>
              <a:rPr lang="el-G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8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000" dirty="0">
                <a:solidFill>
                  <a:schemeClr val="bg1"/>
                </a:solidFill>
              </a:rPr>
              <a:t>(N)</a:t>
            </a:r>
            <a:r>
              <a:rPr lang="ru-RU" sz="3000" dirty="0">
                <a:solidFill>
                  <a:schemeClr val="bg1"/>
                </a:solidFill>
              </a:rPr>
              <a:t>) </a:t>
            </a:r>
          </a:p>
          <a:p>
            <a:pPr marL="112014" indent="0">
              <a:lnSpc>
                <a:spcPct val="80000"/>
              </a:lnSpc>
              <a:buNone/>
            </a:pPr>
            <a:endParaRPr lang="ru-RU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746904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Число операций в алгоритме Краскала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1556792"/>
            <a:ext cx="10972800" cy="4525963"/>
          </a:xfrm>
        </p:spPr>
        <p:txBody>
          <a:bodyPr>
            <a:normAutofit fontScale="92500" lnSpcReduction="10000"/>
          </a:bodyPr>
          <a:lstStyle/>
          <a:p>
            <a:pPr marL="468630"/>
            <a:r>
              <a:rPr lang="en-US" sz="2800" dirty="0"/>
              <a:t>N = #</a:t>
            </a:r>
            <a:r>
              <a:rPr lang="ru-RU" sz="2800" dirty="0"/>
              <a:t> вершин, </a:t>
            </a:r>
            <a:r>
              <a:rPr lang="en-US" sz="2800" dirty="0"/>
              <a:t>M = # </a:t>
            </a:r>
            <a:r>
              <a:rPr lang="ru-RU" sz="2800" dirty="0"/>
              <a:t>ребер</a:t>
            </a:r>
            <a:endParaRPr lang="en-US" sz="2800" dirty="0"/>
          </a:p>
          <a:p>
            <a:pPr marL="468630"/>
            <a:endParaRPr lang="en-US" sz="3000" dirty="0"/>
          </a:p>
          <a:p>
            <a:pPr marL="468630"/>
            <a:r>
              <a:rPr lang="en-US" sz="3000" dirty="0"/>
              <a:t># </a:t>
            </a:r>
            <a:r>
              <a:rPr lang="ru-RU" sz="3000" dirty="0"/>
              <a:t>операций в сортировке ребер = O(</a:t>
            </a:r>
            <a:r>
              <a:rPr lang="en-US" sz="3000" dirty="0"/>
              <a:t>M</a:t>
            </a:r>
            <a:r>
              <a:rPr lang="ru-RU" sz="3000" dirty="0"/>
              <a:t> * </a:t>
            </a:r>
            <a:r>
              <a:rPr lang="en-US" sz="3000" dirty="0"/>
              <a:t>log(M)</a:t>
            </a:r>
            <a:r>
              <a:rPr lang="ru-RU" sz="3000" dirty="0"/>
              <a:t>)  </a:t>
            </a:r>
            <a:endParaRPr lang="en-US" sz="3000" dirty="0"/>
          </a:p>
          <a:p>
            <a:pPr marL="468630">
              <a:lnSpc>
                <a:spcPct val="80000"/>
              </a:lnSpc>
            </a:pPr>
            <a:endParaRPr lang="ru-RU" sz="3000" dirty="0"/>
          </a:p>
          <a:p>
            <a:pPr marL="468630">
              <a:lnSpc>
                <a:spcPct val="80000"/>
              </a:lnSpc>
            </a:pPr>
            <a:r>
              <a:rPr lang="en-US" sz="3000" dirty="0"/>
              <a:t># </a:t>
            </a:r>
            <a:r>
              <a:rPr lang="ru-RU" sz="3000" dirty="0"/>
              <a:t>операций в построении каркаса =</a:t>
            </a:r>
          </a:p>
          <a:p>
            <a:pPr marL="125730" indent="0">
              <a:lnSpc>
                <a:spcPct val="80000"/>
              </a:lnSpc>
              <a:buNone/>
            </a:pPr>
            <a:r>
              <a:rPr lang="ru-RU" sz="3000" dirty="0"/>
              <a:t>	= O(</a:t>
            </a:r>
            <a:r>
              <a:rPr lang="en-US" sz="3000" dirty="0"/>
              <a:t># </a:t>
            </a:r>
            <a:r>
              <a:rPr lang="ru-RU" sz="3000" dirty="0"/>
              <a:t>операций во</a:t>
            </a:r>
            <a:r>
              <a:rPr lang="en-US" sz="3000" dirty="0"/>
              <a:t> </a:t>
            </a:r>
            <a:r>
              <a:rPr lang="ru-RU" sz="3000" dirty="0"/>
              <a:t>всех </a:t>
            </a:r>
            <a:r>
              <a:rPr lang="en-US" sz="3000" dirty="0"/>
              <a:t>Find…/Merge…</a:t>
            </a:r>
            <a:r>
              <a:rPr lang="ru-RU" sz="3000" dirty="0"/>
              <a:t>)</a:t>
            </a:r>
          </a:p>
          <a:p>
            <a:pPr marL="454914">
              <a:lnSpc>
                <a:spcPct val="80000"/>
              </a:lnSpc>
            </a:pPr>
            <a:endParaRPr lang="ru-RU" sz="3000" dirty="0"/>
          </a:p>
          <a:p>
            <a:pPr marL="454914">
              <a:lnSpc>
                <a:spcPct val="80000"/>
              </a:lnSpc>
            </a:pPr>
            <a:r>
              <a:rPr lang="en-US" sz="3000" dirty="0">
                <a:solidFill>
                  <a:schemeClr val="bg1"/>
                </a:solidFill>
              </a:rPr>
              <a:t># </a:t>
            </a:r>
            <a:r>
              <a:rPr lang="ru-RU" sz="3000" dirty="0">
                <a:solidFill>
                  <a:schemeClr val="bg1"/>
                </a:solidFill>
              </a:rPr>
              <a:t>операций в одном вызове </a:t>
            </a:r>
            <a:r>
              <a:rPr lang="en-US" sz="3000" dirty="0">
                <a:solidFill>
                  <a:schemeClr val="bg1"/>
                </a:solidFill>
              </a:rPr>
              <a:t>Find…/Merge…</a:t>
            </a:r>
            <a:r>
              <a:rPr lang="ru-RU" sz="3000" dirty="0">
                <a:solidFill>
                  <a:schemeClr val="bg1"/>
                </a:solidFill>
              </a:rPr>
              <a:t> = </a:t>
            </a:r>
            <a:r>
              <a:rPr lang="en-US" sz="3000" dirty="0">
                <a:solidFill>
                  <a:schemeClr val="bg1"/>
                </a:solidFill>
              </a:rPr>
              <a:t>O(</a:t>
            </a:r>
            <a:r>
              <a:rPr lang="el-G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8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000" dirty="0">
                <a:solidFill>
                  <a:schemeClr val="bg1"/>
                </a:solidFill>
              </a:rPr>
              <a:t>(N))</a:t>
            </a:r>
          </a:p>
          <a:p>
            <a:pPr marL="854964" lvl="1">
              <a:lnSpc>
                <a:spcPct val="80000"/>
              </a:lnSpc>
            </a:pPr>
            <a:r>
              <a:rPr lang="el-G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4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2600" dirty="0">
                <a:solidFill>
                  <a:schemeClr val="bg1"/>
                </a:solidFill>
              </a:rPr>
              <a:t> – </a:t>
            </a:r>
            <a:r>
              <a:rPr lang="ru-RU" sz="2600" dirty="0">
                <a:solidFill>
                  <a:schemeClr val="bg1"/>
                </a:solidFill>
              </a:rPr>
              <a:t>обратная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ru-RU" sz="2600" dirty="0">
                <a:solidFill>
                  <a:schemeClr val="bg1"/>
                </a:solidFill>
              </a:rPr>
              <a:t>функция </a:t>
            </a:r>
            <a:r>
              <a:rPr lang="ru-RU" sz="2600" dirty="0" err="1">
                <a:solidFill>
                  <a:schemeClr val="bg1"/>
                </a:solidFill>
              </a:rPr>
              <a:t>Аккермана</a:t>
            </a:r>
            <a:endParaRPr lang="ru-RU" sz="2600" dirty="0">
              <a:solidFill>
                <a:schemeClr val="bg1"/>
              </a:solidFill>
            </a:endParaRPr>
          </a:p>
          <a:p>
            <a:pPr marL="454914">
              <a:lnSpc>
                <a:spcPct val="80000"/>
              </a:lnSpc>
            </a:pPr>
            <a:endParaRPr lang="ru-RU" sz="3000" dirty="0">
              <a:solidFill>
                <a:schemeClr val="bg1"/>
              </a:solidFill>
            </a:endParaRPr>
          </a:p>
          <a:p>
            <a:pPr marL="454914">
              <a:lnSpc>
                <a:spcPct val="80000"/>
              </a:lnSpc>
            </a:pPr>
            <a:r>
              <a:rPr lang="en-US" sz="3000" dirty="0">
                <a:solidFill>
                  <a:schemeClr val="bg1"/>
                </a:solidFill>
              </a:rPr>
              <a:t># </a:t>
            </a:r>
            <a:r>
              <a:rPr lang="ru-RU" sz="3000" dirty="0">
                <a:solidFill>
                  <a:schemeClr val="bg1"/>
                </a:solidFill>
              </a:rPr>
              <a:t>операций в алгоритме </a:t>
            </a:r>
            <a:r>
              <a:rPr lang="ru-RU" sz="3000" dirty="0" err="1">
                <a:solidFill>
                  <a:schemeClr val="bg1"/>
                </a:solidFill>
              </a:rPr>
              <a:t>Краскала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ru-RU" sz="3000" dirty="0">
                <a:solidFill>
                  <a:schemeClr val="bg1"/>
                </a:solidFill>
              </a:rPr>
              <a:t>= O(</a:t>
            </a:r>
            <a:r>
              <a:rPr lang="en-US" sz="3000" dirty="0">
                <a:solidFill>
                  <a:schemeClr val="bg1"/>
                </a:solidFill>
              </a:rPr>
              <a:t>M</a:t>
            </a:r>
            <a:r>
              <a:rPr lang="ru-RU" sz="3000" dirty="0">
                <a:solidFill>
                  <a:schemeClr val="bg1"/>
                </a:solidFill>
              </a:rPr>
              <a:t> * </a:t>
            </a:r>
            <a:r>
              <a:rPr lang="en-US" sz="3000" dirty="0">
                <a:solidFill>
                  <a:schemeClr val="bg1"/>
                </a:solidFill>
              </a:rPr>
              <a:t>log(M)</a:t>
            </a:r>
            <a:r>
              <a:rPr lang="ru-RU" sz="3000" dirty="0">
                <a:solidFill>
                  <a:schemeClr val="bg1"/>
                </a:solidFill>
              </a:rPr>
              <a:t> + </a:t>
            </a:r>
            <a:r>
              <a:rPr lang="en-US" sz="3000" dirty="0">
                <a:solidFill>
                  <a:schemeClr val="bg1"/>
                </a:solidFill>
              </a:rPr>
              <a:t>N * </a:t>
            </a:r>
            <a:r>
              <a:rPr lang="el-G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8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000" dirty="0">
                <a:solidFill>
                  <a:schemeClr val="bg1"/>
                </a:solidFill>
              </a:rPr>
              <a:t>(N)</a:t>
            </a:r>
            <a:r>
              <a:rPr lang="ru-RU" sz="3000" dirty="0">
                <a:solidFill>
                  <a:schemeClr val="bg1"/>
                </a:solidFill>
              </a:rPr>
              <a:t>) </a:t>
            </a:r>
          </a:p>
          <a:p>
            <a:pPr marL="112014" indent="0">
              <a:lnSpc>
                <a:spcPct val="80000"/>
              </a:lnSpc>
              <a:buNone/>
            </a:pPr>
            <a:endParaRPr lang="ru-RU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604943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Число операций в алгоритме Краскала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1556792"/>
            <a:ext cx="10972800" cy="4525963"/>
          </a:xfrm>
        </p:spPr>
        <p:txBody>
          <a:bodyPr>
            <a:normAutofit fontScale="92500" lnSpcReduction="10000"/>
          </a:bodyPr>
          <a:lstStyle/>
          <a:p>
            <a:pPr marL="468630"/>
            <a:r>
              <a:rPr lang="en-US" sz="2800" dirty="0"/>
              <a:t>N = #</a:t>
            </a:r>
            <a:r>
              <a:rPr lang="ru-RU" sz="2800" dirty="0"/>
              <a:t> вершин, </a:t>
            </a:r>
            <a:r>
              <a:rPr lang="en-US" sz="2800" dirty="0"/>
              <a:t>M = # </a:t>
            </a:r>
            <a:r>
              <a:rPr lang="ru-RU" sz="2800" dirty="0"/>
              <a:t>ребер</a:t>
            </a:r>
            <a:endParaRPr lang="en-US" sz="2800" dirty="0"/>
          </a:p>
          <a:p>
            <a:pPr marL="468630"/>
            <a:endParaRPr lang="en-US" sz="3000" dirty="0"/>
          </a:p>
          <a:p>
            <a:pPr marL="468630"/>
            <a:r>
              <a:rPr lang="en-US" sz="3000" dirty="0"/>
              <a:t># </a:t>
            </a:r>
            <a:r>
              <a:rPr lang="ru-RU" sz="3000" dirty="0"/>
              <a:t>операций в сортировке ребер = O(</a:t>
            </a:r>
            <a:r>
              <a:rPr lang="en-US" sz="3000" dirty="0"/>
              <a:t>M</a:t>
            </a:r>
            <a:r>
              <a:rPr lang="ru-RU" sz="3000" dirty="0"/>
              <a:t> * </a:t>
            </a:r>
            <a:r>
              <a:rPr lang="en-US" sz="3000" dirty="0"/>
              <a:t>log(M)</a:t>
            </a:r>
            <a:r>
              <a:rPr lang="ru-RU" sz="3000" dirty="0"/>
              <a:t>)  </a:t>
            </a:r>
            <a:endParaRPr lang="en-US" sz="3000" dirty="0"/>
          </a:p>
          <a:p>
            <a:pPr marL="468630">
              <a:lnSpc>
                <a:spcPct val="80000"/>
              </a:lnSpc>
            </a:pPr>
            <a:endParaRPr lang="ru-RU" sz="3000" dirty="0"/>
          </a:p>
          <a:p>
            <a:pPr marL="468630">
              <a:lnSpc>
                <a:spcPct val="80000"/>
              </a:lnSpc>
            </a:pPr>
            <a:r>
              <a:rPr lang="en-US" sz="3000" dirty="0"/>
              <a:t># </a:t>
            </a:r>
            <a:r>
              <a:rPr lang="ru-RU" sz="3000" dirty="0"/>
              <a:t>операций в построении каркаса =</a:t>
            </a:r>
          </a:p>
          <a:p>
            <a:pPr marL="125730" indent="0">
              <a:lnSpc>
                <a:spcPct val="80000"/>
              </a:lnSpc>
              <a:buNone/>
            </a:pPr>
            <a:r>
              <a:rPr lang="ru-RU" sz="3000" dirty="0"/>
              <a:t>	= O(</a:t>
            </a:r>
            <a:r>
              <a:rPr lang="en-US" sz="3000" dirty="0"/>
              <a:t># </a:t>
            </a:r>
            <a:r>
              <a:rPr lang="ru-RU" sz="3000" dirty="0"/>
              <a:t>операций во всех </a:t>
            </a:r>
            <a:r>
              <a:rPr lang="en-US" sz="3000" dirty="0"/>
              <a:t>Find…/Merge…</a:t>
            </a:r>
            <a:r>
              <a:rPr lang="ru-RU" sz="3000" dirty="0"/>
              <a:t>)</a:t>
            </a:r>
          </a:p>
          <a:p>
            <a:pPr marL="454914">
              <a:lnSpc>
                <a:spcPct val="80000"/>
              </a:lnSpc>
            </a:pPr>
            <a:endParaRPr lang="ru-RU" sz="3000" dirty="0"/>
          </a:p>
          <a:p>
            <a:pPr marL="454914">
              <a:lnSpc>
                <a:spcPct val="80000"/>
              </a:lnSpc>
            </a:pPr>
            <a:r>
              <a:rPr lang="en-US" sz="3000" dirty="0"/>
              <a:t># </a:t>
            </a:r>
            <a:r>
              <a:rPr lang="ru-RU" sz="3000" dirty="0"/>
              <a:t>операций во всех </a:t>
            </a:r>
            <a:r>
              <a:rPr lang="en-US" sz="3000" dirty="0"/>
              <a:t>Find…/Merge…</a:t>
            </a:r>
            <a:r>
              <a:rPr lang="ru-RU" sz="3000" dirty="0"/>
              <a:t> = </a:t>
            </a:r>
            <a:r>
              <a:rPr lang="en-US" sz="3000" dirty="0"/>
              <a:t>N * O(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000" dirty="0"/>
              <a:t>(N))</a:t>
            </a:r>
          </a:p>
          <a:p>
            <a:pPr marL="854964" lvl="1">
              <a:lnSpc>
                <a:spcPct val="80000"/>
              </a:lnSpc>
            </a:pP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2600" dirty="0"/>
              <a:t> – </a:t>
            </a:r>
            <a:r>
              <a:rPr lang="ru-RU" sz="2600" dirty="0"/>
              <a:t>обратная</a:t>
            </a:r>
            <a:r>
              <a:rPr lang="en-US" sz="2600" dirty="0"/>
              <a:t> </a:t>
            </a:r>
            <a:r>
              <a:rPr lang="ru-RU" sz="2600" dirty="0"/>
              <a:t>функция </a:t>
            </a:r>
            <a:r>
              <a:rPr lang="ru-RU" sz="2600" dirty="0" err="1"/>
              <a:t>Аккермана</a:t>
            </a:r>
            <a:endParaRPr lang="ru-RU" sz="2600" dirty="0"/>
          </a:p>
          <a:p>
            <a:pPr marL="454914">
              <a:lnSpc>
                <a:spcPct val="80000"/>
              </a:lnSpc>
            </a:pPr>
            <a:endParaRPr lang="ru-RU" sz="3000" dirty="0"/>
          </a:p>
          <a:p>
            <a:pPr marL="454914">
              <a:lnSpc>
                <a:spcPct val="80000"/>
              </a:lnSpc>
            </a:pPr>
            <a:r>
              <a:rPr lang="en-US" sz="3000" dirty="0">
                <a:solidFill>
                  <a:schemeClr val="bg1"/>
                </a:solidFill>
              </a:rPr>
              <a:t># </a:t>
            </a:r>
            <a:r>
              <a:rPr lang="ru-RU" sz="3000" dirty="0">
                <a:solidFill>
                  <a:schemeClr val="bg1"/>
                </a:solidFill>
              </a:rPr>
              <a:t>операций в алгоритме </a:t>
            </a:r>
            <a:r>
              <a:rPr lang="ru-RU" sz="3000" dirty="0" err="1">
                <a:solidFill>
                  <a:schemeClr val="bg1"/>
                </a:solidFill>
              </a:rPr>
              <a:t>Краскала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ru-RU" sz="3000" dirty="0">
                <a:solidFill>
                  <a:schemeClr val="bg1"/>
                </a:solidFill>
              </a:rPr>
              <a:t>= O(</a:t>
            </a:r>
            <a:r>
              <a:rPr lang="en-US" sz="3000" dirty="0">
                <a:solidFill>
                  <a:schemeClr val="bg1"/>
                </a:solidFill>
              </a:rPr>
              <a:t>M</a:t>
            </a:r>
            <a:r>
              <a:rPr lang="ru-RU" sz="3000" dirty="0">
                <a:solidFill>
                  <a:schemeClr val="bg1"/>
                </a:solidFill>
              </a:rPr>
              <a:t> * </a:t>
            </a:r>
            <a:r>
              <a:rPr lang="en-US" sz="3000" dirty="0">
                <a:solidFill>
                  <a:schemeClr val="bg1"/>
                </a:solidFill>
              </a:rPr>
              <a:t>log(M)</a:t>
            </a:r>
            <a:r>
              <a:rPr lang="ru-RU" sz="3000" dirty="0">
                <a:solidFill>
                  <a:schemeClr val="bg1"/>
                </a:solidFill>
              </a:rPr>
              <a:t> + </a:t>
            </a:r>
            <a:r>
              <a:rPr lang="en-US" sz="3000" dirty="0">
                <a:solidFill>
                  <a:schemeClr val="bg1"/>
                </a:solidFill>
              </a:rPr>
              <a:t>N * </a:t>
            </a:r>
            <a:r>
              <a:rPr lang="el-G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8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000" dirty="0">
                <a:solidFill>
                  <a:schemeClr val="bg1"/>
                </a:solidFill>
              </a:rPr>
              <a:t>(N)</a:t>
            </a:r>
            <a:r>
              <a:rPr lang="ru-RU" sz="3000" dirty="0">
                <a:solidFill>
                  <a:schemeClr val="bg1"/>
                </a:solidFill>
              </a:rPr>
              <a:t>) </a:t>
            </a:r>
          </a:p>
          <a:p>
            <a:pPr marL="112014" indent="0">
              <a:lnSpc>
                <a:spcPct val="80000"/>
              </a:lnSpc>
              <a:buNone/>
            </a:pPr>
            <a:endParaRPr lang="ru-RU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821435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Число операций в алгоритме Краскала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1556792"/>
            <a:ext cx="10972800" cy="4525963"/>
          </a:xfrm>
        </p:spPr>
        <p:txBody>
          <a:bodyPr>
            <a:normAutofit fontScale="92500" lnSpcReduction="10000"/>
          </a:bodyPr>
          <a:lstStyle/>
          <a:p>
            <a:pPr marL="468630"/>
            <a:r>
              <a:rPr lang="en-US" sz="2800" dirty="0"/>
              <a:t>N = #</a:t>
            </a:r>
            <a:r>
              <a:rPr lang="ru-RU" sz="2800" dirty="0"/>
              <a:t> вершин, </a:t>
            </a:r>
            <a:r>
              <a:rPr lang="en-US" sz="2800" dirty="0"/>
              <a:t>M = # </a:t>
            </a:r>
            <a:r>
              <a:rPr lang="ru-RU" sz="2800" dirty="0"/>
              <a:t>ребер</a:t>
            </a:r>
            <a:endParaRPr lang="en-US" sz="2800" dirty="0"/>
          </a:p>
          <a:p>
            <a:pPr marL="468630"/>
            <a:endParaRPr lang="en-US" sz="3000" dirty="0"/>
          </a:p>
          <a:p>
            <a:pPr marL="468630"/>
            <a:r>
              <a:rPr lang="en-US" sz="3000" dirty="0"/>
              <a:t># </a:t>
            </a:r>
            <a:r>
              <a:rPr lang="ru-RU" sz="3000" dirty="0"/>
              <a:t>операций в сортировке ребер = O(</a:t>
            </a:r>
            <a:r>
              <a:rPr lang="en-US" sz="3000" dirty="0"/>
              <a:t>M</a:t>
            </a:r>
            <a:r>
              <a:rPr lang="ru-RU" sz="3000" dirty="0"/>
              <a:t> * </a:t>
            </a:r>
            <a:r>
              <a:rPr lang="en-US" sz="3000" dirty="0"/>
              <a:t>log(M)</a:t>
            </a:r>
            <a:r>
              <a:rPr lang="ru-RU" sz="3000" dirty="0"/>
              <a:t>)  </a:t>
            </a:r>
            <a:endParaRPr lang="en-US" sz="3000" dirty="0"/>
          </a:p>
          <a:p>
            <a:pPr marL="468630">
              <a:lnSpc>
                <a:spcPct val="80000"/>
              </a:lnSpc>
            </a:pPr>
            <a:endParaRPr lang="ru-RU" sz="3000" dirty="0"/>
          </a:p>
          <a:p>
            <a:pPr marL="468630">
              <a:lnSpc>
                <a:spcPct val="80000"/>
              </a:lnSpc>
            </a:pPr>
            <a:r>
              <a:rPr lang="en-US" sz="3000" dirty="0"/>
              <a:t># </a:t>
            </a:r>
            <a:r>
              <a:rPr lang="ru-RU" sz="3000" dirty="0"/>
              <a:t>операций в построении каркаса =</a:t>
            </a:r>
          </a:p>
          <a:p>
            <a:pPr marL="125730" indent="0">
              <a:lnSpc>
                <a:spcPct val="80000"/>
              </a:lnSpc>
              <a:buNone/>
            </a:pPr>
            <a:r>
              <a:rPr lang="ru-RU" sz="3000" dirty="0"/>
              <a:t>	= O(</a:t>
            </a:r>
            <a:r>
              <a:rPr lang="en-US" sz="3000" dirty="0"/>
              <a:t># </a:t>
            </a:r>
            <a:r>
              <a:rPr lang="ru-RU" sz="3000" dirty="0"/>
              <a:t>операций во всех </a:t>
            </a:r>
            <a:r>
              <a:rPr lang="en-US" sz="3000" dirty="0"/>
              <a:t>Find…/Merge…</a:t>
            </a:r>
            <a:r>
              <a:rPr lang="ru-RU" sz="3000" dirty="0"/>
              <a:t>)</a:t>
            </a:r>
          </a:p>
          <a:p>
            <a:pPr marL="454914">
              <a:lnSpc>
                <a:spcPct val="80000"/>
              </a:lnSpc>
            </a:pPr>
            <a:endParaRPr lang="ru-RU" sz="3000" dirty="0"/>
          </a:p>
          <a:p>
            <a:pPr marL="454914">
              <a:lnSpc>
                <a:spcPct val="80000"/>
              </a:lnSpc>
            </a:pPr>
            <a:r>
              <a:rPr lang="en-US" sz="3000" dirty="0"/>
              <a:t># </a:t>
            </a:r>
            <a:r>
              <a:rPr lang="ru-RU" sz="3000" dirty="0"/>
              <a:t>операций во всех </a:t>
            </a:r>
            <a:r>
              <a:rPr lang="en-US" sz="3000" dirty="0"/>
              <a:t>Find…/Merge…</a:t>
            </a:r>
            <a:r>
              <a:rPr lang="ru-RU" sz="3000" dirty="0"/>
              <a:t> = </a:t>
            </a:r>
            <a:r>
              <a:rPr lang="en-US" sz="3000" dirty="0"/>
              <a:t>N * O(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000" dirty="0"/>
              <a:t>(N))</a:t>
            </a:r>
          </a:p>
          <a:p>
            <a:pPr marL="854964" lvl="1">
              <a:lnSpc>
                <a:spcPct val="80000"/>
              </a:lnSpc>
            </a:pP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2600" dirty="0"/>
              <a:t> – </a:t>
            </a:r>
            <a:r>
              <a:rPr lang="ru-RU" sz="2600" dirty="0"/>
              <a:t>обратная</a:t>
            </a:r>
            <a:r>
              <a:rPr lang="en-US" sz="2600" dirty="0"/>
              <a:t> </a:t>
            </a:r>
            <a:r>
              <a:rPr lang="ru-RU" sz="2600" dirty="0"/>
              <a:t>функция </a:t>
            </a:r>
            <a:r>
              <a:rPr lang="ru-RU" sz="2600" dirty="0" err="1"/>
              <a:t>Аккермана</a:t>
            </a:r>
            <a:endParaRPr lang="ru-RU" sz="2600" dirty="0"/>
          </a:p>
          <a:p>
            <a:pPr marL="454914">
              <a:lnSpc>
                <a:spcPct val="80000"/>
              </a:lnSpc>
            </a:pPr>
            <a:endParaRPr lang="ru-RU" sz="3000" dirty="0"/>
          </a:p>
          <a:p>
            <a:pPr marL="454914">
              <a:lnSpc>
                <a:spcPct val="80000"/>
              </a:lnSpc>
            </a:pPr>
            <a:r>
              <a:rPr lang="en-US" sz="3000" dirty="0"/>
              <a:t># </a:t>
            </a:r>
            <a:r>
              <a:rPr lang="ru-RU" sz="3000" dirty="0"/>
              <a:t>операций в алгоритме </a:t>
            </a:r>
            <a:r>
              <a:rPr lang="ru-RU" sz="3000" dirty="0" err="1"/>
              <a:t>Краскала</a:t>
            </a:r>
            <a:r>
              <a:rPr lang="en-US" sz="3000" dirty="0"/>
              <a:t> </a:t>
            </a:r>
            <a:r>
              <a:rPr lang="ru-RU" sz="3000" dirty="0"/>
              <a:t>= O(</a:t>
            </a:r>
            <a:r>
              <a:rPr lang="en-US" sz="3000" dirty="0"/>
              <a:t>M</a:t>
            </a:r>
            <a:r>
              <a:rPr lang="ru-RU" sz="3000" dirty="0"/>
              <a:t> * </a:t>
            </a:r>
            <a:r>
              <a:rPr lang="en-US" sz="3000" dirty="0"/>
              <a:t>log(M)</a:t>
            </a:r>
            <a:r>
              <a:rPr lang="ru-RU" sz="3000" dirty="0"/>
              <a:t> + </a:t>
            </a:r>
            <a:r>
              <a:rPr lang="en-US" sz="3000" dirty="0"/>
              <a:t>N * </a:t>
            </a:r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000" dirty="0"/>
              <a:t>(N)</a:t>
            </a:r>
            <a:r>
              <a:rPr lang="ru-RU" sz="3000" dirty="0"/>
              <a:t>) </a:t>
            </a:r>
          </a:p>
          <a:p>
            <a:pPr marL="112014" indent="0">
              <a:lnSpc>
                <a:spcPct val="80000"/>
              </a:lnSpc>
              <a:buNone/>
            </a:pP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3452187926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Прима-Краскала</a:t>
            </a:r>
          </a:p>
        </p:txBody>
      </p:sp>
      <p:sp>
        <p:nvSpPr>
          <p:cNvPr id="57346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Robert Clay Prim 1921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Алгоритм Прима (иногда Прима-Краскала)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R. C. Prim: Shortest connection networks and some generalizations. In: Bell System Technical Journal, 36 (1957), pp. 1389–1401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Похожие алгоритмы предложены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dirty="0">
                <a:solidFill>
                  <a:schemeClr val="bg1"/>
                </a:solidFill>
              </a:rPr>
              <a:t>Войцехом Ярником (1930) и Дейкстрой (1959) 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Построение минимального каркаса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связного взвешенного графа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pPr>
              <a:buFont typeface="Arial" charset="0"/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759" y="1600201"/>
            <a:ext cx="3570482" cy="4525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Прима-Краскала</a:t>
            </a:r>
          </a:p>
        </p:txBody>
      </p:sp>
      <p:sp>
        <p:nvSpPr>
          <p:cNvPr id="57346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Robert Clay Prim 1921</a:t>
            </a:r>
            <a:r>
              <a:rPr lang="ru-RU" sz="2400" dirty="0"/>
              <a:t>-2009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>
                <a:solidFill>
                  <a:schemeClr val="bg1"/>
                </a:solidFill>
              </a:rPr>
              <a:t>Алгоритм Прима (иногда Прима-Краскала)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R. C. Prim: Shortest connection networks and some generalizations. In: Bell System Technical Journal, 36 (1957), pp. 1389–1401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Похожие алгоритмы предложены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dirty="0">
                <a:solidFill>
                  <a:schemeClr val="bg1"/>
                </a:solidFill>
              </a:rPr>
              <a:t>Войцехом Ярником (1930) и Дейкстрой (1959) 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Построение минимального каркаса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связного взвешенного графа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pPr>
              <a:buFont typeface="Arial" charset="0"/>
              <a:buNone/>
            </a:pP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759" y="1600201"/>
            <a:ext cx="3570482" cy="4525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5476121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Прима-Краскала</a:t>
            </a:r>
          </a:p>
        </p:txBody>
      </p:sp>
      <p:sp>
        <p:nvSpPr>
          <p:cNvPr id="57346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Robert Clay Prim 1921</a:t>
            </a:r>
            <a:r>
              <a:rPr lang="ru-RU" sz="2400" dirty="0"/>
              <a:t>-2009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Алгоритм Прима (иногда Прима-Краскала)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R. C. Prim: Shortest connection networks and some generalizations. In: Bell System Technical Journal, 36 (1957), pp. 1389–1401</a:t>
            </a:r>
            <a:endParaRPr lang="ru-RU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Похожие алгоритмы предложены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dirty="0">
                <a:solidFill>
                  <a:schemeClr val="bg1"/>
                </a:solidFill>
              </a:rPr>
              <a:t>Войцехом Ярником (1930) и Дейкстрой (1959) 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Построение минимального каркаса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связного взвешенного графа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pPr>
              <a:buFont typeface="Arial" charset="0"/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759" y="1600201"/>
            <a:ext cx="3570482" cy="4525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155063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Прима-Краскала</a:t>
            </a:r>
          </a:p>
        </p:txBody>
      </p:sp>
      <p:sp>
        <p:nvSpPr>
          <p:cNvPr id="57346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Robert Clay Prim 1921</a:t>
            </a:r>
            <a:r>
              <a:rPr lang="ru-RU" sz="2400" dirty="0"/>
              <a:t>-2009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Алгоритм Прима (иногда Прима-Краскала)</a:t>
            </a:r>
          </a:p>
          <a:p>
            <a:pPr lvl="1"/>
            <a:r>
              <a:rPr lang="en-US" sz="2000" dirty="0"/>
              <a:t>R. C. Prim: Shortest connection networks and some generalizations. In: Bell System Technical Journal, 36 (1957), pp. 1389–1401</a:t>
            </a:r>
            <a:endParaRPr lang="ru-RU" sz="2000" dirty="0"/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Похожие алгоритмы предложены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dirty="0">
                <a:solidFill>
                  <a:schemeClr val="bg1"/>
                </a:solidFill>
              </a:rPr>
              <a:t>Войцехом Ярником (1930) и Дейкстрой (1959) 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lvl="1"/>
            <a:endParaRPr lang="ru-RU" sz="20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Построение минимального каркаса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связного взвешенного графа</a:t>
            </a:r>
          </a:p>
          <a:p>
            <a:endParaRPr lang="ru-RU" sz="2400" dirty="0"/>
          </a:p>
          <a:p>
            <a:pPr>
              <a:buFont typeface="Arial" charset="0"/>
              <a:buNone/>
            </a:pP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759" y="1600201"/>
            <a:ext cx="3570482" cy="4525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4970875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Прима-Краскала</a:t>
            </a:r>
          </a:p>
        </p:txBody>
      </p:sp>
      <p:sp>
        <p:nvSpPr>
          <p:cNvPr id="57346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Robert Clay Prim 1921</a:t>
            </a:r>
            <a:r>
              <a:rPr lang="ru-RU" sz="2400" dirty="0"/>
              <a:t>-2009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Алгоритм Прима (иногда Прима-Краскала)</a:t>
            </a:r>
          </a:p>
          <a:p>
            <a:pPr lvl="1"/>
            <a:r>
              <a:rPr lang="en-US" sz="2000" dirty="0"/>
              <a:t>R. C. Prim: Shortest connection networks and some generalizations. In: Bell System Technical Journal, 36 (1957), pp. 1389–1401</a:t>
            </a:r>
            <a:endParaRPr lang="ru-RU" sz="2000" dirty="0"/>
          </a:p>
          <a:p>
            <a:pPr lvl="1"/>
            <a:r>
              <a:rPr lang="ru-RU" sz="2000" dirty="0"/>
              <a:t>Похожие алгоритмы предложены</a:t>
            </a:r>
            <a:br>
              <a:rPr lang="ru-RU" sz="2000" dirty="0"/>
            </a:br>
            <a:r>
              <a:rPr lang="ru-RU" sz="2000" dirty="0"/>
              <a:t>Войцехом Ярником (1930) и Дейкстрой (1959) </a:t>
            </a:r>
            <a:r>
              <a:rPr lang="en-US" sz="2000" dirty="0"/>
              <a:t> </a:t>
            </a:r>
          </a:p>
          <a:p>
            <a:pPr lvl="1"/>
            <a:endParaRPr lang="ru-RU" sz="2000" dirty="0"/>
          </a:p>
          <a:p>
            <a:r>
              <a:rPr lang="ru-RU" sz="2400" dirty="0">
                <a:solidFill>
                  <a:schemeClr val="bg1"/>
                </a:solidFill>
              </a:rPr>
              <a:t>Построение минимального каркаса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связного взвешенного графа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pPr>
              <a:buFont typeface="Arial" charset="0"/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759" y="1600201"/>
            <a:ext cx="3570482" cy="4525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0360139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Прима-Краскала</a:t>
            </a:r>
          </a:p>
        </p:txBody>
      </p:sp>
      <p:sp>
        <p:nvSpPr>
          <p:cNvPr id="57346" name="Rectangle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Robert Clay Prim 1921</a:t>
            </a:r>
            <a:r>
              <a:rPr lang="ru-RU" sz="2400" dirty="0"/>
              <a:t>-2009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Алгоритм Прима (иногда Прима-Краскала)</a:t>
            </a:r>
          </a:p>
          <a:p>
            <a:pPr lvl="1"/>
            <a:r>
              <a:rPr lang="en-US" sz="2000" dirty="0"/>
              <a:t>R. C. Prim: Shortest connection networks and some generalizations. In: Bell System Technical Journal, 36 (1957), pp. 1389–1401</a:t>
            </a:r>
            <a:endParaRPr lang="ru-RU" sz="2000" dirty="0"/>
          </a:p>
          <a:p>
            <a:pPr lvl="1"/>
            <a:r>
              <a:rPr lang="ru-RU" sz="2000" dirty="0"/>
              <a:t>Похожие алгоритмы предложены</a:t>
            </a:r>
            <a:br>
              <a:rPr lang="ru-RU" sz="2000" dirty="0"/>
            </a:br>
            <a:r>
              <a:rPr lang="ru-RU" sz="2000" dirty="0"/>
              <a:t>Войцехом Ярником (1930) и Дейкстрой (1959) </a:t>
            </a:r>
            <a:r>
              <a:rPr lang="en-US" sz="2000" dirty="0"/>
              <a:t> </a:t>
            </a:r>
          </a:p>
          <a:p>
            <a:pPr lvl="1"/>
            <a:endParaRPr lang="ru-RU" sz="2000" dirty="0"/>
          </a:p>
          <a:p>
            <a:r>
              <a:rPr lang="ru-RU" sz="2400" dirty="0"/>
              <a:t>Построение минимального каркаса</a:t>
            </a:r>
            <a:r>
              <a:rPr lang="en-US" sz="2400" dirty="0"/>
              <a:t> </a:t>
            </a:r>
            <a:r>
              <a:rPr lang="ru-RU" sz="2400" dirty="0"/>
              <a:t>связного взвешенного графа</a:t>
            </a:r>
          </a:p>
          <a:p>
            <a:endParaRPr lang="ru-RU" sz="2400" dirty="0"/>
          </a:p>
          <a:p>
            <a:pPr>
              <a:buFont typeface="Arial" charset="0"/>
              <a:buNone/>
            </a:pP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759" y="1600201"/>
            <a:ext cx="3570482" cy="45259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5112879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ru-RU" sz="1200" dirty="0"/>
              <a:t>(анимация на 20 шагов)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Начинаем с </a:t>
            </a:r>
            <a:r>
              <a:rPr lang="en-US" dirty="0"/>
              <a:t>v</a:t>
            </a:r>
            <a:r>
              <a:rPr lang="en-US" baseline="-25000" dirty="0"/>
              <a:t>1</a:t>
            </a:r>
          </a:p>
        </p:txBody>
      </p:sp>
      <p:pic>
        <p:nvPicPr>
          <p:cNvPr id="7" name="Picture 4" descr="12_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97211" y="2600548"/>
            <a:ext cx="3671888" cy="306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7681095" y="2671987"/>
            <a:ext cx="287337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/>
              <a:t>v</a:t>
            </a:r>
            <a:r>
              <a:rPr lang="en-US" sz="1600" baseline="-25000" dirty="0"/>
              <a:t>1</a:t>
            </a:r>
            <a:endParaRPr lang="ru-RU" sz="1600" baseline="-25000" dirty="0"/>
          </a:p>
        </p:txBody>
      </p:sp>
      <p:sp>
        <p:nvSpPr>
          <p:cNvPr id="9" name="Oval 10"/>
          <p:cNvSpPr>
            <a:spLocks noChangeArrowheads="1"/>
          </p:cNvSpPr>
          <p:nvPr/>
        </p:nvSpPr>
        <p:spPr bwMode="auto">
          <a:xfrm>
            <a:off x="9265420" y="2745012"/>
            <a:ext cx="287337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/>
              <a:t>v</a:t>
            </a:r>
            <a:r>
              <a:rPr lang="en-US" sz="1600" baseline="-25000" dirty="0"/>
              <a:t>2</a:t>
            </a:r>
            <a:endParaRPr lang="ru-RU" sz="1600" baseline="-25000" dirty="0"/>
          </a:p>
        </p:txBody>
      </p:sp>
      <p:sp>
        <p:nvSpPr>
          <p:cNvPr id="10" name="Oval 10"/>
          <p:cNvSpPr>
            <a:spLocks noChangeArrowheads="1"/>
          </p:cNvSpPr>
          <p:nvPr/>
        </p:nvSpPr>
        <p:spPr bwMode="auto">
          <a:xfrm>
            <a:off x="6744470" y="3968973"/>
            <a:ext cx="287337" cy="287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/>
              <a:t>v</a:t>
            </a:r>
            <a:r>
              <a:rPr lang="en-US" sz="1600" baseline="-25000" dirty="0"/>
              <a:t>6</a:t>
            </a:r>
            <a:endParaRPr lang="ru-RU" sz="1600" baseline="-25000" dirty="0"/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9913120" y="3895948"/>
            <a:ext cx="287337" cy="287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/>
              <a:t>v</a:t>
            </a:r>
            <a:r>
              <a:rPr lang="en-US" sz="1600" baseline="-25000" dirty="0"/>
              <a:t>3</a:t>
            </a:r>
            <a:endParaRPr lang="ru-RU" sz="1600" baseline="-25000" dirty="0"/>
          </a:p>
        </p:txBody>
      </p:sp>
      <p:sp>
        <p:nvSpPr>
          <p:cNvPr id="12" name="Oval 10"/>
          <p:cNvSpPr>
            <a:spLocks noChangeArrowheads="1"/>
          </p:cNvSpPr>
          <p:nvPr/>
        </p:nvSpPr>
        <p:spPr bwMode="auto">
          <a:xfrm>
            <a:off x="8401820" y="3895948"/>
            <a:ext cx="287337" cy="287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/>
              <a:t>v</a:t>
            </a:r>
            <a:r>
              <a:rPr lang="en-US" sz="1600" baseline="-25000" dirty="0"/>
              <a:t>7</a:t>
            </a:r>
            <a:endParaRPr lang="ru-RU" sz="1600" baseline="-25000" dirty="0"/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9265420" y="5264373"/>
            <a:ext cx="287337" cy="287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/>
              <a:t>v</a:t>
            </a:r>
            <a:r>
              <a:rPr lang="en-US" sz="1600" baseline="-25000" dirty="0"/>
              <a:t>4</a:t>
            </a:r>
            <a:endParaRPr lang="ru-RU" sz="1600" baseline="-25000" dirty="0"/>
          </a:p>
        </p:txBody>
      </p:sp>
      <p:sp>
        <p:nvSpPr>
          <p:cNvPr id="14" name="Oval 10"/>
          <p:cNvSpPr>
            <a:spLocks noChangeArrowheads="1"/>
          </p:cNvSpPr>
          <p:nvPr/>
        </p:nvSpPr>
        <p:spPr bwMode="auto">
          <a:xfrm>
            <a:off x="7536631" y="5264373"/>
            <a:ext cx="287338" cy="287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/>
              <a:t>v</a:t>
            </a:r>
            <a:r>
              <a:rPr lang="en-US" sz="1600" baseline="-25000" dirty="0"/>
              <a:t>5</a:t>
            </a:r>
            <a:endParaRPr lang="ru-RU" sz="1600" baseline="-25000" dirty="0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7896994" y="2960912"/>
            <a:ext cx="576262" cy="935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 flipH="1">
            <a:off x="9481320" y="4184873"/>
            <a:ext cx="504825" cy="1079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 flipH="1">
            <a:off x="8617720" y="3032348"/>
            <a:ext cx="719137" cy="86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 flipH="1">
            <a:off x="8689156" y="4040411"/>
            <a:ext cx="1225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7825557" y="5408836"/>
            <a:ext cx="14398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 flipH="1">
            <a:off x="6961956" y="2887887"/>
            <a:ext cx="719138" cy="10810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7825557" y="3392711"/>
            <a:ext cx="2968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/>
              <a:t>1</a:t>
            </a:r>
            <a:endParaRPr lang="ru-RU" sz="1600" dirty="0"/>
          </a:p>
        </p:txBody>
      </p: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9697219" y="4688111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/>
              <a:t>3</a:t>
            </a:r>
            <a:endParaRPr lang="ru-RU" sz="1600" dirty="0"/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8978082" y="3319686"/>
            <a:ext cx="2968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/>
              <a:t>4</a:t>
            </a:r>
            <a:endParaRPr lang="ru-RU" sz="1600" dirty="0"/>
          </a:p>
        </p:txBody>
      </p:sp>
      <p:sp>
        <p:nvSpPr>
          <p:cNvPr id="24" name="Text Box 21"/>
          <p:cNvSpPr txBox="1">
            <a:spLocks noChangeArrowheads="1"/>
          </p:cNvSpPr>
          <p:nvPr/>
        </p:nvSpPr>
        <p:spPr bwMode="auto">
          <a:xfrm>
            <a:off x="9265419" y="4040411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/>
              <a:t>9</a:t>
            </a:r>
            <a:endParaRPr lang="ru-RU" sz="1600" dirty="0"/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6888932" y="3248248"/>
            <a:ext cx="4095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/>
              <a:t>23</a:t>
            </a:r>
            <a:endParaRPr lang="ru-RU" sz="1600"/>
          </a:p>
        </p:txBody>
      </p:sp>
      <p:sp>
        <p:nvSpPr>
          <p:cNvPr id="26" name="Text Box 23"/>
          <p:cNvSpPr txBox="1">
            <a:spLocks noChangeArrowheads="1"/>
          </p:cNvSpPr>
          <p:nvPr/>
        </p:nvSpPr>
        <p:spPr bwMode="auto">
          <a:xfrm>
            <a:off x="8328795" y="5048473"/>
            <a:ext cx="4095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/>
              <a:t>17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27500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</a:t>
            </a:r>
            <a:r>
              <a:rPr lang="en-US" dirty="0"/>
              <a:t> 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{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[0]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 weight[edge] : edge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GetOutgoing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(graph,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'Disconnected graph')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(in, out) 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bestEdge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out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(in, out)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GetOutgoing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(graph, vertices[]):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outgoing =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(v, u)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vertices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and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not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v  vertices: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           outgoing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outgoing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</a:t>
            </a:r>
            <a:r>
              <a:rPr lang="en-US" dirty="0"/>
              <a:t> 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{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[0]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 weight[edge] : edge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GetOutgoing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(graph,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'Disconnected graph')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(in, out) 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bestEdge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out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(in, out)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GetOutgoing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(graph, vertices[]):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outgoing =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(v, u)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vertices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and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not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v  vertices: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           outgoing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outgoing</a:t>
            </a:r>
          </a:p>
        </p:txBody>
      </p:sp>
    </p:spTree>
    <p:extLst>
      <p:ext uri="{BB962C8B-B14F-4D97-AF65-F5344CB8AC3E}">
        <p14:creationId xmlns:p14="http://schemas.microsoft.com/office/powerpoint/2010/main" val="2661092213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</a:t>
            </a:r>
            <a:r>
              <a:rPr lang="en-US" dirty="0"/>
              <a:t> 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{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[0]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 weight[edge] : edge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GetOutgoing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(graph,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'Disconnected graph')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(in, out) 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bestEdge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out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(in, out)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GetOutgoing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(graph, vertices[]):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outgoing =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(v, u)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vertices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and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not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v  vertices: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           outgoing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outgoing</a:t>
            </a:r>
          </a:p>
        </p:txBody>
      </p:sp>
    </p:spTree>
    <p:extLst>
      <p:ext uri="{BB962C8B-B14F-4D97-AF65-F5344CB8AC3E}">
        <p14:creationId xmlns:p14="http://schemas.microsoft.com/office/powerpoint/2010/main" val="1687264302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</a:t>
            </a:r>
            <a:r>
              <a:rPr lang="en-US" dirty="0"/>
              <a:t> 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{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[0]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 weight[edge] : edge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GetOutgoing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(graph,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'Disconnected graph')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(in, out) 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bestEdge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out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(in, out)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GetOutgoing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(graph, vertices[]):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outgoing =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(v, u)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vertices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and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not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v  vertices: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           outgoing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outgoing</a:t>
            </a:r>
          </a:p>
        </p:txBody>
      </p:sp>
    </p:spTree>
    <p:extLst>
      <p:ext uri="{BB962C8B-B14F-4D97-AF65-F5344CB8AC3E}">
        <p14:creationId xmlns:p14="http://schemas.microsoft.com/office/powerpoint/2010/main" val="4142905625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</a:t>
            </a:r>
            <a:r>
              <a:rPr lang="en-US" dirty="0"/>
              <a:t> 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{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[0]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 weight[edge] : edge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'Disconnected graph')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(in, out) 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bestEdge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out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(in, out)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GetOutgoing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(graph, vertices[]):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outgoing =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(v, u)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vertices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and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not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v  vertices: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           outgoing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outgoing</a:t>
            </a:r>
          </a:p>
        </p:txBody>
      </p:sp>
    </p:spTree>
    <p:extLst>
      <p:ext uri="{BB962C8B-B14F-4D97-AF65-F5344CB8AC3E}">
        <p14:creationId xmlns:p14="http://schemas.microsoft.com/office/powerpoint/2010/main" val="694109210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</a:t>
            </a:r>
            <a:r>
              <a:rPr lang="en-US" dirty="0"/>
              <a:t> 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{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[0]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 weight[edge] : edge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I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ncoming(graph,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'Disconnected graph')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(in, out)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out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(in, out)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GetOutgoing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(graph, vertices[]):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outgoing =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(v, u)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vertices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and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not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v  vertices: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           outgoing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outgoing</a:t>
            </a:r>
          </a:p>
        </p:txBody>
      </p:sp>
    </p:spTree>
    <p:extLst>
      <p:ext uri="{BB962C8B-B14F-4D97-AF65-F5344CB8AC3E}">
        <p14:creationId xmlns:p14="http://schemas.microsoft.com/office/powerpoint/2010/main" val="2609146780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</a:t>
            </a:r>
            <a:r>
              <a:rPr lang="en-US" dirty="0"/>
              <a:t> 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{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[0]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 weight[edge] : edge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'Disconnected graph')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(in, out)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out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(in, out)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GetOutgoing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(graph, vertices[]):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outgoing =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(v, u)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vertices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and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not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v  vertices: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           outgoing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outgoing</a:t>
            </a:r>
          </a:p>
        </p:txBody>
      </p:sp>
    </p:spTree>
    <p:extLst>
      <p:ext uri="{BB962C8B-B14F-4D97-AF65-F5344CB8AC3E}">
        <p14:creationId xmlns:p14="http://schemas.microsoft.com/office/powerpoint/2010/main" val="3117862110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</a:t>
            </a:r>
            <a:r>
              <a:rPr lang="en-US" dirty="0"/>
              <a:t> 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{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[0]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 weight[edge] : edge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'Disconnected graph')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(in, out)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out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(in, out)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GetOutgoing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(graph, vertices[]):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outgoing =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(v, u)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vertices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and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not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v  vertices: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           outgoing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outgoing</a:t>
            </a:r>
          </a:p>
        </p:txBody>
      </p:sp>
    </p:spTree>
    <p:extLst>
      <p:ext uri="{BB962C8B-B14F-4D97-AF65-F5344CB8AC3E}">
        <p14:creationId xmlns:p14="http://schemas.microsoft.com/office/powerpoint/2010/main" val="719287727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</a:t>
            </a:r>
            <a:r>
              <a:rPr lang="en-US" dirty="0"/>
              <a:t> 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{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[0]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 weight[edge] : edge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'Disconnected graph')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(in, out)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out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(in, out)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vertices[]):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outgoing = </a:t>
            </a:r>
            <a:r>
              <a:rPr lang="ru-RU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(v, u)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vertices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and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not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v  vertices: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           outgoing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outgoing</a:t>
            </a:r>
          </a:p>
        </p:txBody>
      </p:sp>
    </p:spTree>
    <p:extLst>
      <p:ext uri="{BB962C8B-B14F-4D97-AF65-F5344CB8AC3E}">
        <p14:creationId xmlns:p14="http://schemas.microsoft.com/office/powerpoint/2010/main" val="407711205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</a:t>
            </a:r>
            <a:r>
              <a:rPr lang="en-US" dirty="0"/>
              <a:t> 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{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[0]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 weight[edge] : edge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'Disconnected graph')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(in, out)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out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(in, out)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vertices[]):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incoming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or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(v, u)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vertices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and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not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v  vertices: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           outgoing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outgoing</a:t>
            </a:r>
          </a:p>
        </p:txBody>
      </p:sp>
    </p:spTree>
    <p:extLst>
      <p:ext uri="{BB962C8B-B14F-4D97-AF65-F5344CB8AC3E}">
        <p14:creationId xmlns:p14="http://schemas.microsoft.com/office/powerpoint/2010/main" val="2440275122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</a:t>
            </a:r>
            <a:r>
              <a:rPr lang="en-US" dirty="0"/>
              <a:t> 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{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[0]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 weight[edge] : edge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'Disconnected graph')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(in, out)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out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(in, out)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vertices[]):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incoming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or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(v, u)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vertices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and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not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v  vertices: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           outgoing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outgoing</a:t>
            </a:r>
          </a:p>
        </p:txBody>
      </p:sp>
    </p:spTree>
    <p:extLst>
      <p:ext uri="{BB962C8B-B14F-4D97-AF65-F5344CB8AC3E}">
        <p14:creationId xmlns:p14="http://schemas.microsoft.com/office/powerpoint/2010/main" val="2185194716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</a:t>
            </a:r>
            <a:r>
              <a:rPr lang="en-US" dirty="0"/>
              <a:t> 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{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[0]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 weight[edge] : edge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'Disconnected graph')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(in, out)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out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(in, out)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vertices[]):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incoming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or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(v, u)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vertices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and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not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v  vertices: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          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outgoing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outgoing</a:t>
            </a:r>
          </a:p>
        </p:txBody>
      </p:sp>
    </p:spTree>
    <p:extLst>
      <p:ext uri="{BB962C8B-B14F-4D97-AF65-F5344CB8AC3E}">
        <p14:creationId xmlns:p14="http://schemas.microsoft.com/office/powerpoint/2010/main" val="4135149755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</a:t>
            </a:r>
            <a:r>
              <a:rPr lang="en-US" dirty="0"/>
              <a:t> 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{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[0]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 weight[edge] : edge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'Disconnected graph')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(in, out)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out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(in, out)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vertices[]):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incoming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or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(v, u)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vertices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and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not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v  vertices: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           i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ncom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ing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return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outgoing</a:t>
            </a:r>
          </a:p>
        </p:txBody>
      </p:sp>
    </p:spTree>
    <p:extLst>
      <p:ext uri="{BB962C8B-B14F-4D97-AF65-F5344CB8AC3E}">
        <p14:creationId xmlns:p14="http://schemas.microsoft.com/office/powerpoint/2010/main" val="3846132189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</a:t>
            </a:r>
            <a:r>
              <a:rPr lang="en-US" dirty="0"/>
              <a:t> 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{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[0]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 weight[edge] : edge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'Disconnected graph')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(in, out)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out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(in, out)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vertices[]):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incoming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or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(v, u)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vertices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and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not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v  vertices: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           incoming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incoming</a:t>
            </a:r>
          </a:p>
        </p:txBody>
      </p:sp>
    </p:spTree>
    <p:extLst>
      <p:ext uri="{BB962C8B-B14F-4D97-AF65-F5344CB8AC3E}">
        <p14:creationId xmlns:p14="http://schemas.microsoft.com/office/powerpoint/2010/main" val="1132911692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</a:t>
            </a:r>
            <a:r>
              <a:rPr lang="en-US" dirty="0"/>
              <a:t> 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{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[0]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 weight[edge] : edge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'Disconnected graph')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(in, out)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out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(in, out)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vertices[]):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incoming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or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(v, u)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vertices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and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not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v  vertices: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           incoming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incoming</a:t>
            </a:r>
          </a:p>
        </p:txBody>
      </p:sp>
      <p:sp>
        <p:nvSpPr>
          <p:cNvPr id="7" name="Выноска 2 6"/>
          <p:cNvSpPr/>
          <p:nvPr/>
        </p:nvSpPr>
        <p:spPr>
          <a:xfrm>
            <a:off x="5879976" y="1897701"/>
            <a:ext cx="1440160" cy="432048"/>
          </a:xfrm>
          <a:prstGeom prst="borderCallout2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# </a:t>
            </a:r>
            <a:r>
              <a:rPr lang="ru-RU" dirty="0">
                <a:solidFill>
                  <a:schemeClr val="tx1"/>
                </a:solidFill>
              </a:rPr>
              <a:t>вершин</a:t>
            </a:r>
          </a:p>
        </p:txBody>
      </p:sp>
    </p:spTree>
    <p:extLst>
      <p:ext uri="{BB962C8B-B14F-4D97-AF65-F5344CB8AC3E}">
        <p14:creationId xmlns:p14="http://schemas.microsoft.com/office/powerpoint/2010/main" val="4172901292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</a:t>
            </a:r>
            <a:r>
              <a:rPr lang="en-US" dirty="0"/>
              <a:t> 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{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[0]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 weight[edge] : edge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'Disconnected graph')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(in, out)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out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(in, out)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vertices[]):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incoming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or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(v, u)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vertices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and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not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v  vertices: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           incoming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incoming</a:t>
            </a:r>
          </a:p>
        </p:txBody>
      </p:sp>
      <p:sp>
        <p:nvSpPr>
          <p:cNvPr id="5" name="Выноска 2 4"/>
          <p:cNvSpPr/>
          <p:nvPr/>
        </p:nvSpPr>
        <p:spPr>
          <a:xfrm>
            <a:off x="7968208" y="2107230"/>
            <a:ext cx="1570384" cy="4320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16493"/>
              <a:gd name="adj6" fmla="val -33766"/>
            </a:avLst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O(# </a:t>
            </a:r>
            <a:r>
              <a:rPr lang="ru-RU" dirty="0">
                <a:solidFill>
                  <a:schemeClr val="tx1"/>
                </a:solidFill>
              </a:rPr>
              <a:t>ребер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Выноска 2 6"/>
          <p:cNvSpPr/>
          <p:nvPr/>
        </p:nvSpPr>
        <p:spPr>
          <a:xfrm>
            <a:off x="5879976" y="1897701"/>
            <a:ext cx="1440160" cy="432048"/>
          </a:xfrm>
          <a:prstGeom prst="borderCallout2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# </a:t>
            </a:r>
            <a:r>
              <a:rPr lang="ru-RU" dirty="0">
                <a:solidFill>
                  <a:schemeClr val="tx1"/>
                </a:solidFill>
              </a:rPr>
              <a:t>вершин</a:t>
            </a:r>
          </a:p>
        </p:txBody>
      </p:sp>
    </p:spTree>
    <p:extLst>
      <p:ext uri="{BB962C8B-B14F-4D97-AF65-F5344CB8AC3E}">
        <p14:creationId xmlns:p14="http://schemas.microsoft.com/office/powerpoint/2010/main" val="3804020026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</a:t>
            </a:r>
            <a:r>
              <a:rPr lang="en-US" dirty="0"/>
              <a:t> O(N</a:t>
            </a:r>
            <a:r>
              <a:rPr lang="en-US" baseline="30000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{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[0]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 weight[edge] : edge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'Disconnected graph')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(in, out) =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bestEdge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out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+= (in, out)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Incoming(graph, vertices[]):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incoming = </a:t>
            </a:r>
            <a:r>
              <a:rPr lang="ru-RU" sz="20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for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(u, v)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or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(v, u)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alibri" pitchFamily="34" charset="0"/>
              </a:rPr>
              <a:t>graph.Edges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u 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vertices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and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not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v  vertices: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            incoming += (u, v)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2000" dirty="0">
                <a:latin typeface="Consolas" panose="020B0609020204030204" pitchFamily="49" charset="0"/>
                <a:cs typeface="Calibri" pitchFamily="34" charset="0"/>
              </a:rPr>
              <a:t> incoming</a:t>
            </a:r>
          </a:p>
        </p:txBody>
      </p:sp>
      <p:sp>
        <p:nvSpPr>
          <p:cNvPr id="5" name="Выноска 2 4"/>
          <p:cNvSpPr/>
          <p:nvPr/>
        </p:nvSpPr>
        <p:spPr>
          <a:xfrm>
            <a:off x="7968208" y="2107230"/>
            <a:ext cx="1570384" cy="4320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16493"/>
              <a:gd name="adj6" fmla="val -33766"/>
            </a:avLst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O(# </a:t>
            </a:r>
            <a:r>
              <a:rPr lang="ru-RU" dirty="0">
                <a:solidFill>
                  <a:schemeClr val="tx1"/>
                </a:solidFill>
              </a:rPr>
              <a:t>ребер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Выноска 2 6"/>
          <p:cNvSpPr/>
          <p:nvPr/>
        </p:nvSpPr>
        <p:spPr>
          <a:xfrm>
            <a:off x="5879976" y="1897701"/>
            <a:ext cx="1440160" cy="432048"/>
          </a:xfrm>
          <a:prstGeom prst="borderCallout2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# </a:t>
            </a:r>
            <a:r>
              <a:rPr lang="ru-RU" dirty="0">
                <a:solidFill>
                  <a:schemeClr val="tx1"/>
                </a:solidFill>
              </a:rPr>
              <a:t>вершин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0F7EAD-B367-B04B-C964-A8457A469035}"/>
                  </a:ext>
                </a:extLst>
              </p:cNvPr>
              <p:cNvSpPr txBox="1"/>
              <p:nvPr/>
            </p:nvSpPr>
            <p:spPr>
              <a:xfrm>
                <a:off x="6168008" y="3284984"/>
                <a:ext cx="5558408" cy="1096326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Consolas" panose="020B0609020204030204" pitchFamily="49" charset="0"/>
                    <a:cs typeface="Calibri" pitchFamily="34" charset="0"/>
                  </a:rPr>
                  <a:t>1. Incoming(G, T) =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1600" i="1" smtClean="0">
                            <a:latin typeface="Cambria Math" panose="02040503050406030204" pitchFamily="18" charset="0"/>
                            <a:cs typeface="Calibri" pitchFamily="34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sz="1600" dirty="0">
                            <a:latin typeface="Consolas" panose="020B0609020204030204" pitchFamily="49" charset="0"/>
                            <a:cs typeface="Calibri" pitchFamily="34" charset="0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sz="1600" dirty="0">
                            <a:latin typeface="Consolas" panose="020B0609020204030204" pitchFamily="49" charset="0"/>
                            <a:cs typeface="Calibri" pitchFamily="34" charset="0"/>
                            <a:sym typeface="Symbol" panose="05050102010706020507" pitchFamily="18" charset="2"/>
                          </a:rPr>
                          <m:t></m:t>
                        </m:r>
                        <m:r>
                          <m:rPr>
                            <m:nor/>
                          </m:rPr>
                          <a:rPr lang="en-US" sz="1600" dirty="0">
                            <a:latin typeface="Consolas" panose="020B0609020204030204" pitchFamily="49" charset="0"/>
                            <a:cs typeface="Calibri" pitchFamily="34" charset="0"/>
                            <a:sym typeface="Symbol" panose="05050102010706020507" pitchFamily="18" charset="2"/>
                          </a:rPr>
                          <m:t>T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1600" dirty="0">
                            <a:latin typeface="Consolas" panose="020B0609020204030204" pitchFamily="49" charset="0"/>
                            <a:cs typeface="Calibri" pitchFamily="34" charset="0"/>
                          </a:rPr>
                          <m:t>Incom</m:t>
                        </m:r>
                        <m:r>
                          <m:rPr>
                            <m:nor/>
                          </m:rPr>
                          <a:rPr lang="en-US" sz="1600" dirty="0">
                            <a:latin typeface="Consolas" panose="020B0609020204030204" pitchFamily="49" charset="0"/>
                            <a:cs typeface="Calibri" pitchFamily="34" charset="0"/>
                          </a:rPr>
                          <m:t>ing</m:t>
                        </m:r>
                        <m:r>
                          <m:rPr>
                            <m:nor/>
                          </m:rPr>
                          <a:rPr lang="en-US" sz="1600" dirty="0">
                            <a:latin typeface="Consolas" panose="020B0609020204030204" pitchFamily="49" charset="0"/>
                            <a:cs typeface="Calibri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600" dirty="0">
                            <a:latin typeface="Consolas" panose="020B0609020204030204" pitchFamily="49" charset="0"/>
                            <a:cs typeface="Calibri" pitchFamily="34" charset="0"/>
                          </a:rPr>
                          <m:t>G</m:t>
                        </m:r>
                        <m:r>
                          <m:rPr>
                            <m:nor/>
                          </m:rPr>
                          <a:rPr lang="en-US" sz="1600" dirty="0">
                            <a:latin typeface="Consolas" panose="020B0609020204030204" pitchFamily="49" charset="0"/>
                            <a:cs typeface="Calibri" pitchFamily="34" charset="0"/>
                          </a:rPr>
                          <m:t>, {</m:t>
                        </m:r>
                        <m:r>
                          <m:rPr>
                            <m:nor/>
                          </m:rPr>
                          <a:rPr lang="en-US" sz="1600" dirty="0">
                            <a:latin typeface="Consolas" panose="020B0609020204030204" pitchFamily="49" charset="0"/>
                            <a:cs typeface="Calibri" pitchFamily="34" charset="0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sz="1600" dirty="0">
                            <a:latin typeface="Consolas" panose="020B0609020204030204" pitchFamily="49" charset="0"/>
                            <a:cs typeface="Calibri" pitchFamily="34" charset="0"/>
                          </a:rPr>
                          <m:t>})</m:t>
                        </m:r>
                      </m:e>
                    </m:nary>
                  </m:oMath>
                </a14:m>
                <a:endParaRPr lang="en-US" sz="1600" dirty="0">
                  <a:latin typeface="Consolas" panose="020B0609020204030204" pitchFamily="49" charset="0"/>
                  <a:cs typeface="Calibri" pitchFamily="34" charset="0"/>
                </a:endParaRPr>
              </a:p>
              <a:p>
                <a:r>
                  <a:rPr lang="en-US" sz="1600" dirty="0">
                    <a:latin typeface="Consolas" panose="020B0609020204030204" pitchFamily="49" charset="0"/>
                    <a:cs typeface="Calibri" pitchFamily="34" charset="0"/>
                  </a:rPr>
                  <a:t>2. </a:t>
                </a:r>
                <a:r>
                  <a:rPr lang="en-US" sz="1600" dirty="0" err="1">
                    <a:latin typeface="Consolas" panose="020B0609020204030204" pitchFamily="49" charset="0"/>
                    <a:cs typeface="Calibri" pitchFamily="34" charset="0"/>
                  </a:rPr>
                  <a:t>e</a:t>
                </a:r>
                <a:r>
                  <a:rPr lang="en-US" sz="1600" baseline="-25000" dirty="0" err="1">
                    <a:latin typeface="Consolas" panose="020B0609020204030204" pitchFamily="49" charset="0"/>
                    <a:cs typeface="Calibri" pitchFamily="34" charset="0"/>
                  </a:rPr>
                  <a:t>v</a:t>
                </a:r>
                <a:r>
                  <a:rPr lang="en-US" sz="1600" dirty="0">
                    <a:latin typeface="Consolas" panose="020B0609020204030204" pitchFamily="49" charset="0"/>
                    <a:cs typeface="Calibri" pitchFamily="34" charset="0"/>
                  </a:rPr>
                  <a:t> = </a:t>
                </a:r>
                <a:r>
                  <a:rPr lang="en-US" sz="1600" dirty="0" err="1">
                    <a:latin typeface="Consolas" panose="020B0609020204030204" pitchFamily="49" charset="0"/>
                    <a:cs typeface="Calibri" pitchFamily="34" charset="0"/>
                  </a:rPr>
                  <a:t>ArgMin</a:t>
                </a:r>
                <a:r>
                  <a:rPr lang="en-US" sz="1600" dirty="0">
                    <a:latin typeface="Consolas" panose="020B0609020204030204" pitchFamily="49" charset="0"/>
                    <a:cs typeface="Calibri" pitchFamily="34" charset="0"/>
                  </a:rPr>
                  <a:t>(w[g] : g </a:t>
                </a:r>
                <a:r>
                  <a:rPr lang="en-US" sz="1600" dirty="0">
                    <a:latin typeface="Consolas" panose="020B0609020204030204" pitchFamily="49" charset="0"/>
                    <a:cs typeface="Calibri" pitchFamily="34" charset="0"/>
                    <a:sym typeface="Symbol" panose="05050102010706020507" pitchFamily="18" charset="2"/>
                  </a:rPr>
                  <a:t> </a:t>
                </a:r>
                <a:r>
                  <a:rPr lang="en-US" sz="1600" dirty="0">
                    <a:latin typeface="Consolas" panose="020B0609020204030204" pitchFamily="49" charset="0"/>
                    <a:cs typeface="Calibri" pitchFamily="34" charset="0"/>
                  </a:rPr>
                  <a:t>Incoming(G, {v})), </a:t>
                </a:r>
                <a:r>
                  <a:rPr lang="en-US" sz="1600" dirty="0" err="1">
                    <a:latin typeface="Consolas" panose="020B0609020204030204" pitchFamily="49" charset="0"/>
                    <a:cs typeface="Calibri" pitchFamily="34" charset="0"/>
                  </a:rPr>
                  <a:t>v</a:t>
                </a:r>
                <a:r>
                  <a:rPr lang="en-US" sz="1600" dirty="0" err="1">
                    <a:latin typeface="Consolas" panose="020B0609020204030204" pitchFamily="49" charset="0"/>
                    <a:cs typeface="Calibri" pitchFamily="34" charset="0"/>
                    <a:sym typeface="Symbol" panose="05050102010706020507" pitchFamily="18" charset="2"/>
                  </a:rPr>
                  <a:t>T</a:t>
                </a:r>
                <a:endParaRPr lang="en-US" sz="1600" dirty="0">
                  <a:latin typeface="Consolas" panose="020B0609020204030204" pitchFamily="49" charset="0"/>
                  <a:cs typeface="Calibri" pitchFamily="34" charset="0"/>
                </a:endParaRPr>
              </a:p>
              <a:p>
                <a:r>
                  <a:rPr lang="en-US" sz="1600" dirty="0">
                    <a:latin typeface="Consolas" panose="020B0609020204030204" pitchFamily="49" charset="0"/>
                    <a:cs typeface="Calibri" pitchFamily="34" charset="0"/>
                  </a:rPr>
                  <a:t>3. </a:t>
                </a:r>
                <a:r>
                  <a:rPr lang="en-US" sz="1600" dirty="0" err="1">
                    <a:latin typeface="Consolas" panose="020B0609020204030204" pitchFamily="49" charset="0"/>
                    <a:cs typeface="Calibri" pitchFamily="34" charset="0"/>
                  </a:rPr>
                  <a:t>ArgMin</a:t>
                </a:r>
                <a:r>
                  <a:rPr lang="en-US" sz="1600" dirty="0">
                    <a:latin typeface="Consolas" panose="020B0609020204030204" pitchFamily="49" charset="0"/>
                    <a:cs typeface="Calibri" pitchFamily="34" charset="0"/>
                  </a:rPr>
                  <a:t>(w[e] : e </a:t>
                </a:r>
                <a:r>
                  <a:rPr lang="en-US" sz="1600" dirty="0">
                    <a:latin typeface="Consolas" panose="020B0609020204030204" pitchFamily="49" charset="0"/>
                    <a:cs typeface="Calibri" pitchFamily="34" charset="0"/>
                    <a:sym typeface="Symbol" panose="05050102010706020507" pitchFamily="18" charset="2"/>
                  </a:rPr>
                  <a:t> </a:t>
                </a:r>
                <a:r>
                  <a:rPr lang="en-US" sz="1600" dirty="0">
                    <a:latin typeface="Consolas" panose="020B0609020204030204" pitchFamily="49" charset="0"/>
                    <a:cs typeface="Calibri" pitchFamily="34" charset="0"/>
                  </a:rPr>
                  <a:t>Incoming(G, T)) </a:t>
                </a:r>
              </a:p>
              <a:p>
                <a:r>
                  <a:rPr lang="en-US" sz="1600" dirty="0">
                    <a:latin typeface="Consolas" panose="020B0609020204030204" pitchFamily="49" charset="0"/>
                    <a:cs typeface="Calibri" pitchFamily="34" charset="0"/>
                  </a:rPr>
                  <a:t>       = </a:t>
                </a:r>
                <a:r>
                  <a:rPr lang="en-US" sz="1600" dirty="0" err="1">
                    <a:latin typeface="Consolas" panose="020B0609020204030204" pitchFamily="49" charset="0"/>
                    <a:cs typeface="Calibri" pitchFamily="34" charset="0"/>
                  </a:rPr>
                  <a:t>ArgMin</a:t>
                </a:r>
                <a:r>
                  <a:rPr lang="en-US" sz="1600" dirty="0">
                    <a:latin typeface="Consolas" panose="020B0609020204030204" pitchFamily="49" charset="0"/>
                    <a:cs typeface="Calibri" pitchFamily="34" charset="0"/>
                  </a:rPr>
                  <a:t>(w[</a:t>
                </a:r>
                <a:r>
                  <a:rPr lang="en-US" sz="1600" dirty="0" err="1">
                    <a:latin typeface="Consolas" panose="020B0609020204030204" pitchFamily="49" charset="0"/>
                    <a:cs typeface="Calibri" pitchFamily="34" charset="0"/>
                  </a:rPr>
                  <a:t>e</a:t>
                </a:r>
                <a:r>
                  <a:rPr lang="en-US" sz="1600" baseline="-25000" dirty="0" err="1">
                    <a:latin typeface="Consolas" panose="020B0609020204030204" pitchFamily="49" charset="0"/>
                    <a:cs typeface="Calibri" pitchFamily="34" charset="0"/>
                  </a:rPr>
                  <a:t>v</a:t>
                </a:r>
                <a:r>
                  <a:rPr lang="en-US" sz="1600" dirty="0">
                    <a:latin typeface="Consolas" panose="020B0609020204030204" pitchFamily="49" charset="0"/>
                    <a:cs typeface="Calibri" pitchFamily="34" charset="0"/>
                  </a:rPr>
                  <a:t>] : v </a:t>
                </a:r>
                <a:r>
                  <a:rPr lang="en-US" sz="1600" dirty="0">
                    <a:latin typeface="Consolas" panose="020B0609020204030204" pitchFamily="49" charset="0"/>
                    <a:cs typeface="Calibri" pitchFamily="34" charset="0"/>
                    <a:sym typeface="Symbol" panose="05050102010706020507" pitchFamily="18" charset="2"/>
                  </a:rPr>
                  <a:t> T</a:t>
                </a:r>
                <a:r>
                  <a:rPr lang="en-US" sz="1600" dirty="0">
                    <a:latin typeface="Consolas" panose="020B0609020204030204" pitchFamily="49" charset="0"/>
                    <a:cs typeface="Calibri" pitchFamily="34" charset="0"/>
                  </a:rPr>
                  <a:t>)</a:t>
                </a:r>
                <a:endParaRPr lang="ru-RU" sz="1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0F7EAD-B367-B04B-C964-A8457A469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008" y="3284984"/>
                <a:ext cx="5558408" cy="1096326"/>
              </a:xfrm>
              <a:prstGeom prst="rect">
                <a:avLst/>
              </a:prstGeom>
              <a:blipFill>
                <a:blip r:embed="rId3"/>
                <a:stretch>
                  <a:fillRect l="-327" t="-22043" b="-4301"/>
                </a:stretch>
              </a:blipFill>
              <a:ln w="381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172323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graph,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[0]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[v] = 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[0], v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endParaRPr lang="en-US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= {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[0]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}</a:t>
            </a: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out 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weight[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[v]] : v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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\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out !=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'Disconnected graph')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[out]</a:t>
            </a: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+= out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for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graph, out) \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weight[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[v]] &gt; weight[(out, v)]: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 = (out, v) 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812800" indent="-812800">
              <a:lnSpc>
                <a:spcPct val="80000"/>
              </a:lnSpc>
              <a:buFont typeface="+mj-lt"/>
              <a:buAutoNum type="arabicPeriod"/>
            </a:pPr>
            <a:endParaRPr lang="en-US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515315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1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graph,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[0]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[v] = 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[0], v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endParaRPr lang="en-US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= {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[0]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}</a:t>
            </a: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out 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weight[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[v]] : v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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\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out !=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'Disconnected graph')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[out]</a:t>
            </a: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+= out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for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graph, out) \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weight[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[v]] &gt; weight[(out, v)]: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 = (out, v) 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latin typeface="Calibri" pitchFamily="34" charset="0"/>
              <a:cs typeface="Calibri" pitchFamily="34" charset="0"/>
            </a:endParaRPr>
          </a:p>
          <a:p>
            <a:pPr marL="812800" indent="-812800">
              <a:lnSpc>
                <a:spcPct val="80000"/>
              </a:lnSpc>
              <a:buFont typeface="+mj-lt"/>
              <a:buAutoNum type="arabicPeriod"/>
            </a:pPr>
            <a:endParaRPr lang="en-US" sz="18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094237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1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 = (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[0], v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endParaRPr lang="en-US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= {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[0]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}</a:t>
            </a: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out 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weight[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[v]] : v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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\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out !=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'Disconnected graph')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[out]</a:t>
            </a: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+= out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for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graph, out) \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weight[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[v]] &gt; weight[(out, v)]: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 = (out, v) 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812800" indent="-812800">
              <a:lnSpc>
                <a:spcPct val="80000"/>
              </a:lnSpc>
              <a:buFont typeface="+mj-lt"/>
              <a:buAutoNum type="arabicPeriod"/>
            </a:pPr>
            <a:endParaRPr lang="en-US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619683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1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 = (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[0], v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endParaRPr lang="en-US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= {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}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out 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weight[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[v]] : v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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\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out !=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'Disconnected graph')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[out]</a:t>
            </a: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+= out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for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graph, out) \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weight[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[v]] &gt; weight[(out, v)]: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 = (out, v) 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812800" indent="-812800">
              <a:lnSpc>
                <a:spcPct val="80000"/>
              </a:lnSpc>
              <a:buFont typeface="+mj-lt"/>
              <a:buAutoNum type="arabicPeriod"/>
            </a:pPr>
            <a:endParaRPr lang="en-US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93201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1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 = (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[0], v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endParaRPr lang="en-US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= {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}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out 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weight[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[v]] : v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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\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out !=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'Disconnected graph')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[out]</a:t>
            </a: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+= out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for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graph, out) \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weight[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[v]] &gt; weight[(out, v)]: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 = (out, v) 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812800" indent="-812800">
              <a:lnSpc>
                <a:spcPct val="80000"/>
              </a:lnSpc>
              <a:buFont typeface="+mj-lt"/>
              <a:buAutoNum type="arabicPeriod"/>
            </a:pPr>
            <a:endParaRPr lang="en-US" sz="18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591499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1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 = (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[0], v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endParaRPr lang="en-US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= {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}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weight[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[v]] :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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\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!=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, 'Disconnected graph')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[out]</a:t>
            </a: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 += out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for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graph, out) \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weight[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[v]] &gt; weight[(out, v)]: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 = (out, v) 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812800" indent="-812800">
              <a:lnSpc>
                <a:spcPct val="80000"/>
              </a:lnSpc>
              <a:buFont typeface="+mj-lt"/>
              <a:buAutoNum type="arabicPeriod"/>
            </a:pPr>
            <a:endParaRPr lang="en-US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075198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1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 = (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[0], v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endParaRPr lang="en-US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= {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}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weight[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[v]] :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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\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!=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, 'Disconnected graph')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[out]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+= out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graph, out) \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weight[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[v]] &gt; weight[(out, v)]: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 = (out, v) 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812800" indent="-812800">
              <a:lnSpc>
                <a:spcPct val="80000"/>
              </a:lnSpc>
              <a:buFont typeface="+mj-lt"/>
              <a:buAutoNum type="arabicPeriod"/>
            </a:pPr>
            <a:endParaRPr lang="en-US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906161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1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 = (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[0], v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endParaRPr lang="en-US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= {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}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weight[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[v]] :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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\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!=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, 'Disconnected graph')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[out]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+= out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    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out) \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weight[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[v]] &gt; weight[(out, v)]: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 = (out, v) 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812800" indent="-812800">
              <a:lnSpc>
                <a:spcPct val="80000"/>
              </a:lnSpc>
              <a:buFont typeface="+mj-lt"/>
              <a:buAutoNum type="arabicPeriod"/>
            </a:pPr>
            <a:endParaRPr lang="en-US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646909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1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 = (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[0], v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endParaRPr lang="en-US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= {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}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weight[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[v]] :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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\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!=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, 'Disconnected graph')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[out]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+= out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    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out) \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weight[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[v]] &gt; weight[(out, v)]: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[v] = (out, v) 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solidFill>
                <a:schemeClr val="bg1"/>
              </a:solidFill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812800" indent="-812800">
              <a:lnSpc>
                <a:spcPct val="80000"/>
              </a:lnSpc>
              <a:buFont typeface="+mj-lt"/>
              <a:buAutoNum type="arabicPeriod"/>
            </a:pPr>
            <a:endParaRPr lang="en-US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447080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1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 = (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[0], v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endParaRPr lang="en-US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= {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}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weight[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[v]] :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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\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!=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, 'Disconnected graph')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[out]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+= out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    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out) \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weight[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[v]] &gt; weight[(out, v)]: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[v] = (out, v) 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solidFill>
                  <a:schemeClr val="bg1"/>
                </a:solidFill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812800" indent="-812800">
              <a:lnSpc>
                <a:spcPct val="80000"/>
              </a:lnSpc>
              <a:buFont typeface="+mj-lt"/>
              <a:buAutoNum type="arabicPeriod"/>
            </a:pPr>
            <a:endParaRPr lang="en-US" sz="18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859515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1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 = (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[0], v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endParaRPr lang="en-US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= {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}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weight[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[v]] :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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\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!=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, 'Disconnected graph')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[out]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+= out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    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out) \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weight[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[v]] &gt; weight[(out, v)]: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[v] = (out, v) 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latin typeface="Calibri" pitchFamily="34" charset="0"/>
              <a:cs typeface="Calibri" pitchFamily="34" charset="0"/>
            </a:endParaRPr>
          </a:p>
          <a:p>
            <a:pPr marL="812800" indent="-812800">
              <a:lnSpc>
                <a:spcPct val="80000"/>
              </a:lnSpc>
              <a:buFont typeface="+mj-lt"/>
              <a:buAutoNum type="arabicPeriod"/>
            </a:pPr>
            <a:endParaRPr lang="en-US" sz="18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483741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1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 = (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[0], v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endParaRPr lang="en-US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= {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}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weight[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[v]] :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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\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!=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, 'Disconnected graph')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[out]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+= out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    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out) \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weight[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[v]] &gt; weight[(out, v)]: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[v] = (out, v) 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latin typeface="Calibri" pitchFamily="34" charset="0"/>
              <a:cs typeface="Calibri" pitchFamily="34" charset="0"/>
            </a:endParaRPr>
          </a:p>
          <a:p>
            <a:pPr marL="812800" indent="-812800">
              <a:lnSpc>
                <a:spcPct val="80000"/>
              </a:lnSpc>
              <a:buFont typeface="+mj-lt"/>
              <a:buAutoNum type="arabicPeriod"/>
            </a:pPr>
            <a:endParaRPr lang="en-US" sz="1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Выноска 2 4"/>
          <p:cNvSpPr/>
          <p:nvPr/>
        </p:nvSpPr>
        <p:spPr>
          <a:xfrm>
            <a:off x="6456040" y="2627249"/>
            <a:ext cx="1440160" cy="432048"/>
          </a:xfrm>
          <a:prstGeom prst="borderCallout2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# </a:t>
            </a:r>
            <a:r>
              <a:rPr lang="ru-RU" dirty="0">
                <a:solidFill>
                  <a:schemeClr val="tx1"/>
                </a:solidFill>
              </a:rPr>
              <a:t>вершин</a:t>
            </a:r>
          </a:p>
        </p:txBody>
      </p:sp>
    </p:spTree>
    <p:extLst>
      <p:ext uri="{BB962C8B-B14F-4D97-AF65-F5344CB8AC3E}">
        <p14:creationId xmlns:p14="http://schemas.microsoft.com/office/powerpoint/2010/main" val="390840502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1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 = (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[0], v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endParaRPr lang="en-US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= {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}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weight[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[v]] :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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\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!=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, 'Disconnected graph')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[out]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+= out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    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out) \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weight[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[v]] &gt; weight[(out, v)]: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[v] = (out, v) 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latin typeface="Calibri" pitchFamily="34" charset="0"/>
              <a:cs typeface="Calibri" pitchFamily="34" charset="0"/>
            </a:endParaRPr>
          </a:p>
          <a:p>
            <a:pPr marL="812800" indent="-812800">
              <a:lnSpc>
                <a:spcPct val="80000"/>
              </a:lnSpc>
              <a:buFont typeface="+mj-lt"/>
              <a:buAutoNum type="arabicPeriod"/>
            </a:pPr>
            <a:endParaRPr lang="en-US" sz="1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Выноска 2 3"/>
          <p:cNvSpPr/>
          <p:nvPr/>
        </p:nvSpPr>
        <p:spPr>
          <a:xfrm rot="16200000">
            <a:off x="-326504" y="1921694"/>
            <a:ext cx="1440160" cy="4320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47232"/>
              <a:gd name="adj6" fmla="val -42627"/>
            </a:avLst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O(# </a:t>
            </a:r>
            <a:r>
              <a:rPr lang="ru-RU" dirty="0">
                <a:solidFill>
                  <a:schemeClr val="tx1"/>
                </a:solidFill>
              </a:rPr>
              <a:t>вершин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Выноска 2 4"/>
          <p:cNvSpPr/>
          <p:nvPr/>
        </p:nvSpPr>
        <p:spPr>
          <a:xfrm>
            <a:off x="6456040" y="2627249"/>
            <a:ext cx="1440160" cy="432048"/>
          </a:xfrm>
          <a:prstGeom prst="borderCallout2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# </a:t>
            </a:r>
            <a:r>
              <a:rPr lang="ru-RU" dirty="0">
                <a:solidFill>
                  <a:schemeClr val="tx1"/>
                </a:solidFill>
              </a:rPr>
              <a:t>вершин</a:t>
            </a:r>
          </a:p>
        </p:txBody>
      </p:sp>
    </p:spTree>
    <p:extLst>
      <p:ext uri="{BB962C8B-B14F-4D97-AF65-F5344CB8AC3E}">
        <p14:creationId xmlns:p14="http://schemas.microsoft.com/office/powerpoint/2010/main" val="588224158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Версия </a:t>
            </a:r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9393" name="Rectangle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PrimMinimumSpanningTree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(graph, weight[]):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1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 = (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[0], v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)</a:t>
            </a:r>
            <a:endParaRPr lang="en-US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=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</a:t>
            </a:r>
            <a:endParaRPr lang="en-US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= {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[0]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}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while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!=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:</a:t>
            </a:r>
            <a:endParaRPr lang="ru-RU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ArgMin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ru-RU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weight[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[v]] :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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graph.Vertices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\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    assert(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out !=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none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, 'Disconnected graph')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+=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[out]</a:t>
            </a:r>
            <a:endParaRPr lang="ru-RU" sz="1800" dirty="0">
              <a:latin typeface="Consolas" panose="020B0609020204030204" pitchFamily="49" charset="0"/>
              <a:cs typeface="Calibri" pitchFamily="34" charset="0"/>
              <a:sym typeface="Symbol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  <a:sym typeface="Symbol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 += out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    for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v 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 panose="05050102010706020507" pitchFamily="18" charset="2"/>
              </a:rPr>
              <a:t>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GetNeighbors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  <a:sym typeface="Symbol"/>
              </a:rPr>
              <a:t>(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graph, out) \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    </a:t>
            </a: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if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weight[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[v]] &gt; weight[(out, v)]: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              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shortestIn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[v] = (out, v) 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latin typeface="Consolas" panose="020B0609020204030204" pitchFamily="49" charset="0"/>
              <a:cs typeface="Calibri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nsolas" panose="020B0609020204030204" pitchFamily="49" charset="0"/>
                <a:cs typeface="Calibri" pitchFamily="34" charset="0"/>
              </a:rPr>
              <a:t>    return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MakeGraph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treeVertices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  <a:cs typeface="Calibri" pitchFamily="34" charset="0"/>
              </a:rPr>
              <a:t>treeEdges</a:t>
            </a:r>
            <a:r>
              <a:rPr lang="en-US" sz="1800" dirty="0">
                <a:latin typeface="Consolas" panose="020B0609020204030204" pitchFamily="49" charset="0"/>
                <a:cs typeface="Calibri" pitchFamily="34" charset="0"/>
              </a:rPr>
              <a:t>)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  <a:buFont typeface="Arial" charset="0"/>
              <a:buNone/>
            </a:pPr>
            <a:endParaRPr lang="ru-RU" sz="1800" dirty="0">
              <a:latin typeface="Calibri" pitchFamily="34" charset="0"/>
              <a:cs typeface="Calibri" pitchFamily="34" charset="0"/>
            </a:endParaRPr>
          </a:p>
          <a:p>
            <a:pPr marL="812800" indent="-812800">
              <a:lnSpc>
                <a:spcPct val="80000"/>
              </a:lnSpc>
              <a:buFont typeface="+mj-lt"/>
              <a:buAutoNum type="arabicPeriod"/>
            </a:pPr>
            <a:endParaRPr lang="en-US" sz="1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Выноска 2 3"/>
          <p:cNvSpPr/>
          <p:nvPr/>
        </p:nvSpPr>
        <p:spPr>
          <a:xfrm rot="16200000">
            <a:off x="-326504" y="1921694"/>
            <a:ext cx="1440160" cy="4320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47232"/>
              <a:gd name="adj6" fmla="val -42627"/>
            </a:avLst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O(# </a:t>
            </a:r>
            <a:r>
              <a:rPr lang="ru-RU" dirty="0">
                <a:solidFill>
                  <a:schemeClr val="tx1"/>
                </a:solidFill>
              </a:rPr>
              <a:t>вершин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Выноска 2 4"/>
          <p:cNvSpPr/>
          <p:nvPr/>
        </p:nvSpPr>
        <p:spPr>
          <a:xfrm>
            <a:off x="6456040" y="2627249"/>
            <a:ext cx="1440160" cy="432048"/>
          </a:xfrm>
          <a:prstGeom prst="borderCallout2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# </a:t>
            </a:r>
            <a:r>
              <a:rPr lang="ru-RU" dirty="0">
                <a:solidFill>
                  <a:schemeClr val="tx1"/>
                </a:solidFill>
              </a:rPr>
              <a:t>вершин</a:t>
            </a:r>
          </a:p>
        </p:txBody>
      </p:sp>
      <p:sp>
        <p:nvSpPr>
          <p:cNvPr id="6" name="Выноска 2 5"/>
          <p:cNvSpPr/>
          <p:nvPr/>
        </p:nvSpPr>
        <p:spPr>
          <a:xfrm>
            <a:off x="8544272" y="4005064"/>
            <a:ext cx="1440160" cy="432048"/>
          </a:xfrm>
          <a:prstGeom prst="borderCallout2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O(# </a:t>
            </a:r>
            <a:r>
              <a:rPr lang="ru-RU" dirty="0">
                <a:solidFill>
                  <a:schemeClr val="tx1"/>
                </a:solidFill>
              </a:rPr>
              <a:t>вершин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198668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Доказательство корректности алгоритма Прима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На каждом шаге в каркас обязательно включается одно ребро из среза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иначе получится несвязный граф, а не дерево</a:t>
            </a:r>
          </a:p>
          <a:p>
            <a:r>
              <a:rPr lang="ru-RU" sz="2400" dirty="0">
                <a:solidFill>
                  <a:schemeClr val="bg1"/>
                </a:solidFill>
              </a:rPr>
              <a:t>Пусть в построенный минимальный каркас </a:t>
            </a:r>
            <a:r>
              <a:rPr lang="en-US" sz="2400" dirty="0">
                <a:solidFill>
                  <a:schemeClr val="bg1"/>
                </a:solidFill>
              </a:rPr>
              <a:t>K </a:t>
            </a:r>
            <a:r>
              <a:rPr lang="ru-RU" sz="2400" dirty="0">
                <a:solidFill>
                  <a:schemeClr val="bg1"/>
                </a:solidFill>
              </a:rPr>
              <a:t>не попало ребро </a:t>
            </a:r>
            <a:r>
              <a:rPr lang="en-US" sz="2400" dirty="0" err="1">
                <a:solidFill>
                  <a:schemeClr val="bg1"/>
                </a:solidFill>
              </a:rPr>
              <a:t>e</a:t>
            </a:r>
            <a:r>
              <a:rPr lang="en-US" sz="2400" baseline="-25000" dirty="0" err="1">
                <a:solidFill>
                  <a:schemeClr val="bg1"/>
                </a:solidFill>
              </a:rPr>
              <a:t>min</a:t>
            </a:r>
            <a:r>
              <a:rPr lang="ru-RU" sz="2400" dirty="0">
                <a:solidFill>
                  <a:schemeClr val="bg1"/>
                </a:solidFill>
              </a:rPr>
              <a:t> = (</a:t>
            </a:r>
            <a:r>
              <a:rPr lang="en-US" sz="2400" dirty="0">
                <a:solidFill>
                  <a:schemeClr val="bg1"/>
                </a:solidFill>
              </a:rPr>
              <a:t>u, v</a:t>
            </a:r>
            <a:r>
              <a:rPr lang="ru-RU" sz="2400" dirty="0">
                <a:solidFill>
                  <a:schemeClr val="bg1"/>
                </a:solidFill>
              </a:rPr>
              <a:t>) из какого-то среза</a:t>
            </a:r>
          </a:p>
          <a:p>
            <a:r>
              <a:rPr lang="ru-RU" sz="2400" dirty="0">
                <a:solidFill>
                  <a:schemeClr val="bg1"/>
                </a:solidFill>
              </a:rPr>
              <a:t>Путь по каркасу </a:t>
            </a:r>
            <a:r>
              <a:rPr lang="en-US" sz="2400" dirty="0">
                <a:solidFill>
                  <a:schemeClr val="bg1"/>
                </a:solidFill>
              </a:rPr>
              <a:t>K </a:t>
            </a:r>
            <a:r>
              <a:rPr lang="ru-RU" sz="2400" dirty="0">
                <a:solidFill>
                  <a:schemeClr val="bg1"/>
                </a:solidFill>
              </a:rPr>
              <a:t>от </a:t>
            </a:r>
            <a:r>
              <a:rPr lang="en-US" sz="2400" dirty="0">
                <a:solidFill>
                  <a:schemeClr val="bg1"/>
                </a:solidFill>
              </a:rPr>
              <a:t>u</a:t>
            </a:r>
            <a:r>
              <a:rPr lang="ru-RU" sz="2400" dirty="0">
                <a:solidFill>
                  <a:schemeClr val="bg1"/>
                </a:solidFill>
              </a:rPr>
              <a:t> до </a:t>
            </a:r>
            <a:r>
              <a:rPr lang="en-US" sz="2400" dirty="0">
                <a:solidFill>
                  <a:schemeClr val="bg1"/>
                </a:solidFill>
              </a:rPr>
              <a:t>v</a:t>
            </a:r>
            <a:r>
              <a:rPr lang="ru-RU" sz="2400" dirty="0">
                <a:solidFill>
                  <a:schemeClr val="bg1"/>
                </a:solidFill>
              </a:rPr>
              <a:t> содержит ребро </a:t>
            </a:r>
            <a:r>
              <a:rPr lang="en-US" sz="2400" dirty="0">
                <a:solidFill>
                  <a:schemeClr val="bg1"/>
                </a:solidFill>
              </a:rPr>
              <a:t>e </a:t>
            </a:r>
            <a:r>
              <a:rPr lang="ru-RU" sz="2400" dirty="0">
                <a:solidFill>
                  <a:schemeClr val="bg1"/>
                </a:solidFill>
              </a:rPr>
              <a:t>из среза, содержавшего </a:t>
            </a:r>
            <a:r>
              <a:rPr lang="en-US" sz="2400" dirty="0" err="1">
                <a:solidFill>
                  <a:schemeClr val="bg1"/>
                </a:solidFill>
              </a:rPr>
              <a:t>e</a:t>
            </a:r>
            <a:r>
              <a:rPr lang="en-US" sz="2400" baseline="-25000" dirty="0" err="1">
                <a:solidFill>
                  <a:schemeClr val="bg1"/>
                </a:solidFill>
              </a:rPr>
              <a:t>min</a:t>
            </a:r>
            <a:endParaRPr lang="ru-RU" sz="2400" baseline="-250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Добавим в </a:t>
            </a:r>
            <a:r>
              <a:rPr lang="en-US" sz="2400" dirty="0">
                <a:solidFill>
                  <a:schemeClr val="bg1"/>
                </a:solidFill>
              </a:rPr>
              <a:t>K</a:t>
            </a:r>
            <a:r>
              <a:rPr lang="ru-RU" sz="2400" dirty="0">
                <a:solidFill>
                  <a:schemeClr val="bg1"/>
                </a:solidFill>
              </a:rPr>
              <a:t> ребро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</a:t>
            </a:r>
            <a:r>
              <a:rPr lang="en-US" sz="2400" baseline="-25000" dirty="0" err="1">
                <a:solidFill>
                  <a:schemeClr val="bg1"/>
                </a:solidFill>
              </a:rPr>
              <a:t>min</a:t>
            </a:r>
            <a:r>
              <a:rPr lang="en-US" sz="2400" baseline="-250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и удалим ребро </a:t>
            </a:r>
            <a:r>
              <a:rPr lang="en-US" sz="2400" dirty="0">
                <a:solidFill>
                  <a:schemeClr val="bg1"/>
                </a:solidFill>
              </a:rPr>
              <a:t>e</a:t>
            </a:r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Получится каркас меньшего веса, чем вес минимального каркаса </a:t>
            </a:r>
            <a:r>
              <a:rPr lang="en-US" sz="2400" dirty="0">
                <a:solidFill>
                  <a:schemeClr val="bg1"/>
                </a:solidFill>
              </a:rPr>
              <a:t>K</a:t>
            </a:r>
            <a:r>
              <a:rPr lang="ru-RU" sz="2400" dirty="0">
                <a:solidFill>
                  <a:schemeClr val="bg1"/>
                </a:solidFill>
              </a:rPr>
              <a:t>, что невозможно.</a:t>
            </a:r>
          </a:p>
          <a:p>
            <a:r>
              <a:rPr lang="ru-RU" sz="2400" dirty="0">
                <a:solidFill>
                  <a:schemeClr val="bg1"/>
                </a:solidFill>
              </a:rPr>
              <a:t>Следовательно, ребро </a:t>
            </a:r>
            <a:r>
              <a:rPr lang="en-US" sz="2400" dirty="0" err="1">
                <a:solidFill>
                  <a:schemeClr val="bg1"/>
                </a:solidFill>
              </a:rPr>
              <a:t>e</a:t>
            </a:r>
            <a:r>
              <a:rPr lang="en-US" sz="2400" baseline="-25000" dirty="0" err="1">
                <a:solidFill>
                  <a:schemeClr val="bg1"/>
                </a:solidFill>
              </a:rPr>
              <a:t>min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попало в каркас К.</a:t>
            </a:r>
          </a:p>
        </p:txBody>
      </p:sp>
    </p:spTree>
    <p:extLst>
      <p:ext uri="{BB962C8B-B14F-4D97-AF65-F5344CB8AC3E}">
        <p14:creationId xmlns:p14="http://schemas.microsoft.com/office/powerpoint/2010/main" val="1838208172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Доказательство корректности алгоритма Прима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На каждом шаге в каркас обязательно включается одно ребро из среза</a:t>
            </a:r>
          </a:p>
          <a:p>
            <a:pPr lvl="1"/>
            <a:r>
              <a:rPr lang="ru-RU" sz="2000" dirty="0"/>
              <a:t>иначе получится несвязный граф, а не дерево</a:t>
            </a:r>
          </a:p>
          <a:p>
            <a:r>
              <a:rPr lang="ru-RU" sz="2400" dirty="0">
                <a:solidFill>
                  <a:schemeClr val="bg1"/>
                </a:solidFill>
              </a:rPr>
              <a:t>Пусть в построенный минимальный каркас </a:t>
            </a:r>
            <a:r>
              <a:rPr lang="en-US" sz="2400" dirty="0">
                <a:solidFill>
                  <a:schemeClr val="bg1"/>
                </a:solidFill>
              </a:rPr>
              <a:t>K </a:t>
            </a:r>
            <a:r>
              <a:rPr lang="ru-RU" sz="2400" dirty="0">
                <a:solidFill>
                  <a:schemeClr val="bg1"/>
                </a:solidFill>
              </a:rPr>
              <a:t>не попало ребро </a:t>
            </a:r>
            <a:r>
              <a:rPr lang="en-US" sz="2400" dirty="0" err="1">
                <a:solidFill>
                  <a:schemeClr val="bg1"/>
                </a:solidFill>
              </a:rPr>
              <a:t>e</a:t>
            </a:r>
            <a:r>
              <a:rPr lang="en-US" sz="2400" baseline="-25000" dirty="0" err="1">
                <a:solidFill>
                  <a:schemeClr val="bg1"/>
                </a:solidFill>
              </a:rPr>
              <a:t>min</a:t>
            </a:r>
            <a:r>
              <a:rPr lang="ru-RU" sz="2400" dirty="0">
                <a:solidFill>
                  <a:schemeClr val="bg1"/>
                </a:solidFill>
              </a:rPr>
              <a:t> = (</a:t>
            </a:r>
            <a:r>
              <a:rPr lang="en-US" sz="2400" dirty="0">
                <a:solidFill>
                  <a:schemeClr val="bg1"/>
                </a:solidFill>
              </a:rPr>
              <a:t>u, v</a:t>
            </a:r>
            <a:r>
              <a:rPr lang="ru-RU" sz="2400" dirty="0">
                <a:solidFill>
                  <a:schemeClr val="bg1"/>
                </a:solidFill>
              </a:rPr>
              <a:t>) из какого-то среза</a:t>
            </a:r>
          </a:p>
          <a:p>
            <a:r>
              <a:rPr lang="ru-RU" sz="2400" dirty="0">
                <a:solidFill>
                  <a:schemeClr val="bg1"/>
                </a:solidFill>
              </a:rPr>
              <a:t>Путь по каркасу </a:t>
            </a:r>
            <a:r>
              <a:rPr lang="en-US" sz="2400" dirty="0">
                <a:solidFill>
                  <a:schemeClr val="bg1"/>
                </a:solidFill>
              </a:rPr>
              <a:t>K </a:t>
            </a:r>
            <a:r>
              <a:rPr lang="ru-RU" sz="2400" dirty="0">
                <a:solidFill>
                  <a:schemeClr val="bg1"/>
                </a:solidFill>
              </a:rPr>
              <a:t>от </a:t>
            </a:r>
            <a:r>
              <a:rPr lang="en-US" sz="2400" dirty="0">
                <a:solidFill>
                  <a:schemeClr val="bg1"/>
                </a:solidFill>
              </a:rPr>
              <a:t>u</a:t>
            </a:r>
            <a:r>
              <a:rPr lang="ru-RU" sz="2400" dirty="0">
                <a:solidFill>
                  <a:schemeClr val="bg1"/>
                </a:solidFill>
              </a:rPr>
              <a:t> до </a:t>
            </a:r>
            <a:r>
              <a:rPr lang="en-US" sz="2400" dirty="0">
                <a:solidFill>
                  <a:schemeClr val="bg1"/>
                </a:solidFill>
              </a:rPr>
              <a:t>v</a:t>
            </a:r>
            <a:r>
              <a:rPr lang="ru-RU" sz="2400" dirty="0">
                <a:solidFill>
                  <a:schemeClr val="bg1"/>
                </a:solidFill>
              </a:rPr>
              <a:t> содержит ребро </a:t>
            </a:r>
            <a:r>
              <a:rPr lang="en-US" sz="2400" dirty="0">
                <a:solidFill>
                  <a:schemeClr val="bg1"/>
                </a:solidFill>
              </a:rPr>
              <a:t>e </a:t>
            </a:r>
            <a:r>
              <a:rPr lang="ru-RU" sz="2400" dirty="0">
                <a:solidFill>
                  <a:schemeClr val="bg1"/>
                </a:solidFill>
              </a:rPr>
              <a:t>из среза, содержавшего </a:t>
            </a:r>
            <a:r>
              <a:rPr lang="en-US" sz="2400" dirty="0" err="1">
                <a:solidFill>
                  <a:schemeClr val="bg1"/>
                </a:solidFill>
              </a:rPr>
              <a:t>e</a:t>
            </a:r>
            <a:r>
              <a:rPr lang="en-US" sz="2400" baseline="-25000" dirty="0" err="1">
                <a:solidFill>
                  <a:schemeClr val="bg1"/>
                </a:solidFill>
              </a:rPr>
              <a:t>min</a:t>
            </a:r>
            <a:endParaRPr lang="ru-RU" sz="2400" baseline="-250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Добавим в </a:t>
            </a:r>
            <a:r>
              <a:rPr lang="en-US" sz="2400" dirty="0">
                <a:solidFill>
                  <a:schemeClr val="bg1"/>
                </a:solidFill>
              </a:rPr>
              <a:t>K</a:t>
            </a:r>
            <a:r>
              <a:rPr lang="ru-RU" sz="2400" dirty="0">
                <a:solidFill>
                  <a:schemeClr val="bg1"/>
                </a:solidFill>
              </a:rPr>
              <a:t> ребро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</a:t>
            </a:r>
            <a:r>
              <a:rPr lang="en-US" sz="2400" baseline="-25000" dirty="0" err="1">
                <a:solidFill>
                  <a:schemeClr val="bg1"/>
                </a:solidFill>
              </a:rPr>
              <a:t>min</a:t>
            </a:r>
            <a:r>
              <a:rPr lang="en-US" sz="2400" baseline="-250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и удалим ребро </a:t>
            </a:r>
            <a:r>
              <a:rPr lang="en-US" sz="2400" dirty="0">
                <a:solidFill>
                  <a:schemeClr val="bg1"/>
                </a:solidFill>
              </a:rPr>
              <a:t>e</a:t>
            </a:r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Получится каркас меньшего веса, чем вес минимального каркаса </a:t>
            </a:r>
            <a:r>
              <a:rPr lang="en-US" sz="2400" dirty="0">
                <a:solidFill>
                  <a:schemeClr val="bg1"/>
                </a:solidFill>
              </a:rPr>
              <a:t>K</a:t>
            </a:r>
            <a:r>
              <a:rPr lang="ru-RU" sz="2400" dirty="0">
                <a:solidFill>
                  <a:schemeClr val="bg1"/>
                </a:solidFill>
              </a:rPr>
              <a:t>, что невозможно.</a:t>
            </a:r>
          </a:p>
          <a:p>
            <a:r>
              <a:rPr lang="ru-RU" sz="2400" dirty="0">
                <a:solidFill>
                  <a:schemeClr val="bg1"/>
                </a:solidFill>
              </a:rPr>
              <a:t>Следовательно, ребро </a:t>
            </a:r>
            <a:r>
              <a:rPr lang="en-US" sz="2400" dirty="0" err="1">
                <a:solidFill>
                  <a:schemeClr val="bg1"/>
                </a:solidFill>
              </a:rPr>
              <a:t>e</a:t>
            </a:r>
            <a:r>
              <a:rPr lang="en-US" sz="2400" baseline="-25000" dirty="0" err="1">
                <a:solidFill>
                  <a:schemeClr val="bg1"/>
                </a:solidFill>
              </a:rPr>
              <a:t>min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попало в каркас К.</a:t>
            </a:r>
          </a:p>
        </p:txBody>
      </p:sp>
    </p:spTree>
    <p:extLst>
      <p:ext uri="{BB962C8B-B14F-4D97-AF65-F5344CB8AC3E}">
        <p14:creationId xmlns:p14="http://schemas.microsoft.com/office/powerpoint/2010/main" val="2688520057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Доказательство корректности алгоритма Прима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На каждом шаге в каркас обязательно включается одно ребро из среза</a:t>
            </a:r>
          </a:p>
          <a:p>
            <a:pPr lvl="1"/>
            <a:r>
              <a:rPr lang="ru-RU" sz="2000" dirty="0"/>
              <a:t>иначе получится несвязный граф, а не дерево</a:t>
            </a:r>
          </a:p>
          <a:p>
            <a:r>
              <a:rPr lang="ru-RU" sz="2400" dirty="0"/>
              <a:t>Пусть в построенный минимальный каркас </a:t>
            </a:r>
            <a:r>
              <a:rPr lang="en-US" sz="2400" dirty="0"/>
              <a:t>K </a:t>
            </a:r>
            <a:r>
              <a:rPr lang="ru-RU" sz="2400" dirty="0"/>
              <a:t>не попало ребро </a:t>
            </a:r>
            <a:r>
              <a:rPr lang="en-US" sz="2400" dirty="0" err="1"/>
              <a:t>e</a:t>
            </a:r>
            <a:r>
              <a:rPr lang="en-US" sz="2400" baseline="-25000" dirty="0" err="1"/>
              <a:t>min</a:t>
            </a:r>
            <a:r>
              <a:rPr lang="ru-RU" sz="2400" dirty="0"/>
              <a:t> = (</a:t>
            </a:r>
            <a:r>
              <a:rPr lang="en-US" sz="2400" dirty="0"/>
              <a:t>u, v</a:t>
            </a:r>
            <a:r>
              <a:rPr lang="ru-RU" sz="2400" dirty="0"/>
              <a:t>) из какого-то среза</a:t>
            </a:r>
          </a:p>
          <a:p>
            <a:r>
              <a:rPr lang="ru-RU" sz="2400" dirty="0">
                <a:solidFill>
                  <a:schemeClr val="bg1"/>
                </a:solidFill>
              </a:rPr>
              <a:t>Путь по каркасу </a:t>
            </a:r>
            <a:r>
              <a:rPr lang="en-US" sz="2400" dirty="0">
                <a:solidFill>
                  <a:schemeClr val="bg1"/>
                </a:solidFill>
              </a:rPr>
              <a:t>K </a:t>
            </a:r>
            <a:r>
              <a:rPr lang="ru-RU" sz="2400" dirty="0">
                <a:solidFill>
                  <a:schemeClr val="bg1"/>
                </a:solidFill>
              </a:rPr>
              <a:t>от </a:t>
            </a:r>
            <a:r>
              <a:rPr lang="en-US" sz="2400" dirty="0">
                <a:solidFill>
                  <a:schemeClr val="bg1"/>
                </a:solidFill>
              </a:rPr>
              <a:t>u</a:t>
            </a:r>
            <a:r>
              <a:rPr lang="ru-RU" sz="2400" dirty="0">
                <a:solidFill>
                  <a:schemeClr val="bg1"/>
                </a:solidFill>
              </a:rPr>
              <a:t> до </a:t>
            </a:r>
            <a:r>
              <a:rPr lang="en-US" sz="2400" dirty="0">
                <a:solidFill>
                  <a:schemeClr val="bg1"/>
                </a:solidFill>
              </a:rPr>
              <a:t>v</a:t>
            </a:r>
            <a:r>
              <a:rPr lang="ru-RU" sz="2400" dirty="0">
                <a:solidFill>
                  <a:schemeClr val="bg1"/>
                </a:solidFill>
              </a:rPr>
              <a:t> содержит ребро </a:t>
            </a:r>
            <a:r>
              <a:rPr lang="en-US" sz="2400" dirty="0">
                <a:solidFill>
                  <a:schemeClr val="bg1"/>
                </a:solidFill>
              </a:rPr>
              <a:t>e </a:t>
            </a:r>
            <a:r>
              <a:rPr lang="ru-RU" sz="2400" dirty="0">
                <a:solidFill>
                  <a:schemeClr val="bg1"/>
                </a:solidFill>
              </a:rPr>
              <a:t>из среза, содержавшего </a:t>
            </a:r>
            <a:r>
              <a:rPr lang="en-US" sz="2400" dirty="0" err="1">
                <a:solidFill>
                  <a:schemeClr val="bg1"/>
                </a:solidFill>
              </a:rPr>
              <a:t>e</a:t>
            </a:r>
            <a:r>
              <a:rPr lang="en-US" sz="2400" baseline="-25000" dirty="0" err="1">
                <a:solidFill>
                  <a:schemeClr val="bg1"/>
                </a:solidFill>
              </a:rPr>
              <a:t>min</a:t>
            </a:r>
            <a:endParaRPr lang="ru-RU" sz="2400" baseline="-250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Добавим в </a:t>
            </a:r>
            <a:r>
              <a:rPr lang="en-US" sz="2400" dirty="0">
                <a:solidFill>
                  <a:schemeClr val="bg1"/>
                </a:solidFill>
              </a:rPr>
              <a:t>K</a:t>
            </a:r>
            <a:r>
              <a:rPr lang="ru-RU" sz="2400" dirty="0">
                <a:solidFill>
                  <a:schemeClr val="bg1"/>
                </a:solidFill>
              </a:rPr>
              <a:t> ребро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</a:t>
            </a:r>
            <a:r>
              <a:rPr lang="en-US" sz="2400" baseline="-25000" dirty="0" err="1">
                <a:solidFill>
                  <a:schemeClr val="bg1"/>
                </a:solidFill>
              </a:rPr>
              <a:t>min</a:t>
            </a:r>
            <a:r>
              <a:rPr lang="en-US" sz="2400" baseline="-250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и удалим ребро </a:t>
            </a:r>
            <a:r>
              <a:rPr lang="en-US" sz="2400" dirty="0">
                <a:solidFill>
                  <a:schemeClr val="bg1"/>
                </a:solidFill>
              </a:rPr>
              <a:t>e</a:t>
            </a:r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Получится каркас меньшего веса, чем вес минимального каркаса </a:t>
            </a:r>
            <a:r>
              <a:rPr lang="en-US" sz="2400" dirty="0">
                <a:solidFill>
                  <a:schemeClr val="bg1"/>
                </a:solidFill>
              </a:rPr>
              <a:t>K</a:t>
            </a:r>
            <a:r>
              <a:rPr lang="ru-RU" sz="2400" dirty="0">
                <a:solidFill>
                  <a:schemeClr val="bg1"/>
                </a:solidFill>
              </a:rPr>
              <a:t>, что невозможно.</a:t>
            </a:r>
          </a:p>
          <a:p>
            <a:r>
              <a:rPr lang="ru-RU" sz="2400" dirty="0">
                <a:solidFill>
                  <a:schemeClr val="bg1"/>
                </a:solidFill>
              </a:rPr>
              <a:t>Следовательно, ребро </a:t>
            </a:r>
            <a:r>
              <a:rPr lang="en-US" sz="2400" dirty="0" err="1">
                <a:solidFill>
                  <a:schemeClr val="bg1"/>
                </a:solidFill>
              </a:rPr>
              <a:t>e</a:t>
            </a:r>
            <a:r>
              <a:rPr lang="en-US" sz="2400" baseline="-25000" dirty="0" err="1">
                <a:solidFill>
                  <a:schemeClr val="bg1"/>
                </a:solidFill>
              </a:rPr>
              <a:t>min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попало в каркас К.</a:t>
            </a:r>
          </a:p>
        </p:txBody>
      </p:sp>
    </p:spTree>
    <p:extLst>
      <p:ext uri="{BB962C8B-B14F-4D97-AF65-F5344CB8AC3E}">
        <p14:creationId xmlns:p14="http://schemas.microsoft.com/office/powerpoint/2010/main" val="1353875910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Доказательство корректности алгоритма Прима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На каждом шаге в каркас обязательно включается одно ребро из среза</a:t>
            </a:r>
          </a:p>
          <a:p>
            <a:pPr lvl="1"/>
            <a:r>
              <a:rPr lang="ru-RU" sz="2000" dirty="0"/>
              <a:t>иначе получится несвязный граф, а не дерево</a:t>
            </a:r>
          </a:p>
          <a:p>
            <a:r>
              <a:rPr lang="ru-RU" sz="2400" dirty="0"/>
              <a:t>Пусть в построенный минимальный каркас </a:t>
            </a:r>
            <a:r>
              <a:rPr lang="en-US" sz="2400" dirty="0"/>
              <a:t>K </a:t>
            </a:r>
            <a:r>
              <a:rPr lang="ru-RU" sz="2400" dirty="0"/>
              <a:t>не попало ребро </a:t>
            </a:r>
            <a:r>
              <a:rPr lang="en-US" sz="2400" dirty="0" err="1"/>
              <a:t>e</a:t>
            </a:r>
            <a:r>
              <a:rPr lang="en-US" sz="2400" baseline="-25000" dirty="0" err="1"/>
              <a:t>min</a:t>
            </a:r>
            <a:r>
              <a:rPr lang="ru-RU" sz="2400" dirty="0"/>
              <a:t> = (</a:t>
            </a:r>
            <a:r>
              <a:rPr lang="en-US" sz="2400" dirty="0"/>
              <a:t>u, v</a:t>
            </a:r>
            <a:r>
              <a:rPr lang="ru-RU" sz="2400" dirty="0"/>
              <a:t>) из какого-то среза</a:t>
            </a:r>
          </a:p>
          <a:p>
            <a:r>
              <a:rPr lang="ru-RU" sz="2400" dirty="0"/>
              <a:t>Путь по каркасу </a:t>
            </a:r>
            <a:r>
              <a:rPr lang="en-US" sz="2400" dirty="0"/>
              <a:t>K </a:t>
            </a:r>
            <a:r>
              <a:rPr lang="ru-RU" sz="2400" dirty="0"/>
              <a:t>от </a:t>
            </a:r>
            <a:r>
              <a:rPr lang="en-US" sz="2400" dirty="0"/>
              <a:t>u</a:t>
            </a:r>
            <a:r>
              <a:rPr lang="ru-RU" sz="2400" dirty="0"/>
              <a:t> до </a:t>
            </a:r>
            <a:r>
              <a:rPr lang="en-US" sz="2400" dirty="0"/>
              <a:t>v</a:t>
            </a:r>
            <a:r>
              <a:rPr lang="ru-RU" sz="2400" dirty="0"/>
              <a:t> содержит ребро </a:t>
            </a:r>
            <a:r>
              <a:rPr lang="en-US" sz="2400" dirty="0"/>
              <a:t>e </a:t>
            </a:r>
            <a:r>
              <a:rPr lang="ru-RU" sz="2400" dirty="0"/>
              <a:t>из среза, содержавшего </a:t>
            </a:r>
            <a:r>
              <a:rPr lang="en-US" sz="2400" dirty="0" err="1"/>
              <a:t>e</a:t>
            </a:r>
            <a:r>
              <a:rPr lang="en-US" sz="2400" baseline="-25000" dirty="0" err="1"/>
              <a:t>min</a:t>
            </a:r>
            <a:endParaRPr lang="ru-RU" sz="2400" baseline="-25000" dirty="0"/>
          </a:p>
          <a:p>
            <a:r>
              <a:rPr lang="ru-RU" sz="2400" dirty="0">
                <a:solidFill>
                  <a:schemeClr val="bg1"/>
                </a:solidFill>
              </a:rPr>
              <a:t>Добавим в </a:t>
            </a:r>
            <a:r>
              <a:rPr lang="en-US" sz="2400" dirty="0">
                <a:solidFill>
                  <a:schemeClr val="bg1"/>
                </a:solidFill>
              </a:rPr>
              <a:t>K</a:t>
            </a:r>
            <a:r>
              <a:rPr lang="ru-RU" sz="2400" dirty="0">
                <a:solidFill>
                  <a:schemeClr val="bg1"/>
                </a:solidFill>
              </a:rPr>
              <a:t> ребро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</a:t>
            </a:r>
            <a:r>
              <a:rPr lang="en-US" sz="2400" baseline="-25000" dirty="0" err="1">
                <a:solidFill>
                  <a:schemeClr val="bg1"/>
                </a:solidFill>
              </a:rPr>
              <a:t>min</a:t>
            </a:r>
            <a:r>
              <a:rPr lang="en-US" sz="2400" baseline="-250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и удалим ребро </a:t>
            </a:r>
            <a:r>
              <a:rPr lang="en-US" sz="2400" dirty="0">
                <a:solidFill>
                  <a:schemeClr val="bg1"/>
                </a:solidFill>
              </a:rPr>
              <a:t>e</a:t>
            </a:r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Получится каркас меньшего веса, чем вес минимального каркаса </a:t>
            </a:r>
            <a:r>
              <a:rPr lang="en-US" sz="2400" dirty="0">
                <a:solidFill>
                  <a:schemeClr val="bg1"/>
                </a:solidFill>
              </a:rPr>
              <a:t>K</a:t>
            </a:r>
            <a:r>
              <a:rPr lang="ru-RU" sz="2400" dirty="0">
                <a:solidFill>
                  <a:schemeClr val="bg1"/>
                </a:solidFill>
              </a:rPr>
              <a:t>, что невозможно.</a:t>
            </a:r>
          </a:p>
          <a:p>
            <a:r>
              <a:rPr lang="ru-RU" sz="2400" dirty="0">
                <a:solidFill>
                  <a:schemeClr val="bg1"/>
                </a:solidFill>
              </a:rPr>
              <a:t>Следовательно, ребро </a:t>
            </a:r>
            <a:r>
              <a:rPr lang="en-US" sz="2400" dirty="0" err="1">
                <a:solidFill>
                  <a:schemeClr val="bg1"/>
                </a:solidFill>
              </a:rPr>
              <a:t>e</a:t>
            </a:r>
            <a:r>
              <a:rPr lang="en-US" sz="2400" baseline="-25000" dirty="0" err="1">
                <a:solidFill>
                  <a:schemeClr val="bg1"/>
                </a:solidFill>
              </a:rPr>
              <a:t>min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попало в каркас К.</a:t>
            </a:r>
          </a:p>
        </p:txBody>
      </p:sp>
    </p:spTree>
    <p:extLst>
      <p:ext uri="{BB962C8B-B14F-4D97-AF65-F5344CB8AC3E}">
        <p14:creationId xmlns:p14="http://schemas.microsoft.com/office/powerpoint/2010/main" val="3131170234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Доказательство корректности алгоритма Прима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На каждом шаге в каркас обязательно включается одно ребро из среза</a:t>
            </a:r>
          </a:p>
          <a:p>
            <a:pPr lvl="1"/>
            <a:r>
              <a:rPr lang="ru-RU" sz="2000" dirty="0"/>
              <a:t>иначе получится несвязный граф, а не дерево</a:t>
            </a:r>
          </a:p>
          <a:p>
            <a:r>
              <a:rPr lang="ru-RU" sz="2400" dirty="0"/>
              <a:t>Пусть в построенный минимальный каркас </a:t>
            </a:r>
            <a:r>
              <a:rPr lang="en-US" sz="2400" dirty="0"/>
              <a:t>K </a:t>
            </a:r>
            <a:r>
              <a:rPr lang="ru-RU" sz="2400" dirty="0"/>
              <a:t>не попало ребро </a:t>
            </a:r>
            <a:r>
              <a:rPr lang="en-US" sz="2400" dirty="0" err="1"/>
              <a:t>e</a:t>
            </a:r>
            <a:r>
              <a:rPr lang="en-US" sz="2400" baseline="-25000" dirty="0" err="1"/>
              <a:t>min</a:t>
            </a:r>
            <a:r>
              <a:rPr lang="ru-RU" sz="2400" dirty="0"/>
              <a:t> = (</a:t>
            </a:r>
            <a:r>
              <a:rPr lang="en-US" sz="2400" dirty="0"/>
              <a:t>u, v</a:t>
            </a:r>
            <a:r>
              <a:rPr lang="ru-RU" sz="2400" dirty="0"/>
              <a:t>) из какого-то среза</a:t>
            </a:r>
          </a:p>
          <a:p>
            <a:r>
              <a:rPr lang="ru-RU" sz="2400" dirty="0"/>
              <a:t>Путь по каркасу </a:t>
            </a:r>
            <a:r>
              <a:rPr lang="en-US" sz="2400" dirty="0"/>
              <a:t>K </a:t>
            </a:r>
            <a:r>
              <a:rPr lang="ru-RU" sz="2400" dirty="0"/>
              <a:t>от </a:t>
            </a:r>
            <a:r>
              <a:rPr lang="en-US" sz="2400" dirty="0"/>
              <a:t>u</a:t>
            </a:r>
            <a:r>
              <a:rPr lang="ru-RU" sz="2400" dirty="0"/>
              <a:t> до </a:t>
            </a:r>
            <a:r>
              <a:rPr lang="en-US" sz="2400" dirty="0"/>
              <a:t>v</a:t>
            </a:r>
            <a:r>
              <a:rPr lang="ru-RU" sz="2400" dirty="0"/>
              <a:t> содержит ребро </a:t>
            </a:r>
            <a:r>
              <a:rPr lang="en-US" sz="2400" dirty="0"/>
              <a:t>e </a:t>
            </a:r>
            <a:r>
              <a:rPr lang="ru-RU" sz="2400" dirty="0"/>
              <a:t>из среза, содержавшего </a:t>
            </a:r>
            <a:r>
              <a:rPr lang="en-US" sz="2400" dirty="0" err="1"/>
              <a:t>e</a:t>
            </a:r>
            <a:r>
              <a:rPr lang="en-US" sz="2400" baseline="-25000" dirty="0" err="1"/>
              <a:t>min</a:t>
            </a:r>
            <a:endParaRPr lang="ru-RU" sz="2400" baseline="-25000" dirty="0"/>
          </a:p>
          <a:p>
            <a:r>
              <a:rPr lang="ru-RU" sz="2400" dirty="0"/>
              <a:t>Добавим в </a:t>
            </a:r>
            <a:r>
              <a:rPr lang="en-US" sz="2400" dirty="0"/>
              <a:t>K</a:t>
            </a:r>
            <a:r>
              <a:rPr lang="ru-RU" sz="2400" dirty="0"/>
              <a:t> ребро</a:t>
            </a:r>
            <a:r>
              <a:rPr lang="en-US" sz="2400" dirty="0"/>
              <a:t> </a:t>
            </a:r>
            <a:r>
              <a:rPr lang="en-US" sz="2400" dirty="0" err="1"/>
              <a:t>e</a:t>
            </a:r>
            <a:r>
              <a:rPr lang="en-US" sz="2400" baseline="-25000" dirty="0" err="1"/>
              <a:t>min</a:t>
            </a:r>
            <a:r>
              <a:rPr lang="en-US" sz="2400" baseline="-25000" dirty="0"/>
              <a:t> </a:t>
            </a:r>
            <a:r>
              <a:rPr lang="ru-RU" sz="2400" dirty="0"/>
              <a:t>и удалим ребро </a:t>
            </a:r>
            <a:r>
              <a:rPr lang="en-US" sz="2400" dirty="0"/>
              <a:t>e</a:t>
            </a:r>
            <a:endParaRPr lang="ru-RU" sz="2400" dirty="0"/>
          </a:p>
          <a:p>
            <a:r>
              <a:rPr lang="ru-RU" sz="2400" dirty="0">
                <a:solidFill>
                  <a:schemeClr val="bg1"/>
                </a:solidFill>
              </a:rPr>
              <a:t>Получится каркас меньшего веса, чем вес минимального каркаса </a:t>
            </a:r>
            <a:r>
              <a:rPr lang="en-US" sz="2400" dirty="0">
                <a:solidFill>
                  <a:schemeClr val="bg1"/>
                </a:solidFill>
              </a:rPr>
              <a:t>K</a:t>
            </a:r>
            <a:r>
              <a:rPr lang="ru-RU" sz="2400" dirty="0">
                <a:solidFill>
                  <a:schemeClr val="bg1"/>
                </a:solidFill>
              </a:rPr>
              <a:t>, что невозможно.</a:t>
            </a:r>
          </a:p>
          <a:p>
            <a:r>
              <a:rPr lang="ru-RU" sz="2400" dirty="0">
                <a:solidFill>
                  <a:schemeClr val="bg1"/>
                </a:solidFill>
              </a:rPr>
              <a:t>Следовательно, ребро </a:t>
            </a:r>
            <a:r>
              <a:rPr lang="en-US" sz="2400" dirty="0" err="1">
                <a:solidFill>
                  <a:schemeClr val="bg1"/>
                </a:solidFill>
              </a:rPr>
              <a:t>e</a:t>
            </a:r>
            <a:r>
              <a:rPr lang="en-US" sz="2400" baseline="-25000" dirty="0" err="1">
                <a:solidFill>
                  <a:schemeClr val="bg1"/>
                </a:solidFill>
              </a:rPr>
              <a:t>min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попало в каркас К.</a:t>
            </a:r>
          </a:p>
        </p:txBody>
      </p:sp>
    </p:spTree>
    <p:extLst>
      <p:ext uri="{BB962C8B-B14F-4D97-AF65-F5344CB8AC3E}">
        <p14:creationId xmlns:p14="http://schemas.microsoft.com/office/powerpoint/2010/main" val="1221018242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Доказательство корректности алгоритма Прима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На каждом шаге в каркас обязательно включается одно ребро из среза</a:t>
            </a:r>
          </a:p>
          <a:p>
            <a:pPr lvl="1"/>
            <a:r>
              <a:rPr lang="ru-RU" sz="2000" dirty="0"/>
              <a:t>иначе получится несвязный граф, а не дерево</a:t>
            </a:r>
          </a:p>
          <a:p>
            <a:r>
              <a:rPr lang="ru-RU" sz="2400" dirty="0"/>
              <a:t>Пусть в построенный минимальный каркас </a:t>
            </a:r>
            <a:r>
              <a:rPr lang="en-US" sz="2400" dirty="0"/>
              <a:t>K </a:t>
            </a:r>
            <a:r>
              <a:rPr lang="ru-RU" sz="2400" dirty="0"/>
              <a:t>не попало ребро </a:t>
            </a:r>
            <a:r>
              <a:rPr lang="en-US" sz="2400" dirty="0" err="1"/>
              <a:t>e</a:t>
            </a:r>
            <a:r>
              <a:rPr lang="en-US" sz="2400" baseline="-25000" dirty="0" err="1"/>
              <a:t>min</a:t>
            </a:r>
            <a:r>
              <a:rPr lang="ru-RU" sz="2400" dirty="0"/>
              <a:t> = (</a:t>
            </a:r>
            <a:r>
              <a:rPr lang="en-US" sz="2400" dirty="0"/>
              <a:t>u, v</a:t>
            </a:r>
            <a:r>
              <a:rPr lang="ru-RU" sz="2400" dirty="0"/>
              <a:t>) из какого-то среза</a:t>
            </a:r>
          </a:p>
          <a:p>
            <a:r>
              <a:rPr lang="ru-RU" sz="2400" dirty="0"/>
              <a:t>Путь по каркасу </a:t>
            </a:r>
            <a:r>
              <a:rPr lang="en-US" sz="2400" dirty="0"/>
              <a:t>K </a:t>
            </a:r>
            <a:r>
              <a:rPr lang="ru-RU" sz="2400" dirty="0"/>
              <a:t>от </a:t>
            </a:r>
            <a:r>
              <a:rPr lang="en-US" sz="2400" dirty="0"/>
              <a:t>u</a:t>
            </a:r>
            <a:r>
              <a:rPr lang="ru-RU" sz="2400" dirty="0"/>
              <a:t> до </a:t>
            </a:r>
            <a:r>
              <a:rPr lang="en-US" sz="2400" dirty="0"/>
              <a:t>v</a:t>
            </a:r>
            <a:r>
              <a:rPr lang="ru-RU" sz="2400" dirty="0"/>
              <a:t> содержит ребро </a:t>
            </a:r>
            <a:r>
              <a:rPr lang="en-US" sz="2400" dirty="0"/>
              <a:t>e </a:t>
            </a:r>
            <a:r>
              <a:rPr lang="ru-RU" sz="2400" dirty="0"/>
              <a:t>из среза, содержавшего </a:t>
            </a:r>
            <a:r>
              <a:rPr lang="en-US" sz="2400" dirty="0" err="1"/>
              <a:t>e</a:t>
            </a:r>
            <a:r>
              <a:rPr lang="en-US" sz="2400" baseline="-25000" dirty="0" err="1"/>
              <a:t>min</a:t>
            </a:r>
            <a:endParaRPr lang="ru-RU" sz="2400" baseline="-25000" dirty="0"/>
          </a:p>
          <a:p>
            <a:r>
              <a:rPr lang="ru-RU" sz="2400" dirty="0"/>
              <a:t>Добавим в </a:t>
            </a:r>
            <a:r>
              <a:rPr lang="en-US" sz="2400" dirty="0"/>
              <a:t>K</a:t>
            </a:r>
            <a:r>
              <a:rPr lang="ru-RU" sz="2400" dirty="0"/>
              <a:t> ребро</a:t>
            </a:r>
            <a:r>
              <a:rPr lang="en-US" sz="2400" dirty="0"/>
              <a:t> </a:t>
            </a:r>
            <a:r>
              <a:rPr lang="en-US" sz="2400" dirty="0" err="1"/>
              <a:t>e</a:t>
            </a:r>
            <a:r>
              <a:rPr lang="en-US" sz="2400" baseline="-25000" dirty="0" err="1"/>
              <a:t>min</a:t>
            </a:r>
            <a:r>
              <a:rPr lang="en-US" sz="2400" baseline="-25000" dirty="0"/>
              <a:t> </a:t>
            </a:r>
            <a:r>
              <a:rPr lang="ru-RU" sz="2400" dirty="0"/>
              <a:t>и удалим ребро </a:t>
            </a:r>
            <a:r>
              <a:rPr lang="en-US" sz="2400" dirty="0"/>
              <a:t>e</a:t>
            </a:r>
            <a:endParaRPr lang="ru-RU" sz="2400" dirty="0"/>
          </a:p>
          <a:p>
            <a:r>
              <a:rPr lang="ru-RU" sz="2400" dirty="0"/>
              <a:t>Получится каркас меньшего веса, чем вес минимального каркаса </a:t>
            </a:r>
            <a:r>
              <a:rPr lang="en-US" sz="2400" dirty="0"/>
              <a:t>K</a:t>
            </a:r>
            <a:r>
              <a:rPr lang="ru-RU" sz="2400" dirty="0"/>
              <a:t>, что невозможно.</a:t>
            </a:r>
          </a:p>
          <a:p>
            <a:r>
              <a:rPr lang="ru-RU" sz="2400" dirty="0">
                <a:solidFill>
                  <a:schemeClr val="bg1"/>
                </a:solidFill>
              </a:rPr>
              <a:t>Следовательно, ребро </a:t>
            </a:r>
            <a:r>
              <a:rPr lang="en-US" sz="2400" dirty="0" err="1">
                <a:solidFill>
                  <a:schemeClr val="bg1"/>
                </a:solidFill>
              </a:rPr>
              <a:t>e</a:t>
            </a:r>
            <a:r>
              <a:rPr lang="en-US" sz="2400" baseline="-25000" dirty="0" err="1">
                <a:solidFill>
                  <a:schemeClr val="bg1"/>
                </a:solidFill>
              </a:rPr>
              <a:t>min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попало в каркас К.</a:t>
            </a:r>
          </a:p>
        </p:txBody>
      </p:sp>
    </p:spTree>
    <p:extLst>
      <p:ext uri="{BB962C8B-B14F-4D97-AF65-F5344CB8AC3E}">
        <p14:creationId xmlns:p14="http://schemas.microsoft.com/office/powerpoint/2010/main" val="833787094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Доказательство корректности алгоритма Прима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На каждом шаге в каркас обязательно включается одно ребро из среза</a:t>
            </a:r>
          </a:p>
          <a:p>
            <a:pPr lvl="1"/>
            <a:r>
              <a:rPr lang="ru-RU" sz="2000" dirty="0"/>
              <a:t>иначе получится несвязный граф, а не дерево</a:t>
            </a:r>
          </a:p>
          <a:p>
            <a:r>
              <a:rPr lang="ru-RU" sz="2400" dirty="0"/>
              <a:t>Пусть в построенный минимальный каркас </a:t>
            </a:r>
            <a:r>
              <a:rPr lang="en-US" sz="2400" dirty="0"/>
              <a:t>K </a:t>
            </a:r>
            <a:r>
              <a:rPr lang="ru-RU" sz="2400" dirty="0"/>
              <a:t>не попало ребро </a:t>
            </a:r>
            <a:r>
              <a:rPr lang="en-US" sz="2400" dirty="0" err="1"/>
              <a:t>e</a:t>
            </a:r>
            <a:r>
              <a:rPr lang="en-US" sz="2400" baseline="-25000" dirty="0" err="1"/>
              <a:t>min</a:t>
            </a:r>
            <a:r>
              <a:rPr lang="ru-RU" sz="2400" dirty="0"/>
              <a:t> = (</a:t>
            </a:r>
            <a:r>
              <a:rPr lang="en-US" sz="2400" dirty="0"/>
              <a:t>u, v</a:t>
            </a:r>
            <a:r>
              <a:rPr lang="ru-RU" sz="2400" dirty="0"/>
              <a:t>) из какого-то среза</a:t>
            </a:r>
          </a:p>
          <a:p>
            <a:r>
              <a:rPr lang="ru-RU" sz="2400" dirty="0"/>
              <a:t>Путь по каркасу </a:t>
            </a:r>
            <a:r>
              <a:rPr lang="en-US" sz="2400" dirty="0"/>
              <a:t>K </a:t>
            </a:r>
            <a:r>
              <a:rPr lang="ru-RU" sz="2400" dirty="0"/>
              <a:t>от </a:t>
            </a:r>
            <a:r>
              <a:rPr lang="en-US" sz="2400" dirty="0"/>
              <a:t>u</a:t>
            </a:r>
            <a:r>
              <a:rPr lang="ru-RU" sz="2400" dirty="0"/>
              <a:t> до </a:t>
            </a:r>
            <a:r>
              <a:rPr lang="en-US" sz="2400" dirty="0"/>
              <a:t>v</a:t>
            </a:r>
            <a:r>
              <a:rPr lang="ru-RU" sz="2400" dirty="0"/>
              <a:t> содержит ребро </a:t>
            </a:r>
            <a:r>
              <a:rPr lang="en-US" sz="2400" dirty="0"/>
              <a:t>e </a:t>
            </a:r>
            <a:r>
              <a:rPr lang="ru-RU" sz="2400" dirty="0"/>
              <a:t>из среза, содержавшего </a:t>
            </a:r>
            <a:r>
              <a:rPr lang="en-US" sz="2400" dirty="0" err="1"/>
              <a:t>e</a:t>
            </a:r>
            <a:r>
              <a:rPr lang="en-US" sz="2400" baseline="-25000" dirty="0" err="1"/>
              <a:t>min</a:t>
            </a:r>
            <a:endParaRPr lang="ru-RU" sz="2400" baseline="-25000" dirty="0"/>
          </a:p>
          <a:p>
            <a:r>
              <a:rPr lang="ru-RU" sz="2400" dirty="0"/>
              <a:t>Добавим в </a:t>
            </a:r>
            <a:r>
              <a:rPr lang="en-US" sz="2400" dirty="0"/>
              <a:t>K</a:t>
            </a:r>
            <a:r>
              <a:rPr lang="ru-RU" sz="2400" dirty="0"/>
              <a:t> ребро</a:t>
            </a:r>
            <a:r>
              <a:rPr lang="en-US" sz="2400" dirty="0"/>
              <a:t> </a:t>
            </a:r>
            <a:r>
              <a:rPr lang="en-US" sz="2400" dirty="0" err="1"/>
              <a:t>e</a:t>
            </a:r>
            <a:r>
              <a:rPr lang="en-US" sz="2400" baseline="-25000" dirty="0" err="1"/>
              <a:t>min</a:t>
            </a:r>
            <a:r>
              <a:rPr lang="en-US" sz="2400" baseline="-25000" dirty="0"/>
              <a:t> </a:t>
            </a:r>
            <a:r>
              <a:rPr lang="ru-RU" sz="2400" dirty="0"/>
              <a:t>и удалим ребро </a:t>
            </a:r>
            <a:r>
              <a:rPr lang="en-US" sz="2400" dirty="0"/>
              <a:t>e</a:t>
            </a:r>
            <a:endParaRPr lang="ru-RU" sz="2400" dirty="0"/>
          </a:p>
          <a:p>
            <a:r>
              <a:rPr lang="ru-RU" sz="2400" dirty="0"/>
              <a:t>Получится каркас меньшего веса, чем вес минимального каркаса </a:t>
            </a:r>
            <a:r>
              <a:rPr lang="en-US" sz="2400" dirty="0"/>
              <a:t>K</a:t>
            </a:r>
            <a:r>
              <a:rPr lang="ru-RU" sz="2400" dirty="0"/>
              <a:t>, что невозможно.</a:t>
            </a:r>
          </a:p>
          <a:p>
            <a:r>
              <a:rPr lang="ru-RU" sz="2400" dirty="0"/>
              <a:t>Следовательно, ребро </a:t>
            </a:r>
            <a:r>
              <a:rPr lang="en-US" sz="2400" dirty="0" err="1"/>
              <a:t>e</a:t>
            </a:r>
            <a:r>
              <a:rPr lang="en-US" sz="2400" baseline="-25000" dirty="0" err="1"/>
              <a:t>min</a:t>
            </a:r>
            <a:r>
              <a:rPr lang="en-US" sz="2400" dirty="0"/>
              <a:t> </a:t>
            </a:r>
            <a:r>
              <a:rPr lang="ru-RU" sz="2400" dirty="0"/>
              <a:t>попало в каркас К.</a:t>
            </a:r>
          </a:p>
        </p:txBody>
      </p:sp>
    </p:spTree>
    <p:extLst>
      <p:ext uri="{BB962C8B-B14F-4D97-AF65-F5344CB8AC3E}">
        <p14:creationId xmlns:p14="http://schemas.microsoft.com/office/powerpoint/2010/main" val="1097802967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Объект 16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4" name="Стрелка вправо 163"/>
          <p:cNvSpPr/>
          <p:nvPr/>
        </p:nvSpPr>
        <p:spPr>
          <a:xfrm>
            <a:off x="5453904" y="3584433"/>
            <a:ext cx="498080" cy="48463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5" name="TextBox 164"/>
          <p:cNvSpPr txBox="1"/>
          <p:nvPr/>
        </p:nvSpPr>
        <p:spPr>
          <a:xfrm>
            <a:off x="5931463" y="357990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  <a:endParaRPr lang="ru-RU"/>
          </a:p>
        </p:txBody>
      </p:sp>
      <p:sp>
        <p:nvSpPr>
          <p:cNvPr id="166" name="Стрелка вправо 165"/>
          <p:cNvSpPr/>
          <p:nvPr/>
        </p:nvSpPr>
        <p:spPr>
          <a:xfrm>
            <a:off x="6312024" y="3601704"/>
            <a:ext cx="498080" cy="48463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71" name="Группа 170"/>
          <p:cNvGrpSpPr/>
          <p:nvPr/>
        </p:nvGrpSpPr>
        <p:grpSpPr>
          <a:xfrm>
            <a:off x="639762" y="2071162"/>
            <a:ext cx="4736158" cy="3467296"/>
            <a:chOff x="639762" y="2071162"/>
            <a:chExt cx="4736158" cy="3467296"/>
          </a:xfrm>
        </p:grpSpPr>
        <p:cxnSp>
          <p:nvCxnSpPr>
            <p:cNvPr id="5" name="Прямая соединительная линия 4"/>
            <p:cNvCxnSpPr>
              <a:stCxn id="24" idx="3"/>
              <a:endCxn id="25" idx="7"/>
            </p:cNvCxnSpPr>
            <p:nvPr/>
          </p:nvCxnSpPr>
          <p:spPr>
            <a:xfrm flipV="1">
              <a:off x="2546914" y="2349876"/>
              <a:ext cx="357259" cy="4118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/>
            <p:cNvCxnSpPr>
              <a:stCxn id="24" idx="7"/>
              <a:endCxn id="23" idx="4"/>
            </p:cNvCxnSpPr>
            <p:nvPr/>
          </p:nvCxnSpPr>
          <p:spPr>
            <a:xfrm flipH="1">
              <a:off x="1997438" y="2840451"/>
              <a:ext cx="470772" cy="379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/>
            <p:cNvCxnSpPr>
              <a:stCxn id="21" idx="4"/>
              <a:endCxn id="24" idx="0"/>
            </p:cNvCxnSpPr>
            <p:nvPr/>
          </p:nvCxnSpPr>
          <p:spPr>
            <a:xfrm flipV="1">
              <a:off x="2448535" y="2856751"/>
              <a:ext cx="59027" cy="364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/>
            <p:cNvCxnSpPr>
              <a:stCxn id="22" idx="5"/>
              <a:endCxn id="24" idx="1"/>
            </p:cNvCxnSpPr>
            <p:nvPr/>
          </p:nvCxnSpPr>
          <p:spPr>
            <a:xfrm flipH="1" flipV="1">
              <a:off x="2546914" y="2840451"/>
              <a:ext cx="384825" cy="4077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stCxn id="20" idx="5"/>
              <a:endCxn id="25" idx="1"/>
            </p:cNvCxnSpPr>
            <p:nvPr/>
          </p:nvCxnSpPr>
          <p:spPr>
            <a:xfrm flipH="1" flipV="1">
              <a:off x="2982876" y="2349876"/>
              <a:ext cx="659264" cy="3822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/>
            <p:cNvCxnSpPr>
              <a:stCxn id="19" idx="4"/>
              <a:endCxn id="20" idx="0"/>
            </p:cNvCxnSpPr>
            <p:nvPr/>
          </p:nvCxnSpPr>
          <p:spPr>
            <a:xfrm flipH="1" flipV="1">
              <a:off x="3681493" y="2827129"/>
              <a:ext cx="30952" cy="411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stCxn id="33" idx="1"/>
              <a:endCxn id="32" idx="5"/>
            </p:cNvCxnSpPr>
            <p:nvPr/>
          </p:nvCxnSpPr>
          <p:spPr>
            <a:xfrm>
              <a:off x="1981138" y="4349651"/>
              <a:ext cx="338236" cy="3665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/>
            <p:cNvCxnSpPr>
              <a:stCxn id="34" idx="7"/>
              <a:endCxn id="32" idx="4"/>
            </p:cNvCxnSpPr>
            <p:nvPr/>
          </p:nvCxnSpPr>
          <p:spPr>
            <a:xfrm flipH="1">
              <a:off x="2358725" y="4405303"/>
              <a:ext cx="342718" cy="2945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/>
            <p:cNvCxnSpPr>
              <a:stCxn id="32" idx="1"/>
              <a:endCxn id="18" idx="5"/>
            </p:cNvCxnSpPr>
            <p:nvPr/>
          </p:nvCxnSpPr>
          <p:spPr>
            <a:xfrm>
              <a:off x="2398077" y="4794868"/>
              <a:ext cx="303366" cy="2556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/>
            <p:cNvCxnSpPr>
              <a:stCxn id="30" idx="0"/>
              <a:endCxn id="31" idx="3"/>
            </p:cNvCxnSpPr>
            <p:nvPr/>
          </p:nvCxnSpPr>
          <p:spPr>
            <a:xfrm flipH="1">
              <a:off x="4095921" y="4699864"/>
              <a:ext cx="124334" cy="4695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Овал 17"/>
            <p:cNvSpPr/>
            <p:nvPr/>
          </p:nvSpPr>
          <p:spPr>
            <a:xfrm flipH="1" flipV="1">
              <a:off x="2685143" y="5034230"/>
              <a:ext cx="111304" cy="1113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9" name="Овал 18"/>
            <p:cNvSpPr/>
            <p:nvPr/>
          </p:nvSpPr>
          <p:spPr>
            <a:xfrm flipH="1" flipV="1">
              <a:off x="3656793" y="3238600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20" name="Овал 19"/>
            <p:cNvSpPr/>
            <p:nvPr/>
          </p:nvSpPr>
          <p:spPr>
            <a:xfrm flipH="1" flipV="1">
              <a:off x="3625840" y="2715825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21" name="Овал 20"/>
            <p:cNvSpPr/>
            <p:nvPr/>
          </p:nvSpPr>
          <p:spPr>
            <a:xfrm flipH="1" flipV="1">
              <a:off x="2392883" y="3221504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22" name="Овал 21"/>
            <p:cNvSpPr/>
            <p:nvPr/>
          </p:nvSpPr>
          <p:spPr>
            <a:xfrm flipH="1" flipV="1">
              <a:off x="2915439" y="3231894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23" name="Овал 22"/>
            <p:cNvSpPr/>
            <p:nvPr/>
          </p:nvSpPr>
          <p:spPr>
            <a:xfrm flipH="1" flipV="1">
              <a:off x="1941786" y="3220246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24" name="Овал 23"/>
            <p:cNvSpPr/>
            <p:nvPr/>
          </p:nvSpPr>
          <p:spPr>
            <a:xfrm flipH="1" flipV="1">
              <a:off x="2451910" y="2745447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25" name="Овал 24"/>
            <p:cNvSpPr/>
            <p:nvPr/>
          </p:nvSpPr>
          <p:spPr>
            <a:xfrm flipH="1" flipV="1">
              <a:off x="2887872" y="2254872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26" name="Овал 25"/>
            <p:cNvSpPr/>
            <p:nvPr/>
          </p:nvSpPr>
          <p:spPr>
            <a:xfrm flipH="1" flipV="1">
              <a:off x="1985472" y="5256838"/>
              <a:ext cx="111304" cy="1113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29" name="Овал 28"/>
            <p:cNvSpPr/>
            <p:nvPr/>
          </p:nvSpPr>
          <p:spPr>
            <a:xfrm flipH="1" flipV="1">
              <a:off x="3511416" y="4699864"/>
              <a:ext cx="111304" cy="1113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30" name="Овал 29"/>
            <p:cNvSpPr/>
            <p:nvPr/>
          </p:nvSpPr>
          <p:spPr>
            <a:xfrm flipH="1" flipV="1">
              <a:off x="4164603" y="4588560"/>
              <a:ext cx="111304" cy="1113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31" name="Овал 30"/>
            <p:cNvSpPr/>
            <p:nvPr/>
          </p:nvSpPr>
          <p:spPr>
            <a:xfrm flipH="1" flipV="1">
              <a:off x="4000917" y="5153107"/>
              <a:ext cx="111304" cy="1113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32" name="Овал 31"/>
            <p:cNvSpPr/>
            <p:nvPr/>
          </p:nvSpPr>
          <p:spPr>
            <a:xfrm flipH="1" flipV="1">
              <a:off x="2303073" y="4699864"/>
              <a:ext cx="111304" cy="1113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33" name="Овал 32"/>
            <p:cNvSpPr/>
            <p:nvPr/>
          </p:nvSpPr>
          <p:spPr>
            <a:xfrm flipH="1" flipV="1">
              <a:off x="1886134" y="4254647"/>
              <a:ext cx="111304" cy="1113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34" name="Овал 33"/>
            <p:cNvSpPr/>
            <p:nvPr/>
          </p:nvSpPr>
          <p:spPr>
            <a:xfrm flipH="1" flipV="1">
              <a:off x="2685143" y="4310299"/>
              <a:ext cx="111304" cy="1113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cxnSp>
          <p:nvCxnSpPr>
            <p:cNvPr id="55" name="Прямая соединительная линия 54"/>
            <p:cNvCxnSpPr>
              <a:stCxn id="30" idx="5"/>
              <a:endCxn id="29" idx="3"/>
            </p:cNvCxnSpPr>
            <p:nvPr/>
          </p:nvCxnSpPr>
          <p:spPr>
            <a:xfrm flipH="1">
              <a:off x="3606420" y="4604860"/>
              <a:ext cx="574483" cy="1113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/>
            <p:cNvCxnSpPr>
              <a:stCxn id="31" idx="0"/>
              <a:endCxn id="29" idx="7"/>
            </p:cNvCxnSpPr>
            <p:nvPr/>
          </p:nvCxnSpPr>
          <p:spPr>
            <a:xfrm flipH="1" flipV="1">
              <a:off x="3527716" y="4794868"/>
              <a:ext cx="528853" cy="4695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единительная линия 56"/>
            <p:cNvCxnSpPr>
              <a:stCxn id="26" idx="2"/>
              <a:endCxn id="31" idx="7"/>
            </p:cNvCxnSpPr>
            <p:nvPr/>
          </p:nvCxnSpPr>
          <p:spPr>
            <a:xfrm flipV="1">
              <a:off x="2096777" y="5248111"/>
              <a:ext cx="1920441" cy="643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единительная линия 58"/>
            <p:cNvCxnSpPr>
              <a:stCxn id="26" idx="3"/>
              <a:endCxn id="32" idx="6"/>
            </p:cNvCxnSpPr>
            <p:nvPr/>
          </p:nvCxnSpPr>
          <p:spPr>
            <a:xfrm flipV="1">
              <a:off x="2080476" y="4755516"/>
              <a:ext cx="222597" cy="5176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Прямая соединительная линия 77"/>
            <p:cNvCxnSpPr>
              <a:stCxn id="32" idx="3"/>
              <a:endCxn id="29" idx="6"/>
            </p:cNvCxnSpPr>
            <p:nvPr/>
          </p:nvCxnSpPr>
          <p:spPr>
            <a:xfrm>
              <a:off x="2398077" y="4716165"/>
              <a:ext cx="1113339" cy="393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Скругленная соединительная линия 89"/>
            <p:cNvCxnSpPr>
              <a:stCxn id="24" idx="5"/>
              <a:endCxn id="33" idx="6"/>
            </p:cNvCxnSpPr>
            <p:nvPr/>
          </p:nvCxnSpPr>
          <p:spPr>
            <a:xfrm rot="16200000" flipH="1" flipV="1">
              <a:off x="1402896" y="3244984"/>
              <a:ext cx="1548552" cy="582076"/>
            </a:xfrm>
            <a:prstGeom prst="curvedConnector4">
              <a:avLst>
                <a:gd name="adj1" fmla="val -9378"/>
                <a:gd name="adj2" fmla="val 186136"/>
              </a:avLst>
            </a:prstGeom>
            <a:ln>
              <a:prstDash val="lg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Скругленная соединительная линия 92"/>
            <p:cNvCxnSpPr>
              <a:stCxn id="25" idx="7"/>
              <a:endCxn id="30" idx="5"/>
            </p:cNvCxnSpPr>
            <p:nvPr/>
          </p:nvCxnSpPr>
          <p:spPr>
            <a:xfrm rot="16200000" flipH="1">
              <a:off x="2415045" y="2839003"/>
              <a:ext cx="2254985" cy="1276730"/>
            </a:xfrm>
            <a:prstGeom prst="curvedConnector3">
              <a:avLst>
                <a:gd name="adj1" fmla="val 50000"/>
              </a:avLst>
            </a:prstGeom>
            <a:ln>
              <a:prstDash val="lg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Скругленная соединительная линия 96"/>
            <p:cNvCxnSpPr>
              <a:stCxn id="22" idx="0"/>
              <a:endCxn id="34" idx="4"/>
            </p:cNvCxnSpPr>
            <p:nvPr/>
          </p:nvCxnSpPr>
          <p:spPr>
            <a:xfrm rot="5400000">
              <a:off x="2372393" y="3711601"/>
              <a:ext cx="967100" cy="230296"/>
            </a:xfrm>
            <a:prstGeom prst="curvedConnector3">
              <a:avLst>
                <a:gd name="adj1" fmla="val 50000"/>
              </a:avLst>
            </a:prstGeom>
            <a:ln>
              <a:prstDash val="lg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Скругленная соединительная линия 99"/>
            <p:cNvCxnSpPr>
              <a:stCxn id="20" idx="2"/>
              <a:endCxn id="26" idx="7"/>
            </p:cNvCxnSpPr>
            <p:nvPr/>
          </p:nvCxnSpPr>
          <p:spPr>
            <a:xfrm flipH="1">
              <a:off x="2001773" y="2771477"/>
              <a:ext cx="1735372" cy="2580365"/>
            </a:xfrm>
            <a:prstGeom prst="curvedConnector4">
              <a:avLst>
                <a:gd name="adj1" fmla="val -76769"/>
                <a:gd name="adj2" fmla="val 113031"/>
              </a:avLst>
            </a:prstGeom>
            <a:ln>
              <a:prstDash val="lg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Прямоугольник 107"/>
            <p:cNvSpPr/>
            <p:nvPr/>
          </p:nvSpPr>
          <p:spPr>
            <a:xfrm>
              <a:off x="645485" y="2071162"/>
              <a:ext cx="4730435" cy="14521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864210" y="2112150"/>
              <a:ext cx="14794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/>
                <a:t>начало каркаса</a:t>
              </a:r>
            </a:p>
          </p:txBody>
        </p:sp>
        <p:sp>
          <p:nvSpPr>
            <p:cNvPr id="110" name="Прямоугольник 109"/>
            <p:cNvSpPr/>
            <p:nvPr/>
          </p:nvSpPr>
          <p:spPr>
            <a:xfrm>
              <a:off x="645485" y="4086336"/>
              <a:ext cx="4730435" cy="145212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639762" y="4597803"/>
              <a:ext cx="16390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/>
                <a:t>не обработанные</a:t>
              </a:r>
            </a:p>
            <a:p>
              <a:r>
                <a:rPr lang="ru-RU" sz="1400" dirty="0"/>
                <a:t>вершины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45485" y="3684027"/>
              <a:ext cx="5509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/>
                <a:t>срез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370702" y="3651775"/>
              <a:ext cx="4780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e</a:t>
              </a:r>
              <a:r>
                <a:rPr lang="en-US" sz="1400" baseline="-25000"/>
                <a:t>min</a:t>
              </a:r>
              <a:endParaRPr lang="ru-RU" sz="1400" baseline="-25000"/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3664664" y="364502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e</a:t>
              </a:r>
              <a:endParaRPr lang="ru-RU" sz="1400" baseline="-25000"/>
            </a:p>
          </p:txBody>
        </p:sp>
      </p:grpSp>
      <p:grpSp>
        <p:nvGrpSpPr>
          <p:cNvPr id="172" name="Группа 171"/>
          <p:cNvGrpSpPr/>
          <p:nvPr/>
        </p:nvGrpSpPr>
        <p:grpSpPr>
          <a:xfrm>
            <a:off x="6888088" y="2071162"/>
            <a:ext cx="4730435" cy="3467296"/>
            <a:chOff x="6888088" y="2071162"/>
            <a:chExt cx="4730435" cy="3467296"/>
          </a:xfrm>
        </p:grpSpPr>
        <p:cxnSp>
          <p:nvCxnSpPr>
            <p:cNvPr id="124" name="Прямая соединительная линия 123"/>
            <p:cNvCxnSpPr>
              <a:stCxn id="140" idx="3"/>
              <a:endCxn id="141" idx="7"/>
            </p:cNvCxnSpPr>
            <p:nvPr/>
          </p:nvCxnSpPr>
          <p:spPr>
            <a:xfrm flipV="1">
              <a:off x="8262127" y="2339562"/>
              <a:ext cx="357259" cy="4118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Прямая соединительная линия 124"/>
            <p:cNvCxnSpPr>
              <a:stCxn id="140" idx="7"/>
              <a:endCxn id="139" idx="4"/>
            </p:cNvCxnSpPr>
            <p:nvPr/>
          </p:nvCxnSpPr>
          <p:spPr>
            <a:xfrm flipH="1">
              <a:off x="7712651" y="2830137"/>
              <a:ext cx="470772" cy="379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Прямая соединительная линия 125"/>
            <p:cNvCxnSpPr>
              <a:stCxn id="137" idx="4"/>
              <a:endCxn id="140" idx="0"/>
            </p:cNvCxnSpPr>
            <p:nvPr/>
          </p:nvCxnSpPr>
          <p:spPr>
            <a:xfrm flipV="1">
              <a:off x="8163748" y="2846437"/>
              <a:ext cx="59027" cy="364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Прямая соединительная линия 126"/>
            <p:cNvCxnSpPr>
              <a:stCxn id="138" idx="5"/>
              <a:endCxn id="140" idx="1"/>
            </p:cNvCxnSpPr>
            <p:nvPr/>
          </p:nvCxnSpPr>
          <p:spPr>
            <a:xfrm flipH="1" flipV="1">
              <a:off x="8262127" y="2830137"/>
              <a:ext cx="384825" cy="4077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Прямая соединительная линия 127"/>
            <p:cNvCxnSpPr>
              <a:stCxn id="136" idx="5"/>
              <a:endCxn id="141" idx="1"/>
            </p:cNvCxnSpPr>
            <p:nvPr/>
          </p:nvCxnSpPr>
          <p:spPr>
            <a:xfrm flipH="1" flipV="1">
              <a:off x="8698089" y="2339562"/>
              <a:ext cx="659264" cy="3822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Прямая соединительная линия 128"/>
            <p:cNvCxnSpPr>
              <a:stCxn id="135" idx="4"/>
              <a:endCxn id="136" idx="0"/>
            </p:cNvCxnSpPr>
            <p:nvPr/>
          </p:nvCxnSpPr>
          <p:spPr>
            <a:xfrm flipH="1" flipV="1">
              <a:off x="9396705" y="2816815"/>
              <a:ext cx="30952" cy="411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Прямая соединительная линия 129"/>
            <p:cNvCxnSpPr>
              <a:stCxn id="147" idx="1"/>
              <a:endCxn id="146" idx="5"/>
            </p:cNvCxnSpPr>
            <p:nvPr/>
          </p:nvCxnSpPr>
          <p:spPr>
            <a:xfrm>
              <a:off x="7696351" y="4339337"/>
              <a:ext cx="338236" cy="3665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Прямая соединительная линия 130"/>
            <p:cNvCxnSpPr>
              <a:stCxn id="148" idx="7"/>
              <a:endCxn id="146" idx="4"/>
            </p:cNvCxnSpPr>
            <p:nvPr/>
          </p:nvCxnSpPr>
          <p:spPr>
            <a:xfrm flipH="1">
              <a:off x="8073938" y="4394989"/>
              <a:ext cx="342718" cy="2945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Прямая соединительная линия 131"/>
            <p:cNvCxnSpPr>
              <a:stCxn id="146" idx="1"/>
              <a:endCxn id="134" idx="5"/>
            </p:cNvCxnSpPr>
            <p:nvPr/>
          </p:nvCxnSpPr>
          <p:spPr>
            <a:xfrm>
              <a:off x="8113290" y="4784554"/>
              <a:ext cx="303366" cy="2556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Прямая соединительная линия 132"/>
            <p:cNvCxnSpPr>
              <a:stCxn id="144" idx="0"/>
              <a:endCxn id="145" idx="3"/>
            </p:cNvCxnSpPr>
            <p:nvPr/>
          </p:nvCxnSpPr>
          <p:spPr>
            <a:xfrm flipH="1">
              <a:off x="9811133" y="4689550"/>
              <a:ext cx="124334" cy="4695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Овал 133"/>
            <p:cNvSpPr/>
            <p:nvPr/>
          </p:nvSpPr>
          <p:spPr>
            <a:xfrm flipH="1" flipV="1">
              <a:off x="8400356" y="5023916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35" name="Овал 134"/>
            <p:cNvSpPr/>
            <p:nvPr/>
          </p:nvSpPr>
          <p:spPr>
            <a:xfrm flipH="1" flipV="1">
              <a:off x="9372005" y="3228286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36" name="Овал 135"/>
            <p:cNvSpPr/>
            <p:nvPr/>
          </p:nvSpPr>
          <p:spPr>
            <a:xfrm flipH="1" flipV="1">
              <a:off x="9341053" y="2705511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37" name="Овал 136"/>
            <p:cNvSpPr/>
            <p:nvPr/>
          </p:nvSpPr>
          <p:spPr>
            <a:xfrm flipH="1" flipV="1">
              <a:off x="8108095" y="3211190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38" name="Овал 137"/>
            <p:cNvSpPr/>
            <p:nvPr/>
          </p:nvSpPr>
          <p:spPr>
            <a:xfrm flipH="1" flipV="1">
              <a:off x="8630652" y="3221580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39" name="Овал 138"/>
            <p:cNvSpPr/>
            <p:nvPr/>
          </p:nvSpPr>
          <p:spPr>
            <a:xfrm flipH="1" flipV="1">
              <a:off x="7656999" y="3209932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40" name="Овал 139"/>
            <p:cNvSpPr/>
            <p:nvPr/>
          </p:nvSpPr>
          <p:spPr>
            <a:xfrm flipH="1" flipV="1">
              <a:off x="8167123" y="2735133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41" name="Овал 140"/>
            <p:cNvSpPr/>
            <p:nvPr/>
          </p:nvSpPr>
          <p:spPr>
            <a:xfrm flipH="1" flipV="1">
              <a:off x="8603085" y="2244558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42" name="Овал 141"/>
            <p:cNvSpPr/>
            <p:nvPr/>
          </p:nvSpPr>
          <p:spPr>
            <a:xfrm flipH="1" flipV="1">
              <a:off x="7700685" y="5246524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43" name="Овал 142"/>
            <p:cNvSpPr/>
            <p:nvPr/>
          </p:nvSpPr>
          <p:spPr>
            <a:xfrm flipH="1" flipV="1">
              <a:off x="9226629" y="4689550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44" name="Овал 143"/>
            <p:cNvSpPr/>
            <p:nvPr/>
          </p:nvSpPr>
          <p:spPr>
            <a:xfrm flipH="1" flipV="1">
              <a:off x="9879815" y="4578246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45" name="Овал 144"/>
            <p:cNvSpPr/>
            <p:nvPr/>
          </p:nvSpPr>
          <p:spPr>
            <a:xfrm flipH="1" flipV="1">
              <a:off x="9716129" y="5142793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46" name="Овал 145"/>
            <p:cNvSpPr/>
            <p:nvPr/>
          </p:nvSpPr>
          <p:spPr>
            <a:xfrm flipH="1" flipV="1">
              <a:off x="8018286" y="4689550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47" name="Овал 146"/>
            <p:cNvSpPr/>
            <p:nvPr/>
          </p:nvSpPr>
          <p:spPr>
            <a:xfrm flipH="1" flipV="1">
              <a:off x="7601347" y="4244333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48" name="Овал 147"/>
            <p:cNvSpPr/>
            <p:nvPr/>
          </p:nvSpPr>
          <p:spPr>
            <a:xfrm flipH="1" flipV="1">
              <a:off x="8400356" y="4299985"/>
              <a:ext cx="111304" cy="11130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cxnSp>
          <p:nvCxnSpPr>
            <p:cNvPr id="149" name="Прямая соединительная линия 148"/>
            <p:cNvCxnSpPr>
              <a:stCxn id="144" idx="5"/>
              <a:endCxn id="143" idx="3"/>
            </p:cNvCxnSpPr>
            <p:nvPr/>
          </p:nvCxnSpPr>
          <p:spPr>
            <a:xfrm flipH="1">
              <a:off x="9321633" y="4594546"/>
              <a:ext cx="574483" cy="1113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Прямая соединительная линия 151"/>
            <p:cNvCxnSpPr>
              <a:stCxn id="142" idx="3"/>
              <a:endCxn id="146" idx="6"/>
            </p:cNvCxnSpPr>
            <p:nvPr/>
          </p:nvCxnSpPr>
          <p:spPr>
            <a:xfrm flipV="1">
              <a:off x="7795689" y="4745203"/>
              <a:ext cx="222597" cy="5176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Прямая соединительная линия 152"/>
            <p:cNvCxnSpPr>
              <a:stCxn id="146" idx="3"/>
              <a:endCxn id="143" idx="6"/>
            </p:cNvCxnSpPr>
            <p:nvPr/>
          </p:nvCxnSpPr>
          <p:spPr>
            <a:xfrm>
              <a:off x="8113290" y="4705851"/>
              <a:ext cx="1113339" cy="393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Скругленная соединительная линия 154"/>
            <p:cNvCxnSpPr>
              <a:stCxn id="141" idx="7"/>
              <a:endCxn id="144" idx="5"/>
            </p:cNvCxnSpPr>
            <p:nvPr/>
          </p:nvCxnSpPr>
          <p:spPr>
            <a:xfrm rot="16200000" flipH="1">
              <a:off x="8130258" y="2828689"/>
              <a:ext cx="2254985" cy="1276730"/>
            </a:xfrm>
            <a:prstGeom prst="curvedConnector3">
              <a:avLst>
                <a:gd name="adj1" fmla="val 50000"/>
              </a:avLst>
            </a:prstGeom>
            <a:ln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Скругленная соединительная линия 155"/>
            <p:cNvCxnSpPr>
              <a:stCxn id="138" idx="0"/>
              <a:endCxn id="148" idx="4"/>
            </p:cNvCxnSpPr>
            <p:nvPr/>
          </p:nvCxnSpPr>
          <p:spPr>
            <a:xfrm rot="5400000">
              <a:off x="8087606" y="3701287"/>
              <a:ext cx="967100" cy="230296"/>
            </a:xfrm>
            <a:prstGeom prst="curvedConnector3">
              <a:avLst>
                <a:gd name="adj1" fmla="val 50000"/>
              </a:avLst>
            </a:prstGeom>
            <a:ln>
              <a:prstDash val="lg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Прямоугольник 157"/>
            <p:cNvSpPr/>
            <p:nvPr/>
          </p:nvSpPr>
          <p:spPr>
            <a:xfrm>
              <a:off x="6888088" y="2071162"/>
              <a:ext cx="4730435" cy="34672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9579423" y="2101836"/>
              <a:ext cx="7376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/>
                <a:t>каркас</a:t>
              </a:r>
              <a:endParaRPr lang="ru-RU" sz="1400" dirty="0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8085916" y="3641461"/>
              <a:ext cx="4780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e</a:t>
              </a:r>
              <a:r>
                <a:rPr lang="en-US" sz="1400" baseline="-25000"/>
                <a:t>min</a:t>
              </a:r>
              <a:endParaRPr lang="ru-RU" sz="1400" baseline="-25000"/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9387420" y="365177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e</a:t>
              </a:r>
              <a:endParaRPr lang="ru-RU" sz="1400" baseline="-25000"/>
            </a:p>
          </p:txBody>
        </p:sp>
      </p:grpSp>
      <p:sp>
        <p:nvSpPr>
          <p:cNvPr id="169" name="Заголовок 16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Доказательство корректности алгоритма Прима</a:t>
            </a:r>
          </a:p>
        </p:txBody>
      </p:sp>
    </p:spTree>
    <p:extLst>
      <p:ext uri="{BB962C8B-B14F-4D97-AF65-F5344CB8AC3E}">
        <p14:creationId xmlns:p14="http://schemas.microsoft.com/office/powerpoint/2010/main" val="1561724344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Сравнение алгоритмов </a:t>
            </a:r>
            <a:r>
              <a:rPr lang="ru-RU" dirty="0" err="1"/>
              <a:t>Краскала</a:t>
            </a:r>
            <a:r>
              <a:rPr lang="ru-RU" dirty="0"/>
              <a:t> и Прима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N = #</a:t>
            </a:r>
            <a:r>
              <a:rPr lang="ru-RU" dirty="0">
                <a:solidFill>
                  <a:schemeClr val="bg1"/>
                </a:solidFill>
              </a:rPr>
              <a:t> вершин, </a:t>
            </a:r>
            <a:r>
              <a:rPr lang="en-US" dirty="0">
                <a:solidFill>
                  <a:schemeClr val="bg1"/>
                </a:solidFill>
              </a:rPr>
              <a:t>M = # </a:t>
            </a:r>
            <a:r>
              <a:rPr lang="ru-RU" dirty="0">
                <a:solidFill>
                  <a:schemeClr val="bg1"/>
                </a:solidFill>
              </a:rPr>
              <a:t>ребер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#</a:t>
            </a:r>
            <a:r>
              <a:rPr lang="ru-RU" dirty="0">
                <a:solidFill>
                  <a:schemeClr val="bg1"/>
                </a:solidFill>
              </a:rPr>
              <a:t> операций в алгоритме Прима = </a:t>
            </a:r>
            <a:r>
              <a:rPr lang="en-US" dirty="0">
                <a:solidFill>
                  <a:schemeClr val="bg1"/>
                </a:solidFill>
              </a:rPr>
              <a:t>O(N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^ 2)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M = O(N)</a:t>
            </a:r>
            <a:r>
              <a:rPr lang="ru-RU" dirty="0">
                <a:solidFill>
                  <a:schemeClr val="bg1"/>
                </a:solidFill>
              </a:rPr>
              <a:t>, то </a:t>
            </a:r>
            <a:r>
              <a:rPr lang="en-US" dirty="0">
                <a:solidFill>
                  <a:schemeClr val="bg1"/>
                </a:solidFill>
              </a:rPr>
              <a:t>O(N </a:t>
            </a:r>
            <a:r>
              <a:rPr lang="en-US" dirty="0" err="1">
                <a:solidFill>
                  <a:schemeClr val="bg1"/>
                </a:solidFill>
              </a:rPr>
              <a:t>logN</a:t>
            </a:r>
            <a:r>
              <a:rPr lang="en-US" dirty="0">
                <a:solidFill>
                  <a:schemeClr val="bg1"/>
                </a:solidFill>
              </a:rPr>
              <a:t>) </a:t>
            </a:r>
            <a:r>
              <a:rPr lang="ru-RU" dirty="0">
                <a:solidFill>
                  <a:schemeClr val="bg1"/>
                </a:solidFill>
              </a:rPr>
              <a:t>при использовании пирамиды (</a:t>
            </a:r>
            <a:r>
              <a:rPr lang="en-US" dirty="0">
                <a:solidFill>
                  <a:schemeClr val="bg1"/>
                </a:solidFill>
              </a:rPr>
              <a:t>heap</a:t>
            </a:r>
            <a:r>
              <a:rPr lang="ru-RU" dirty="0">
                <a:solidFill>
                  <a:schemeClr val="bg1"/>
                </a:solidFill>
              </a:rPr>
              <a:t>)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для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endParaRPr lang="en-US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операций в алгоритме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=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O(</a:t>
            </a:r>
            <a:r>
              <a:rPr lang="en-US" dirty="0">
                <a:solidFill>
                  <a:schemeClr val="bg1"/>
                </a:solidFill>
              </a:rPr>
              <a:t>M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en-US" dirty="0">
                <a:solidFill>
                  <a:schemeClr val="bg1"/>
                </a:solidFill>
              </a:rPr>
              <a:t>log(M)</a:t>
            </a:r>
            <a:r>
              <a:rPr lang="ru-RU" dirty="0">
                <a:solidFill>
                  <a:schemeClr val="bg1"/>
                </a:solidFill>
              </a:rPr>
              <a:t> +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el-G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100" dirty="0">
                <a:solidFill>
                  <a:schemeClr val="bg1"/>
                </a:solidFill>
              </a:rPr>
              <a:t>(N)</a:t>
            </a:r>
            <a:r>
              <a:rPr lang="ru-RU" dirty="0">
                <a:solidFill>
                  <a:schemeClr val="bg1"/>
                </a:solidFill>
              </a:rPr>
              <a:t>)</a:t>
            </a:r>
            <a:endParaRPr lang="ru-RU" sz="3100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Для больших графов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M = O(N^2), </a:t>
            </a:r>
            <a:r>
              <a:rPr lang="ru-RU" dirty="0">
                <a:solidFill>
                  <a:schemeClr val="bg1"/>
                </a:solidFill>
              </a:rPr>
              <a:t>то 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медленнее алгоритма Прима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M = O(N), </a:t>
            </a:r>
            <a:r>
              <a:rPr lang="ru-RU" dirty="0">
                <a:solidFill>
                  <a:schemeClr val="bg1"/>
                </a:solidFill>
              </a:rPr>
              <a:t>то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быстрее алгоритма Прима с обычным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примерно равен по скорости алгоритму Прима с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на основе пирамиды</a:t>
            </a:r>
          </a:p>
        </p:txBody>
      </p:sp>
    </p:spTree>
    <p:extLst>
      <p:ext uri="{BB962C8B-B14F-4D97-AF65-F5344CB8AC3E}">
        <p14:creationId xmlns:p14="http://schemas.microsoft.com/office/powerpoint/2010/main" val="1160699832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Сравнение алгоритмов </a:t>
            </a:r>
            <a:r>
              <a:rPr lang="ru-RU" dirty="0" err="1"/>
              <a:t>Краскала</a:t>
            </a:r>
            <a:r>
              <a:rPr lang="ru-RU" dirty="0"/>
              <a:t> и Прима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 = #</a:t>
            </a:r>
            <a:r>
              <a:rPr lang="ru-RU" dirty="0"/>
              <a:t> вершин, </a:t>
            </a:r>
            <a:r>
              <a:rPr lang="en-US" dirty="0"/>
              <a:t>M = # </a:t>
            </a:r>
            <a:r>
              <a:rPr lang="ru-RU" dirty="0"/>
              <a:t>ребер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bg1"/>
                </a:solidFill>
              </a:rPr>
              <a:t>#</a:t>
            </a:r>
            <a:r>
              <a:rPr lang="ru-RU" dirty="0">
                <a:solidFill>
                  <a:schemeClr val="bg1"/>
                </a:solidFill>
              </a:rPr>
              <a:t> операций в алгоритме Прима = </a:t>
            </a:r>
            <a:r>
              <a:rPr lang="en-US" dirty="0">
                <a:solidFill>
                  <a:schemeClr val="bg1"/>
                </a:solidFill>
              </a:rPr>
              <a:t>O(N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^ 2)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M = O(N)</a:t>
            </a:r>
            <a:r>
              <a:rPr lang="ru-RU" dirty="0">
                <a:solidFill>
                  <a:schemeClr val="bg1"/>
                </a:solidFill>
              </a:rPr>
              <a:t>, то </a:t>
            </a:r>
            <a:r>
              <a:rPr lang="en-US" dirty="0">
                <a:solidFill>
                  <a:schemeClr val="bg1"/>
                </a:solidFill>
              </a:rPr>
              <a:t>O(N </a:t>
            </a:r>
            <a:r>
              <a:rPr lang="en-US" dirty="0" err="1">
                <a:solidFill>
                  <a:schemeClr val="bg1"/>
                </a:solidFill>
              </a:rPr>
              <a:t>logN</a:t>
            </a:r>
            <a:r>
              <a:rPr lang="en-US" dirty="0">
                <a:solidFill>
                  <a:schemeClr val="bg1"/>
                </a:solidFill>
              </a:rPr>
              <a:t>) </a:t>
            </a:r>
            <a:r>
              <a:rPr lang="ru-RU" dirty="0">
                <a:solidFill>
                  <a:schemeClr val="bg1"/>
                </a:solidFill>
              </a:rPr>
              <a:t>при использовании пирамиды (</a:t>
            </a:r>
            <a:r>
              <a:rPr lang="en-US" dirty="0">
                <a:solidFill>
                  <a:schemeClr val="bg1"/>
                </a:solidFill>
              </a:rPr>
              <a:t>heap</a:t>
            </a:r>
            <a:r>
              <a:rPr lang="ru-RU" dirty="0">
                <a:solidFill>
                  <a:schemeClr val="bg1"/>
                </a:solidFill>
              </a:rPr>
              <a:t>)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для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endParaRPr lang="en-US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операций в алгоритме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=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O(</a:t>
            </a:r>
            <a:r>
              <a:rPr lang="en-US" dirty="0">
                <a:solidFill>
                  <a:schemeClr val="bg1"/>
                </a:solidFill>
              </a:rPr>
              <a:t>M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en-US" dirty="0">
                <a:solidFill>
                  <a:schemeClr val="bg1"/>
                </a:solidFill>
              </a:rPr>
              <a:t>log(M)</a:t>
            </a:r>
            <a:r>
              <a:rPr lang="ru-RU" dirty="0">
                <a:solidFill>
                  <a:schemeClr val="bg1"/>
                </a:solidFill>
              </a:rPr>
              <a:t> +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el-G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100" dirty="0">
                <a:solidFill>
                  <a:schemeClr val="bg1"/>
                </a:solidFill>
              </a:rPr>
              <a:t>(N)</a:t>
            </a:r>
            <a:r>
              <a:rPr lang="ru-RU" dirty="0">
                <a:solidFill>
                  <a:schemeClr val="bg1"/>
                </a:solidFill>
              </a:rPr>
              <a:t>)</a:t>
            </a:r>
            <a:endParaRPr lang="ru-RU" sz="3100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Для больших графов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M = O(N^2), </a:t>
            </a:r>
            <a:r>
              <a:rPr lang="ru-RU" dirty="0">
                <a:solidFill>
                  <a:schemeClr val="bg1"/>
                </a:solidFill>
              </a:rPr>
              <a:t>то 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медленнее алгоритма Прима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M = O(N), </a:t>
            </a:r>
            <a:r>
              <a:rPr lang="ru-RU" dirty="0">
                <a:solidFill>
                  <a:schemeClr val="bg1"/>
                </a:solidFill>
              </a:rPr>
              <a:t>то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быстрее алгоритма Прима с обычным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примерно равен по скорости алгоритму Прима с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на основе пирамиды</a:t>
            </a:r>
          </a:p>
        </p:txBody>
      </p:sp>
    </p:spTree>
    <p:extLst>
      <p:ext uri="{BB962C8B-B14F-4D97-AF65-F5344CB8AC3E}">
        <p14:creationId xmlns:p14="http://schemas.microsoft.com/office/powerpoint/2010/main" val="606617358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Сравнение алгоритмов </a:t>
            </a:r>
            <a:r>
              <a:rPr lang="ru-RU" dirty="0" err="1"/>
              <a:t>Краскала</a:t>
            </a:r>
            <a:r>
              <a:rPr lang="ru-RU" dirty="0"/>
              <a:t> и Прима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 = #</a:t>
            </a:r>
            <a:r>
              <a:rPr lang="ru-RU" dirty="0"/>
              <a:t> вершин, </a:t>
            </a:r>
            <a:r>
              <a:rPr lang="en-US" dirty="0"/>
              <a:t>M = # </a:t>
            </a:r>
            <a:r>
              <a:rPr lang="ru-RU" dirty="0"/>
              <a:t>ребер</a:t>
            </a:r>
            <a:endParaRPr lang="en-US" dirty="0"/>
          </a:p>
          <a:p>
            <a:endParaRPr lang="en-US" dirty="0"/>
          </a:p>
          <a:p>
            <a:r>
              <a:rPr lang="en-US" dirty="0"/>
              <a:t>#</a:t>
            </a:r>
            <a:r>
              <a:rPr lang="ru-RU" dirty="0"/>
              <a:t> операций в алгоритме Прима = </a:t>
            </a:r>
            <a:r>
              <a:rPr lang="en-US" dirty="0"/>
              <a:t>O(N</a:t>
            </a:r>
            <a:r>
              <a:rPr lang="ru-RU" dirty="0"/>
              <a:t> </a:t>
            </a:r>
            <a:r>
              <a:rPr lang="en-US" dirty="0"/>
              <a:t>^ 2)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M = O(N)</a:t>
            </a:r>
            <a:r>
              <a:rPr lang="ru-RU" dirty="0">
                <a:solidFill>
                  <a:schemeClr val="bg1"/>
                </a:solidFill>
              </a:rPr>
              <a:t>, то </a:t>
            </a:r>
            <a:r>
              <a:rPr lang="en-US" dirty="0">
                <a:solidFill>
                  <a:schemeClr val="bg1"/>
                </a:solidFill>
              </a:rPr>
              <a:t>O(N </a:t>
            </a:r>
            <a:r>
              <a:rPr lang="en-US" dirty="0" err="1">
                <a:solidFill>
                  <a:schemeClr val="bg1"/>
                </a:solidFill>
              </a:rPr>
              <a:t>logN</a:t>
            </a:r>
            <a:r>
              <a:rPr lang="en-US" dirty="0">
                <a:solidFill>
                  <a:schemeClr val="bg1"/>
                </a:solidFill>
              </a:rPr>
              <a:t>) </a:t>
            </a:r>
            <a:r>
              <a:rPr lang="ru-RU" dirty="0">
                <a:solidFill>
                  <a:schemeClr val="bg1"/>
                </a:solidFill>
              </a:rPr>
              <a:t>при использовании пирамиды (</a:t>
            </a:r>
            <a:r>
              <a:rPr lang="en-US" dirty="0">
                <a:solidFill>
                  <a:schemeClr val="bg1"/>
                </a:solidFill>
              </a:rPr>
              <a:t>heap</a:t>
            </a:r>
            <a:r>
              <a:rPr lang="ru-RU" dirty="0">
                <a:solidFill>
                  <a:schemeClr val="bg1"/>
                </a:solidFill>
              </a:rPr>
              <a:t>)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для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endParaRPr lang="en-US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операций в алгоритме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=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O(</a:t>
            </a:r>
            <a:r>
              <a:rPr lang="en-US" dirty="0">
                <a:solidFill>
                  <a:schemeClr val="bg1"/>
                </a:solidFill>
              </a:rPr>
              <a:t>M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en-US" dirty="0">
                <a:solidFill>
                  <a:schemeClr val="bg1"/>
                </a:solidFill>
              </a:rPr>
              <a:t>log(M)</a:t>
            </a:r>
            <a:r>
              <a:rPr lang="ru-RU" dirty="0">
                <a:solidFill>
                  <a:schemeClr val="bg1"/>
                </a:solidFill>
              </a:rPr>
              <a:t> +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el-G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100" dirty="0">
                <a:solidFill>
                  <a:schemeClr val="bg1"/>
                </a:solidFill>
              </a:rPr>
              <a:t>(N)</a:t>
            </a:r>
            <a:r>
              <a:rPr lang="ru-RU" dirty="0">
                <a:solidFill>
                  <a:schemeClr val="bg1"/>
                </a:solidFill>
              </a:rPr>
              <a:t>)</a:t>
            </a:r>
            <a:endParaRPr lang="ru-RU" sz="3100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Для больших графов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M = O(N^2), </a:t>
            </a:r>
            <a:r>
              <a:rPr lang="ru-RU" dirty="0">
                <a:solidFill>
                  <a:schemeClr val="bg1"/>
                </a:solidFill>
              </a:rPr>
              <a:t>то 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медленнее алгоритма Прима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M = O(N), </a:t>
            </a:r>
            <a:r>
              <a:rPr lang="ru-RU" dirty="0">
                <a:solidFill>
                  <a:schemeClr val="bg1"/>
                </a:solidFill>
              </a:rPr>
              <a:t>то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быстрее алгоритма Прима с обычным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примерно равен по скорости алгоритму Прима с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на основе пирамиды</a:t>
            </a:r>
          </a:p>
        </p:txBody>
      </p:sp>
    </p:spTree>
    <p:extLst>
      <p:ext uri="{BB962C8B-B14F-4D97-AF65-F5344CB8AC3E}">
        <p14:creationId xmlns:p14="http://schemas.microsoft.com/office/powerpoint/2010/main" val="1368825504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Сравнение алгоритмов </a:t>
            </a:r>
            <a:r>
              <a:rPr lang="ru-RU" dirty="0" err="1"/>
              <a:t>Краскала</a:t>
            </a:r>
            <a:r>
              <a:rPr lang="ru-RU" dirty="0"/>
              <a:t> и Прима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 = #</a:t>
            </a:r>
            <a:r>
              <a:rPr lang="ru-RU" dirty="0"/>
              <a:t> вершин, </a:t>
            </a:r>
            <a:r>
              <a:rPr lang="en-US" dirty="0"/>
              <a:t>M = # </a:t>
            </a:r>
            <a:r>
              <a:rPr lang="ru-RU" dirty="0"/>
              <a:t>ребер</a:t>
            </a:r>
            <a:endParaRPr lang="en-US" dirty="0"/>
          </a:p>
          <a:p>
            <a:endParaRPr lang="en-US" dirty="0"/>
          </a:p>
          <a:p>
            <a:r>
              <a:rPr lang="en-US" dirty="0"/>
              <a:t>#</a:t>
            </a:r>
            <a:r>
              <a:rPr lang="ru-RU" dirty="0"/>
              <a:t> операций в алгоритме Прима = </a:t>
            </a:r>
            <a:r>
              <a:rPr lang="en-US" dirty="0"/>
              <a:t>O(N</a:t>
            </a:r>
            <a:r>
              <a:rPr lang="ru-RU" dirty="0"/>
              <a:t> </a:t>
            </a:r>
            <a:r>
              <a:rPr lang="en-US" dirty="0"/>
              <a:t>^ 2)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M = O(N)</a:t>
            </a:r>
            <a:r>
              <a:rPr lang="ru-RU" dirty="0"/>
              <a:t>, то </a:t>
            </a:r>
            <a:r>
              <a:rPr lang="en-US" dirty="0"/>
              <a:t>O(N </a:t>
            </a:r>
            <a:r>
              <a:rPr lang="en-US" dirty="0" err="1"/>
              <a:t>logN</a:t>
            </a:r>
            <a:r>
              <a:rPr lang="en-US" dirty="0"/>
              <a:t>) </a:t>
            </a:r>
            <a:r>
              <a:rPr lang="ru-RU" dirty="0"/>
              <a:t>при использовании пирамиды (</a:t>
            </a:r>
            <a:r>
              <a:rPr lang="en-US" dirty="0"/>
              <a:t>heap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en-US" dirty="0" err="1"/>
              <a:t>ArgMin</a:t>
            </a:r>
            <a:endParaRPr lang="en-US" dirty="0"/>
          </a:p>
          <a:p>
            <a:endParaRPr lang="ru-RU" dirty="0"/>
          </a:p>
          <a:p>
            <a:r>
              <a:rPr lang="en-US" dirty="0">
                <a:solidFill>
                  <a:schemeClr val="bg1"/>
                </a:solidFill>
              </a:rPr>
              <a:t># </a:t>
            </a:r>
            <a:r>
              <a:rPr lang="ru-RU" dirty="0">
                <a:solidFill>
                  <a:schemeClr val="bg1"/>
                </a:solidFill>
              </a:rPr>
              <a:t>операций в алгоритме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=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O(</a:t>
            </a:r>
            <a:r>
              <a:rPr lang="en-US" dirty="0">
                <a:solidFill>
                  <a:schemeClr val="bg1"/>
                </a:solidFill>
              </a:rPr>
              <a:t>M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en-US" dirty="0">
                <a:solidFill>
                  <a:schemeClr val="bg1"/>
                </a:solidFill>
              </a:rPr>
              <a:t>log(M)</a:t>
            </a:r>
            <a:r>
              <a:rPr lang="ru-RU" dirty="0">
                <a:solidFill>
                  <a:schemeClr val="bg1"/>
                </a:solidFill>
              </a:rPr>
              <a:t> + </a:t>
            </a: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ru-RU" dirty="0">
                <a:solidFill>
                  <a:schemeClr val="bg1"/>
                </a:solidFill>
              </a:rPr>
              <a:t> * </a:t>
            </a:r>
            <a:r>
              <a:rPr lang="el-G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100" dirty="0">
                <a:solidFill>
                  <a:schemeClr val="bg1"/>
                </a:solidFill>
              </a:rPr>
              <a:t>(N)</a:t>
            </a:r>
            <a:r>
              <a:rPr lang="ru-RU" dirty="0">
                <a:solidFill>
                  <a:schemeClr val="bg1"/>
                </a:solidFill>
              </a:rPr>
              <a:t>)</a:t>
            </a:r>
            <a:endParaRPr lang="ru-RU" sz="3100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Для больших графов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M = O(N^2), </a:t>
            </a:r>
            <a:r>
              <a:rPr lang="ru-RU" dirty="0">
                <a:solidFill>
                  <a:schemeClr val="bg1"/>
                </a:solidFill>
              </a:rPr>
              <a:t>то 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медленнее алгоритма Прима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M = O(N), </a:t>
            </a:r>
            <a:r>
              <a:rPr lang="ru-RU" dirty="0">
                <a:solidFill>
                  <a:schemeClr val="bg1"/>
                </a:solidFill>
              </a:rPr>
              <a:t>то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быстрее алгоритма Прима с обычным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примерно равен по скорости алгоритму Прима с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на основе пирамиды</a:t>
            </a:r>
          </a:p>
        </p:txBody>
      </p:sp>
    </p:spTree>
    <p:extLst>
      <p:ext uri="{BB962C8B-B14F-4D97-AF65-F5344CB8AC3E}">
        <p14:creationId xmlns:p14="http://schemas.microsoft.com/office/powerpoint/2010/main" val="126426246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Сравнение алгоритмов </a:t>
            </a:r>
            <a:r>
              <a:rPr lang="ru-RU" dirty="0" err="1"/>
              <a:t>Краскала</a:t>
            </a:r>
            <a:r>
              <a:rPr lang="ru-RU" dirty="0"/>
              <a:t> и Прима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 = #</a:t>
            </a:r>
            <a:r>
              <a:rPr lang="ru-RU" dirty="0"/>
              <a:t> вершин, </a:t>
            </a:r>
            <a:r>
              <a:rPr lang="en-US" dirty="0"/>
              <a:t>M = # </a:t>
            </a:r>
            <a:r>
              <a:rPr lang="ru-RU" dirty="0"/>
              <a:t>ребер</a:t>
            </a:r>
            <a:endParaRPr lang="en-US" dirty="0"/>
          </a:p>
          <a:p>
            <a:endParaRPr lang="en-US" dirty="0"/>
          </a:p>
          <a:p>
            <a:r>
              <a:rPr lang="en-US" dirty="0"/>
              <a:t>#</a:t>
            </a:r>
            <a:r>
              <a:rPr lang="ru-RU" dirty="0"/>
              <a:t> операций в алгоритме Прима = </a:t>
            </a:r>
            <a:r>
              <a:rPr lang="en-US" dirty="0"/>
              <a:t>O(N</a:t>
            </a:r>
            <a:r>
              <a:rPr lang="ru-RU" dirty="0"/>
              <a:t> </a:t>
            </a:r>
            <a:r>
              <a:rPr lang="en-US" dirty="0"/>
              <a:t>^ 2)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M = O(N)</a:t>
            </a:r>
            <a:r>
              <a:rPr lang="ru-RU" dirty="0"/>
              <a:t>, то </a:t>
            </a:r>
            <a:r>
              <a:rPr lang="en-US" dirty="0"/>
              <a:t>O(N </a:t>
            </a:r>
            <a:r>
              <a:rPr lang="en-US" dirty="0" err="1"/>
              <a:t>logN</a:t>
            </a:r>
            <a:r>
              <a:rPr lang="en-US" dirty="0"/>
              <a:t>) </a:t>
            </a:r>
            <a:r>
              <a:rPr lang="ru-RU" dirty="0"/>
              <a:t>при использовании пирамиды (</a:t>
            </a:r>
            <a:r>
              <a:rPr lang="en-US" dirty="0"/>
              <a:t>heap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en-US" dirty="0" err="1"/>
              <a:t>ArgMin</a:t>
            </a:r>
            <a:endParaRPr lang="en-US" dirty="0"/>
          </a:p>
          <a:p>
            <a:endParaRPr lang="ru-RU" dirty="0"/>
          </a:p>
          <a:p>
            <a:r>
              <a:rPr lang="en-US" dirty="0"/>
              <a:t># </a:t>
            </a:r>
            <a:r>
              <a:rPr lang="ru-RU" dirty="0"/>
              <a:t>операций в алгоритме </a:t>
            </a:r>
            <a:r>
              <a:rPr lang="ru-RU" dirty="0" err="1"/>
              <a:t>Краскала</a:t>
            </a:r>
            <a:r>
              <a:rPr lang="ru-RU" dirty="0"/>
              <a:t> =</a:t>
            </a:r>
            <a:r>
              <a:rPr lang="en-US" dirty="0"/>
              <a:t> </a:t>
            </a:r>
            <a:r>
              <a:rPr lang="ru-RU" dirty="0"/>
              <a:t>O(</a:t>
            </a:r>
            <a:r>
              <a:rPr lang="en-US" dirty="0"/>
              <a:t>M</a:t>
            </a:r>
            <a:r>
              <a:rPr lang="ru-RU" dirty="0"/>
              <a:t> * </a:t>
            </a:r>
            <a:r>
              <a:rPr lang="en-US" dirty="0"/>
              <a:t>log(M)</a:t>
            </a:r>
            <a:r>
              <a:rPr lang="ru-RU" dirty="0"/>
              <a:t> + </a:t>
            </a:r>
            <a:r>
              <a:rPr lang="en-US" dirty="0"/>
              <a:t>N</a:t>
            </a:r>
            <a:r>
              <a:rPr lang="ru-RU" dirty="0"/>
              <a:t> *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100" dirty="0"/>
              <a:t>(N)</a:t>
            </a:r>
            <a:r>
              <a:rPr lang="ru-RU" dirty="0"/>
              <a:t>)</a:t>
            </a:r>
            <a:endParaRPr lang="ru-RU" sz="3100" dirty="0"/>
          </a:p>
          <a:p>
            <a:endParaRPr lang="ru-RU" dirty="0"/>
          </a:p>
          <a:p>
            <a:r>
              <a:rPr lang="ru-RU" dirty="0">
                <a:solidFill>
                  <a:schemeClr val="bg1"/>
                </a:solidFill>
              </a:rPr>
              <a:t>Для больших графов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M = O(N^2), </a:t>
            </a:r>
            <a:r>
              <a:rPr lang="ru-RU" dirty="0">
                <a:solidFill>
                  <a:schemeClr val="bg1"/>
                </a:solidFill>
              </a:rPr>
              <a:t>то 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медленнее алгоритма Прима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M = O(N), </a:t>
            </a:r>
            <a:r>
              <a:rPr lang="ru-RU" dirty="0">
                <a:solidFill>
                  <a:schemeClr val="bg1"/>
                </a:solidFill>
              </a:rPr>
              <a:t>то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быстрее алгоритма Прима с обычным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примерно равен по скорости алгоритму Прима с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на основе пирамиды</a:t>
            </a:r>
          </a:p>
        </p:txBody>
      </p:sp>
    </p:spTree>
    <p:extLst>
      <p:ext uri="{BB962C8B-B14F-4D97-AF65-F5344CB8AC3E}">
        <p14:creationId xmlns:p14="http://schemas.microsoft.com/office/powerpoint/2010/main" val="314524213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Сравнение алгоритмов </a:t>
            </a:r>
            <a:r>
              <a:rPr lang="ru-RU" dirty="0" err="1"/>
              <a:t>Краскала</a:t>
            </a:r>
            <a:r>
              <a:rPr lang="ru-RU" dirty="0"/>
              <a:t> и Прима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 = #</a:t>
            </a:r>
            <a:r>
              <a:rPr lang="ru-RU" dirty="0"/>
              <a:t> вершин, </a:t>
            </a:r>
            <a:r>
              <a:rPr lang="en-US" dirty="0"/>
              <a:t>M = # </a:t>
            </a:r>
            <a:r>
              <a:rPr lang="ru-RU" dirty="0"/>
              <a:t>ребер</a:t>
            </a:r>
            <a:endParaRPr lang="en-US" dirty="0"/>
          </a:p>
          <a:p>
            <a:endParaRPr lang="en-US" dirty="0"/>
          </a:p>
          <a:p>
            <a:r>
              <a:rPr lang="en-US" dirty="0"/>
              <a:t>#</a:t>
            </a:r>
            <a:r>
              <a:rPr lang="ru-RU" dirty="0"/>
              <a:t> операций в алгоритме Прима = </a:t>
            </a:r>
            <a:r>
              <a:rPr lang="en-US" dirty="0"/>
              <a:t>O(N</a:t>
            </a:r>
            <a:r>
              <a:rPr lang="ru-RU" dirty="0"/>
              <a:t> </a:t>
            </a:r>
            <a:r>
              <a:rPr lang="en-US" dirty="0"/>
              <a:t>^ 2)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M = O(N)</a:t>
            </a:r>
            <a:r>
              <a:rPr lang="ru-RU" dirty="0"/>
              <a:t>, то </a:t>
            </a:r>
            <a:r>
              <a:rPr lang="en-US" dirty="0"/>
              <a:t>O(N </a:t>
            </a:r>
            <a:r>
              <a:rPr lang="en-US" dirty="0" err="1"/>
              <a:t>logN</a:t>
            </a:r>
            <a:r>
              <a:rPr lang="en-US" dirty="0"/>
              <a:t>) </a:t>
            </a:r>
            <a:r>
              <a:rPr lang="ru-RU" dirty="0"/>
              <a:t>при использовании пирамиды (</a:t>
            </a:r>
            <a:r>
              <a:rPr lang="en-US" dirty="0"/>
              <a:t>heap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en-US" dirty="0" err="1"/>
              <a:t>ArgMin</a:t>
            </a:r>
            <a:endParaRPr lang="en-US" dirty="0"/>
          </a:p>
          <a:p>
            <a:endParaRPr lang="ru-RU" dirty="0"/>
          </a:p>
          <a:p>
            <a:r>
              <a:rPr lang="en-US" dirty="0"/>
              <a:t># </a:t>
            </a:r>
            <a:r>
              <a:rPr lang="ru-RU" dirty="0"/>
              <a:t>операций в алгоритме </a:t>
            </a:r>
            <a:r>
              <a:rPr lang="ru-RU" dirty="0" err="1"/>
              <a:t>Краскала</a:t>
            </a:r>
            <a:r>
              <a:rPr lang="ru-RU" dirty="0"/>
              <a:t> =</a:t>
            </a:r>
            <a:r>
              <a:rPr lang="en-US" dirty="0"/>
              <a:t> </a:t>
            </a:r>
            <a:r>
              <a:rPr lang="ru-RU" dirty="0"/>
              <a:t>O(</a:t>
            </a:r>
            <a:r>
              <a:rPr lang="en-US" dirty="0"/>
              <a:t>M</a:t>
            </a:r>
            <a:r>
              <a:rPr lang="ru-RU" dirty="0"/>
              <a:t> * </a:t>
            </a:r>
            <a:r>
              <a:rPr lang="en-US" dirty="0"/>
              <a:t>log(M)</a:t>
            </a:r>
            <a:r>
              <a:rPr lang="ru-RU" dirty="0"/>
              <a:t> + </a:t>
            </a:r>
            <a:r>
              <a:rPr lang="en-US" dirty="0"/>
              <a:t>N</a:t>
            </a:r>
            <a:r>
              <a:rPr lang="ru-RU" dirty="0"/>
              <a:t> *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100" dirty="0"/>
              <a:t>(N)</a:t>
            </a:r>
            <a:r>
              <a:rPr lang="ru-RU" dirty="0"/>
              <a:t>)</a:t>
            </a:r>
            <a:endParaRPr lang="ru-RU" sz="3100" dirty="0"/>
          </a:p>
          <a:p>
            <a:endParaRPr lang="ru-RU" dirty="0"/>
          </a:p>
          <a:p>
            <a:r>
              <a:rPr lang="ru-RU" dirty="0"/>
              <a:t>Для больших графов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M = O(N^2), </a:t>
            </a:r>
            <a:r>
              <a:rPr lang="ru-RU" dirty="0">
                <a:solidFill>
                  <a:schemeClr val="bg1"/>
                </a:solidFill>
              </a:rPr>
              <a:t>то 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медленнее алгоритма Прима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M = O(N), </a:t>
            </a:r>
            <a:r>
              <a:rPr lang="ru-RU" dirty="0">
                <a:solidFill>
                  <a:schemeClr val="bg1"/>
                </a:solidFill>
              </a:rPr>
              <a:t>то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быстрее алгоритма Прима с обычным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примерно равен по скорости алгоритму Прима с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на основе пирамиды</a:t>
            </a:r>
          </a:p>
        </p:txBody>
      </p:sp>
    </p:spTree>
    <p:extLst>
      <p:ext uri="{BB962C8B-B14F-4D97-AF65-F5344CB8AC3E}">
        <p14:creationId xmlns:p14="http://schemas.microsoft.com/office/powerpoint/2010/main" val="1668999839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Сравнение алгоритмов </a:t>
            </a:r>
            <a:r>
              <a:rPr lang="ru-RU" dirty="0" err="1"/>
              <a:t>Краскала</a:t>
            </a:r>
            <a:r>
              <a:rPr lang="ru-RU" dirty="0"/>
              <a:t> и Прима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 = #</a:t>
            </a:r>
            <a:r>
              <a:rPr lang="ru-RU" dirty="0"/>
              <a:t> вершин, </a:t>
            </a:r>
            <a:r>
              <a:rPr lang="en-US" dirty="0"/>
              <a:t>M = # </a:t>
            </a:r>
            <a:r>
              <a:rPr lang="ru-RU" dirty="0"/>
              <a:t>ребер</a:t>
            </a:r>
            <a:endParaRPr lang="en-US" dirty="0"/>
          </a:p>
          <a:p>
            <a:endParaRPr lang="en-US" dirty="0"/>
          </a:p>
          <a:p>
            <a:r>
              <a:rPr lang="en-US" dirty="0"/>
              <a:t>#</a:t>
            </a:r>
            <a:r>
              <a:rPr lang="ru-RU" dirty="0"/>
              <a:t> операций в алгоритме Прима = </a:t>
            </a:r>
            <a:r>
              <a:rPr lang="en-US" dirty="0"/>
              <a:t>O(N</a:t>
            </a:r>
            <a:r>
              <a:rPr lang="ru-RU" dirty="0"/>
              <a:t> </a:t>
            </a:r>
            <a:r>
              <a:rPr lang="en-US" dirty="0"/>
              <a:t>^ 2)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M = O(N)</a:t>
            </a:r>
            <a:r>
              <a:rPr lang="ru-RU" dirty="0"/>
              <a:t>, то </a:t>
            </a:r>
            <a:r>
              <a:rPr lang="en-US" dirty="0"/>
              <a:t>O(N </a:t>
            </a:r>
            <a:r>
              <a:rPr lang="en-US" dirty="0" err="1"/>
              <a:t>logN</a:t>
            </a:r>
            <a:r>
              <a:rPr lang="en-US" dirty="0"/>
              <a:t>) </a:t>
            </a:r>
            <a:r>
              <a:rPr lang="ru-RU" dirty="0"/>
              <a:t>при использовании пирамиды (</a:t>
            </a:r>
            <a:r>
              <a:rPr lang="en-US" dirty="0"/>
              <a:t>heap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en-US" dirty="0" err="1"/>
              <a:t>ArgMin</a:t>
            </a:r>
            <a:endParaRPr lang="en-US" dirty="0"/>
          </a:p>
          <a:p>
            <a:endParaRPr lang="ru-RU" dirty="0"/>
          </a:p>
          <a:p>
            <a:r>
              <a:rPr lang="en-US" dirty="0"/>
              <a:t># </a:t>
            </a:r>
            <a:r>
              <a:rPr lang="ru-RU" dirty="0"/>
              <a:t>операций в алгоритме </a:t>
            </a:r>
            <a:r>
              <a:rPr lang="ru-RU" dirty="0" err="1"/>
              <a:t>Краскала</a:t>
            </a:r>
            <a:r>
              <a:rPr lang="ru-RU" dirty="0"/>
              <a:t> =</a:t>
            </a:r>
            <a:r>
              <a:rPr lang="en-US" dirty="0"/>
              <a:t> </a:t>
            </a:r>
            <a:r>
              <a:rPr lang="ru-RU" dirty="0"/>
              <a:t>O(</a:t>
            </a:r>
            <a:r>
              <a:rPr lang="en-US" dirty="0"/>
              <a:t>M</a:t>
            </a:r>
            <a:r>
              <a:rPr lang="ru-RU" dirty="0"/>
              <a:t> * </a:t>
            </a:r>
            <a:r>
              <a:rPr lang="en-US" dirty="0"/>
              <a:t>log(M)</a:t>
            </a:r>
            <a:r>
              <a:rPr lang="ru-RU" dirty="0"/>
              <a:t> + </a:t>
            </a:r>
            <a:r>
              <a:rPr lang="en-US" dirty="0"/>
              <a:t>N</a:t>
            </a:r>
            <a:r>
              <a:rPr lang="ru-RU" dirty="0"/>
              <a:t> *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100" dirty="0"/>
              <a:t>(N)</a:t>
            </a:r>
            <a:r>
              <a:rPr lang="ru-RU" dirty="0"/>
              <a:t>)</a:t>
            </a:r>
            <a:endParaRPr lang="ru-RU" sz="3100" dirty="0"/>
          </a:p>
          <a:p>
            <a:endParaRPr lang="ru-RU" dirty="0"/>
          </a:p>
          <a:p>
            <a:r>
              <a:rPr lang="ru-RU" dirty="0"/>
              <a:t>Для больших графов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M = O(N^2), </a:t>
            </a:r>
            <a:r>
              <a:rPr lang="ru-RU" dirty="0"/>
              <a:t>то алгоритм </a:t>
            </a:r>
            <a:r>
              <a:rPr lang="ru-RU" dirty="0" err="1"/>
              <a:t>Краскала</a:t>
            </a:r>
            <a:r>
              <a:rPr lang="ru-RU" dirty="0"/>
              <a:t> медленнее алгоритма Прима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M = O(N), </a:t>
            </a:r>
            <a:r>
              <a:rPr lang="ru-RU" dirty="0">
                <a:solidFill>
                  <a:schemeClr val="bg1"/>
                </a:solidFill>
              </a:rPr>
              <a:t>то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быстрее алгоритма Прима с обычным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примерно равен по скорости алгоритму Прима с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на основе пирамиды</a:t>
            </a:r>
          </a:p>
        </p:txBody>
      </p:sp>
    </p:spTree>
    <p:extLst>
      <p:ext uri="{BB962C8B-B14F-4D97-AF65-F5344CB8AC3E}">
        <p14:creationId xmlns:p14="http://schemas.microsoft.com/office/powerpoint/2010/main" val="1476914992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Сравнение алгоритмов </a:t>
            </a:r>
            <a:r>
              <a:rPr lang="ru-RU" dirty="0" err="1"/>
              <a:t>Краскала</a:t>
            </a:r>
            <a:r>
              <a:rPr lang="ru-RU" dirty="0"/>
              <a:t> и Прима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 = #</a:t>
            </a:r>
            <a:r>
              <a:rPr lang="ru-RU" dirty="0"/>
              <a:t> вершин, </a:t>
            </a:r>
            <a:r>
              <a:rPr lang="en-US" dirty="0"/>
              <a:t>M = # </a:t>
            </a:r>
            <a:r>
              <a:rPr lang="ru-RU" dirty="0"/>
              <a:t>ребер</a:t>
            </a:r>
            <a:endParaRPr lang="en-US" dirty="0"/>
          </a:p>
          <a:p>
            <a:endParaRPr lang="en-US" dirty="0"/>
          </a:p>
          <a:p>
            <a:r>
              <a:rPr lang="en-US" dirty="0"/>
              <a:t>#</a:t>
            </a:r>
            <a:r>
              <a:rPr lang="ru-RU" dirty="0"/>
              <a:t> операций в алгоритме Прима = </a:t>
            </a:r>
            <a:r>
              <a:rPr lang="en-US" dirty="0"/>
              <a:t>O(N</a:t>
            </a:r>
            <a:r>
              <a:rPr lang="ru-RU" dirty="0"/>
              <a:t> </a:t>
            </a:r>
            <a:r>
              <a:rPr lang="en-US" dirty="0"/>
              <a:t>^ 2)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M = O(N)</a:t>
            </a:r>
            <a:r>
              <a:rPr lang="ru-RU" dirty="0"/>
              <a:t>, то </a:t>
            </a:r>
            <a:r>
              <a:rPr lang="en-US" dirty="0"/>
              <a:t>O(N </a:t>
            </a:r>
            <a:r>
              <a:rPr lang="en-US" dirty="0" err="1"/>
              <a:t>logN</a:t>
            </a:r>
            <a:r>
              <a:rPr lang="en-US" dirty="0"/>
              <a:t>) </a:t>
            </a:r>
            <a:r>
              <a:rPr lang="ru-RU" dirty="0"/>
              <a:t>при использовании пирамиды (</a:t>
            </a:r>
            <a:r>
              <a:rPr lang="en-US" dirty="0"/>
              <a:t>heap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en-US" dirty="0" err="1"/>
              <a:t>ArgMin</a:t>
            </a:r>
            <a:endParaRPr lang="en-US" dirty="0"/>
          </a:p>
          <a:p>
            <a:endParaRPr lang="ru-RU" dirty="0"/>
          </a:p>
          <a:p>
            <a:r>
              <a:rPr lang="en-US" dirty="0"/>
              <a:t># </a:t>
            </a:r>
            <a:r>
              <a:rPr lang="ru-RU" dirty="0"/>
              <a:t>операций в алгоритме </a:t>
            </a:r>
            <a:r>
              <a:rPr lang="ru-RU" dirty="0" err="1"/>
              <a:t>Краскала</a:t>
            </a:r>
            <a:r>
              <a:rPr lang="ru-RU" dirty="0"/>
              <a:t> =</a:t>
            </a:r>
            <a:r>
              <a:rPr lang="en-US" dirty="0"/>
              <a:t> </a:t>
            </a:r>
            <a:r>
              <a:rPr lang="ru-RU" dirty="0"/>
              <a:t>O(</a:t>
            </a:r>
            <a:r>
              <a:rPr lang="en-US" dirty="0"/>
              <a:t>M</a:t>
            </a:r>
            <a:r>
              <a:rPr lang="ru-RU" dirty="0"/>
              <a:t> * </a:t>
            </a:r>
            <a:r>
              <a:rPr lang="en-US" dirty="0"/>
              <a:t>log(M)</a:t>
            </a:r>
            <a:r>
              <a:rPr lang="ru-RU" dirty="0"/>
              <a:t> + </a:t>
            </a:r>
            <a:r>
              <a:rPr lang="en-US" dirty="0"/>
              <a:t>N</a:t>
            </a:r>
            <a:r>
              <a:rPr lang="ru-RU" dirty="0"/>
              <a:t> *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100" dirty="0"/>
              <a:t>(N)</a:t>
            </a:r>
            <a:r>
              <a:rPr lang="ru-RU" dirty="0"/>
              <a:t>)</a:t>
            </a:r>
            <a:endParaRPr lang="ru-RU" sz="3100" dirty="0"/>
          </a:p>
          <a:p>
            <a:endParaRPr lang="ru-RU" dirty="0"/>
          </a:p>
          <a:p>
            <a:r>
              <a:rPr lang="ru-RU" dirty="0"/>
              <a:t>Для больших графов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M = O(N^2), </a:t>
            </a:r>
            <a:r>
              <a:rPr lang="ru-RU" dirty="0"/>
              <a:t>то алгоритм </a:t>
            </a:r>
            <a:r>
              <a:rPr lang="ru-RU" dirty="0" err="1"/>
              <a:t>Краскала</a:t>
            </a:r>
            <a:r>
              <a:rPr lang="ru-RU" dirty="0"/>
              <a:t> медленнее алгоритма Прима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M = O(N), </a:t>
            </a:r>
            <a:r>
              <a:rPr lang="ru-RU" dirty="0"/>
              <a:t>то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быстрее алгоритма Прима с обычным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r>
              <a:rPr lang="ru-RU" dirty="0">
                <a:solidFill>
                  <a:schemeClr val="bg1"/>
                </a:solidFill>
              </a:rPr>
              <a:t> 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примерно равен по скорости алгоритму Прима с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на основе пирамиды</a:t>
            </a:r>
          </a:p>
        </p:txBody>
      </p:sp>
    </p:spTree>
    <p:extLst>
      <p:ext uri="{BB962C8B-B14F-4D97-AF65-F5344CB8AC3E}">
        <p14:creationId xmlns:p14="http://schemas.microsoft.com/office/powerpoint/2010/main" val="232814146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Сравнение алгоритмов </a:t>
            </a:r>
            <a:r>
              <a:rPr lang="ru-RU" dirty="0" err="1"/>
              <a:t>Краскала</a:t>
            </a:r>
            <a:r>
              <a:rPr lang="ru-RU" dirty="0"/>
              <a:t> и Прима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 = #</a:t>
            </a:r>
            <a:r>
              <a:rPr lang="ru-RU" dirty="0"/>
              <a:t> вершин, </a:t>
            </a:r>
            <a:r>
              <a:rPr lang="en-US" dirty="0"/>
              <a:t>M = # </a:t>
            </a:r>
            <a:r>
              <a:rPr lang="ru-RU" dirty="0"/>
              <a:t>ребер</a:t>
            </a:r>
            <a:endParaRPr lang="en-US" dirty="0"/>
          </a:p>
          <a:p>
            <a:endParaRPr lang="en-US" dirty="0"/>
          </a:p>
          <a:p>
            <a:r>
              <a:rPr lang="en-US" dirty="0"/>
              <a:t>#</a:t>
            </a:r>
            <a:r>
              <a:rPr lang="ru-RU" dirty="0"/>
              <a:t> операций в алгоритме Прима = </a:t>
            </a:r>
            <a:r>
              <a:rPr lang="en-US" dirty="0"/>
              <a:t>O(N</a:t>
            </a:r>
            <a:r>
              <a:rPr lang="ru-RU" dirty="0"/>
              <a:t> </a:t>
            </a:r>
            <a:r>
              <a:rPr lang="en-US" dirty="0"/>
              <a:t>^ 2)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M = O(N)</a:t>
            </a:r>
            <a:r>
              <a:rPr lang="ru-RU" dirty="0"/>
              <a:t>, то </a:t>
            </a:r>
            <a:r>
              <a:rPr lang="en-US" dirty="0"/>
              <a:t>O(N </a:t>
            </a:r>
            <a:r>
              <a:rPr lang="en-US" dirty="0" err="1"/>
              <a:t>logN</a:t>
            </a:r>
            <a:r>
              <a:rPr lang="en-US" dirty="0"/>
              <a:t>) </a:t>
            </a:r>
            <a:r>
              <a:rPr lang="ru-RU" dirty="0"/>
              <a:t>при использовании пирамиды (</a:t>
            </a:r>
            <a:r>
              <a:rPr lang="en-US" dirty="0"/>
              <a:t>heap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en-US" dirty="0" err="1"/>
              <a:t>ArgMin</a:t>
            </a:r>
            <a:endParaRPr lang="en-US" dirty="0"/>
          </a:p>
          <a:p>
            <a:endParaRPr lang="ru-RU" dirty="0"/>
          </a:p>
          <a:p>
            <a:r>
              <a:rPr lang="en-US" dirty="0"/>
              <a:t># </a:t>
            </a:r>
            <a:r>
              <a:rPr lang="ru-RU" dirty="0"/>
              <a:t>операций в алгоритме </a:t>
            </a:r>
            <a:r>
              <a:rPr lang="ru-RU" dirty="0" err="1"/>
              <a:t>Краскала</a:t>
            </a:r>
            <a:r>
              <a:rPr lang="ru-RU" dirty="0"/>
              <a:t> =</a:t>
            </a:r>
            <a:r>
              <a:rPr lang="en-US" dirty="0"/>
              <a:t> </a:t>
            </a:r>
            <a:r>
              <a:rPr lang="ru-RU" dirty="0"/>
              <a:t>O(</a:t>
            </a:r>
            <a:r>
              <a:rPr lang="en-US" dirty="0"/>
              <a:t>M</a:t>
            </a:r>
            <a:r>
              <a:rPr lang="ru-RU" dirty="0"/>
              <a:t> * </a:t>
            </a:r>
            <a:r>
              <a:rPr lang="en-US" dirty="0"/>
              <a:t>log(M)</a:t>
            </a:r>
            <a:r>
              <a:rPr lang="ru-RU" dirty="0"/>
              <a:t> + </a:t>
            </a:r>
            <a:r>
              <a:rPr lang="en-US" dirty="0"/>
              <a:t>N</a:t>
            </a:r>
            <a:r>
              <a:rPr lang="ru-RU" dirty="0"/>
              <a:t> *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100" dirty="0"/>
              <a:t>(N)</a:t>
            </a:r>
            <a:r>
              <a:rPr lang="ru-RU" dirty="0"/>
              <a:t>)</a:t>
            </a:r>
            <a:endParaRPr lang="ru-RU" sz="3100" dirty="0"/>
          </a:p>
          <a:p>
            <a:endParaRPr lang="ru-RU" dirty="0"/>
          </a:p>
          <a:p>
            <a:r>
              <a:rPr lang="ru-RU" dirty="0"/>
              <a:t>Для больших графов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M = O(N^2), </a:t>
            </a:r>
            <a:r>
              <a:rPr lang="ru-RU" dirty="0"/>
              <a:t>то алгоритм </a:t>
            </a:r>
            <a:r>
              <a:rPr lang="ru-RU" dirty="0" err="1"/>
              <a:t>Краскала</a:t>
            </a:r>
            <a:r>
              <a:rPr lang="ru-RU" dirty="0"/>
              <a:t> медленнее алгоритма Прима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M = O(N), </a:t>
            </a:r>
            <a:r>
              <a:rPr lang="ru-RU" dirty="0"/>
              <a:t>то</a:t>
            </a:r>
          </a:p>
          <a:p>
            <a:pPr lvl="2"/>
            <a:r>
              <a:rPr lang="ru-RU" dirty="0"/>
              <a:t>алгоритм </a:t>
            </a:r>
            <a:r>
              <a:rPr lang="ru-RU" dirty="0" err="1"/>
              <a:t>Краскала</a:t>
            </a:r>
            <a:r>
              <a:rPr lang="ru-RU" dirty="0"/>
              <a:t> быстрее алгоритма Прима с обычным </a:t>
            </a:r>
            <a:r>
              <a:rPr lang="en-US" dirty="0" err="1"/>
              <a:t>ArgMin</a:t>
            </a:r>
            <a:r>
              <a:rPr lang="ru-RU" dirty="0"/>
              <a:t> </a:t>
            </a:r>
          </a:p>
          <a:p>
            <a:pPr lvl="2"/>
            <a:r>
              <a:rPr lang="ru-RU" dirty="0">
                <a:solidFill>
                  <a:schemeClr val="bg1"/>
                </a:solidFill>
              </a:rPr>
              <a:t>алгоритм </a:t>
            </a:r>
            <a:r>
              <a:rPr lang="ru-RU" dirty="0" err="1">
                <a:solidFill>
                  <a:schemeClr val="bg1"/>
                </a:solidFill>
              </a:rPr>
              <a:t>Краскала</a:t>
            </a:r>
            <a:r>
              <a:rPr lang="ru-RU" dirty="0">
                <a:solidFill>
                  <a:schemeClr val="bg1"/>
                </a:solidFill>
              </a:rPr>
              <a:t> примерно равен по скорости алгоритму Прима с </a:t>
            </a:r>
            <a:r>
              <a:rPr lang="en-US" dirty="0" err="1">
                <a:solidFill>
                  <a:schemeClr val="bg1"/>
                </a:solidFill>
              </a:rPr>
              <a:t>ArgMin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на основе пирамиды</a:t>
            </a:r>
          </a:p>
        </p:txBody>
      </p:sp>
    </p:spTree>
    <p:extLst>
      <p:ext uri="{BB962C8B-B14F-4D97-AF65-F5344CB8AC3E}">
        <p14:creationId xmlns:p14="http://schemas.microsoft.com/office/powerpoint/2010/main" val="1657003248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Сравнение алгоритмов </a:t>
            </a:r>
            <a:r>
              <a:rPr lang="ru-RU" dirty="0" err="1"/>
              <a:t>Краскала</a:t>
            </a:r>
            <a:r>
              <a:rPr lang="ru-RU" dirty="0"/>
              <a:t> и Прима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 = #</a:t>
            </a:r>
            <a:r>
              <a:rPr lang="ru-RU" dirty="0"/>
              <a:t> вершин, </a:t>
            </a:r>
            <a:r>
              <a:rPr lang="en-US" dirty="0"/>
              <a:t>M = # </a:t>
            </a:r>
            <a:r>
              <a:rPr lang="ru-RU" dirty="0"/>
              <a:t>ребер</a:t>
            </a:r>
            <a:endParaRPr lang="en-US" dirty="0"/>
          </a:p>
          <a:p>
            <a:endParaRPr lang="en-US" dirty="0"/>
          </a:p>
          <a:p>
            <a:r>
              <a:rPr lang="en-US" dirty="0"/>
              <a:t>#</a:t>
            </a:r>
            <a:r>
              <a:rPr lang="ru-RU" dirty="0"/>
              <a:t> операций в алгоритме Прима = </a:t>
            </a:r>
            <a:r>
              <a:rPr lang="en-US" dirty="0"/>
              <a:t>O(N</a:t>
            </a:r>
            <a:r>
              <a:rPr lang="ru-RU" dirty="0"/>
              <a:t> </a:t>
            </a:r>
            <a:r>
              <a:rPr lang="en-US" dirty="0"/>
              <a:t>^ 2)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M = O(N)</a:t>
            </a:r>
            <a:r>
              <a:rPr lang="ru-RU" dirty="0"/>
              <a:t>, то </a:t>
            </a:r>
            <a:r>
              <a:rPr lang="en-US" dirty="0"/>
              <a:t>O(N </a:t>
            </a:r>
            <a:r>
              <a:rPr lang="en-US" dirty="0" err="1"/>
              <a:t>logN</a:t>
            </a:r>
            <a:r>
              <a:rPr lang="en-US" dirty="0"/>
              <a:t>) </a:t>
            </a:r>
            <a:r>
              <a:rPr lang="ru-RU" dirty="0"/>
              <a:t>при использовании пирамиды (</a:t>
            </a:r>
            <a:r>
              <a:rPr lang="en-US" dirty="0"/>
              <a:t>heap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en-US" dirty="0" err="1"/>
              <a:t>ArgMin</a:t>
            </a:r>
            <a:endParaRPr lang="en-US" dirty="0"/>
          </a:p>
          <a:p>
            <a:endParaRPr lang="ru-RU" dirty="0"/>
          </a:p>
          <a:p>
            <a:r>
              <a:rPr lang="en-US" dirty="0"/>
              <a:t># </a:t>
            </a:r>
            <a:r>
              <a:rPr lang="ru-RU" dirty="0"/>
              <a:t>операций в алгоритме </a:t>
            </a:r>
            <a:r>
              <a:rPr lang="ru-RU" dirty="0" err="1"/>
              <a:t>Краскала</a:t>
            </a:r>
            <a:r>
              <a:rPr lang="ru-RU" dirty="0"/>
              <a:t> =</a:t>
            </a:r>
            <a:r>
              <a:rPr lang="en-US" dirty="0"/>
              <a:t> </a:t>
            </a:r>
            <a:r>
              <a:rPr lang="ru-RU" dirty="0"/>
              <a:t>O(</a:t>
            </a:r>
            <a:r>
              <a:rPr lang="en-US" dirty="0"/>
              <a:t>M</a:t>
            </a:r>
            <a:r>
              <a:rPr lang="ru-RU" dirty="0"/>
              <a:t> * </a:t>
            </a:r>
            <a:r>
              <a:rPr lang="en-US" dirty="0"/>
              <a:t>log(M)</a:t>
            </a:r>
            <a:r>
              <a:rPr lang="ru-RU" dirty="0"/>
              <a:t> + </a:t>
            </a:r>
            <a:r>
              <a:rPr lang="en-US" dirty="0"/>
              <a:t>N</a:t>
            </a:r>
            <a:r>
              <a:rPr lang="ru-RU" dirty="0"/>
              <a:t> *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3100" dirty="0"/>
              <a:t>(N)</a:t>
            </a:r>
            <a:r>
              <a:rPr lang="ru-RU" dirty="0"/>
              <a:t>)</a:t>
            </a:r>
            <a:endParaRPr lang="ru-RU" sz="3100" dirty="0"/>
          </a:p>
          <a:p>
            <a:endParaRPr lang="ru-RU" dirty="0"/>
          </a:p>
          <a:p>
            <a:r>
              <a:rPr lang="ru-RU" dirty="0"/>
              <a:t>Для больших графов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M = O(N^2), </a:t>
            </a:r>
            <a:r>
              <a:rPr lang="ru-RU" dirty="0"/>
              <a:t>то алгоритм </a:t>
            </a:r>
            <a:r>
              <a:rPr lang="ru-RU" dirty="0" err="1"/>
              <a:t>Краскала</a:t>
            </a:r>
            <a:r>
              <a:rPr lang="ru-RU" dirty="0"/>
              <a:t> медленнее алгоритма Прима</a:t>
            </a:r>
          </a:p>
          <a:p>
            <a:pPr lvl="1"/>
            <a:r>
              <a:rPr lang="ru-RU" dirty="0"/>
              <a:t>Если </a:t>
            </a:r>
            <a:r>
              <a:rPr lang="en-US" dirty="0"/>
              <a:t>M = O(N), </a:t>
            </a:r>
            <a:r>
              <a:rPr lang="ru-RU" dirty="0"/>
              <a:t>то</a:t>
            </a:r>
          </a:p>
          <a:p>
            <a:pPr lvl="2"/>
            <a:r>
              <a:rPr lang="ru-RU" dirty="0"/>
              <a:t>алгоритм </a:t>
            </a:r>
            <a:r>
              <a:rPr lang="ru-RU" dirty="0" err="1"/>
              <a:t>Краскала</a:t>
            </a:r>
            <a:r>
              <a:rPr lang="ru-RU" dirty="0"/>
              <a:t> быстрее алгоритма Прима с обычным </a:t>
            </a:r>
            <a:r>
              <a:rPr lang="en-US" dirty="0" err="1"/>
              <a:t>ArgMin</a:t>
            </a:r>
            <a:r>
              <a:rPr lang="ru-RU" dirty="0"/>
              <a:t> </a:t>
            </a:r>
          </a:p>
          <a:p>
            <a:pPr lvl="2"/>
            <a:r>
              <a:rPr lang="ru-RU" dirty="0"/>
              <a:t>алгоритм </a:t>
            </a:r>
            <a:r>
              <a:rPr lang="ru-RU" dirty="0" err="1"/>
              <a:t>Краскала</a:t>
            </a:r>
            <a:r>
              <a:rPr lang="ru-RU" dirty="0"/>
              <a:t> примерно равен по скорости алгоритму Прима с </a:t>
            </a:r>
            <a:r>
              <a:rPr lang="en-US" dirty="0" err="1"/>
              <a:t>ArgMin</a:t>
            </a:r>
            <a:r>
              <a:rPr lang="en-US" dirty="0"/>
              <a:t> </a:t>
            </a:r>
            <a:r>
              <a:rPr lang="ru-RU" dirty="0"/>
              <a:t>на основе пирамиды</a:t>
            </a:r>
          </a:p>
        </p:txBody>
      </p:sp>
    </p:spTree>
    <p:extLst>
      <p:ext uri="{BB962C8B-B14F-4D97-AF65-F5344CB8AC3E}">
        <p14:creationId xmlns:p14="http://schemas.microsoft.com/office/powerpoint/2010/main" val="2425132880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Обход вершин графа в глубину</a:t>
            </a:r>
          </a:p>
          <a:p>
            <a:endParaRPr lang="ru-RU" dirty="0"/>
          </a:p>
          <a:p>
            <a:r>
              <a:rPr lang="ru-RU" dirty="0"/>
              <a:t>Обход вершин графа в ширину</a:t>
            </a:r>
          </a:p>
          <a:p>
            <a:endParaRPr lang="ru-RU" dirty="0"/>
          </a:p>
          <a:p>
            <a:r>
              <a:rPr lang="ru-RU" dirty="0"/>
              <a:t>Построение каркаса графа</a:t>
            </a:r>
          </a:p>
          <a:p>
            <a:pPr lvl="1"/>
            <a:r>
              <a:rPr lang="ru-RU" dirty="0"/>
              <a:t>Компоненты связности и система непересекающихся множеств</a:t>
            </a:r>
          </a:p>
          <a:p>
            <a:pPr lvl="1"/>
            <a:r>
              <a:rPr lang="ru-RU" dirty="0"/>
              <a:t>Алгоритм </a:t>
            </a:r>
            <a:r>
              <a:rPr lang="ru-RU" dirty="0" err="1"/>
              <a:t>Краскала</a:t>
            </a:r>
            <a:endParaRPr lang="ru-RU" dirty="0"/>
          </a:p>
          <a:p>
            <a:pPr lvl="1"/>
            <a:r>
              <a:rPr lang="ru-RU" dirty="0"/>
              <a:t>Алгоритм Прима-</a:t>
            </a:r>
            <a:r>
              <a:rPr lang="ru-RU" dirty="0" err="1"/>
              <a:t>Краскала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6828465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Oval 3"/>
          <p:cNvSpPr>
            <a:spLocks noChangeArrowheads="1"/>
          </p:cNvSpPr>
          <p:nvPr/>
        </p:nvSpPr>
        <p:spPr bwMode="auto">
          <a:xfrm>
            <a:off x="2100263" y="3032126"/>
            <a:ext cx="360362" cy="3603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10</a:t>
            </a:r>
          </a:p>
        </p:txBody>
      </p:sp>
      <p:sp>
        <p:nvSpPr>
          <p:cNvPr id="66564" name="Oval 4"/>
          <p:cNvSpPr>
            <a:spLocks noChangeArrowheads="1"/>
          </p:cNvSpPr>
          <p:nvPr/>
        </p:nvSpPr>
        <p:spPr bwMode="auto">
          <a:xfrm>
            <a:off x="3216276" y="2024063"/>
            <a:ext cx="360363" cy="3603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2</a:t>
            </a:r>
          </a:p>
        </p:txBody>
      </p:sp>
      <p:sp>
        <p:nvSpPr>
          <p:cNvPr id="66565" name="Oval 5"/>
          <p:cNvSpPr>
            <a:spLocks noChangeArrowheads="1"/>
          </p:cNvSpPr>
          <p:nvPr/>
        </p:nvSpPr>
        <p:spPr bwMode="auto">
          <a:xfrm>
            <a:off x="3216276" y="3032126"/>
            <a:ext cx="360363" cy="3603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3</a:t>
            </a:r>
          </a:p>
        </p:txBody>
      </p:sp>
      <p:sp>
        <p:nvSpPr>
          <p:cNvPr id="66566" name="Oval 6"/>
          <p:cNvSpPr>
            <a:spLocks noChangeArrowheads="1"/>
          </p:cNvSpPr>
          <p:nvPr/>
        </p:nvSpPr>
        <p:spPr bwMode="auto">
          <a:xfrm>
            <a:off x="3216276" y="4076701"/>
            <a:ext cx="360363" cy="3603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6</a:t>
            </a:r>
          </a:p>
        </p:txBody>
      </p:sp>
      <p:sp>
        <p:nvSpPr>
          <p:cNvPr id="66567" name="Oval 7"/>
          <p:cNvSpPr>
            <a:spLocks noChangeArrowheads="1"/>
          </p:cNvSpPr>
          <p:nvPr/>
        </p:nvSpPr>
        <p:spPr bwMode="auto">
          <a:xfrm>
            <a:off x="5124451" y="2024063"/>
            <a:ext cx="360363" cy="3603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1</a:t>
            </a:r>
          </a:p>
        </p:txBody>
      </p:sp>
      <p:sp>
        <p:nvSpPr>
          <p:cNvPr id="66568" name="Oval 8"/>
          <p:cNvSpPr>
            <a:spLocks noChangeArrowheads="1"/>
          </p:cNvSpPr>
          <p:nvPr/>
        </p:nvSpPr>
        <p:spPr bwMode="auto">
          <a:xfrm>
            <a:off x="5124451" y="3032126"/>
            <a:ext cx="360363" cy="3603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8</a:t>
            </a:r>
          </a:p>
        </p:txBody>
      </p:sp>
      <p:sp>
        <p:nvSpPr>
          <p:cNvPr id="66569" name="Oval 9"/>
          <p:cNvSpPr>
            <a:spLocks noChangeArrowheads="1"/>
          </p:cNvSpPr>
          <p:nvPr/>
        </p:nvSpPr>
        <p:spPr bwMode="auto">
          <a:xfrm>
            <a:off x="4116388" y="3032126"/>
            <a:ext cx="360362" cy="3603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5</a:t>
            </a:r>
          </a:p>
        </p:txBody>
      </p:sp>
      <p:sp>
        <p:nvSpPr>
          <p:cNvPr id="66570" name="Oval 10"/>
          <p:cNvSpPr>
            <a:spLocks noChangeArrowheads="1"/>
          </p:cNvSpPr>
          <p:nvPr/>
        </p:nvSpPr>
        <p:spPr bwMode="auto">
          <a:xfrm>
            <a:off x="5124451" y="4076701"/>
            <a:ext cx="360363" cy="3603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7</a:t>
            </a:r>
          </a:p>
        </p:txBody>
      </p:sp>
      <p:sp>
        <p:nvSpPr>
          <p:cNvPr id="66571" name="Oval 11"/>
          <p:cNvSpPr>
            <a:spLocks noChangeArrowheads="1"/>
          </p:cNvSpPr>
          <p:nvPr/>
        </p:nvSpPr>
        <p:spPr bwMode="auto">
          <a:xfrm>
            <a:off x="6311901" y="2024063"/>
            <a:ext cx="360363" cy="3603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4</a:t>
            </a:r>
          </a:p>
        </p:txBody>
      </p:sp>
      <p:sp>
        <p:nvSpPr>
          <p:cNvPr id="66572" name="Oval 12"/>
          <p:cNvSpPr>
            <a:spLocks noChangeArrowheads="1"/>
          </p:cNvSpPr>
          <p:nvPr/>
        </p:nvSpPr>
        <p:spPr bwMode="auto">
          <a:xfrm>
            <a:off x="6311901" y="3032126"/>
            <a:ext cx="360363" cy="3603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9</a:t>
            </a:r>
          </a:p>
        </p:txBody>
      </p:sp>
      <p:cxnSp>
        <p:nvCxnSpPr>
          <p:cNvPr id="66573" name="AutoShape 13"/>
          <p:cNvCxnSpPr>
            <a:cxnSpLocks noChangeShapeType="1"/>
            <a:stCxn id="66563" idx="7"/>
            <a:endCxn id="66564" idx="3"/>
          </p:cNvCxnSpPr>
          <p:nvPr/>
        </p:nvCxnSpPr>
        <p:spPr bwMode="auto">
          <a:xfrm flipV="1">
            <a:off x="2408239" y="2332039"/>
            <a:ext cx="860425" cy="752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6574" name="AutoShape 14"/>
          <p:cNvCxnSpPr>
            <a:cxnSpLocks noChangeShapeType="1"/>
            <a:stCxn id="66563" idx="6"/>
            <a:endCxn id="66565" idx="2"/>
          </p:cNvCxnSpPr>
          <p:nvPr/>
        </p:nvCxnSpPr>
        <p:spPr bwMode="auto">
          <a:xfrm>
            <a:off x="2460625" y="3213100"/>
            <a:ext cx="75565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6575" name="AutoShape 15"/>
          <p:cNvCxnSpPr>
            <a:cxnSpLocks noChangeShapeType="1"/>
            <a:stCxn id="66563" idx="5"/>
            <a:endCxn id="66566" idx="1"/>
          </p:cNvCxnSpPr>
          <p:nvPr/>
        </p:nvCxnSpPr>
        <p:spPr bwMode="auto">
          <a:xfrm>
            <a:off x="2408239" y="3340100"/>
            <a:ext cx="860425" cy="7889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6576" name="AutoShape 16"/>
          <p:cNvCxnSpPr>
            <a:cxnSpLocks noChangeShapeType="1"/>
            <a:stCxn id="66566" idx="7"/>
            <a:endCxn id="66569" idx="3"/>
          </p:cNvCxnSpPr>
          <p:nvPr/>
        </p:nvCxnSpPr>
        <p:spPr bwMode="auto">
          <a:xfrm flipV="1">
            <a:off x="3524251" y="3340100"/>
            <a:ext cx="644525" cy="7889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6577" name="AutoShape 17"/>
          <p:cNvCxnSpPr>
            <a:cxnSpLocks noChangeShapeType="1"/>
            <a:stCxn id="66566" idx="6"/>
            <a:endCxn id="66570" idx="2"/>
          </p:cNvCxnSpPr>
          <p:nvPr/>
        </p:nvCxnSpPr>
        <p:spPr bwMode="auto">
          <a:xfrm>
            <a:off x="3576638" y="4257675"/>
            <a:ext cx="15478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6578" name="AutoShape 18"/>
          <p:cNvCxnSpPr>
            <a:cxnSpLocks noChangeShapeType="1"/>
            <a:stCxn id="66565" idx="0"/>
            <a:endCxn id="66564" idx="4"/>
          </p:cNvCxnSpPr>
          <p:nvPr/>
        </p:nvCxnSpPr>
        <p:spPr bwMode="auto">
          <a:xfrm flipV="1">
            <a:off x="3397250" y="2384425"/>
            <a:ext cx="0" cy="647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6579" name="AutoShape 19"/>
          <p:cNvCxnSpPr>
            <a:cxnSpLocks noChangeShapeType="1"/>
            <a:stCxn id="66568" idx="4"/>
            <a:endCxn id="66570" idx="0"/>
          </p:cNvCxnSpPr>
          <p:nvPr/>
        </p:nvCxnSpPr>
        <p:spPr bwMode="auto">
          <a:xfrm>
            <a:off x="5305425" y="3392488"/>
            <a:ext cx="0" cy="6842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6580" name="AutoShape 20"/>
          <p:cNvCxnSpPr>
            <a:cxnSpLocks noChangeShapeType="1"/>
            <a:stCxn id="66569" idx="1"/>
            <a:endCxn id="66564" idx="5"/>
          </p:cNvCxnSpPr>
          <p:nvPr/>
        </p:nvCxnSpPr>
        <p:spPr bwMode="auto">
          <a:xfrm flipH="1" flipV="1">
            <a:off x="3524251" y="2332039"/>
            <a:ext cx="644525" cy="752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6581" name="AutoShape 21"/>
          <p:cNvCxnSpPr>
            <a:cxnSpLocks noChangeShapeType="1"/>
            <a:stCxn id="66567" idx="6"/>
            <a:endCxn id="66571" idx="2"/>
          </p:cNvCxnSpPr>
          <p:nvPr/>
        </p:nvCxnSpPr>
        <p:spPr bwMode="auto">
          <a:xfrm>
            <a:off x="5484814" y="2205038"/>
            <a:ext cx="8270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6582" name="AutoShape 22"/>
          <p:cNvCxnSpPr>
            <a:cxnSpLocks noChangeShapeType="1"/>
            <a:stCxn id="66568" idx="1"/>
            <a:endCxn id="66564" idx="5"/>
          </p:cNvCxnSpPr>
          <p:nvPr/>
        </p:nvCxnSpPr>
        <p:spPr bwMode="auto">
          <a:xfrm flipH="1" flipV="1">
            <a:off x="3524250" y="2332039"/>
            <a:ext cx="1652588" cy="752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6583" name="AutoShape 23"/>
          <p:cNvCxnSpPr>
            <a:cxnSpLocks noChangeShapeType="1"/>
            <a:stCxn id="66564" idx="6"/>
            <a:endCxn id="66567" idx="2"/>
          </p:cNvCxnSpPr>
          <p:nvPr/>
        </p:nvCxnSpPr>
        <p:spPr bwMode="auto">
          <a:xfrm>
            <a:off x="3576638" y="2205038"/>
            <a:ext cx="15478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6584" name="AutoShape 24"/>
          <p:cNvCxnSpPr>
            <a:cxnSpLocks noChangeShapeType="1"/>
            <a:stCxn id="66568" idx="7"/>
            <a:endCxn id="66571" idx="3"/>
          </p:cNvCxnSpPr>
          <p:nvPr/>
        </p:nvCxnSpPr>
        <p:spPr bwMode="auto">
          <a:xfrm flipV="1">
            <a:off x="5432426" y="2332039"/>
            <a:ext cx="931863" cy="752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6585" name="AutoShape 25"/>
          <p:cNvCxnSpPr>
            <a:cxnSpLocks noChangeShapeType="1"/>
            <a:stCxn id="66568" idx="6"/>
            <a:endCxn id="66572" idx="2"/>
          </p:cNvCxnSpPr>
          <p:nvPr/>
        </p:nvCxnSpPr>
        <p:spPr bwMode="auto">
          <a:xfrm>
            <a:off x="5484814" y="3213100"/>
            <a:ext cx="8270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6586" name="AutoShape 26"/>
          <p:cNvCxnSpPr>
            <a:cxnSpLocks noChangeShapeType="1"/>
            <a:stCxn id="66571" idx="4"/>
            <a:endCxn id="66572" idx="0"/>
          </p:cNvCxnSpPr>
          <p:nvPr/>
        </p:nvCxnSpPr>
        <p:spPr bwMode="auto">
          <a:xfrm>
            <a:off x="6492875" y="2384425"/>
            <a:ext cx="0" cy="647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6587" name="AutoShape 27"/>
          <p:cNvCxnSpPr>
            <a:cxnSpLocks noChangeShapeType="1"/>
            <a:stCxn id="66566" idx="0"/>
            <a:endCxn id="66565" idx="4"/>
          </p:cNvCxnSpPr>
          <p:nvPr/>
        </p:nvCxnSpPr>
        <p:spPr bwMode="auto">
          <a:xfrm flipV="1">
            <a:off x="3397250" y="3392488"/>
            <a:ext cx="0" cy="6842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92186" name="Text Box 28"/>
          <p:cNvSpPr txBox="1">
            <a:spLocks noChangeArrowheads="1"/>
          </p:cNvSpPr>
          <p:nvPr/>
        </p:nvSpPr>
        <p:spPr bwMode="auto">
          <a:xfrm>
            <a:off x="4260850" y="1987550"/>
            <a:ext cx="2476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900"/>
              <a:t>1</a:t>
            </a:r>
          </a:p>
        </p:txBody>
      </p:sp>
      <p:sp>
        <p:nvSpPr>
          <p:cNvPr id="92187" name="Text Box 29"/>
          <p:cNvSpPr txBox="1">
            <a:spLocks noChangeArrowheads="1"/>
          </p:cNvSpPr>
          <p:nvPr/>
        </p:nvSpPr>
        <p:spPr bwMode="auto">
          <a:xfrm>
            <a:off x="5880100" y="2995613"/>
            <a:ext cx="2476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900"/>
              <a:t>1</a:t>
            </a:r>
          </a:p>
        </p:txBody>
      </p:sp>
      <p:sp>
        <p:nvSpPr>
          <p:cNvPr id="92188" name="Text Box 30"/>
          <p:cNvSpPr txBox="1">
            <a:spLocks noChangeArrowheads="1"/>
          </p:cNvSpPr>
          <p:nvPr/>
        </p:nvSpPr>
        <p:spPr bwMode="auto">
          <a:xfrm>
            <a:off x="3179763" y="3500438"/>
            <a:ext cx="2476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900"/>
              <a:t>1</a:t>
            </a:r>
          </a:p>
        </p:txBody>
      </p:sp>
      <p:sp>
        <p:nvSpPr>
          <p:cNvPr id="92189" name="Text Box 31"/>
          <p:cNvSpPr txBox="1">
            <a:spLocks noChangeArrowheads="1"/>
          </p:cNvSpPr>
          <p:nvPr/>
        </p:nvSpPr>
        <p:spPr bwMode="auto">
          <a:xfrm>
            <a:off x="3863975" y="2600325"/>
            <a:ext cx="2476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900"/>
              <a:t>2</a:t>
            </a:r>
          </a:p>
        </p:txBody>
      </p:sp>
      <p:sp>
        <p:nvSpPr>
          <p:cNvPr id="92190" name="Text Box 32"/>
          <p:cNvSpPr txBox="1">
            <a:spLocks noChangeArrowheads="1"/>
          </p:cNvSpPr>
          <p:nvPr/>
        </p:nvSpPr>
        <p:spPr bwMode="auto">
          <a:xfrm>
            <a:off x="5340350" y="3571875"/>
            <a:ext cx="2476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900"/>
              <a:t>2</a:t>
            </a:r>
          </a:p>
        </p:txBody>
      </p:sp>
      <p:sp>
        <p:nvSpPr>
          <p:cNvPr id="92191" name="Text Box 33"/>
          <p:cNvSpPr txBox="1">
            <a:spLocks noChangeArrowheads="1"/>
          </p:cNvSpPr>
          <p:nvPr/>
        </p:nvSpPr>
        <p:spPr bwMode="auto">
          <a:xfrm>
            <a:off x="2681288" y="2479675"/>
            <a:ext cx="2476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900"/>
              <a:t>2</a:t>
            </a:r>
          </a:p>
        </p:txBody>
      </p:sp>
      <p:sp>
        <p:nvSpPr>
          <p:cNvPr id="92192" name="Text Box 34"/>
          <p:cNvSpPr txBox="1">
            <a:spLocks noChangeArrowheads="1"/>
          </p:cNvSpPr>
          <p:nvPr/>
        </p:nvSpPr>
        <p:spPr bwMode="auto">
          <a:xfrm>
            <a:off x="5772150" y="1987550"/>
            <a:ext cx="2476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900"/>
              <a:t>3</a:t>
            </a:r>
          </a:p>
        </p:txBody>
      </p:sp>
      <p:sp>
        <p:nvSpPr>
          <p:cNvPr id="92193" name="Text Box 35"/>
          <p:cNvSpPr txBox="1">
            <a:spLocks noChangeArrowheads="1"/>
          </p:cNvSpPr>
          <p:nvPr/>
        </p:nvSpPr>
        <p:spPr bwMode="auto">
          <a:xfrm>
            <a:off x="3648075" y="3536950"/>
            <a:ext cx="2476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/>
              <a:t>4</a:t>
            </a:r>
            <a:endParaRPr lang="ru-RU" sz="900"/>
          </a:p>
        </p:txBody>
      </p:sp>
      <p:sp>
        <p:nvSpPr>
          <p:cNvPr id="92194" name="Text Box 36"/>
          <p:cNvSpPr txBox="1">
            <a:spLocks noChangeArrowheads="1"/>
          </p:cNvSpPr>
          <p:nvPr/>
        </p:nvSpPr>
        <p:spPr bwMode="auto">
          <a:xfrm>
            <a:off x="6240463" y="2600325"/>
            <a:ext cx="2476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900"/>
              <a:t>3</a:t>
            </a:r>
          </a:p>
        </p:txBody>
      </p:sp>
      <p:sp>
        <p:nvSpPr>
          <p:cNvPr id="92195" name="Text Box 37"/>
          <p:cNvSpPr txBox="1">
            <a:spLocks noChangeArrowheads="1"/>
          </p:cNvSpPr>
          <p:nvPr/>
        </p:nvSpPr>
        <p:spPr bwMode="auto">
          <a:xfrm>
            <a:off x="2747963" y="2995613"/>
            <a:ext cx="2476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/>
              <a:t>3</a:t>
            </a:r>
            <a:endParaRPr lang="ru-RU" sz="900"/>
          </a:p>
        </p:txBody>
      </p:sp>
      <p:sp>
        <p:nvSpPr>
          <p:cNvPr id="92196" name="Text Box 38"/>
          <p:cNvSpPr txBox="1">
            <a:spLocks noChangeArrowheads="1"/>
          </p:cNvSpPr>
          <p:nvPr/>
        </p:nvSpPr>
        <p:spPr bwMode="auto">
          <a:xfrm>
            <a:off x="4481513" y="2528888"/>
            <a:ext cx="2476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900"/>
              <a:t>4</a:t>
            </a:r>
          </a:p>
        </p:txBody>
      </p:sp>
      <p:sp>
        <p:nvSpPr>
          <p:cNvPr id="92197" name="Text Box 39"/>
          <p:cNvSpPr txBox="1">
            <a:spLocks noChangeArrowheads="1"/>
          </p:cNvSpPr>
          <p:nvPr/>
        </p:nvSpPr>
        <p:spPr bwMode="auto">
          <a:xfrm>
            <a:off x="4332288" y="4027488"/>
            <a:ext cx="2476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900"/>
              <a:t>4</a:t>
            </a:r>
          </a:p>
        </p:txBody>
      </p:sp>
      <p:sp>
        <p:nvSpPr>
          <p:cNvPr id="92198" name="Text Box 40"/>
          <p:cNvSpPr txBox="1">
            <a:spLocks noChangeArrowheads="1"/>
          </p:cNvSpPr>
          <p:nvPr/>
        </p:nvSpPr>
        <p:spPr bwMode="auto">
          <a:xfrm>
            <a:off x="3179763" y="2636838"/>
            <a:ext cx="2476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900"/>
              <a:t>5</a:t>
            </a:r>
          </a:p>
        </p:txBody>
      </p:sp>
      <p:sp>
        <p:nvSpPr>
          <p:cNvPr id="92199" name="Text Box 41"/>
          <p:cNvSpPr txBox="1">
            <a:spLocks noChangeArrowheads="1"/>
          </p:cNvSpPr>
          <p:nvPr/>
        </p:nvSpPr>
        <p:spPr bwMode="auto">
          <a:xfrm>
            <a:off x="2752725" y="3536950"/>
            <a:ext cx="2476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900"/>
              <a:t>5</a:t>
            </a:r>
          </a:p>
        </p:txBody>
      </p:sp>
      <p:sp>
        <p:nvSpPr>
          <p:cNvPr id="92200" name="Text Box 42"/>
          <p:cNvSpPr txBox="1">
            <a:spLocks noChangeArrowheads="1"/>
          </p:cNvSpPr>
          <p:nvPr/>
        </p:nvSpPr>
        <p:spPr bwMode="auto">
          <a:xfrm>
            <a:off x="5629275" y="2528888"/>
            <a:ext cx="2476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900"/>
              <a:t>5</a:t>
            </a:r>
          </a:p>
        </p:txBody>
      </p:sp>
      <p:sp>
        <p:nvSpPr>
          <p:cNvPr id="66603" name="Text Box 43"/>
          <p:cNvSpPr txBox="1">
            <a:spLocks noChangeArrowheads="1"/>
          </p:cNvSpPr>
          <p:nvPr/>
        </p:nvSpPr>
        <p:spPr bwMode="auto">
          <a:xfrm>
            <a:off x="1992314" y="476251"/>
            <a:ext cx="7970837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/>
              <a:t>Запускаем алгоритм обхода графа, начиная с произвольной вершины. </a:t>
            </a:r>
          </a:p>
          <a:p>
            <a:r>
              <a:rPr lang="ru-RU" sz="1600"/>
              <a:t>В качестве контейнера выбираем очередь с приоритетами. Приоритет – текущая </a:t>
            </a:r>
          </a:p>
          <a:p>
            <a:r>
              <a:rPr lang="ru-RU" sz="1600"/>
              <a:t>величина найденного расстояния до уже построенной части остовного дерева. </a:t>
            </a:r>
          </a:p>
          <a:p>
            <a:r>
              <a:rPr lang="ru-RU" sz="1600"/>
              <a:t>Релаксации подвергаются прямые и обратные ребра.</a:t>
            </a:r>
          </a:p>
        </p:txBody>
      </p:sp>
      <p:grpSp>
        <p:nvGrpSpPr>
          <p:cNvPr id="66604" name="Group 44"/>
          <p:cNvGrpSpPr>
            <a:grpSpLocks/>
          </p:cNvGrpSpPr>
          <p:nvPr/>
        </p:nvGrpSpPr>
        <p:grpSpPr bwMode="auto">
          <a:xfrm>
            <a:off x="1919289" y="4868863"/>
            <a:ext cx="3995737" cy="1079500"/>
            <a:chOff x="249" y="3067"/>
            <a:chExt cx="2517" cy="680"/>
          </a:xfrm>
        </p:grpSpPr>
        <p:sp>
          <p:nvSpPr>
            <p:cNvPr id="92230" name="Rectangle 45"/>
            <p:cNvSpPr>
              <a:spLocks noChangeArrowheads="1"/>
            </p:cNvSpPr>
            <p:nvPr/>
          </p:nvSpPr>
          <p:spPr bwMode="auto">
            <a:xfrm>
              <a:off x="499" y="3067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/>
                <a:t>1</a:t>
              </a:r>
            </a:p>
          </p:txBody>
        </p:sp>
        <p:sp>
          <p:nvSpPr>
            <p:cNvPr id="92231" name="Rectangle 46"/>
            <p:cNvSpPr>
              <a:spLocks noChangeArrowheads="1"/>
            </p:cNvSpPr>
            <p:nvPr/>
          </p:nvSpPr>
          <p:spPr bwMode="auto">
            <a:xfrm>
              <a:off x="725" y="3067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/>
                <a:t>2</a:t>
              </a:r>
            </a:p>
          </p:txBody>
        </p:sp>
        <p:sp>
          <p:nvSpPr>
            <p:cNvPr id="92232" name="Rectangle 47"/>
            <p:cNvSpPr>
              <a:spLocks noChangeArrowheads="1"/>
            </p:cNvSpPr>
            <p:nvPr/>
          </p:nvSpPr>
          <p:spPr bwMode="auto">
            <a:xfrm>
              <a:off x="953" y="3067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/>
                <a:t>3</a:t>
              </a:r>
            </a:p>
          </p:txBody>
        </p:sp>
        <p:sp>
          <p:nvSpPr>
            <p:cNvPr id="92233" name="Rectangle 48"/>
            <p:cNvSpPr>
              <a:spLocks noChangeArrowheads="1"/>
            </p:cNvSpPr>
            <p:nvPr/>
          </p:nvSpPr>
          <p:spPr bwMode="auto">
            <a:xfrm>
              <a:off x="1179" y="3067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/>
                <a:t>4</a:t>
              </a:r>
            </a:p>
          </p:txBody>
        </p:sp>
        <p:sp>
          <p:nvSpPr>
            <p:cNvPr id="92234" name="Rectangle 49"/>
            <p:cNvSpPr>
              <a:spLocks noChangeArrowheads="1"/>
            </p:cNvSpPr>
            <p:nvPr/>
          </p:nvSpPr>
          <p:spPr bwMode="auto">
            <a:xfrm>
              <a:off x="1406" y="3067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/>
                <a:t>5</a:t>
              </a:r>
            </a:p>
          </p:txBody>
        </p:sp>
        <p:sp>
          <p:nvSpPr>
            <p:cNvPr id="92235" name="Rectangle 50"/>
            <p:cNvSpPr>
              <a:spLocks noChangeArrowheads="1"/>
            </p:cNvSpPr>
            <p:nvPr/>
          </p:nvSpPr>
          <p:spPr bwMode="auto">
            <a:xfrm>
              <a:off x="1632" y="3067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/>
                <a:t>6</a:t>
              </a:r>
            </a:p>
          </p:txBody>
        </p:sp>
        <p:sp>
          <p:nvSpPr>
            <p:cNvPr id="92236" name="Rectangle 51"/>
            <p:cNvSpPr>
              <a:spLocks noChangeArrowheads="1"/>
            </p:cNvSpPr>
            <p:nvPr/>
          </p:nvSpPr>
          <p:spPr bwMode="auto">
            <a:xfrm>
              <a:off x="1860" y="3067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 dirty="0"/>
                <a:t>7</a:t>
              </a:r>
            </a:p>
          </p:txBody>
        </p:sp>
        <p:sp>
          <p:nvSpPr>
            <p:cNvPr id="92237" name="Rectangle 52"/>
            <p:cNvSpPr>
              <a:spLocks noChangeArrowheads="1"/>
            </p:cNvSpPr>
            <p:nvPr/>
          </p:nvSpPr>
          <p:spPr bwMode="auto">
            <a:xfrm>
              <a:off x="2086" y="3067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/>
                <a:t>8</a:t>
              </a:r>
            </a:p>
          </p:txBody>
        </p:sp>
        <p:sp>
          <p:nvSpPr>
            <p:cNvPr id="92238" name="Rectangle 53"/>
            <p:cNvSpPr>
              <a:spLocks noChangeArrowheads="1"/>
            </p:cNvSpPr>
            <p:nvPr/>
          </p:nvSpPr>
          <p:spPr bwMode="auto">
            <a:xfrm>
              <a:off x="2314" y="3067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/>
                <a:t>9</a:t>
              </a:r>
            </a:p>
          </p:txBody>
        </p:sp>
        <p:sp>
          <p:nvSpPr>
            <p:cNvPr id="92239" name="Rectangle 54"/>
            <p:cNvSpPr>
              <a:spLocks noChangeArrowheads="1"/>
            </p:cNvSpPr>
            <p:nvPr/>
          </p:nvSpPr>
          <p:spPr bwMode="auto">
            <a:xfrm>
              <a:off x="2540" y="3067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/>
                <a:t>10</a:t>
              </a:r>
            </a:p>
          </p:txBody>
        </p:sp>
        <p:sp>
          <p:nvSpPr>
            <p:cNvPr id="92240" name="Text Box 55"/>
            <p:cNvSpPr txBox="1">
              <a:spLocks noChangeArrowheads="1"/>
            </p:cNvSpPr>
            <p:nvPr/>
          </p:nvSpPr>
          <p:spPr bwMode="auto">
            <a:xfrm>
              <a:off x="249" y="3090"/>
              <a:ext cx="181" cy="17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/>
                <a:t>n</a:t>
              </a:r>
              <a:endParaRPr lang="ru-RU" sz="1200"/>
            </a:p>
          </p:txBody>
        </p:sp>
        <p:sp>
          <p:nvSpPr>
            <p:cNvPr id="92241" name="Rectangle 56"/>
            <p:cNvSpPr>
              <a:spLocks noChangeArrowheads="1"/>
            </p:cNvSpPr>
            <p:nvPr/>
          </p:nvSpPr>
          <p:spPr bwMode="auto">
            <a:xfrm>
              <a:off x="499" y="3294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1600"/>
            </a:p>
          </p:txBody>
        </p:sp>
        <p:sp>
          <p:nvSpPr>
            <p:cNvPr id="92242" name="Rectangle 57"/>
            <p:cNvSpPr>
              <a:spLocks noChangeArrowheads="1"/>
            </p:cNvSpPr>
            <p:nvPr/>
          </p:nvSpPr>
          <p:spPr bwMode="auto">
            <a:xfrm>
              <a:off x="725" y="3294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1600"/>
            </a:p>
          </p:txBody>
        </p:sp>
        <p:sp>
          <p:nvSpPr>
            <p:cNvPr id="92243" name="Rectangle 58"/>
            <p:cNvSpPr>
              <a:spLocks noChangeArrowheads="1"/>
            </p:cNvSpPr>
            <p:nvPr/>
          </p:nvSpPr>
          <p:spPr bwMode="auto">
            <a:xfrm>
              <a:off x="953" y="3294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1600"/>
            </a:p>
          </p:txBody>
        </p:sp>
        <p:sp>
          <p:nvSpPr>
            <p:cNvPr id="92244" name="Rectangle 59"/>
            <p:cNvSpPr>
              <a:spLocks noChangeArrowheads="1"/>
            </p:cNvSpPr>
            <p:nvPr/>
          </p:nvSpPr>
          <p:spPr bwMode="auto">
            <a:xfrm>
              <a:off x="1179" y="3294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1600"/>
            </a:p>
          </p:txBody>
        </p:sp>
        <p:sp>
          <p:nvSpPr>
            <p:cNvPr id="92245" name="Rectangle 60"/>
            <p:cNvSpPr>
              <a:spLocks noChangeArrowheads="1"/>
            </p:cNvSpPr>
            <p:nvPr/>
          </p:nvSpPr>
          <p:spPr bwMode="auto">
            <a:xfrm>
              <a:off x="1406" y="3294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1600"/>
            </a:p>
          </p:txBody>
        </p:sp>
        <p:sp>
          <p:nvSpPr>
            <p:cNvPr id="92246" name="Rectangle 61"/>
            <p:cNvSpPr>
              <a:spLocks noChangeArrowheads="1"/>
            </p:cNvSpPr>
            <p:nvPr/>
          </p:nvSpPr>
          <p:spPr bwMode="auto">
            <a:xfrm>
              <a:off x="1632" y="3294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1600"/>
            </a:p>
          </p:txBody>
        </p:sp>
        <p:sp>
          <p:nvSpPr>
            <p:cNvPr id="92247" name="Rectangle 62"/>
            <p:cNvSpPr>
              <a:spLocks noChangeArrowheads="1"/>
            </p:cNvSpPr>
            <p:nvPr/>
          </p:nvSpPr>
          <p:spPr bwMode="auto">
            <a:xfrm>
              <a:off x="1860" y="3294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1600"/>
            </a:p>
          </p:txBody>
        </p:sp>
        <p:sp>
          <p:nvSpPr>
            <p:cNvPr id="92248" name="Rectangle 63"/>
            <p:cNvSpPr>
              <a:spLocks noChangeArrowheads="1"/>
            </p:cNvSpPr>
            <p:nvPr/>
          </p:nvSpPr>
          <p:spPr bwMode="auto">
            <a:xfrm>
              <a:off x="2086" y="3294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1600"/>
            </a:p>
          </p:txBody>
        </p:sp>
        <p:sp>
          <p:nvSpPr>
            <p:cNvPr id="92249" name="Rectangle 64"/>
            <p:cNvSpPr>
              <a:spLocks noChangeArrowheads="1"/>
            </p:cNvSpPr>
            <p:nvPr/>
          </p:nvSpPr>
          <p:spPr bwMode="auto">
            <a:xfrm>
              <a:off x="2314" y="3294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1600"/>
            </a:p>
          </p:txBody>
        </p:sp>
        <p:sp>
          <p:nvSpPr>
            <p:cNvPr id="92250" name="Rectangle 65"/>
            <p:cNvSpPr>
              <a:spLocks noChangeArrowheads="1"/>
            </p:cNvSpPr>
            <p:nvPr/>
          </p:nvSpPr>
          <p:spPr bwMode="auto">
            <a:xfrm>
              <a:off x="2540" y="3294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1600"/>
            </a:p>
          </p:txBody>
        </p:sp>
        <p:sp>
          <p:nvSpPr>
            <p:cNvPr id="92251" name="Text Box 66"/>
            <p:cNvSpPr txBox="1">
              <a:spLocks noChangeArrowheads="1"/>
            </p:cNvSpPr>
            <p:nvPr/>
          </p:nvSpPr>
          <p:spPr bwMode="auto">
            <a:xfrm>
              <a:off x="249" y="3317"/>
              <a:ext cx="181" cy="17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l-GR" sz="1200">
                  <a:cs typeface="Arial" charset="0"/>
                </a:rPr>
                <a:t>π</a:t>
              </a:r>
            </a:p>
          </p:txBody>
        </p:sp>
        <p:sp>
          <p:nvSpPr>
            <p:cNvPr id="92252" name="Rectangle 67"/>
            <p:cNvSpPr>
              <a:spLocks noChangeArrowheads="1"/>
            </p:cNvSpPr>
            <p:nvPr/>
          </p:nvSpPr>
          <p:spPr bwMode="auto">
            <a:xfrm>
              <a:off x="499" y="3521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0</a:t>
              </a:r>
              <a:endParaRPr lang="ru-RU" sz="1600"/>
            </a:p>
          </p:txBody>
        </p:sp>
        <p:sp>
          <p:nvSpPr>
            <p:cNvPr id="92253" name="Rectangle 68"/>
            <p:cNvSpPr>
              <a:spLocks noChangeArrowheads="1"/>
            </p:cNvSpPr>
            <p:nvPr/>
          </p:nvSpPr>
          <p:spPr bwMode="auto">
            <a:xfrm>
              <a:off x="725" y="3521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>
                  <a:cs typeface="Arial" charset="0"/>
                </a:rPr>
                <a:t>∞</a:t>
              </a:r>
            </a:p>
          </p:txBody>
        </p:sp>
        <p:sp>
          <p:nvSpPr>
            <p:cNvPr id="92254" name="Rectangle 69"/>
            <p:cNvSpPr>
              <a:spLocks noChangeArrowheads="1"/>
            </p:cNvSpPr>
            <p:nvPr/>
          </p:nvSpPr>
          <p:spPr bwMode="auto">
            <a:xfrm>
              <a:off x="952" y="3521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>
                  <a:cs typeface="Arial" charset="0"/>
                </a:rPr>
                <a:t>∞</a:t>
              </a:r>
            </a:p>
          </p:txBody>
        </p:sp>
        <p:sp>
          <p:nvSpPr>
            <p:cNvPr id="92255" name="Rectangle 70"/>
            <p:cNvSpPr>
              <a:spLocks noChangeArrowheads="1"/>
            </p:cNvSpPr>
            <p:nvPr/>
          </p:nvSpPr>
          <p:spPr bwMode="auto">
            <a:xfrm>
              <a:off x="1179" y="3521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>
                  <a:cs typeface="Arial" charset="0"/>
                </a:rPr>
                <a:t>∞</a:t>
              </a:r>
            </a:p>
          </p:txBody>
        </p:sp>
        <p:sp>
          <p:nvSpPr>
            <p:cNvPr id="92256" name="Rectangle 71"/>
            <p:cNvSpPr>
              <a:spLocks noChangeArrowheads="1"/>
            </p:cNvSpPr>
            <p:nvPr/>
          </p:nvSpPr>
          <p:spPr bwMode="auto">
            <a:xfrm>
              <a:off x="1406" y="3521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>
                  <a:cs typeface="Arial" charset="0"/>
                </a:rPr>
                <a:t>∞</a:t>
              </a:r>
            </a:p>
          </p:txBody>
        </p:sp>
        <p:sp>
          <p:nvSpPr>
            <p:cNvPr id="92257" name="Rectangle 72"/>
            <p:cNvSpPr>
              <a:spLocks noChangeArrowheads="1"/>
            </p:cNvSpPr>
            <p:nvPr/>
          </p:nvSpPr>
          <p:spPr bwMode="auto">
            <a:xfrm>
              <a:off x="1632" y="3521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>
                  <a:cs typeface="Arial" charset="0"/>
                </a:rPr>
                <a:t>∞</a:t>
              </a:r>
            </a:p>
          </p:txBody>
        </p:sp>
        <p:sp>
          <p:nvSpPr>
            <p:cNvPr id="92258" name="Rectangle 73"/>
            <p:cNvSpPr>
              <a:spLocks noChangeArrowheads="1"/>
            </p:cNvSpPr>
            <p:nvPr/>
          </p:nvSpPr>
          <p:spPr bwMode="auto">
            <a:xfrm>
              <a:off x="1859" y="3521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>
                  <a:cs typeface="Arial" charset="0"/>
                </a:rPr>
                <a:t>∞</a:t>
              </a:r>
            </a:p>
          </p:txBody>
        </p:sp>
        <p:sp>
          <p:nvSpPr>
            <p:cNvPr id="92259" name="Rectangle 74"/>
            <p:cNvSpPr>
              <a:spLocks noChangeArrowheads="1"/>
            </p:cNvSpPr>
            <p:nvPr/>
          </p:nvSpPr>
          <p:spPr bwMode="auto">
            <a:xfrm>
              <a:off x="2086" y="3521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>
                  <a:cs typeface="Arial" charset="0"/>
                </a:rPr>
                <a:t>∞</a:t>
              </a:r>
            </a:p>
          </p:txBody>
        </p:sp>
        <p:sp>
          <p:nvSpPr>
            <p:cNvPr id="92260" name="Rectangle 75"/>
            <p:cNvSpPr>
              <a:spLocks noChangeArrowheads="1"/>
            </p:cNvSpPr>
            <p:nvPr/>
          </p:nvSpPr>
          <p:spPr bwMode="auto">
            <a:xfrm>
              <a:off x="2313" y="3521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>
                  <a:cs typeface="Arial" charset="0"/>
                </a:rPr>
                <a:t>∞</a:t>
              </a:r>
            </a:p>
          </p:txBody>
        </p:sp>
        <p:sp>
          <p:nvSpPr>
            <p:cNvPr id="92261" name="Rectangle 76"/>
            <p:cNvSpPr>
              <a:spLocks noChangeArrowheads="1"/>
            </p:cNvSpPr>
            <p:nvPr/>
          </p:nvSpPr>
          <p:spPr bwMode="auto">
            <a:xfrm>
              <a:off x="2540" y="3521"/>
              <a:ext cx="226" cy="2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>
                  <a:cs typeface="Arial" charset="0"/>
                </a:rPr>
                <a:t>∞</a:t>
              </a:r>
            </a:p>
          </p:txBody>
        </p:sp>
        <p:sp>
          <p:nvSpPr>
            <p:cNvPr id="92262" name="Text Box 77"/>
            <p:cNvSpPr txBox="1">
              <a:spLocks noChangeArrowheads="1"/>
            </p:cNvSpPr>
            <p:nvPr/>
          </p:nvSpPr>
          <p:spPr bwMode="auto">
            <a:xfrm>
              <a:off x="249" y="3543"/>
              <a:ext cx="181" cy="17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/>
                <a:t>d</a:t>
              </a:r>
              <a:endParaRPr lang="ru-RU" sz="1200"/>
            </a:p>
          </p:txBody>
        </p:sp>
      </p:grpSp>
      <p:sp>
        <p:nvSpPr>
          <p:cNvPr id="66638" name="Rectangle 78"/>
          <p:cNvSpPr>
            <a:spLocks noChangeArrowheads="1"/>
          </p:cNvSpPr>
          <p:nvPr/>
        </p:nvSpPr>
        <p:spPr bwMode="auto">
          <a:xfrm>
            <a:off x="2674939" y="5589589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1</a:t>
            </a:r>
          </a:p>
        </p:txBody>
      </p:sp>
      <p:sp>
        <p:nvSpPr>
          <p:cNvPr id="66639" name="Rectangle 79"/>
          <p:cNvSpPr>
            <a:spLocks noChangeArrowheads="1"/>
          </p:cNvSpPr>
          <p:nvPr/>
        </p:nvSpPr>
        <p:spPr bwMode="auto">
          <a:xfrm>
            <a:off x="3395664" y="5589589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3</a:t>
            </a:r>
          </a:p>
        </p:txBody>
      </p:sp>
      <p:sp>
        <p:nvSpPr>
          <p:cNvPr id="66640" name="Rectangle 80"/>
          <p:cNvSpPr>
            <a:spLocks noChangeArrowheads="1"/>
          </p:cNvSpPr>
          <p:nvPr/>
        </p:nvSpPr>
        <p:spPr bwMode="auto">
          <a:xfrm>
            <a:off x="2674939" y="5229226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1</a:t>
            </a:r>
          </a:p>
        </p:txBody>
      </p:sp>
      <p:sp>
        <p:nvSpPr>
          <p:cNvPr id="66641" name="Rectangle 81"/>
          <p:cNvSpPr>
            <a:spLocks noChangeArrowheads="1"/>
          </p:cNvSpPr>
          <p:nvPr/>
        </p:nvSpPr>
        <p:spPr bwMode="auto">
          <a:xfrm>
            <a:off x="3395664" y="5229226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1</a:t>
            </a:r>
          </a:p>
        </p:txBody>
      </p:sp>
      <p:sp>
        <p:nvSpPr>
          <p:cNvPr id="66642" name="Rectangle 82"/>
          <p:cNvSpPr>
            <a:spLocks noChangeArrowheads="1"/>
          </p:cNvSpPr>
          <p:nvPr/>
        </p:nvSpPr>
        <p:spPr bwMode="auto">
          <a:xfrm>
            <a:off x="5556251" y="5229226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2</a:t>
            </a:r>
          </a:p>
        </p:txBody>
      </p:sp>
      <p:sp>
        <p:nvSpPr>
          <p:cNvPr id="66643" name="Rectangle 83"/>
          <p:cNvSpPr>
            <a:spLocks noChangeArrowheads="1"/>
          </p:cNvSpPr>
          <p:nvPr/>
        </p:nvSpPr>
        <p:spPr bwMode="auto">
          <a:xfrm>
            <a:off x="5556251" y="5589589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2</a:t>
            </a:r>
          </a:p>
        </p:txBody>
      </p:sp>
      <p:sp>
        <p:nvSpPr>
          <p:cNvPr id="66644" name="Rectangle 84"/>
          <p:cNvSpPr>
            <a:spLocks noChangeArrowheads="1"/>
          </p:cNvSpPr>
          <p:nvPr/>
        </p:nvSpPr>
        <p:spPr bwMode="auto">
          <a:xfrm>
            <a:off x="3035301" y="5229226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2</a:t>
            </a:r>
          </a:p>
        </p:txBody>
      </p:sp>
      <p:sp>
        <p:nvSpPr>
          <p:cNvPr id="66645" name="Rectangle 85"/>
          <p:cNvSpPr>
            <a:spLocks noChangeArrowheads="1"/>
          </p:cNvSpPr>
          <p:nvPr/>
        </p:nvSpPr>
        <p:spPr bwMode="auto">
          <a:xfrm>
            <a:off x="3756026" y="5229226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2</a:t>
            </a:r>
          </a:p>
        </p:txBody>
      </p:sp>
      <p:sp>
        <p:nvSpPr>
          <p:cNvPr id="66646" name="Rectangle 86"/>
          <p:cNvSpPr>
            <a:spLocks noChangeArrowheads="1"/>
          </p:cNvSpPr>
          <p:nvPr/>
        </p:nvSpPr>
        <p:spPr bwMode="auto">
          <a:xfrm>
            <a:off x="4835526" y="5229226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2</a:t>
            </a:r>
          </a:p>
        </p:txBody>
      </p:sp>
      <p:sp>
        <p:nvSpPr>
          <p:cNvPr id="66647" name="Rectangle 87"/>
          <p:cNvSpPr>
            <a:spLocks noChangeArrowheads="1"/>
          </p:cNvSpPr>
          <p:nvPr/>
        </p:nvSpPr>
        <p:spPr bwMode="auto">
          <a:xfrm>
            <a:off x="3756026" y="5589589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2</a:t>
            </a:r>
          </a:p>
        </p:txBody>
      </p:sp>
      <p:sp>
        <p:nvSpPr>
          <p:cNvPr id="66648" name="Rectangle 88"/>
          <p:cNvSpPr>
            <a:spLocks noChangeArrowheads="1"/>
          </p:cNvSpPr>
          <p:nvPr/>
        </p:nvSpPr>
        <p:spPr bwMode="auto">
          <a:xfrm>
            <a:off x="3035301" y="5589589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5</a:t>
            </a:r>
          </a:p>
        </p:txBody>
      </p:sp>
      <p:sp>
        <p:nvSpPr>
          <p:cNvPr id="66649" name="Rectangle 89"/>
          <p:cNvSpPr>
            <a:spLocks noChangeArrowheads="1"/>
          </p:cNvSpPr>
          <p:nvPr/>
        </p:nvSpPr>
        <p:spPr bwMode="auto">
          <a:xfrm>
            <a:off x="4835526" y="5589589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4</a:t>
            </a:r>
          </a:p>
        </p:txBody>
      </p:sp>
      <p:sp>
        <p:nvSpPr>
          <p:cNvPr id="66650" name="Rectangle 90"/>
          <p:cNvSpPr>
            <a:spLocks noChangeArrowheads="1"/>
          </p:cNvSpPr>
          <p:nvPr/>
        </p:nvSpPr>
        <p:spPr bwMode="auto">
          <a:xfrm>
            <a:off x="4116389" y="5589589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4</a:t>
            </a:r>
          </a:p>
        </p:txBody>
      </p:sp>
      <p:sp>
        <p:nvSpPr>
          <p:cNvPr id="66651" name="Rectangle 91"/>
          <p:cNvSpPr>
            <a:spLocks noChangeArrowheads="1"/>
          </p:cNvSpPr>
          <p:nvPr/>
        </p:nvSpPr>
        <p:spPr bwMode="auto">
          <a:xfrm>
            <a:off x="4116389" y="5229226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5</a:t>
            </a:r>
          </a:p>
        </p:txBody>
      </p:sp>
      <p:sp>
        <p:nvSpPr>
          <p:cNvPr id="66652" name="Rectangle 92"/>
          <p:cNvSpPr>
            <a:spLocks noChangeArrowheads="1"/>
          </p:cNvSpPr>
          <p:nvPr/>
        </p:nvSpPr>
        <p:spPr bwMode="auto">
          <a:xfrm>
            <a:off x="3024167" y="5572141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3</a:t>
            </a:r>
          </a:p>
        </p:txBody>
      </p:sp>
      <p:sp>
        <p:nvSpPr>
          <p:cNvPr id="66653" name="Rectangle 93"/>
          <p:cNvSpPr>
            <a:spLocks noChangeArrowheads="1"/>
          </p:cNvSpPr>
          <p:nvPr/>
        </p:nvSpPr>
        <p:spPr bwMode="auto">
          <a:xfrm>
            <a:off x="3024167" y="5214950"/>
            <a:ext cx="358775" cy="35719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10</a:t>
            </a:r>
          </a:p>
        </p:txBody>
      </p:sp>
      <p:sp>
        <p:nvSpPr>
          <p:cNvPr id="66654" name="Rectangle 94"/>
          <p:cNvSpPr>
            <a:spLocks noChangeArrowheads="1"/>
          </p:cNvSpPr>
          <p:nvPr/>
        </p:nvSpPr>
        <p:spPr bwMode="auto">
          <a:xfrm>
            <a:off x="4095737" y="5572141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1</a:t>
            </a:r>
          </a:p>
        </p:txBody>
      </p:sp>
      <p:sp>
        <p:nvSpPr>
          <p:cNvPr id="66655" name="Rectangle 95"/>
          <p:cNvSpPr>
            <a:spLocks noChangeArrowheads="1"/>
          </p:cNvSpPr>
          <p:nvPr/>
        </p:nvSpPr>
        <p:spPr bwMode="auto">
          <a:xfrm>
            <a:off x="4095737" y="5214951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3</a:t>
            </a:r>
          </a:p>
        </p:txBody>
      </p:sp>
      <p:sp>
        <p:nvSpPr>
          <p:cNvPr id="66656" name="Rectangle 96"/>
          <p:cNvSpPr>
            <a:spLocks noChangeArrowheads="1"/>
          </p:cNvSpPr>
          <p:nvPr/>
        </p:nvSpPr>
        <p:spPr bwMode="auto">
          <a:xfrm>
            <a:off x="4475164" y="5589589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4</a:t>
            </a:r>
          </a:p>
        </p:txBody>
      </p:sp>
      <p:sp>
        <p:nvSpPr>
          <p:cNvPr id="66657" name="Rectangle 97"/>
          <p:cNvSpPr>
            <a:spLocks noChangeArrowheads="1"/>
          </p:cNvSpPr>
          <p:nvPr/>
        </p:nvSpPr>
        <p:spPr bwMode="auto">
          <a:xfrm>
            <a:off x="4475164" y="5229226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6</a:t>
            </a:r>
          </a:p>
        </p:txBody>
      </p:sp>
      <p:sp>
        <p:nvSpPr>
          <p:cNvPr id="66658" name="Rectangle 98"/>
          <p:cNvSpPr>
            <a:spLocks noChangeArrowheads="1"/>
          </p:cNvSpPr>
          <p:nvPr/>
        </p:nvSpPr>
        <p:spPr bwMode="auto">
          <a:xfrm>
            <a:off x="5195889" y="5589589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3</a:t>
            </a:r>
          </a:p>
        </p:txBody>
      </p:sp>
      <p:sp>
        <p:nvSpPr>
          <p:cNvPr id="66659" name="Rectangle 99"/>
          <p:cNvSpPr>
            <a:spLocks noChangeArrowheads="1"/>
          </p:cNvSpPr>
          <p:nvPr/>
        </p:nvSpPr>
        <p:spPr bwMode="auto">
          <a:xfrm>
            <a:off x="5195889" y="5229226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4</a:t>
            </a:r>
          </a:p>
        </p:txBody>
      </p:sp>
      <p:sp>
        <p:nvSpPr>
          <p:cNvPr id="66660" name="Rectangle 100"/>
          <p:cNvSpPr>
            <a:spLocks noChangeArrowheads="1"/>
          </p:cNvSpPr>
          <p:nvPr/>
        </p:nvSpPr>
        <p:spPr bwMode="auto">
          <a:xfrm>
            <a:off x="4810117" y="5572141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1</a:t>
            </a:r>
          </a:p>
        </p:txBody>
      </p:sp>
      <p:sp>
        <p:nvSpPr>
          <p:cNvPr id="66661" name="Rectangle 101"/>
          <p:cNvSpPr>
            <a:spLocks noChangeArrowheads="1"/>
          </p:cNvSpPr>
          <p:nvPr/>
        </p:nvSpPr>
        <p:spPr bwMode="auto">
          <a:xfrm>
            <a:off x="4810117" y="5214951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9</a:t>
            </a:r>
          </a:p>
        </p:txBody>
      </p:sp>
      <p:sp>
        <p:nvSpPr>
          <p:cNvPr id="66662" name="Rectangle 102"/>
          <p:cNvSpPr>
            <a:spLocks noChangeArrowheads="1"/>
          </p:cNvSpPr>
          <p:nvPr/>
        </p:nvSpPr>
        <p:spPr bwMode="auto">
          <a:xfrm>
            <a:off x="4452927" y="5572141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2</a:t>
            </a:r>
          </a:p>
        </p:txBody>
      </p:sp>
      <p:sp>
        <p:nvSpPr>
          <p:cNvPr id="66663" name="Rectangle 103"/>
          <p:cNvSpPr>
            <a:spLocks noChangeArrowheads="1"/>
          </p:cNvSpPr>
          <p:nvPr/>
        </p:nvSpPr>
        <p:spPr bwMode="auto">
          <a:xfrm>
            <a:off x="4452927" y="5214951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 dirty="0"/>
              <a:t>8</a:t>
            </a:r>
          </a:p>
        </p:txBody>
      </p:sp>
      <p:sp>
        <p:nvSpPr>
          <p:cNvPr id="66664" name="Text Box 104"/>
          <p:cNvSpPr txBox="1">
            <a:spLocks noChangeArrowheads="1"/>
          </p:cNvSpPr>
          <p:nvPr/>
        </p:nvSpPr>
        <p:spPr bwMode="auto">
          <a:xfrm>
            <a:off x="6419850" y="4872038"/>
            <a:ext cx="424815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600" dirty="0"/>
              <a:t>В результате работы получаем список</a:t>
            </a:r>
            <a:br>
              <a:rPr lang="ru-RU" sz="1600" dirty="0"/>
            </a:br>
            <a:r>
              <a:rPr lang="ru-RU" sz="1600" dirty="0"/>
              <a:t>ребер </a:t>
            </a:r>
            <a:r>
              <a:rPr lang="ru-RU" sz="1600" dirty="0" err="1"/>
              <a:t>остовного</a:t>
            </a:r>
            <a:r>
              <a:rPr lang="ru-RU" sz="1600" dirty="0"/>
              <a:t> дерева вместе с весами</a:t>
            </a:r>
          </a:p>
          <a:p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6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20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000" fill="hold"/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0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2000" fill="hold"/>
                                        <p:tgtEl>
                                          <p:spTgt spid="665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665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665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20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57" dur="20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20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000" fill="hold"/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2000" fill="hold"/>
                                        <p:tgtEl>
                                          <p:spTgt spid="665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64" dur="2000" fill="hold"/>
                                        <p:tgtEl>
                                          <p:spTgt spid="665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2000" fill="hold"/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67" dur="2000" fill="hold"/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2000" fill="hold"/>
                                        <p:tgtEl>
                                          <p:spTgt spid="665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665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2000" fill="hold"/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73" dur="2000" fill="hold"/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20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82" dur="20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20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20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20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90" dur="20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20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6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6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6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6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6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6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6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6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20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22" dur="20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20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2000" fill="hold"/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6" dur="2000" fill="hold"/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2000" fill="hold"/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29" dur="2000" fill="hold"/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20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134" dur="20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20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6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6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20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46" dur="20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20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2000" fill="hold"/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0" dur="2000" fill="hold"/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2000" fill="hold"/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53" dur="2000" fill="hold"/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2000" fill="hold"/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56" dur="2000" fill="hold"/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6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6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20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69" dur="20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20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" dur="2000" fill="hold"/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3" dur="2000" fill="hold"/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2000" fill="hold"/>
                                        <p:tgtEl>
                                          <p:spTgt spid="665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78" dur="2000" fill="hold"/>
                                        <p:tgtEl>
                                          <p:spTgt spid="665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6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6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20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91" dur="20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" dur="20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2000" fill="hold"/>
                                        <p:tgtEl>
                                          <p:spTgt spid="665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5" dur="2000" fill="hold"/>
                                        <p:tgtEl>
                                          <p:spTgt spid="665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2000" fill="hold"/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98" dur="2000" fill="hold"/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2000" fill="hold"/>
                                        <p:tgtEl>
                                          <p:spTgt spid="665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203" dur="2000" fill="hold"/>
                                        <p:tgtEl>
                                          <p:spTgt spid="665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" dur="2000" fill="hold"/>
                                        <p:tgtEl>
                                          <p:spTgt spid="665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6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6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2000" fill="hold"/>
                                        <p:tgtEl>
                                          <p:spTgt spid="665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17" dur="2000" fill="hold"/>
                                        <p:tgtEl>
                                          <p:spTgt spid="665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2000" fill="hold"/>
                                        <p:tgtEl>
                                          <p:spTgt spid="665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2000" fill="hold"/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1" dur="2000" fill="hold"/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2000" fill="hold"/>
                                        <p:tgtEl>
                                          <p:spTgt spid="665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226" dur="2000" fill="hold"/>
                                        <p:tgtEl>
                                          <p:spTgt spid="665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2000" fill="hold"/>
                                        <p:tgtEl>
                                          <p:spTgt spid="665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229" dur="2000" fill="hold"/>
                                        <p:tgtEl>
                                          <p:spTgt spid="665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20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234" dur="20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20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0"/>
                                        <p:tgtEl>
                                          <p:spTgt spid="6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3" dur="500"/>
                                        <p:tgtEl>
                                          <p:spTgt spid="6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20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48" dur="20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20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2000" fill="hold"/>
                                        <p:tgtEl>
                                          <p:spTgt spid="665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2" dur="2000" fill="hold"/>
                                        <p:tgtEl>
                                          <p:spTgt spid="665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2000" fill="hold"/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257" dur="2000" fill="hold"/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2" dur="500"/>
                                        <p:tgtEl>
                                          <p:spTgt spid="6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500"/>
                                        <p:tgtEl>
                                          <p:spTgt spid="6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20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70" dur="20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1" dur="20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2000" fill="hold"/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4" dur="2000" fill="hold"/>
                                        <p:tgtEl>
                                          <p:spTgt spid="665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2000" fill="hold"/>
                                        <p:tgtEl>
                                          <p:spTgt spid="665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279" dur="2000" fill="hold"/>
                                        <p:tgtEl>
                                          <p:spTgt spid="665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4" dur="500"/>
                                        <p:tgtEl>
                                          <p:spTgt spid="6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7" dur="500"/>
                                        <p:tgtEl>
                                          <p:spTgt spid="6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2000" fill="hold"/>
                                        <p:tgtEl>
                                          <p:spTgt spid="665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92" dur="2000" fill="hold"/>
                                        <p:tgtEl>
                                          <p:spTgt spid="665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3" dur="2000" fill="hold"/>
                                        <p:tgtEl>
                                          <p:spTgt spid="665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2000" fill="hold"/>
                                        <p:tgtEl>
                                          <p:spTgt spid="665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6" dur="2000" fill="hold"/>
                                        <p:tgtEl>
                                          <p:spTgt spid="665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1" dur="500"/>
                                        <p:tgtEl>
                                          <p:spTgt spid="6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03" grpId="0"/>
      <p:bldP spid="66638" grpId="0" animBg="1"/>
      <p:bldP spid="66639" grpId="0" animBg="1"/>
      <p:bldP spid="66640" grpId="0" animBg="1"/>
      <p:bldP spid="66641" grpId="0" animBg="1"/>
      <p:bldP spid="66642" grpId="0" animBg="1"/>
      <p:bldP spid="66643" grpId="0" animBg="1"/>
      <p:bldP spid="66644" grpId="0" animBg="1"/>
      <p:bldP spid="66645" grpId="0" animBg="1"/>
      <p:bldP spid="66646" grpId="0" animBg="1"/>
      <p:bldP spid="66647" grpId="0" animBg="1"/>
      <p:bldP spid="66648" grpId="0" animBg="1"/>
      <p:bldP spid="66649" grpId="0" animBg="1"/>
      <p:bldP spid="66650" grpId="0" animBg="1"/>
      <p:bldP spid="66651" grpId="0" animBg="1"/>
      <p:bldP spid="66652" grpId="0" animBg="1"/>
      <p:bldP spid="66653" grpId="0" animBg="1"/>
      <p:bldP spid="66654" grpId="0" animBg="1"/>
      <p:bldP spid="66655" grpId="0" animBg="1"/>
      <p:bldP spid="66656" grpId="0" animBg="1"/>
      <p:bldP spid="66657" grpId="0" animBg="1"/>
      <p:bldP spid="66658" grpId="0" animBg="1"/>
      <p:bldP spid="66659" grpId="0" animBg="1"/>
      <p:bldP spid="66660" grpId="0" animBg="1"/>
      <p:bldP spid="66661" grpId="0" animBg="1"/>
      <p:bldP spid="66662" grpId="0" animBg="1"/>
      <p:bldP spid="66663" grpId="0" animBg="1"/>
      <p:bldP spid="66664" grpId="0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Заголовок 1"/>
          <p:cNvSpPr>
            <a:spLocks noGrp="1"/>
          </p:cNvSpPr>
          <p:nvPr>
            <p:ph type="title" idx="4294967295"/>
          </p:nvPr>
        </p:nvSpPr>
        <p:spPr>
          <a:xfrm>
            <a:off x="1524000" y="274638"/>
            <a:ext cx="8229600" cy="654050"/>
          </a:xfrm>
        </p:spPr>
        <p:txBody>
          <a:bodyPr/>
          <a:lstStyle/>
          <a:p>
            <a:pPr algn="l"/>
            <a:r>
              <a:rPr lang="ru-RU" sz="3600">
                <a:solidFill>
                  <a:srgbClr val="663300"/>
                </a:solidFill>
              </a:rPr>
              <a:t>Пример</a:t>
            </a:r>
          </a:p>
        </p:txBody>
      </p:sp>
      <p:pic>
        <p:nvPicPr>
          <p:cNvPr id="98306" name="Picture 4" descr="12_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36739" y="2192338"/>
            <a:ext cx="3671887" cy="306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10"/>
          <p:cNvSpPr>
            <a:spLocks noChangeArrowheads="1"/>
          </p:cNvSpPr>
          <p:nvPr/>
        </p:nvSpPr>
        <p:spPr bwMode="auto">
          <a:xfrm>
            <a:off x="7308850" y="2263775"/>
            <a:ext cx="287338" cy="287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36000" tIns="36000" rIns="36000" bIns="36000" anchor="ctr">
            <a:normAutofit fontScale="55000" lnSpcReduction="20000"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>
                <a:solidFill>
                  <a:schemeClr val="bg1"/>
                </a:solidFill>
                <a:latin typeface="+mn-lt"/>
              </a:rPr>
              <a:t>м1</a:t>
            </a:r>
          </a:p>
        </p:txBody>
      </p:sp>
      <p:sp>
        <p:nvSpPr>
          <p:cNvPr id="98308" name="Oval 10"/>
          <p:cNvSpPr>
            <a:spLocks noChangeArrowheads="1"/>
          </p:cNvSpPr>
          <p:nvPr/>
        </p:nvSpPr>
        <p:spPr bwMode="auto">
          <a:xfrm>
            <a:off x="8893175" y="2336800"/>
            <a:ext cx="287338" cy="287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98309" name="Oval 10"/>
          <p:cNvSpPr>
            <a:spLocks noChangeArrowheads="1"/>
          </p:cNvSpPr>
          <p:nvPr/>
        </p:nvSpPr>
        <p:spPr bwMode="auto">
          <a:xfrm>
            <a:off x="6372225" y="3560764"/>
            <a:ext cx="287338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98310" name="Oval 10"/>
          <p:cNvSpPr>
            <a:spLocks noChangeArrowheads="1"/>
          </p:cNvSpPr>
          <p:nvPr/>
        </p:nvSpPr>
        <p:spPr bwMode="auto">
          <a:xfrm>
            <a:off x="9540875" y="3487739"/>
            <a:ext cx="287338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98311" name="Oval 10"/>
          <p:cNvSpPr>
            <a:spLocks noChangeArrowheads="1"/>
          </p:cNvSpPr>
          <p:nvPr/>
        </p:nvSpPr>
        <p:spPr bwMode="auto">
          <a:xfrm>
            <a:off x="8029575" y="3487739"/>
            <a:ext cx="287338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98312" name="Oval 10"/>
          <p:cNvSpPr>
            <a:spLocks noChangeArrowheads="1"/>
          </p:cNvSpPr>
          <p:nvPr/>
        </p:nvSpPr>
        <p:spPr bwMode="auto">
          <a:xfrm>
            <a:off x="8893175" y="4856164"/>
            <a:ext cx="287338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98313" name="Oval 10"/>
          <p:cNvSpPr>
            <a:spLocks noChangeArrowheads="1"/>
          </p:cNvSpPr>
          <p:nvPr/>
        </p:nvSpPr>
        <p:spPr bwMode="auto">
          <a:xfrm>
            <a:off x="7164389" y="4856164"/>
            <a:ext cx="287337" cy="287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ru-RU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98314" name="Line 12"/>
          <p:cNvSpPr>
            <a:spLocks noChangeShapeType="1"/>
          </p:cNvSpPr>
          <p:nvPr/>
        </p:nvSpPr>
        <p:spPr bwMode="auto">
          <a:xfrm>
            <a:off x="7524751" y="2552700"/>
            <a:ext cx="576263" cy="935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8315" name="Line 13"/>
          <p:cNvSpPr>
            <a:spLocks noChangeShapeType="1"/>
          </p:cNvSpPr>
          <p:nvPr/>
        </p:nvSpPr>
        <p:spPr bwMode="auto">
          <a:xfrm flipH="1">
            <a:off x="9109076" y="3776663"/>
            <a:ext cx="504825" cy="1079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8316" name="Line 14"/>
          <p:cNvSpPr>
            <a:spLocks noChangeShapeType="1"/>
          </p:cNvSpPr>
          <p:nvPr/>
        </p:nvSpPr>
        <p:spPr bwMode="auto">
          <a:xfrm flipH="1">
            <a:off x="8245475" y="2624138"/>
            <a:ext cx="719138" cy="863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8317" name="Line 15"/>
          <p:cNvSpPr>
            <a:spLocks noChangeShapeType="1"/>
          </p:cNvSpPr>
          <p:nvPr/>
        </p:nvSpPr>
        <p:spPr bwMode="auto">
          <a:xfrm flipH="1">
            <a:off x="8316913" y="3632200"/>
            <a:ext cx="1225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7453313" y="5000625"/>
            <a:ext cx="14398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 flipH="1">
            <a:off x="6589714" y="2479675"/>
            <a:ext cx="719137" cy="10810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98320" name="Text Box 18"/>
          <p:cNvSpPr txBox="1">
            <a:spLocks noChangeArrowheads="1"/>
          </p:cNvSpPr>
          <p:nvPr/>
        </p:nvSpPr>
        <p:spPr bwMode="auto">
          <a:xfrm>
            <a:off x="7453313" y="2984500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Calibri" pitchFamily="34" charset="0"/>
              </a:rPr>
              <a:t>1</a:t>
            </a:r>
            <a:endParaRPr lang="ru-RU" sz="1600">
              <a:latin typeface="Calibri" pitchFamily="34" charset="0"/>
            </a:endParaRPr>
          </a:p>
        </p:txBody>
      </p:sp>
      <p:sp>
        <p:nvSpPr>
          <p:cNvPr id="98321" name="Text Box 19"/>
          <p:cNvSpPr txBox="1">
            <a:spLocks noChangeArrowheads="1"/>
          </p:cNvSpPr>
          <p:nvPr/>
        </p:nvSpPr>
        <p:spPr bwMode="auto">
          <a:xfrm>
            <a:off x="9324976" y="4279900"/>
            <a:ext cx="2968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Calibri" pitchFamily="34" charset="0"/>
              </a:rPr>
              <a:t>3</a:t>
            </a:r>
            <a:endParaRPr lang="ru-RU" sz="1600">
              <a:latin typeface="Calibri" pitchFamily="34" charset="0"/>
            </a:endParaRPr>
          </a:p>
        </p:txBody>
      </p:sp>
      <p:sp>
        <p:nvSpPr>
          <p:cNvPr id="98322" name="Text Box 20"/>
          <p:cNvSpPr txBox="1">
            <a:spLocks noChangeArrowheads="1"/>
          </p:cNvSpPr>
          <p:nvPr/>
        </p:nvSpPr>
        <p:spPr bwMode="auto">
          <a:xfrm>
            <a:off x="8605838" y="2911475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Calibri" pitchFamily="34" charset="0"/>
              </a:rPr>
              <a:t>4</a:t>
            </a:r>
            <a:endParaRPr lang="ru-RU" sz="1600">
              <a:latin typeface="Calibri" pitchFamily="34" charset="0"/>
            </a:endParaRPr>
          </a:p>
        </p:txBody>
      </p:sp>
      <p:sp>
        <p:nvSpPr>
          <p:cNvPr id="98323" name="Text Box 21"/>
          <p:cNvSpPr txBox="1">
            <a:spLocks noChangeArrowheads="1"/>
          </p:cNvSpPr>
          <p:nvPr/>
        </p:nvSpPr>
        <p:spPr bwMode="auto">
          <a:xfrm>
            <a:off x="8893176" y="3632200"/>
            <a:ext cx="2968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Calibri" pitchFamily="34" charset="0"/>
              </a:rPr>
              <a:t>9</a:t>
            </a:r>
            <a:endParaRPr lang="ru-RU" sz="1600">
              <a:latin typeface="Calibri" pitchFamily="34" charset="0"/>
            </a:endParaRPr>
          </a:p>
        </p:txBody>
      </p:sp>
      <p:sp>
        <p:nvSpPr>
          <p:cNvPr id="98324" name="Text Box 22"/>
          <p:cNvSpPr txBox="1">
            <a:spLocks noChangeArrowheads="1"/>
          </p:cNvSpPr>
          <p:nvPr/>
        </p:nvSpPr>
        <p:spPr bwMode="auto">
          <a:xfrm>
            <a:off x="6516689" y="2840038"/>
            <a:ext cx="4095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Calibri" pitchFamily="34" charset="0"/>
              </a:rPr>
              <a:t>23</a:t>
            </a:r>
            <a:endParaRPr lang="ru-RU" sz="1600">
              <a:latin typeface="Calibri" pitchFamily="34" charset="0"/>
            </a:endParaRPr>
          </a:p>
        </p:txBody>
      </p:sp>
      <p:sp>
        <p:nvSpPr>
          <p:cNvPr id="98325" name="Text Box 23"/>
          <p:cNvSpPr txBox="1">
            <a:spLocks noChangeArrowheads="1"/>
          </p:cNvSpPr>
          <p:nvPr/>
        </p:nvSpPr>
        <p:spPr bwMode="auto">
          <a:xfrm>
            <a:off x="7956550" y="4640263"/>
            <a:ext cx="39305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Calibri" pitchFamily="34" charset="0"/>
              </a:rPr>
              <a:t>17</a:t>
            </a:r>
            <a:endParaRPr lang="ru-RU" sz="1600">
              <a:latin typeface="Calibri" pitchFamily="34" charset="0"/>
            </a:endParaRPr>
          </a:p>
        </p:txBody>
      </p:sp>
      <p:sp>
        <p:nvSpPr>
          <p:cNvPr id="24" name="Line 17"/>
          <p:cNvSpPr>
            <a:spLocks noChangeShapeType="1"/>
          </p:cNvSpPr>
          <p:nvPr/>
        </p:nvSpPr>
        <p:spPr bwMode="auto">
          <a:xfrm>
            <a:off x="6524626" y="3857626"/>
            <a:ext cx="714375" cy="1000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" name="Line 17"/>
          <p:cNvSpPr>
            <a:spLocks noChangeShapeType="1"/>
          </p:cNvSpPr>
          <p:nvPr/>
        </p:nvSpPr>
        <p:spPr bwMode="auto">
          <a:xfrm flipH="1">
            <a:off x="7381875" y="3714750"/>
            <a:ext cx="719138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6" name="Line 17"/>
          <p:cNvSpPr>
            <a:spLocks noChangeShapeType="1"/>
          </p:cNvSpPr>
          <p:nvPr/>
        </p:nvSpPr>
        <p:spPr bwMode="auto">
          <a:xfrm flipH="1" flipV="1">
            <a:off x="7596189" y="2357439"/>
            <a:ext cx="1285875" cy="714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7" name="Line 17"/>
          <p:cNvSpPr>
            <a:spLocks noChangeShapeType="1"/>
          </p:cNvSpPr>
          <p:nvPr/>
        </p:nvSpPr>
        <p:spPr bwMode="auto">
          <a:xfrm flipH="1">
            <a:off x="6667501" y="3643314"/>
            <a:ext cx="1357313" cy="714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" name="Line 17"/>
          <p:cNvSpPr>
            <a:spLocks noChangeShapeType="1"/>
          </p:cNvSpPr>
          <p:nvPr/>
        </p:nvSpPr>
        <p:spPr bwMode="auto">
          <a:xfrm>
            <a:off x="9167813" y="2643188"/>
            <a:ext cx="500062" cy="857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9" name="Line 17"/>
          <p:cNvSpPr>
            <a:spLocks noChangeShapeType="1"/>
          </p:cNvSpPr>
          <p:nvPr/>
        </p:nvSpPr>
        <p:spPr bwMode="auto">
          <a:xfrm>
            <a:off x="8310564" y="3786188"/>
            <a:ext cx="642937" cy="10715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Box 18"/>
          <p:cNvSpPr txBox="1">
            <a:spLocks noChangeArrowheads="1"/>
          </p:cNvSpPr>
          <p:nvPr/>
        </p:nvSpPr>
        <p:spPr bwMode="auto">
          <a:xfrm>
            <a:off x="8096250" y="2000250"/>
            <a:ext cx="3937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>
                <a:latin typeface="Calibri" pitchFamily="34" charset="0"/>
              </a:rPr>
              <a:t>20</a:t>
            </a:r>
          </a:p>
        </p:txBody>
      </p:sp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9453563" y="2786064"/>
            <a:ext cx="3937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Calibri" pitchFamily="34" charset="0"/>
              </a:rPr>
              <a:t>1</a:t>
            </a:r>
            <a:r>
              <a:rPr lang="ru-RU" sz="1600">
                <a:latin typeface="Calibri" pitchFamily="34" charset="0"/>
              </a:rPr>
              <a:t>5</a:t>
            </a:r>
          </a:p>
        </p:txBody>
      </p:sp>
      <p:sp>
        <p:nvSpPr>
          <p:cNvPr id="32" name="Text Box 18"/>
          <p:cNvSpPr txBox="1">
            <a:spLocks noChangeArrowheads="1"/>
          </p:cNvSpPr>
          <p:nvPr/>
        </p:nvSpPr>
        <p:spPr bwMode="auto">
          <a:xfrm>
            <a:off x="7096125" y="3357564"/>
            <a:ext cx="3937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>
                <a:latin typeface="Calibri" pitchFamily="34" charset="0"/>
              </a:rPr>
              <a:t>36</a:t>
            </a:r>
          </a:p>
        </p:txBody>
      </p:sp>
      <p:sp>
        <p:nvSpPr>
          <p:cNvPr id="33" name="Text Box 18"/>
          <p:cNvSpPr txBox="1">
            <a:spLocks noChangeArrowheads="1"/>
          </p:cNvSpPr>
          <p:nvPr/>
        </p:nvSpPr>
        <p:spPr bwMode="auto">
          <a:xfrm>
            <a:off x="7381875" y="4071939"/>
            <a:ext cx="3937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>
                <a:latin typeface="Calibri" pitchFamily="34" charset="0"/>
              </a:rPr>
              <a:t>25</a:t>
            </a:r>
          </a:p>
        </p:txBody>
      </p:sp>
      <p:sp>
        <p:nvSpPr>
          <p:cNvPr id="34" name="Text Box 18"/>
          <p:cNvSpPr txBox="1">
            <a:spLocks noChangeArrowheads="1"/>
          </p:cNvSpPr>
          <p:nvPr/>
        </p:nvSpPr>
        <p:spPr bwMode="auto">
          <a:xfrm>
            <a:off x="6596063" y="4357689"/>
            <a:ext cx="3937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>
                <a:latin typeface="Calibri" pitchFamily="34" charset="0"/>
              </a:rPr>
              <a:t>28</a:t>
            </a:r>
          </a:p>
        </p:txBody>
      </p:sp>
      <p:sp>
        <p:nvSpPr>
          <p:cNvPr id="35" name="Text Box 18"/>
          <p:cNvSpPr txBox="1">
            <a:spLocks noChangeArrowheads="1"/>
          </p:cNvSpPr>
          <p:nvPr/>
        </p:nvSpPr>
        <p:spPr bwMode="auto">
          <a:xfrm>
            <a:off x="8310563" y="4214814"/>
            <a:ext cx="3937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Calibri" pitchFamily="34" charset="0"/>
              </a:rPr>
              <a:t>1</a:t>
            </a:r>
            <a:r>
              <a:rPr lang="ru-RU" sz="1600">
                <a:latin typeface="Calibri" pitchFamily="34" charset="0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5643564" y="1493093"/>
            <a:ext cx="4321175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/>
              <a:t>Если в качестве промежуточной структуры </a:t>
            </a:r>
            <a:br>
              <a:rPr lang="ru-RU" sz="1600"/>
            </a:br>
            <a:r>
              <a:rPr lang="ru-RU" sz="1600"/>
              <a:t>хранения при обходе использовать стек, то</a:t>
            </a:r>
            <a:br>
              <a:rPr lang="ru-RU" sz="1600"/>
            </a:br>
            <a:r>
              <a:rPr lang="ru-RU" sz="1600"/>
              <a:t>получим обход в глубину.</a:t>
            </a:r>
          </a:p>
        </p:txBody>
      </p:sp>
      <p:sp>
        <p:nvSpPr>
          <p:cNvPr id="40964" name="Oval 4"/>
          <p:cNvSpPr>
            <a:spLocks noChangeArrowheads="1"/>
          </p:cNvSpPr>
          <p:nvPr/>
        </p:nvSpPr>
        <p:spPr bwMode="auto">
          <a:xfrm>
            <a:off x="2279651" y="2169368"/>
            <a:ext cx="360363" cy="3603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1</a:t>
            </a:r>
          </a:p>
        </p:txBody>
      </p:sp>
      <p:sp>
        <p:nvSpPr>
          <p:cNvPr id="40965" name="Oval 5"/>
          <p:cNvSpPr>
            <a:spLocks noChangeArrowheads="1"/>
          </p:cNvSpPr>
          <p:nvPr/>
        </p:nvSpPr>
        <p:spPr bwMode="auto">
          <a:xfrm>
            <a:off x="3540126" y="1664543"/>
            <a:ext cx="360363" cy="3603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2</a:t>
            </a:r>
          </a:p>
        </p:txBody>
      </p:sp>
      <p:sp>
        <p:nvSpPr>
          <p:cNvPr id="40966" name="Oval 6"/>
          <p:cNvSpPr>
            <a:spLocks noChangeArrowheads="1"/>
          </p:cNvSpPr>
          <p:nvPr/>
        </p:nvSpPr>
        <p:spPr bwMode="auto">
          <a:xfrm>
            <a:off x="4835526" y="2169368"/>
            <a:ext cx="360363" cy="3603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3</a:t>
            </a:r>
          </a:p>
        </p:txBody>
      </p:sp>
      <p:sp>
        <p:nvSpPr>
          <p:cNvPr id="40967" name="Oval 7"/>
          <p:cNvSpPr>
            <a:spLocks noChangeArrowheads="1"/>
          </p:cNvSpPr>
          <p:nvPr/>
        </p:nvSpPr>
        <p:spPr bwMode="auto">
          <a:xfrm>
            <a:off x="3540126" y="2745631"/>
            <a:ext cx="360363" cy="3603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4</a:t>
            </a:r>
          </a:p>
        </p:txBody>
      </p:sp>
      <p:sp>
        <p:nvSpPr>
          <p:cNvPr id="40968" name="Oval 8"/>
          <p:cNvSpPr>
            <a:spLocks noChangeArrowheads="1"/>
          </p:cNvSpPr>
          <p:nvPr/>
        </p:nvSpPr>
        <p:spPr bwMode="auto">
          <a:xfrm>
            <a:off x="4835526" y="3285381"/>
            <a:ext cx="360363" cy="3603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6</a:t>
            </a:r>
          </a:p>
        </p:txBody>
      </p:sp>
      <p:sp>
        <p:nvSpPr>
          <p:cNvPr id="40969" name="Oval 9"/>
          <p:cNvSpPr>
            <a:spLocks noChangeArrowheads="1"/>
          </p:cNvSpPr>
          <p:nvPr/>
        </p:nvSpPr>
        <p:spPr bwMode="auto">
          <a:xfrm>
            <a:off x="3540126" y="3969593"/>
            <a:ext cx="360363" cy="3603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7</a:t>
            </a:r>
          </a:p>
        </p:txBody>
      </p:sp>
      <p:sp>
        <p:nvSpPr>
          <p:cNvPr id="40970" name="Oval 10"/>
          <p:cNvSpPr>
            <a:spLocks noChangeArrowheads="1"/>
          </p:cNvSpPr>
          <p:nvPr/>
        </p:nvSpPr>
        <p:spPr bwMode="auto">
          <a:xfrm>
            <a:off x="2279651" y="3320306"/>
            <a:ext cx="360363" cy="3603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5</a:t>
            </a:r>
          </a:p>
        </p:txBody>
      </p:sp>
      <p:sp>
        <p:nvSpPr>
          <p:cNvPr id="40971" name="Oval 11"/>
          <p:cNvSpPr>
            <a:spLocks noChangeArrowheads="1"/>
          </p:cNvSpPr>
          <p:nvPr/>
        </p:nvSpPr>
        <p:spPr bwMode="auto">
          <a:xfrm>
            <a:off x="2279651" y="4545856"/>
            <a:ext cx="360363" cy="3603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8</a:t>
            </a:r>
          </a:p>
        </p:txBody>
      </p:sp>
      <p:cxnSp>
        <p:nvCxnSpPr>
          <p:cNvPr id="40972" name="AutoShape 12"/>
          <p:cNvCxnSpPr>
            <a:cxnSpLocks noChangeShapeType="1"/>
            <a:stCxn id="40964" idx="7"/>
            <a:endCxn id="40965" idx="2"/>
          </p:cNvCxnSpPr>
          <p:nvPr/>
        </p:nvCxnSpPr>
        <p:spPr bwMode="auto">
          <a:xfrm flipV="1">
            <a:off x="2587625" y="1845519"/>
            <a:ext cx="952500" cy="37623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0973" name="AutoShape 13"/>
          <p:cNvCxnSpPr>
            <a:cxnSpLocks noChangeShapeType="1"/>
            <a:stCxn id="40965" idx="6"/>
            <a:endCxn id="40966" idx="1"/>
          </p:cNvCxnSpPr>
          <p:nvPr/>
        </p:nvCxnSpPr>
        <p:spPr bwMode="auto">
          <a:xfrm>
            <a:off x="3900489" y="1845519"/>
            <a:ext cx="987425" cy="37623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0974" name="AutoShape 14"/>
          <p:cNvCxnSpPr>
            <a:cxnSpLocks noChangeShapeType="1"/>
            <a:stCxn id="40965" idx="4"/>
            <a:endCxn id="40967" idx="0"/>
          </p:cNvCxnSpPr>
          <p:nvPr/>
        </p:nvCxnSpPr>
        <p:spPr bwMode="auto">
          <a:xfrm>
            <a:off x="3721100" y="2024906"/>
            <a:ext cx="0" cy="7207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0975" name="AutoShape 15"/>
          <p:cNvCxnSpPr>
            <a:cxnSpLocks noChangeShapeType="1"/>
            <a:stCxn id="40967" idx="7"/>
            <a:endCxn id="40966" idx="3"/>
          </p:cNvCxnSpPr>
          <p:nvPr/>
        </p:nvCxnSpPr>
        <p:spPr bwMode="auto">
          <a:xfrm flipV="1">
            <a:off x="3848101" y="2477344"/>
            <a:ext cx="1039813" cy="3206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0976" name="AutoShape 16"/>
          <p:cNvCxnSpPr>
            <a:cxnSpLocks noChangeShapeType="1"/>
            <a:stCxn id="40964" idx="5"/>
            <a:endCxn id="40967" idx="2"/>
          </p:cNvCxnSpPr>
          <p:nvPr/>
        </p:nvCxnSpPr>
        <p:spPr bwMode="auto">
          <a:xfrm>
            <a:off x="2587625" y="2477343"/>
            <a:ext cx="952500" cy="44926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0977" name="AutoShape 17"/>
          <p:cNvCxnSpPr>
            <a:cxnSpLocks noChangeShapeType="1"/>
            <a:stCxn id="40967" idx="5"/>
            <a:endCxn id="40968" idx="1"/>
          </p:cNvCxnSpPr>
          <p:nvPr/>
        </p:nvCxnSpPr>
        <p:spPr bwMode="auto">
          <a:xfrm>
            <a:off x="3848101" y="3053606"/>
            <a:ext cx="1039813" cy="28416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0978" name="AutoShape 18"/>
          <p:cNvCxnSpPr>
            <a:cxnSpLocks noChangeShapeType="1"/>
            <a:stCxn id="40968" idx="3"/>
            <a:endCxn id="40969" idx="7"/>
          </p:cNvCxnSpPr>
          <p:nvPr/>
        </p:nvCxnSpPr>
        <p:spPr bwMode="auto">
          <a:xfrm flipH="1">
            <a:off x="3848101" y="3593356"/>
            <a:ext cx="1039813" cy="4286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0979" name="AutoShape 19"/>
          <p:cNvCxnSpPr>
            <a:cxnSpLocks noChangeShapeType="1"/>
            <a:stCxn id="40964" idx="4"/>
            <a:endCxn id="40970" idx="0"/>
          </p:cNvCxnSpPr>
          <p:nvPr/>
        </p:nvCxnSpPr>
        <p:spPr bwMode="auto">
          <a:xfrm>
            <a:off x="2460625" y="2529731"/>
            <a:ext cx="0" cy="7905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0980" name="AutoShape 20"/>
          <p:cNvCxnSpPr>
            <a:cxnSpLocks noChangeShapeType="1"/>
            <a:stCxn id="40970" idx="4"/>
            <a:endCxn id="40971" idx="0"/>
          </p:cNvCxnSpPr>
          <p:nvPr/>
        </p:nvCxnSpPr>
        <p:spPr bwMode="auto">
          <a:xfrm>
            <a:off x="2460625" y="3680669"/>
            <a:ext cx="0" cy="8651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0981" name="AutoShape 21"/>
          <p:cNvCxnSpPr>
            <a:cxnSpLocks noChangeShapeType="1"/>
            <a:stCxn id="40970" idx="5"/>
            <a:endCxn id="40969" idx="2"/>
          </p:cNvCxnSpPr>
          <p:nvPr/>
        </p:nvCxnSpPr>
        <p:spPr bwMode="auto">
          <a:xfrm>
            <a:off x="2587625" y="3628280"/>
            <a:ext cx="952500" cy="52228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sp>
        <p:nvSpPr>
          <p:cNvPr id="34837" name="Text Box 22"/>
          <p:cNvSpPr txBox="1">
            <a:spLocks noChangeArrowheads="1"/>
          </p:cNvSpPr>
          <p:nvPr/>
        </p:nvSpPr>
        <p:spPr bwMode="auto">
          <a:xfrm>
            <a:off x="2135188" y="1485155"/>
            <a:ext cx="742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/>
              <a:t>Граф:</a:t>
            </a:r>
          </a:p>
        </p:txBody>
      </p:sp>
      <p:sp>
        <p:nvSpPr>
          <p:cNvPr id="40983" name="Oval 23"/>
          <p:cNvSpPr>
            <a:spLocks noChangeArrowheads="1"/>
          </p:cNvSpPr>
          <p:nvPr/>
        </p:nvSpPr>
        <p:spPr bwMode="auto">
          <a:xfrm>
            <a:off x="5772151" y="245670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1</a:t>
            </a:r>
          </a:p>
        </p:txBody>
      </p:sp>
      <p:sp>
        <p:nvSpPr>
          <p:cNvPr id="40984" name="Oval 24"/>
          <p:cNvSpPr>
            <a:spLocks noChangeArrowheads="1"/>
          </p:cNvSpPr>
          <p:nvPr/>
        </p:nvSpPr>
        <p:spPr bwMode="auto">
          <a:xfrm>
            <a:off x="6167438" y="245670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5</a:t>
            </a:r>
          </a:p>
        </p:txBody>
      </p:sp>
      <p:sp>
        <p:nvSpPr>
          <p:cNvPr id="40985" name="Oval 25"/>
          <p:cNvSpPr>
            <a:spLocks noChangeArrowheads="1"/>
          </p:cNvSpPr>
          <p:nvPr/>
        </p:nvSpPr>
        <p:spPr bwMode="auto">
          <a:xfrm>
            <a:off x="6564313" y="245670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8</a:t>
            </a:r>
          </a:p>
        </p:txBody>
      </p:sp>
      <p:sp>
        <p:nvSpPr>
          <p:cNvPr id="40986" name="Oval 26"/>
          <p:cNvSpPr>
            <a:spLocks noChangeArrowheads="1"/>
          </p:cNvSpPr>
          <p:nvPr/>
        </p:nvSpPr>
        <p:spPr bwMode="auto">
          <a:xfrm>
            <a:off x="6959601" y="245670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7</a:t>
            </a:r>
          </a:p>
        </p:txBody>
      </p:sp>
      <p:sp>
        <p:nvSpPr>
          <p:cNvPr id="40987" name="Oval 27"/>
          <p:cNvSpPr>
            <a:spLocks noChangeArrowheads="1"/>
          </p:cNvSpPr>
          <p:nvPr/>
        </p:nvSpPr>
        <p:spPr bwMode="auto">
          <a:xfrm>
            <a:off x="7356476" y="245670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6</a:t>
            </a:r>
          </a:p>
        </p:txBody>
      </p:sp>
      <p:sp>
        <p:nvSpPr>
          <p:cNvPr id="40988" name="Oval 28"/>
          <p:cNvSpPr>
            <a:spLocks noChangeArrowheads="1"/>
          </p:cNvSpPr>
          <p:nvPr/>
        </p:nvSpPr>
        <p:spPr bwMode="auto">
          <a:xfrm>
            <a:off x="7751763" y="245670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4</a:t>
            </a:r>
          </a:p>
        </p:txBody>
      </p:sp>
      <p:sp>
        <p:nvSpPr>
          <p:cNvPr id="40989" name="Oval 29"/>
          <p:cNvSpPr>
            <a:spLocks noChangeArrowheads="1"/>
          </p:cNvSpPr>
          <p:nvPr/>
        </p:nvSpPr>
        <p:spPr bwMode="auto">
          <a:xfrm>
            <a:off x="8148638" y="245670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3</a:t>
            </a:r>
          </a:p>
        </p:txBody>
      </p:sp>
      <p:sp>
        <p:nvSpPr>
          <p:cNvPr id="40990" name="Oval 30"/>
          <p:cNvSpPr>
            <a:spLocks noChangeArrowheads="1"/>
          </p:cNvSpPr>
          <p:nvPr/>
        </p:nvSpPr>
        <p:spPr bwMode="auto">
          <a:xfrm>
            <a:off x="8543926" y="245670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2</a:t>
            </a:r>
          </a:p>
        </p:txBody>
      </p:sp>
      <p:sp>
        <p:nvSpPr>
          <p:cNvPr id="40991" name="Text Box 31"/>
          <p:cNvSpPr txBox="1">
            <a:spLocks noChangeArrowheads="1"/>
          </p:cNvSpPr>
          <p:nvPr/>
        </p:nvSpPr>
        <p:spPr bwMode="auto">
          <a:xfrm>
            <a:off x="5680076" y="3036143"/>
            <a:ext cx="4194175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 dirty="0"/>
              <a:t>Можно также получить дерево обхода </a:t>
            </a:r>
            <a:br>
              <a:rPr lang="ru-RU" sz="1600" dirty="0"/>
            </a:br>
            <a:r>
              <a:rPr lang="ru-RU" sz="1600" dirty="0"/>
              <a:t>в глубину, если отмечать каждую прямую </a:t>
            </a:r>
            <a:br>
              <a:rPr lang="ru-RU" sz="1600" dirty="0"/>
            </a:br>
            <a:r>
              <a:rPr lang="ru-RU" sz="1600" dirty="0"/>
              <a:t>или обратную дугу.</a:t>
            </a:r>
          </a:p>
        </p:txBody>
      </p:sp>
      <p:sp>
        <p:nvSpPr>
          <p:cNvPr id="40992" name="Rectangle 32"/>
          <p:cNvSpPr>
            <a:spLocks noChangeArrowheads="1"/>
          </p:cNvSpPr>
          <p:nvPr/>
        </p:nvSpPr>
        <p:spPr bwMode="auto">
          <a:xfrm>
            <a:off x="6061075" y="436488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1</a:t>
            </a:r>
          </a:p>
        </p:txBody>
      </p:sp>
      <p:sp>
        <p:nvSpPr>
          <p:cNvPr id="40993" name="Rectangle 33"/>
          <p:cNvSpPr>
            <a:spLocks noChangeArrowheads="1"/>
          </p:cNvSpPr>
          <p:nvPr/>
        </p:nvSpPr>
        <p:spPr bwMode="auto">
          <a:xfrm>
            <a:off x="6061075" y="468873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40994" name="Rectangle 34"/>
          <p:cNvSpPr>
            <a:spLocks noChangeArrowheads="1"/>
          </p:cNvSpPr>
          <p:nvPr/>
        </p:nvSpPr>
        <p:spPr bwMode="auto">
          <a:xfrm>
            <a:off x="6384925" y="436488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2</a:t>
            </a:r>
          </a:p>
        </p:txBody>
      </p:sp>
      <p:sp>
        <p:nvSpPr>
          <p:cNvPr id="40995" name="Rectangle 35"/>
          <p:cNvSpPr>
            <a:spLocks noChangeArrowheads="1"/>
          </p:cNvSpPr>
          <p:nvPr/>
        </p:nvSpPr>
        <p:spPr bwMode="auto">
          <a:xfrm>
            <a:off x="6384925" y="468873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40996" name="Rectangle 36"/>
          <p:cNvSpPr>
            <a:spLocks noChangeArrowheads="1"/>
          </p:cNvSpPr>
          <p:nvPr/>
        </p:nvSpPr>
        <p:spPr bwMode="auto">
          <a:xfrm>
            <a:off x="6708775" y="436488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3</a:t>
            </a:r>
          </a:p>
        </p:txBody>
      </p:sp>
      <p:sp>
        <p:nvSpPr>
          <p:cNvPr id="40997" name="Rectangle 37"/>
          <p:cNvSpPr>
            <a:spLocks noChangeArrowheads="1"/>
          </p:cNvSpPr>
          <p:nvPr/>
        </p:nvSpPr>
        <p:spPr bwMode="auto">
          <a:xfrm>
            <a:off x="6708775" y="468873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40998" name="Rectangle 38"/>
          <p:cNvSpPr>
            <a:spLocks noChangeArrowheads="1"/>
          </p:cNvSpPr>
          <p:nvPr/>
        </p:nvSpPr>
        <p:spPr bwMode="auto">
          <a:xfrm>
            <a:off x="7032625" y="436488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4</a:t>
            </a:r>
          </a:p>
        </p:txBody>
      </p:sp>
      <p:sp>
        <p:nvSpPr>
          <p:cNvPr id="40999" name="Rectangle 39"/>
          <p:cNvSpPr>
            <a:spLocks noChangeArrowheads="1"/>
          </p:cNvSpPr>
          <p:nvPr/>
        </p:nvSpPr>
        <p:spPr bwMode="auto">
          <a:xfrm>
            <a:off x="7032625" y="468873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41000" name="Rectangle 40"/>
          <p:cNvSpPr>
            <a:spLocks noChangeArrowheads="1"/>
          </p:cNvSpPr>
          <p:nvPr/>
        </p:nvSpPr>
        <p:spPr bwMode="auto">
          <a:xfrm>
            <a:off x="7356475" y="436488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5</a:t>
            </a:r>
          </a:p>
        </p:txBody>
      </p:sp>
      <p:sp>
        <p:nvSpPr>
          <p:cNvPr id="41001" name="Rectangle 41"/>
          <p:cNvSpPr>
            <a:spLocks noChangeArrowheads="1"/>
          </p:cNvSpPr>
          <p:nvPr/>
        </p:nvSpPr>
        <p:spPr bwMode="auto">
          <a:xfrm>
            <a:off x="7356475" y="468873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41002" name="Rectangle 42"/>
          <p:cNvSpPr>
            <a:spLocks noChangeArrowheads="1"/>
          </p:cNvSpPr>
          <p:nvPr/>
        </p:nvSpPr>
        <p:spPr bwMode="auto">
          <a:xfrm>
            <a:off x="7680325" y="436488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6</a:t>
            </a:r>
          </a:p>
        </p:txBody>
      </p:sp>
      <p:sp>
        <p:nvSpPr>
          <p:cNvPr id="41003" name="Rectangle 43"/>
          <p:cNvSpPr>
            <a:spLocks noChangeArrowheads="1"/>
          </p:cNvSpPr>
          <p:nvPr/>
        </p:nvSpPr>
        <p:spPr bwMode="auto">
          <a:xfrm>
            <a:off x="7680325" y="468873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41004" name="Rectangle 44"/>
          <p:cNvSpPr>
            <a:spLocks noChangeArrowheads="1"/>
          </p:cNvSpPr>
          <p:nvPr/>
        </p:nvSpPr>
        <p:spPr bwMode="auto">
          <a:xfrm>
            <a:off x="8004175" y="436488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7</a:t>
            </a:r>
          </a:p>
        </p:txBody>
      </p:sp>
      <p:sp>
        <p:nvSpPr>
          <p:cNvPr id="41005" name="Rectangle 45"/>
          <p:cNvSpPr>
            <a:spLocks noChangeArrowheads="1"/>
          </p:cNvSpPr>
          <p:nvPr/>
        </p:nvSpPr>
        <p:spPr bwMode="auto">
          <a:xfrm>
            <a:off x="8004175" y="468873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41006" name="Rectangle 46"/>
          <p:cNvSpPr>
            <a:spLocks noChangeArrowheads="1"/>
          </p:cNvSpPr>
          <p:nvPr/>
        </p:nvSpPr>
        <p:spPr bwMode="auto">
          <a:xfrm>
            <a:off x="8328025" y="436488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400"/>
              <a:t>8</a:t>
            </a:r>
          </a:p>
        </p:txBody>
      </p:sp>
      <p:sp>
        <p:nvSpPr>
          <p:cNvPr id="41007" name="Rectangle 47"/>
          <p:cNvSpPr>
            <a:spLocks noChangeArrowheads="1"/>
          </p:cNvSpPr>
          <p:nvPr/>
        </p:nvSpPr>
        <p:spPr bwMode="auto">
          <a:xfrm>
            <a:off x="8328025" y="468873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41008" name="Rectangle 48"/>
          <p:cNvSpPr>
            <a:spLocks noChangeArrowheads="1"/>
          </p:cNvSpPr>
          <p:nvPr/>
        </p:nvSpPr>
        <p:spPr bwMode="auto">
          <a:xfrm>
            <a:off x="6383338" y="468873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1</a:t>
            </a:r>
          </a:p>
        </p:txBody>
      </p:sp>
      <p:sp>
        <p:nvSpPr>
          <p:cNvPr id="41009" name="Rectangle 49"/>
          <p:cNvSpPr>
            <a:spLocks noChangeArrowheads="1"/>
          </p:cNvSpPr>
          <p:nvPr/>
        </p:nvSpPr>
        <p:spPr bwMode="auto">
          <a:xfrm>
            <a:off x="7032625" y="4688730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1</a:t>
            </a:r>
          </a:p>
        </p:txBody>
      </p:sp>
      <p:sp>
        <p:nvSpPr>
          <p:cNvPr id="41010" name="Rectangle 50"/>
          <p:cNvSpPr>
            <a:spLocks noChangeArrowheads="1"/>
          </p:cNvSpPr>
          <p:nvPr/>
        </p:nvSpPr>
        <p:spPr bwMode="auto">
          <a:xfrm>
            <a:off x="7356475" y="468873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1</a:t>
            </a:r>
          </a:p>
        </p:txBody>
      </p:sp>
      <p:cxnSp>
        <p:nvCxnSpPr>
          <p:cNvPr id="41011" name="AutoShape 51"/>
          <p:cNvCxnSpPr>
            <a:cxnSpLocks noChangeShapeType="1"/>
            <a:stCxn id="40964" idx="7"/>
            <a:endCxn id="40965" idx="2"/>
          </p:cNvCxnSpPr>
          <p:nvPr/>
        </p:nvCxnSpPr>
        <p:spPr bwMode="auto">
          <a:xfrm flipV="1">
            <a:off x="2587625" y="1845519"/>
            <a:ext cx="952500" cy="376237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 type="stealth" w="lg" len="lg"/>
          </a:ln>
        </p:spPr>
      </p:cxnSp>
      <p:cxnSp>
        <p:nvCxnSpPr>
          <p:cNvPr id="41012" name="AutoShape 52"/>
          <p:cNvCxnSpPr>
            <a:cxnSpLocks noChangeShapeType="1"/>
            <a:stCxn id="40964" idx="5"/>
            <a:endCxn id="40967" idx="2"/>
          </p:cNvCxnSpPr>
          <p:nvPr/>
        </p:nvCxnSpPr>
        <p:spPr bwMode="auto">
          <a:xfrm>
            <a:off x="2587625" y="2477343"/>
            <a:ext cx="952500" cy="449262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 type="stealth" w="lg" len="lg"/>
          </a:ln>
        </p:spPr>
      </p:cxnSp>
      <p:cxnSp>
        <p:nvCxnSpPr>
          <p:cNvPr id="41013" name="AutoShape 53"/>
          <p:cNvCxnSpPr>
            <a:cxnSpLocks noChangeShapeType="1"/>
            <a:stCxn id="40964" idx="4"/>
            <a:endCxn id="40970" idx="0"/>
          </p:cNvCxnSpPr>
          <p:nvPr/>
        </p:nvCxnSpPr>
        <p:spPr bwMode="auto">
          <a:xfrm>
            <a:off x="2460625" y="2529731"/>
            <a:ext cx="0" cy="790575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 type="stealth" w="lg" len="lg"/>
          </a:ln>
        </p:spPr>
      </p:cxnSp>
      <p:cxnSp>
        <p:nvCxnSpPr>
          <p:cNvPr id="41014" name="AutoShape 54"/>
          <p:cNvCxnSpPr>
            <a:cxnSpLocks noChangeShapeType="1"/>
            <a:stCxn id="40970" idx="5"/>
            <a:endCxn id="40969" idx="2"/>
          </p:cNvCxnSpPr>
          <p:nvPr/>
        </p:nvCxnSpPr>
        <p:spPr bwMode="auto">
          <a:xfrm>
            <a:off x="2587625" y="3628280"/>
            <a:ext cx="952500" cy="522288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 type="stealth" w="lg" len="lg"/>
          </a:ln>
        </p:spPr>
      </p:cxnSp>
      <p:cxnSp>
        <p:nvCxnSpPr>
          <p:cNvPr id="41015" name="AutoShape 55"/>
          <p:cNvCxnSpPr>
            <a:cxnSpLocks noChangeShapeType="1"/>
            <a:stCxn id="40970" idx="4"/>
            <a:endCxn id="40971" idx="0"/>
          </p:cNvCxnSpPr>
          <p:nvPr/>
        </p:nvCxnSpPr>
        <p:spPr bwMode="auto">
          <a:xfrm>
            <a:off x="2460625" y="3680669"/>
            <a:ext cx="0" cy="865187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 type="stealth" w="lg" len="lg"/>
          </a:ln>
        </p:spPr>
      </p:cxnSp>
      <p:sp>
        <p:nvSpPr>
          <p:cNvPr id="41016" name="Rectangle 56"/>
          <p:cNvSpPr>
            <a:spLocks noChangeArrowheads="1"/>
          </p:cNvSpPr>
          <p:nvPr/>
        </p:nvSpPr>
        <p:spPr bwMode="auto">
          <a:xfrm>
            <a:off x="8004175" y="468873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5</a:t>
            </a:r>
          </a:p>
        </p:txBody>
      </p:sp>
      <p:sp>
        <p:nvSpPr>
          <p:cNvPr id="41017" name="Rectangle 57"/>
          <p:cNvSpPr>
            <a:spLocks noChangeArrowheads="1"/>
          </p:cNvSpPr>
          <p:nvPr/>
        </p:nvSpPr>
        <p:spPr bwMode="auto">
          <a:xfrm>
            <a:off x="8328025" y="468873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5</a:t>
            </a:r>
          </a:p>
        </p:txBody>
      </p:sp>
      <p:cxnSp>
        <p:nvCxnSpPr>
          <p:cNvPr id="41018" name="AutoShape 58"/>
          <p:cNvCxnSpPr>
            <a:cxnSpLocks noChangeShapeType="1"/>
            <a:stCxn id="40969" idx="7"/>
            <a:endCxn id="40968" idx="3"/>
          </p:cNvCxnSpPr>
          <p:nvPr/>
        </p:nvCxnSpPr>
        <p:spPr bwMode="auto">
          <a:xfrm flipV="1">
            <a:off x="3848101" y="3593356"/>
            <a:ext cx="1039813" cy="428625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 type="stealth" w="lg" len="lg"/>
          </a:ln>
        </p:spPr>
      </p:cxnSp>
      <p:sp>
        <p:nvSpPr>
          <p:cNvPr id="41019" name="Rectangle 59"/>
          <p:cNvSpPr>
            <a:spLocks noChangeArrowheads="1"/>
          </p:cNvSpPr>
          <p:nvPr/>
        </p:nvSpPr>
        <p:spPr bwMode="auto">
          <a:xfrm>
            <a:off x="7680325" y="468873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7</a:t>
            </a:r>
          </a:p>
        </p:txBody>
      </p:sp>
      <p:cxnSp>
        <p:nvCxnSpPr>
          <p:cNvPr id="41020" name="AutoShape 60"/>
          <p:cNvCxnSpPr>
            <a:cxnSpLocks noChangeShapeType="1"/>
            <a:stCxn id="40968" idx="1"/>
            <a:endCxn id="40967" idx="5"/>
          </p:cNvCxnSpPr>
          <p:nvPr/>
        </p:nvCxnSpPr>
        <p:spPr bwMode="auto">
          <a:xfrm flipH="1" flipV="1">
            <a:off x="3848101" y="3053606"/>
            <a:ext cx="1039813" cy="284163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 type="stealth" w="lg" len="lg"/>
          </a:ln>
        </p:spPr>
      </p:cxnSp>
      <p:sp>
        <p:nvSpPr>
          <p:cNvPr id="41021" name="Rectangle 61"/>
          <p:cNvSpPr>
            <a:spLocks noChangeArrowheads="1"/>
          </p:cNvSpPr>
          <p:nvPr/>
        </p:nvSpPr>
        <p:spPr bwMode="auto">
          <a:xfrm>
            <a:off x="7032625" y="468873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6</a:t>
            </a:r>
          </a:p>
        </p:txBody>
      </p:sp>
      <p:cxnSp>
        <p:nvCxnSpPr>
          <p:cNvPr id="41022" name="AutoShape 62"/>
          <p:cNvCxnSpPr>
            <a:cxnSpLocks noChangeShapeType="1"/>
            <a:stCxn id="40964" idx="5"/>
            <a:endCxn id="40967" idx="2"/>
          </p:cNvCxnSpPr>
          <p:nvPr/>
        </p:nvCxnSpPr>
        <p:spPr bwMode="auto">
          <a:xfrm>
            <a:off x="2587625" y="2477343"/>
            <a:ext cx="952500" cy="449262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/>
          </a:ln>
        </p:spPr>
      </p:cxnSp>
      <p:sp>
        <p:nvSpPr>
          <p:cNvPr id="41023" name="Rectangle 63"/>
          <p:cNvSpPr>
            <a:spLocks noChangeArrowheads="1"/>
          </p:cNvSpPr>
          <p:nvPr/>
        </p:nvSpPr>
        <p:spPr bwMode="auto">
          <a:xfrm>
            <a:off x="6383338" y="4687143"/>
            <a:ext cx="323850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4</a:t>
            </a:r>
          </a:p>
        </p:txBody>
      </p:sp>
      <p:sp>
        <p:nvSpPr>
          <p:cNvPr id="41024" name="Rectangle 64"/>
          <p:cNvSpPr>
            <a:spLocks noChangeArrowheads="1"/>
          </p:cNvSpPr>
          <p:nvPr/>
        </p:nvSpPr>
        <p:spPr bwMode="auto">
          <a:xfrm>
            <a:off x="6708775" y="468873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4</a:t>
            </a:r>
          </a:p>
        </p:txBody>
      </p:sp>
      <p:cxnSp>
        <p:nvCxnSpPr>
          <p:cNvPr id="41025" name="AutoShape 65"/>
          <p:cNvCxnSpPr>
            <a:cxnSpLocks noChangeShapeType="1"/>
            <a:stCxn id="40964" idx="7"/>
            <a:endCxn id="40965" idx="2"/>
          </p:cNvCxnSpPr>
          <p:nvPr/>
        </p:nvCxnSpPr>
        <p:spPr bwMode="auto">
          <a:xfrm flipV="1">
            <a:off x="2587625" y="1845519"/>
            <a:ext cx="952500" cy="376237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/>
          </a:ln>
        </p:spPr>
      </p:cxnSp>
      <p:cxnSp>
        <p:nvCxnSpPr>
          <p:cNvPr id="41026" name="AutoShape 66"/>
          <p:cNvCxnSpPr>
            <a:cxnSpLocks noChangeShapeType="1"/>
            <a:stCxn id="40967" idx="0"/>
            <a:endCxn id="40965" idx="4"/>
          </p:cNvCxnSpPr>
          <p:nvPr/>
        </p:nvCxnSpPr>
        <p:spPr bwMode="auto">
          <a:xfrm flipV="1">
            <a:off x="3721100" y="2024906"/>
            <a:ext cx="0" cy="720725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 type="stealth" w="lg" len="lg"/>
          </a:ln>
        </p:spPr>
      </p:cxnSp>
      <p:cxnSp>
        <p:nvCxnSpPr>
          <p:cNvPr id="41027" name="AutoShape 67"/>
          <p:cNvCxnSpPr>
            <a:cxnSpLocks noChangeShapeType="1"/>
            <a:stCxn id="40967" idx="7"/>
            <a:endCxn id="40966" idx="3"/>
          </p:cNvCxnSpPr>
          <p:nvPr/>
        </p:nvCxnSpPr>
        <p:spPr bwMode="auto">
          <a:xfrm flipV="1">
            <a:off x="3848101" y="2477344"/>
            <a:ext cx="1039813" cy="320675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 type="stealth" w="lg" len="lg"/>
          </a:ln>
        </p:spPr>
      </p:cxnSp>
      <p:cxnSp>
        <p:nvCxnSpPr>
          <p:cNvPr id="41028" name="AutoShape 68"/>
          <p:cNvCxnSpPr>
            <a:cxnSpLocks noChangeShapeType="1"/>
            <a:stCxn id="40966" idx="1"/>
            <a:endCxn id="40965" idx="6"/>
          </p:cNvCxnSpPr>
          <p:nvPr/>
        </p:nvCxnSpPr>
        <p:spPr bwMode="auto">
          <a:xfrm flipH="1" flipV="1">
            <a:off x="3900489" y="1845519"/>
            <a:ext cx="987425" cy="376237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 type="stealth" w="lg" len="lg"/>
          </a:ln>
        </p:spPr>
      </p:cxnSp>
      <p:sp>
        <p:nvSpPr>
          <p:cNvPr id="41029" name="Rectangle 69"/>
          <p:cNvSpPr>
            <a:spLocks noChangeArrowheads="1"/>
          </p:cNvSpPr>
          <p:nvPr/>
        </p:nvSpPr>
        <p:spPr bwMode="auto">
          <a:xfrm>
            <a:off x="6383338" y="4688730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3</a:t>
            </a:r>
          </a:p>
        </p:txBody>
      </p:sp>
      <p:cxnSp>
        <p:nvCxnSpPr>
          <p:cNvPr id="41030" name="AutoShape 70"/>
          <p:cNvCxnSpPr>
            <a:cxnSpLocks noChangeShapeType="1"/>
            <a:stCxn id="40967" idx="0"/>
            <a:endCxn id="40965" idx="4"/>
          </p:cNvCxnSpPr>
          <p:nvPr/>
        </p:nvCxnSpPr>
        <p:spPr bwMode="auto">
          <a:xfrm flipV="1">
            <a:off x="3721100" y="2024906"/>
            <a:ext cx="0" cy="720725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/>
          </a:ln>
        </p:spPr>
      </p:cxnSp>
      <p:sp>
        <p:nvSpPr>
          <p:cNvPr id="41031" name="Rectangle 71"/>
          <p:cNvSpPr>
            <a:spLocks noChangeArrowheads="1"/>
          </p:cNvSpPr>
          <p:nvPr/>
        </p:nvSpPr>
        <p:spPr bwMode="auto">
          <a:xfrm>
            <a:off x="3792539" y="5085605"/>
            <a:ext cx="93503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1</a:t>
            </a:r>
          </a:p>
        </p:txBody>
      </p:sp>
      <p:grpSp>
        <p:nvGrpSpPr>
          <p:cNvPr id="41032" name="Group 72"/>
          <p:cNvGrpSpPr>
            <a:grpSpLocks/>
          </p:cNvGrpSpPr>
          <p:nvPr/>
        </p:nvGrpSpPr>
        <p:grpSpPr bwMode="auto">
          <a:xfrm>
            <a:off x="3756025" y="4641106"/>
            <a:ext cx="971550" cy="2100263"/>
            <a:chOff x="1406" y="2538"/>
            <a:chExt cx="612" cy="1323"/>
          </a:xfrm>
        </p:grpSpPr>
        <p:sp>
          <p:nvSpPr>
            <p:cNvPr id="34895" name="Text Box 73"/>
            <p:cNvSpPr txBox="1">
              <a:spLocks noChangeArrowheads="1"/>
            </p:cNvSpPr>
            <p:nvPr/>
          </p:nvSpPr>
          <p:spPr bwMode="auto">
            <a:xfrm>
              <a:off x="1406" y="2538"/>
              <a:ext cx="43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sz="1600"/>
                <a:t>Стек:</a:t>
              </a:r>
            </a:p>
          </p:txBody>
        </p:sp>
        <p:sp>
          <p:nvSpPr>
            <p:cNvPr id="34896" name="Line 74"/>
            <p:cNvSpPr>
              <a:spLocks noChangeShapeType="1"/>
            </p:cNvSpPr>
            <p:nvPr/>
          </p:nvSpPr>
          <p:spPr bwMode="auto">
            <a:xfrm flipV="1">
              <a:off x="1429" y="2818"/>
              <a:ext cx="0" cy="1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4897" name="Line 75"/>
            <p:cNvSpPr>
              <a:spLocks noChangeShapeType="1"/>
            </p:cNvSpPr>
            <p:nvPr/>
          </p:nvSpPr>
          <p:spPr bwMode="auto">
            <a:xfrm>
              <a:off x="1429" y="2818"/>
              <a:ext cx="5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4898" name="Line 76"/>
            <p:cNvSpPr>
              <a:spLocks noChangeShapeType="1"/>
            </p:cNvSpPr>
            <p:nvPr/>
          </p:nvSpPr>
          <p:spPr bwMode="auto">
            <a:xfrm>
              <a:off x="2018" y="2818"/>
              <a:ext cx="0" cy="1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41037" name="Rectangle 77"/>
          <p:cNvSpPr>
            <a:spLocks noChangeArrowheads="1"/>
          </p:cNvSpPr>
          <p:nvPr/>
        </p:nvSpPr>
        <p:spPr bwMode="auto">
          <a:xfrm>
            <a:off x="3792539" y="5085605"/>
            <a:ext cx="93503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2</a:t>
            </a:r>
          </a:p>
        </p:txBody>
      </p:sp>
      <p:sp>
        <p:nvSpPr>
          <p:cNvPr id="41038" name="Rectangle 78"/>
          <p:cNvSpPr>
            <a:spLocks noChangeArrowheads="1"/>
          </p:cNvSpPr>
          <p:nvPr/>
        </p:nvSpPr>
        <p:spPr bwMode="auto">
          <a:xfrm>
            <a:off x="3792539" y="5409455"/>
            <a:ext cx="93503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3</a:t>
            </a:r>
          </a:p>
        </p:txBody>
      </p:sp>
      <p:sp>
        <p:nvSpPr>
          <p:cNvPr id="41039" name="Rectangle 79"/>
          <p:cNvSpPr>
            <a:spLocks noChangeArrowheads="1"/>
          </p:cNvSpPr>
          <p:nvPr/>
        </p:nvSpPr>
        <p:spPr bwMode="auto">
          <a:xfrm>
            <a:off x="3792539" y="5409455"/>
            <a:ext cx="93503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4</a:t>
            </a:r>
          </a:p>
        </p:txBody>
      </p:sp>
      <p:sp>
        <p:nvSpPr>
          <p:cNvPr id="41040" name="Rectangle 80"/>
          <p:cNvSpPr>
            <a:spLocks noChangeArrowheads="1"/>
          </p:cNvSpPr>
          <p:nvPr/>
        </p:nvSpPr>
        <p:spPr bwMode="auto">
          <a:xfrm>
            <a:off x="3792539" y="5733305"/>
            <a:ext cx="93503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5</a:t>
            </a:r>
          </a:p>
        </p:txBody>
      </p:sp>
      <p:sp>
        <p:nvSpPr>
          <p:cNvPr id="41041" name="Rectangle 81"/>
          <p:cNvSpPr>
            <a:spLocks noChangeArrowheads="1"/>
          </p:cNvSpPr>
          <p:nvPr/>
        </p:nvSpPr>
        <p:spPr bwMode="auto">
          <a:xfrm>
            <a:off x="3792539" y="5733305"/>
            <a:ext cx="93503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6</a:t>
            </a:r>
          </a:p>
        </p:txBody>
      </p:sp>
      <p:sp>
        <p:nvSpPr>
          <p:cNvPr id="41042" name="Rectangle 82"/>
          <p:cNvSpPr>
            <a:spLocks noChangeArrowheads="1"/>
          </p:cNvSpPr>
          <p:nvPr/>
        </p:nvSpPr>
        <p:spPr bwMode="auto">
          <a:xfrm>
            <a:off x="3792539" y="5733305"/>
            <a:ext cx="93503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7</a:t>
            </a:r>
          </a:p>
        </p:txBody>
      </p:sp>
      <p:sp>
        <p:nvSpPr>
          <p:cNvPr id="41043" name="Rectangle 83"/>
          <p:cNvSpPr>
            <a:spLocks noChangeArrowheads="1"/>
          </p:cNvSpPr>
          <p:nvPr/>
        </p:nvSpPr>
        <p:spPr bwMode="auto">
          <a:xfrm>
            <a:off x="3792539" y="6057155"/>
            <a:ext cx="93503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8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188640"/>
            <a:ext cx="7772400" cy="914400"/>
          </a:xfrm>
        </p:spPr>
        <p:txBody>
          <a:bodyPr>
            <a:normAutofit fontScale="90000"/>
          </a:bodyPr>
          <a:lstStyle/>
          <a:p>
            <a:r>
              <a:rPr lang="ru-RU" dirty="0"/>
              <a:t>Использование стека для обхода графа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0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0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0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0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4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20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0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410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0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20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20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20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97" dur="20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0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4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4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4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9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2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5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4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4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4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4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4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4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20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39" dur="20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20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2" dur="500"/>
                                        <p:tgtEl>
                                          <p:spTgt spid="410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4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20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151" dur="20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20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20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155" dur="20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20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4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4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4" dur="500"/>
                                        <p:tgtEl>
                                          <p:spTgt spid="409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7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4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4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2000" fill="hold"/>
                                        <p:tgtEl>
                                          <p:spTgt spid="410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7" dur="2000" fill="hold"/>
                                        <p:tgtEl>
                                          <p:spTgt spid="410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4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4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20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88" dur="20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" dur="20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1" dur="500"/>
                                        <p:tgtEl>
                                          <p:spTgt spid="410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4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2000" fill="hold"/>
                                        <p:tgtEl>
                                          <p:spTgt spid="41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0" dur="2000" fill="hold"/>
                                        <p:tgtEl>
                                          <p:spTgt spid="41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20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05" dur="20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20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8" dur="500"/>
                                        <p:tgtEl>
                                          <p:spTgt spid="410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4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20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217" dur="20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20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4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3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4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2000" fill="hold"/>
                                        <p:tgtEl>
                                          <p:spTgt spid="41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0" dur="2000" fill="hold"/>
                                        <p:tgtEl>
                                          <p:spTgt spid="41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4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20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38" dur="20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20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1" dur="500"/>
                                        <p:tgtEl>
                                          <p:spTgt spid="410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0"/>
                                        <p:tgtEl>
                                          <p:spTgt spid="4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9" dur="5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4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0"/>
                                        <p:tgtEl>
                                          <p:spTgt spid="4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2000" fill="hold"/>
                                        <p:tgtEl>
                                          <p:spTgt spid="41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259" dur="2000" fill="hold"/>
                                        <p:tgtEl>
                                          <p:spTgt spid="41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1" dur="500"/>
                                        <p:tgtEl>
                                          <p:spTgt spid="410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500"/>
                                        <p:tgtEl>
                                          <p:spTgt spid="4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20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70" dur="20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1" dur="20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3" dur="500"/>
                                        <p:tgtEl>
                                          <p:spTgt spid="410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7" dur="500"/>
                                        <p:tgtEl>
                                          <p:spTgt spid="4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1" dur="20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282" dur="20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3" dur="20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6" dur="500"/>
                                        <p:tgtEl>
                                          <p:spTgt spid="4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8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1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2000" fill="hold"/>
                                        <p:tgtEl>
                                          <p:spTgt spid="410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95" dur="2000" fill="hold"/>
                                        <p:tgtEl>
                                          <p:spTgt spid="410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7" dur="2000" fill="hold"/>
                                        <p:tgtEl>
                                          <p:spTgt spid="410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298" dur="2000" fill="hold"/>
                                        <p:tgtEl>
                                          <p:spTgt spid="410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1" dur="500"/>
                                        <p:tgtEl>
                                          <p:spTgt spid="4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4" dur="500"/>
                                        <p:tgtEl>
                                          <p:spTgt spid="4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6" dur="500"/>
                                        <p:tgtEl>
                                          <p:spTgt spid="410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0" dur="500"/>
                                        <p:tgtEl>
                                          <p:spTgt spid="4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3" dur="500"/>
                                        <p:tgtEl>
                                          <p:spTgt spid="4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6" dur="500"/>
                                        <p:tgtEl>
                                          <p:spTgt spid="4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20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21" dur="20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2" dur="20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4" dur="500"/>
                                        <p:tgtEl>
                                          <p:spTgt spid="410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8" dur="500"/>
                                        <p:tgtEl>
                                          <p:spTgt spid="4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5" dur="500"/>
                                        <p:tgtEl>
                                          <p:spTgt spid="4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7" dur="2000" fill="hold"/>
                                        <p:tgtEl>
                                          <p:spTgt spid="410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338" dur="2000" fill="hold"/>
                                        <p:tgtEl>
                                          <p:spTgt spid="410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1" dur="500"/>
                                        <p:tgtEl>
                                          <p:spTgt spid="4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3" dur="500"/>
                                        <p:tgtEl>
                                          <p:spTgt spid="4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7" dur="500"/>
                                        <p:tgtEl>
                                          <p:spTgt spid="4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1" dur="20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52" dur="20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3" dur="20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5" dur="500"/>
                                        <p:tgtEl>
                                          <p:spTgt spid="410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9" dur="500"/>
                                        <p:tgtEl>
                                          <p:spTgt spid="40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3" dur="2000" fill="hold"/>
                                        <p:tgtEl>
                                          <p:spTgt spid="410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64" dur="2000" fill="hold"/>
                                        <p:tgtEl>
                                          <p:spTgt spid="410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2000" fill="hold"/>
                                        <p:tgtEl>
                                          <p:spTgt spid="41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67" dur="2000" fill="hold"/>
                                        <p:tgtEl>
                                          <p:spTgt spid="41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9" dur="2000" fill="hold"/>
                                        <p:tgtEl>
                                          <p:spTgt spid="410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370" dur="2000" fill="hold"/>
                                        <p:tgtEl>
                                          <p:spTgt spid="410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/>
      <p:bldP spid="40983" grpId="0" animBg="1"/>
      <p:bldP spid="40984" grpId="0" animBg="1"/>
      <p:bldP spid="40985" grpId="0" animBg="1"/>
      <p:bldP spid="40986" grpId="0" animBg="1"/>
      <p:bldP spid="40987" grpId="0" animBg="1"/>
      <p:bldP spid="40988" grpId="0" animBg="1"/>
      <p:bldP spid="40989" grpId="0" animBg="1"/>
      <p:bldP spid="40990" grpId="0" animBg="1"/>
      <p:bldP spid="40991" grpId="0"/>
      <p:bldP spid="40992" grpId="0" animBg="1"/>
      <p:bldP spid="40993" grpId="0" animBg="1"/>
      <p:bldP spid="40994" grpId="0" animBg="1"/>
      <p:bldP spid="40995" grpId="0" animBg="1"/>
      <p:bldP spid="40996" grpId="0" animBg="1"/>
      <p:bldP spid="40997" grpId="0" animBg="1"/>
      <p:bldP spid="40998" grpId="0" animBg="1"/>
      <p:bldP spid="40999" grpId="0" animBg="1"/>
      <p:bldP spid="41000" grpId="0" animBg="1"/>
      <p:bldP spid="41001" grpId="0" animBg="1"/>
      <p:bldP spid="41002" grpId="0" animBg="1"/>
      <p:bldP spid="41003" grpId="0" animBg="1"/>
      <p:bldP spid="41004" grpId="0" animBg="1"/>
      <p:bldP spid="41005" grpId="0" animBg="1"/>
      <p:bldP spid="41006" grpId="0" animBg="1"/>
      <p:bldP spid="41007" grpId="0" animBg="1"/>
      <p:bldP spid="41008" grpId="0" animBg="1"/>
      <p:bldP spid="41009" grpId="0" animBg="1"/>
      <p:bldP spid="41010" grpId="0" animBg="1"/>
      <p:bldP spid="41016" grpId="0" animBg="1"/>
      <p:bldP spid="41017" grpId="0" animBg="1"/>
      <p:bldP spid="41019" grpId="0" animBg="1"/>
      <p:bldP spid="41021" grpId="0" animBg="1"/>
      <p:bldP spid="41023" grpId="0" animBg="1"/>
      <p:bldP spid="41024" grpId="0" animBg="1"/>
      <p:bldP spid="41029" grpId="0" animBg="1"/>
      <p:bldP spid="41031" grpId="0" animBg="1"/>
      <p:bldP spid="41031" grpId="1" animBg="1"/>
      <p:bldP spid="41037" grpId="0" animBg="1"/>
      <p:bldP spid="41037" grpId="1" animBg="1"/>
      <p:bldP spid="41038" grpId="0" animBg="1"/>
      <p:bldP spid="41038" grpId="1" animBg="1"/>
      <p:bldP spid="41039" grpId="0" animBg="1"/>
      <p:bldP spid="41039" grpId="1" animBg="1"/>
      <p:bldP spid="41040" grpId="0" animBg="1"/>
      <p:bldP spid="41040" grpId="1" animBg="1"/>
      <p:bldP spid="41041" grpId="0" animBg="1"/>
      <p:bldP spid="41041" grpId="1" animBg="1"/>
      <p:bldP spid="41042" grpId="0" animBg="1"/>
      <p:bldP spid="41042" grpId="1" animBg="1"/>
      <p:bldP spid="41043" grpId="0" animBg="1"/>
      <p:bldP spid="41043" grpId="1" animBg="1"/>
    </p:bld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 Box 2"/>
          <p:cNvSpPr txBox="1">
            <a:spLocks noChangeArrowheads="1"/>
          </p:cNvSpPr>
          <p:nvPr/>
        </p:nvSpPr>
        <p:spPr bwMode="auto">
          <a:xfrm>
            <a:off x="1881158" y="285728"/>
            <a:ext cx="39112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663300"/>
                </a:solidFill>
                <a:latin typeface="+mj-lt"/>
              </a:rPr>
              <a:t>Использование очереди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5627689" y="873125"/>
            <a:ext cx="3843337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/>
              <a:t>В качестве промежуточной структуры </a:t>
            </a:r>
            <a:br>
              <a:rPr lang="ru-RU" sz="1600"/>
            </a:br>
            <a:r>
              <a:rPr lang="ru-RU" sz="1600"/>
              <a:t>хранения при обходе в ширину будем </a:t>
            </a:r>
          </a:p>
          <a:p>
            <a:r>
              <a:rPr lang="ru-RU" sz="1600"/>
              <a:t>использовать очередь.</a:t>
            </a:r>
          </a:p>
        </p:txBody>
      </p:sp>
      <p:sp>
        <p:nvSpPr>
          <p:cNvPr id="44036" name="Oval 4"/>
          <p:cNvSpPr>
            <a:spLocks noChangeArrowheads="1"/>
          </p:cNvSpPr>
          <p:nvPr/>
        </p:nvSpPr>
        <p:spPr bwMode="auto">
          <a:xfrm>
            <a:off x="2279651" y="1557338"/>
            <a:ext cx="360363" cy="3603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1</a:t>
            </a:r>
          </a:p>
        </p:txBody>
      </p:sp>
      <p:sp>
        <p:nvSpPr>
          <p:cNvPr id="44037" name="Oval 5"/>
          <p:cNvSpPr>
            <a:spLocks noChangeArrowheads="1"/>
          </p:cNvSpPr>
          <p:nvPr/>
        </p:nvSpPr>
        <p:spPr bwMode="auto">
          <a:xfrm>
            <a:off x="3540126" y="1052513"/>
            <a:ext cx="360363" cy="3603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2</a:t>
            </a:r>
          </a:p>
        </p:txBody>
      </p:sp>
      <p:sp>
        <p:nvSpPr>
          <p:cNvPr id="44038" name="Oval 6"/>
          <p:cNvSpPr>
            <a:spLocks noChangeArrowheads="1"/>
          </p:cNvSpPr>
          <p:nvPr/>
        </p:nvSpPr>
        <p:spPr bwMode="auto">
          <a:xfrm>
            <a:off x="4835526" y="1557338"/>
            <a:ext cx="360363" cy="3603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3</a:t>
            </a:r>
          </a:p>
        </p:txBody>
      </p:sp>
      <p:sp>
        <p:nvSpPr>
          <p:cNvPr id="44039" name="Oval 7"/>
          <p:cNvSpPr>
            <a:spLocks noChangeArrowheads="1"/>
          </p:cNvSpPr>
          <p:nvPr/>
        </p:nvSpPr>
        <p:spPr bwMode="auto">
          <a:xfrm>
            <a:off x="3540126" y="2133601"/>
            <a:ext cx="360363" cy="3603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4</a:t>
            </a:r>
          </a:p>
        </p:txBody>
      </p:sp>
      <p:sp>
        <p:nvSpPr>
          <p:cNvPr id="44040" name="Oval 8"/>
          <p:cNvSpPr>
            <a:spLocks noChangeArrowheads="1"/>
          </p:cNvSpPr>
          <p:nvPr/>
        </p:nvSpPr>
        <p:spPr bwMode="auto">
          <a:xfrm>
            <a:off x="4835526" y="2673351"/>
            <a:ext cx="360363" cy="3603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6</a:t>
            </a:r>
          </a:p>
        </p:txBody>
      </p:sp>
      <p:sp>
        <p:nvSpPr>
          <p:cNvPr id="44041" name="Oval 9"/>
          <p:cNvSpPr>
            <a:spLocks noChangeArrowheads="1"/>
          </p:cNvSpPr>
          <p:nvPr/>
        </p:nvSpPr>
        <p:spPr bwMode="auto">
          <a:xfrm>
            <a:off x="3540126" y="3357563"/>
            <a:ext cx="360363" cy="3603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7</a:t>
            </a:r>
          </a:p>
        </p:txBody>
      </p:sp>
      <p:sp>
        <p:nvSpPr>
          <p:cNvPr id="44042" name="Oval 10"/>
          <p:cNvSpPr>
            <a:spLocks noChangeArrowheads="1"/>
          </p:cNvSpPr>
          <p:nvPr/>
        </p:nvSpPr>
        <p:spPr bwMode="auto">
          <a:xfrm>
            <a:off x="2279651" y="2708276"/>
            <a:ext cx="360363" cy="3603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5</a:t>
            </a:r>
          </a:p>
        </p:txBody>
      </p:sp>
      <p:sp>
        <p:nvSpPr>
          <p:cNvPr id="44043" name="Oval 11"/>
          <p:cNvSpPr>
            <a:spLocks noChangeArrowheads="1"/>
          </p:cNvSpPr>
          <p:nvPr/>
        </p:nvSpPr>
        <p:spPr bwMode="auto">
          <a:xfrm>
            <a:off x="2279651" y="3933826"/>
            <a:ext cx="360363" cy="3603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8</a:t>
            </a:r>
          </a:p>
        </p:txBody>
      </p:sp>
      <p:cxnSp>
        <p:nvCxnSpPr>
          <p:cNvPr id="44044" name="AutoShape 12"/>
          <p:cNvCxnSpPr>
            <a:cxnSpLocks noChangeShapeType="1"/>
            <a:stCxn id="44036" idx="7"/>
            <a:endCxn id="44037" idx="2"/>
          </p:cNvCxnSpPr>
          <p:nvPr/>
        </p:nvCxnSpPr>
        <p:spPr bwMode="auto">
          <a:xfrm flipV="1">
            <a:off x="2587625" y="1233489"/>
            <a:ext cx="952500" cy="37623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4045" name="AutoShape 13"/>
          <p:cNvCxnSpPr>
            <a:cxnSpLocks noChangeShapeType="1"/>
            <a:stCxn id="44037" idx="6"/>
            <a:endCxn id="44038" idx="1"/>
          </p:cNvCxnSpPr>
          <p:nvPr/>
        </p:nvCxnSpPr>
        <p:spPr bwMode="auto">
          <a:xfrm>
            <a:off x="3900489" y="1233489"/>
            <a:ext cx="987425" cy="37623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4046" name="AutoShape 14"/>
          <p:cNvCxnSpPr>
            <a:cxnSpLocks noChangeShapeType="1"/>
            <a:stCxn id="44037" idx="4"/>
            <a:endCxn id="44039" idx="0"/>
          </p:cNvCxnSpPr>
          <p:nvPr/>
        </p:nvCxnSpPr>
        <p:spPr bwMode="auto">
          <a:xfrm>
            <a:off x="3721100" y="1412876"/>
            <a:ext cx="0" cy="7207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4047" name="AutoShape 15"/>
          <p:cNvCxnSpPr>
            <a:cxnSpLocks noChangeShapeType="1"/>
            <a:stCxn id="44039" idx="7"/>
            <a:endCxn id="44038" idx="3"/>
          </p:cNvCxnSpPr>
          <p:nvPr/>
        </p:nvCxnSpPr>
        <p:spPr bwMode="auto">
          <a:xfrm flipV="1">
            <a:off x="3848101" y="1865314"/>
            <a:ext cx="1039813" cy="3206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4048" name="AutoShape 16"/>
          <p:cNvCxnSpPr>
            <a:cxnSpLocks noChangeShapeType="1"/>
            <a:stCxn id="44036" idx="5"/>
            <a:endCxn id="44039" idx="2"/>
          </p:cNvCxnSpPr>
          <p:nvPr/>
        </p:nvCxnSpPr>
        <p:spPr bwMode="auto">
          <a:xfrm>
            <a:off x="2587625" y="1865313"/>
            <a:ext cx="952500" cy="44926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4049" name="AutoShape 17"/>
          <p:cNvCxnSpPr>
            <a:cxnSpLocks noChangeShapeType="1"/>
            <a:stCxn id="44039" idx="5"/>
            <a:endCxn id="44040" idx="1"/>
          </p:cNvCxnSpPr>
          <p:nvPr/>
        </p:nvCxnSpPr>
        <p:spPr bwMode="auto">
          <a:xfrm>
            <a:off x="3848101" y="2441576"/>
            <a:ext cx="1039813" cy="28416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4050" name="AutoShape 18"/>
          <p:cNvCxnSpPr>
            <a:cxnSpLocks noChangeShapeType="1"/>
            <a:stCxn id="44040" idx="3"/>
            <a:endCxn id="44041" idx="7"/>
          </p:cNvCxnSpPr>
          <p:nvPr/>
        </p:nvCxnSpPr>
        <p:spPr bwMode="auto">
          <a:xfrm flipH="1">
            <a:off x="3848101" y="2981326"/>
            <a:ext cx="1039813" cy="4286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4051" name="AutoShape 19"/>
          <p:cNvCxnSpPr>
            <a:cxnSpLocks noChangeShapeType="1"/>
            <a:stCxn id="44036" idx="4"/>
            <a:endCxn id="44042" idx="0"/>
          </p:cNvCxnSpPr>
          <p:nvPr/>
        </p:nvCxnSpPr>
        <p:spPr bwMode="auto">
          <a:xfrm>
            <a:off x="2460625" y="1917701"/>
            <a:ext cx="0" cy="7905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4052" name="AutoShape 20"/>
          <p:cNvCxnSpPr>
            <a:cxnSpLocks noChangeShapeType="1"/>
            <a:stCxn id="44042" idx="4"/>
            <a:endCxn id="44043" idx="0"/>
          </p:cNvCxnSpPr>
          <p:nvPr/>
        </p:nvCxnSpPr>
        <p:spPr bwMode="auto">
          <a:xfrm>
            <a:off x="2460625" y="3068639"/>
            <a:ext cx="0" cy="8651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4053" name="AutoShape 21"/>
          <p:cNvCxnSpPr>
            <a:cxnSpLocks noChangeShapeType="1"/>
            <a:stCxn id="44042" idx="5"/>
            <a:endCxn id="44041" idx="2"/>
          </p:cNvCxnSpPr>
          <p:nvPr/>
        </p:nvCxnSpPr>
        <p:spPr bwMode="auto">
          <a:xfrm>
            <a:off x="2587625" y="3016250"/>
            <a:ext cx="952500" cy="52228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</p:cxnSp>
      <p:sp>
        <p:nvSpPr>
          <p:cNvPr id="38933" name="Text Box 22"/>
          <p:cNvSpPr txBox="1">
            <a:spLocks noChangeArrowheads="1"/>
          </p:cNvSpPr>
          <p:nvPr/>
        </p:nvSpPr>
        <p:spPr bwMode="auto">
          <a:xfrm>
            <a:off x="2135188" y="873125"/>
            <a:ext cx="7429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/>
              <a:t>Граф:</a:t>
            </a:r>
          </a:p>
        </p:txBody>
      </p:sp>
      <p:sp>
        <p:nvSpPr>
          <p:cNvPr id="44055" name="Oval 23"/>
          <p:cNvSpPr>
            <a:spLocks noChangeArrowheads="1"/>
          </p:cNvSpPr>
          <p:nvPr/>
        </p:nvSpPr>
        <p:spPr bwMode="auto">
          <a:xfrm>
            <a:off x="5772151" y="184467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1</a:t>
            </a:r>
          </a:p>
        </p:txBody>
      </p:sp>
      <p:sp>
        <p:nvSpPr>
          <p:cNvPr id="44056" name="Text Box 24"/>
          <p:cNvSpPr txBox="1">
            <a:spLocks noChangeArrowheads="1"/>
          </p:cNvSpPr>
          <p:nvPr/>
        </p:nvSpPr>
        <p:spPr bwMode="auto">
          <a:xfrm>
            <a:off x="5680076" y="2424114"/>
            <a:ext cx="48736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/>
              <a:t>Можно также получить дерево обхода в ширину, </a:t>
            </a:r>
            <a:br>
              <a:rPr lang="ru-RU" sz="1600"/>
            </a:br>
            <a:r>
              <a:rPr lang="ru-RU" sz="1600"/>
              <a:t>если отмечать каждую прямую дугу.</a:t>
            </a:r>
          </a:p>
        </p:txBody>
      </p:sp>
      <p:grpSp>
        <p:nvGrpSpPr>
          <p:cNvPr id="44057" name="Group 25"/>
          <p:cNvGrpSpPr>
            <a:grpSpLocks/>
          </p:cNvGrpSpPr>
          <p:nvPr/>
        </p:nvGrpSpPr>
        <p:grpSpPr bwMode="auto">
          <a:xfrm>
            <a:off x="5880100" y="3357563"/>
            <a:ext cx="2590800" cy="647700"/>
            <a:chOff x="2744" y="2115"/>
            <a:chExt cx="1632" cy="408"/>
          </a:xfrm>
        </p:grpSpPr>
        <p:sp>
          <p:nvSpPr>
            <p:cNvPr id="38971" name="Rectangle 26"/>
            <p:cNvSpPr>
              <a:spLocks noChangeArrowheads="1"/>
            </p:cNvSpPr>
            <p:nvPr/>
          </p:nvSpPr>
          <p:spPr bwMode="auto">
            <a:xfrm>
              <a:off x="2744" y="2115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400"/>
                <a:t>1</a:t>
              </a:r>
            </a:p>
          </p:txBody>
        </p:sp>
        <p:sp>
          <p:nvSpPr>
            <p:cNvPr id="38972" name="Rectangle 27"/>
            <p:cNvSpPr>
              <a:spLocks noChangeArrowheads="1"/>
            </p:cNvSpPr>
            <p:nvPr/>
          </p:nvSpPr>
          <p:spPr bwMode="auto">
            <a:xfrm>
              <a:off x="2744" y="2319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38973" name="Rectangle 28"/>
            <p:cNvSpPr>
              <a:spLocks noChangeArrowheads="1"/>
            </p:cNvSpPr>
            <p:nvPr/>
          </p:nvSpPr>
          <p:spPr bwMode="auto">
            <a:xfrm>
              <a:off x="2948" y="2115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400"/>
                <a:t>2</a:t>
              </a:r>
            </a:p>
          </p:txBody>
        </p:sp>
        <p:sp>
          <p:nvSpPr>
            <p:cNvPr id="38974" name="Rectangle 29"/>
            <p:cNvSpPr>
              <a:spLocks noChangeArrowheads="1"/>
            </p:cNvSpPr>
            <p:nvPr/>
          </p:nvSpPr>
          <p:spPr bwMode="auto">
            <a:xfrm>
              <a:off x="2948" y="2319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38975" name="Rectangle 30"/>
            <p:cNvSpPr>
              <a:spLocks noChangeArrowheads="1"/>
            </p:cNvSpPr>
            <p:nvPr/>
          </p:nvSpPr>
          <p:spPr bwMode="auto">
            <a:xfrm>
              <a:off x="3152" y="2115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400"/>
                <a:t>3</a:t>
              </a:r>
            </a:p>
          </p:txBody>
        </p:sp>
        <p:sp>
          <p:nvSpPr>
            <p:cNvPr id="38976" name="Rectangle 31"/>
            <p:cNvSpPr>
              <a:spLocks noChangeArrowheads="1"/>
            </p:cNvSpPr>
            <p:nvPr/>
          </p:nvSpPr>
          <p:spPr bwMode="auto">
            <a:xfrm>
              <a:off x="3152" y="2319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38977" name="Rectangle 32"/>
            <p:cNvSpPr>
              <a:spLocks noChangeArrowheads="1"/>
            </p:cNvSpPr>
            <p:nvPr/>
          </p:nvSpPr>
          <p:spPr bwMode="auto">
            <a:xfrm>
              <a:off x="3356" y="2115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400"/>
                <a:t>4</a:t>
              </a:r>
            </a:p>
          </p:txBody>
        </p:sp>
        <p:sp>
          <p:nvSpPr>
            <p:cNvPr id="38978" name="Rectangle 33"/>
            <p:cNvSpPr>
              <a:spLocks noChangeArrowheads="1"/>
            </p:cNvSpPr>
            <p:nvPr/>
          </p:nvSpPr>
          <p:spPr bwMode="auto">
            <a:xfrm>
              <a:off x="3356" y="2319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38979" name="Rectangle 34"/>
            <p:cNvSpPr>
              <a:spLocks noChangeArrowheads="1"/>
            </p:cNvSpPr>
            <p:nvPr/>
          </p:nvSpPr>
          <p:spPr bwMode="auto">
            <a:xfrm>
              <a:off x="3560" y="2115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400"/>
                <a:t>5</a:t>
              </a:r>
            </a:p>
          </p:txBody>
        </p:sp>
        <p:sp>
          <p:nvSpPr>
            <p:cNvPr id="38980" name="Rectangle 35"/>
            <p:cNvSpPr>
              <a:spLocks noChangeArrowheads="1"/>
            </p:cNvSpPr>
            <p:nvPr/>
          </p:nvSpPr>
          <p:spPr bwMode="auto">
            <a:xfrm>
              <a:off x="3560" y="2319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38981" name="Rectangle 36"/>
            <p:cNvSpPr>
              <a:spLocks noChangeArrowheads="1"/>
            </p:cNvSpPr>
            <p:nvPr/>
          </p:nvSpPr>
          <p:spPr bwMode="auto">
            <a:xfrm>
              <a:off x="3764" y="2115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400"/>
                <a:t>6</a:t>
              </a:r>
            </a:p>
          </p:txBody>
        </p:sp>
        <p:sp>
          <p:nvSpPr>
            <p:cNvPr id="38982" name="Rectangle 37"/>
            <p:cNvSpPr>
              <a:spLocks noChangeArrowheads="1"/>
            </p:cNvSpPr>
            <p:nvPr/>
          </p:nvSpPr>
          <p:spPr bwMode="auto">
            <a:xfrm>
              <a:off x="3764" y="2319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38983" name="Rectangle 38"/>
            <p:cNvSpPr>
              <a:spLocks noChangeArrowheads="1"/>
            </p:cNvSpPr>
            <p:nvPr/>
          </p:nvSpPr>
          <p:spPr bwMode="auto">
            <a:xfrm>
              <a:off x="3968" y="2115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400"/>
                <a:t>7</a:t>
              </a:r>
            </a:p>
          </p:txBody>
        </p:sp>
        <p:sp>
          <p:nvSpPr>
            <p:cNvPr id="38984" name="Rectangle 39"/>
            <p:cNvSpPr>
              <a:spLocks noChangeArrowheads="1"/>
            </p:cNvSpPr>
            <p:nvPr/>
          </p:nvSpPr>
          <p:spPr bwMode="auto">
            <a:xfrm>
              <a:off x="3968" y="2319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38985" name="Rectangle 40"/>
            <p:cNvSpPr>
              <a:spLocks noChangeArrowheads="1"/>
            </p:cNvSpPr>
            <p:nvPr/>
          </p:nvSpPr>
          <p:spPr bwMode="auto">
            <a:xfrm>
              <a:off x="4172" y="2115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400"/>
                <a:t>8</a:t>
              </a:r>
            </a:p>
          </p:txBody>
        </p:sp>
        <p:sp>
          <p:nvSpPr>
            <p:cNvPr id="38986" name="Rectangle 41"/>
            <p:cNvSpPr>
              <a:spLocks noChangeArrowheads="1"/>
            </p:cNvSpPr>
            <p:nvPr/>
          </p:nvSpPr>
          <p:spPr bwMode="auto">
            <a:xfrm>
              <a:off x="4172" y="2319"/>
              <a:ext cx="204" cy="2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44074" name="Rectangle 42"/>
          <p:cNvSpPr>
            <a:spLocks noChangeArrowheads="1"/>
          </p:cNvSpPr>
          <p:nvPr/>
        </p:nvSpPr>
        <p:spPr bwMode="auto">
          <a:xfrm>
            <a:off x="3792539" y="4473575"/>
            <a:ext cx="93503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sz="1600"/>
              <a:t>1</a:t>
            </a:r>
          </a:p>
        </p:txBody>
      </p:sp>
      <p:grpSp>
        <p:nvGrpSpPr>
          <p:cNvPr id="44075" name="Group 43"/>
          <p:cNvGrpSpPr>
            <a:grpSpLocks/>
          </p:cNvGrpSpPr>
          <p:nvPr/>
        </p:nvGrpSpPr>
        <p:grpSpPr bwMode="auto">
          <a:xfrm>
            <a:off x="3756026" y="4041776"/>
            <a:ext cx="1069975" cy="2100263"/>
            <a:chOff x="1406" y="2538"/>
            <a:chExt cx="674" cy="1323"/>
          </a:xfrm>
        </p:grpSpPr>
        <p:sp>
          <p:nvSpPr>
            <p:cNvPr id="38967" name="Text Box 44"/>
            <p:cNvSpPr txBox="1">
              <a:spLocks noChangeArrowheads="1"/>
            </p:cNvSpPr>
            <p:nvPr/>
          </p:nvSpPr>
          <p:spPr bwMode="auto">
            <a:xfrm>
              <a:off x="1406" y="2538"/>
              <a:ext cx="67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ru-RU" sz="1600"/>
                <a:t>Очередь:</a:t>
              </a:r>
            </a:p>
          </p:txBody>
        </p:sp>
        <p:sp>
          <p:nvSpPr>
            <p:cNvPr id="38968" name="Line 45"/>
            <p:cNvSpPr>
              <a:spLocks noChangeShapeType="1"/>
            </p:cNvSpPr>
            <p:nvPr/>
          </p:nvSpPr>
          <p:spPr bwMode="auto">
            <a:xfrm flipV="1">
              <a:off x="1429" y="2818"/>
              <a:ext cx="0" cy="1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8969" name="Line 46"/>
            <p:cNvSpPr>
              <a:spLocks noChangeShapeType="1"/>
            </p:cNvSpPr>
            <p:nvPr/>
          </p:nvSpPr>
          <p:spPr bwMode="auto">
            <a:xfrm>
              <a:off x="1429" y="2818"/>
              <a:ext cx="5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8970" name="Line 47"/>
            <p:cNvSpPr>
              <a:spLocks noChangeShapeType="1"/>
            </p:cNvSpPr>
            <p:nvPr/>
          </p:nvSpPr>
          <p:spPr bwMode="auto">
            <a:xfrm>
              <a:off x="2018" y="2818"/>
              <a:ext cx="0" cy="1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44080" name="Rectangle 48"/>
          <p:cNvSpPr>
            <a:spLocks noChangeArrowheads="1"/>
          </p:cNvSpPr>
          <p:nvPr/>
        </p:nvSpPr>
        <p:spPr bwMode="auto">
          <a:xfrm>
            <a:off x="6203950" y="36814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1</a:t>
            </a:r>
            <a:endParaRPr lang="ru-RU" sz="1600"/>
          </a:p>
        </p:txBody>
      </p:sp>
      <p:sp>
        <p:nvSpPr>
          <p:cNvPr id="44081" name="Rectangle 49"/>
          <p:cNvSpPr>
            <a:spLocks noChangeArrowheads="1"/>
          </p:cNvSpPr>
          <p:nvPr/>
        </p:nvSpPr>
        <p:spPr bwMode="auto">
          <a:xfrm>
            <a:off x="6527800" y="36814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2</a:t>
            </a:r>
            <a:endParaRPr lang="ru-RU" sz="1600"/>
          </a:p>
        </p:txBody>
      </p:sp>
      <p:sp>
        <p:nvSpPr>
          <p:cNvPr id="44082" name="Rectangle 50"/>
          <p:cNvSpPr>
            <a:spLocks noChangeArrowheads="1"/>
          </p:cNvSpPr>
          <p:nvPr/>
        </p:nvSpPr>
        <p:spPr bwMode="auto">
          <a:xfrm>
            <a:off x="6851650" y="36814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1</a:t>
            </a:r>
            <a:endParaRPr lang="ru-RU" sz="1600"/>
          </a:p>
        </p:txBody>
      </p:sp>
      <p:sp>
        <p:nvSpPr>
          <p:cNvPr id="44083" name="Rectangle 51"/>
          <p:cNvSpPr>
            <a:spLocks noChangeArrowheads="1"/>
          </p:cNvSpPr>
          <p:nvPr/>
        </p:nvSpPr>
        <p:spPr bwMode="auto">
          <a:xfrm>
            <a:off x="7175500" y="36814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1</a:t>
            </a:r>
            <a:endParaRPr lang="ru-RU" sz="1600"/>
          </a:p>
        </p:txBody>
      </p:sp>
      <p:sp>
        <p:nvSpPr>
          <p:cNvPr id="44084" name="Rectangle 52"/>
          <p:cNvSpPr>
            <a:spLocks noChangeArrowheads="1"/>
          </p:cNvSpPr>
          <p:nvPr/>
        </p:nvSpPr>
        <p:spPr bwMode="auto">
          <a:xfrm>
            <a:off x="7500938" y="36814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4</a:t>
            </a:r>
            <a:endParaRPr lang="ru-RU" sz="1600"/>
          </a:p>
        </p:txBody>
      </p:sp>
      <p:sp>
        <p:nvSpPr>
          <p:cNvPr id="44085" name="Rectangle 53"/>
          <p:cNvSpPr>
            <a:spLocks noChangeArrowheads="1"/>
          </p:cNvSpPr>
          <p:nvPr/>
        </p:nvSpPr>
        <p:spPr bwMode="auto">
          <a:xfrm>
            <a:off x="7824788" y="36814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5</a:t>
            </a:r>
            <a:endParaRPr lang="ru-RU" sz="1600"/>
          </a:p>
        </p:txBody>
      </p:sp>
      <p:sp>
        <p:nvSpPr>
          <p:cNvPr id="44086" name="Rectangle 54"/>
          <p:cNvSpPr>
            <a:spLocks noChangeArrowheads="1"/>
          </p:cNvSpPr>
          <p:nvPr/>
        </p:nvSpPr>
        <p:spPr bwMode="auto">
          <a:xfrm>
            <a:off x="8148638" y="3681413"/>
            <a:ext cx="323850" cy="323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5</a:t>
            </a:r>
            <a:endParaRPr lang="ru-RU" sz="1600"/>
          </a:p>
        </p:txBody>
      </p:sp>
      <p:sp>
        <p:nvSpPr>
          <p:cNvPr id="44087" name="Rectangle 55"/>
          <p:cNvSpPr>
            <a:spLocks noChangeArrowheads="1"/>
          </p:cNvSpPr>
          <p:nvPr/>
        </p:nvSpPr>
        <p:spPr bwMode="auto">
          <a:xfrm>
            <a:off x="3792539" y="4473575"/>
            <a:ext cx="93503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2</a:t>
            </a:r>
            <a:endParaRPr lang="ru-RU" sz="1600"/>
          </a:p>
        </p:txBody>
      </p:sp>
      <p:sp>
        <p:nvSpPr>
          <p:cNvPr id="44088" name="Rectangle 56"/>
          <p:cNvSpPr>
            <a:spLocks noChangeArrowheads="1"/>
          </p:cNvSpPr>
          <p:nvPr/>
        </p:nvSpPr>
        <p:spPr bwMode="auto">
          <a:xfrm>
            <a:off x="3792539" y="5121275"/>
            <a:ext cx="93503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3</a:t>
            </a:r>
            <a:endParaRPr lang="ru-RU" sz="1600"/>
          </a:p>
        </p:txBody>
      </p:sp>
      <p:sp>
        <p:nvSpPr>
          <p:cNvPr id="44089" name="Rectangle 57"/>
          <p:cNvSpPr>
            <a:spLocks noChangeArrowheads="1"/>
          </p:cNvSpPr>
          <p:nvPr/>
        </p:nvSpPr>
        <p:spPr bwMode="auto">
          <a:xfrm>
            <a:off x="3792539" y="4797425"/>
            <a:ext cx="93503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4</a:t>
            </a:r>
            <a:endParaRPr lang="ru-RU" sz="1600"/>
          </a:p>
        </p:txBody>
      </p:sp>
      <p:sp>
        <p:nvSpPr>
          <p:cNvPr id="44090" name="Rectangle 58"/>
          <p:cNvSpPr>
            <a:spLocks noChangeArrowheads="1"/>
          </p:cNvSpPr>
          <p:nvPr/>
        </p:nvSpPr>
        <p:spPr bwMode="auto">
          <a:xfrm>
            <a:off x="3792539" y="5121275"/>
            <a:ext cx="93503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5</a:t>
            </a:r>
            <a:endParaRPr lang="ru-RU" sz="1600"/>
          </a:p>
        </p:txBody>
      </p:sp>
      <p:sp>
        <p:nvSpPr>
          <p:cNvPr id="44091" name="Rectangle 59"/>
          <p:cNvSpPr>
            <a:spLocks noChangeArrowheads="1"/>
          </p:cNvSpPr>
          <p:nvPr/>
        </p:nvSpPr>
        <p:spPr bwMode="auto">
          <a:xfrm>
            <a:off x="3792539" y="5121275"/>
            <a:ext cx="93503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6</a:t>
            </a:r>
            <a:endParaRPr lang="ru-RU" sz="1600"/>
          </a:p>
        </p:txBody>
      </p:sp>
      <p:sp>
        <p:nvSpPr>
          <p:cNvPr id="44092" name="Rectangle 60"/>
          <p:cNvSpPr>
            <a:spLocks noChangeArrowheads="1"/>
          </p:cNvSpPr>
          <p:nvPr/>
        </p:nvSpPr>
        <p:spPr bwMode="auto">
          <a:xfrm>
            <a:off x="3792539" y="5121275"/>
            <a:ext cx="93503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7</a:t>
            </a:r>
            <a:endParaRPr lang="ru-RU" sz="1600"/>
          </a:p>
        </p:txBody>
      </p:sp>
      <p:sp>
        <p:nvSpPr>
          <p:cNvPr id="44093" name="Rectangle 61"/>
          <p:cNvSpPr>
            <a:spLocks noChangeArrowheads="1"/>
          </p:cNvSpPr>
          <p:nvPr/>
        </p:nvSpPr>
        <p:spPr bwMode="auto">
          <a:xfrm>
            <a:off x="3792539" y="5446713"/>
            <a:ext cx="935037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8</a:t>
            </a:r>
            <a:endParaRPr lang="ru-RU" sz="1600"/>
          </a:p>
        </p:txBody>
      </p:sp>
      <p:sp>
        <p:nvSpPr>
          <p:cNvPr id="44094" name="Oval 62"/>
          <p:cNvSpPr>
            <a:spLocks noChangeArrowheads="1"/>
          </p:cNvSpPr>
          <p:nvPr/>
        </p:nvSpPr>
        <p:spPr bwMode="auto">
          <a:xfrm>
            <a:off x="6637338" y="184467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  <a:endParaRPr lang="ru-RU"/>
          </a:p>
        </p:txBody>
      </p:sp>
      <p:sp>
        <p:nvSpPr>
          <p:cNvPr id="44095" name="Oval 63"/>
          <p:cNvSpPr>
            <a:spLocks noChangeArrowheads="1"/>
          </p:cNvSpPr>
          <p:nvPr/>
        </p:nvSpPr>
        <p:spPr bwMode="auto">
          <a:xfrm>
            <a:off x="6203951" y="184467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  <a:endParaRPr lang="ru-RU"/>
          </a:p>
        </p:txBody>
      </p:sp>
      <p:sp>
        <p:nvSpPr>
          <p:cNvPr id="44096" name="Oval 64"/>
          <p:cNvSpPr>
            <a:spLocks noChangeArrowheads="1"/>
          </p:cNvSpPr>
          <p:nvPr/>
        </p:nvSpPr>
        <p:spPr bwMode="auto">
          <a:xfrm>
            <a:off x="7500938" y="184467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  <a:endParaRPr lang="ru-RU"/>
          </a:p>
        </p:txBody>
      </p:sp>
      <p:sp>
        <p:nvSpPr>
          <p:cNvPr id="44097" name="Oval 65"/>
          <p:cNvSpPr>
            <a:spLocks noChangeArrowheads="1"/>
          </p:cNvSpPr>
          <p:nvPr/>
        </p:nvSpPr>
        <p:spPr bwMode="auto">
          <a:xfrm>
            <a:off x="7067551" y="184467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  <a:endParaRPr lang="ru-RU"/>
          </a:p>
        </p:txBody>
      </p:sp>
      <p:sp>
        <p:nvSpPr>
          <p:cNvPr id="44098" name="Oval 66"/>
          <p:cNvSpPr>
            <a:spLocks noChangeArrowheads="1"/>
          </p:cNvSpPr>
          <p:nvPr/>
        </p:nvSpPr>
        <p:spPr bwMode="auto">
          <a:xfrm>
            <a:off x="8364538" y="184467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7</a:t>
            </a:r>
            <a:endParaRPr lang="ru-RU"/>
          </a:p>
        </p:txBody>
      </p:sp>
      <p:sp>
        <p:nvSpPr>
          <p:cNvPr id="44099" name="Oval 67"/>
          <p:cNvSpPr>
            <a:spLocks noChangeArrowheads="1"/>
          </p:cNvSpPr>
          <p:nvPr/>
        </p:nvSpPr>
        <p:spPr bwMode="auto">
          <a:xfrm>
            <a:off x="7931151" y="1844676"/>
            <a:ext cx="360363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  <a:endParaRPr lang="ru-RU"/>
          </a:p>
        </p:txBody>
      </p:sp>
      <p:sp>
        <p:nvSpPr>
          <p:cNvPr id="44100" name="Oval 68"/>
          <p:cNvSpPr>
            <a:spLocks noChangeArrowheads="1"/>
          </p:cNvSpPr>
          <p:nvPr/>
        </p:nvSpPr>
        <p:spPr bwMode="auto">
          <a:xfrm>
            <a:off x="8796338" y="1844676"/>
            <a:ext cx="360362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8</a:t>
            </a:r>
            <a:endParaRPr lang="ru-RU"/>
          </a:p>
        </p:txBody>
      </p:sp>
      <p:cxnSp>
        <p:nvCxnSpPr>
          <p:cNvPr id="44101" name="AutoShape 69"/>
          <p:cNvCxnSpPr>
            <a:cxnSpLocks noChangeShapeType="1"/>
            <a:stCxn id="44036" idx="7"/>
            <a:endCxn id="44037" idx="2"/>
          </p:cNvCxnSpPr>
          <p:nvPr/>
        </p:nvCxnSpPr>
        <p:spPr bwMode="auto">
          <a:xfrm flipV="1">
            <a:off x="2587625" y="1233489"/>
            <a:ext cx="952500" cy="376237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 type="stealth" w="lg" len="lg"/>
          </a:ln>
        </p:spPr>
      </p:cxnSp>
      <p:cxnSp>
        <p:nvCxnSpPr>
          <p:cNvPr id="44102" name="AutoShape 70"/>
          <p:cNvCxnSpPr>
            <a:cxnSpLocks noChangeShapeType="1"/>
            <a:stCxn id="44036" idx="5"/>
            <a:endCxn id="44039" idx="2"/>
          </p:cNvCxnSpPr>
          <p:nvPr/>
        </p:nvCxnSpPr>
        <p:spPr bwMode="auto">
          <a:xfrm>
            <a:off x="2587625" y="1865313"/>
            <a:ext cx="952500" cy="449262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 type="stealth" w="lg" len="lg"/>
          </a:ln>
        </p:spPr>
      </p:cxnSp>
      <p:cxnSp>
        <p:nvCxnSpPr>
          <p:cNvPr id="44103" name="AutoShape 71"/>
          <p:cNvCxnSpPr>
            <a:cxnSpLocks noChangeShapeType="1"/>
            <a:stCxn id="44036" idx="4"/>
            <a:endCxn id="44042" idx="0"/>
          </p:cNvCxnSpPr>
          <p:nvPr/>
        </p:nvCxnSpPr>
        <p:spPr bwMode="auto">
          <a:xfrm>
            <a:off x="2460625" y="1917701"/>
            <a:ext cx="0" cy="790575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 type="stealth" w="lg" len="lg"/>
          </a:ln>
        </p:spPr>
      </p:cxnSp>
      <p:cxnSp>
        <p:nvCxnSpPr>
          <p:cNvPr id="44104" name="AutoShape 72"/>
          <p:cNvCxnSpPr>
            <a:cxnSpLocks noChangeShapeType="1"/>
            <a:stCxn id="44037" idx="6"/>
            <a:endCxn id="44038" idx="1"/>
          </p:cNvCxnSpPr>
          <p:nvPr/>
        </p:nvCxnSpPr>
        <p:spPr bwMode="auto">
          <a:xfrm>
            <a:off x="3900489" y="1233489"/>
            <a:ext cx="987425" cy="376237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 type="stealth" w="lg" len="lg"/>
          </a:ln>
        </p:spPr>
      </p:cxnSp>
      <p:cxnSp>
        <p:nvCxnSpPr>
          <p:cNvPr id="44105" name="AutoShape 73"/>
          <p:cNvCxnSpPr>
            <a:cxnSpLocks noChangeShapeType="1"/>
            <a:stCxn id="44039" idx="5"/>
            <a:endCxn id="44040" idx="1"/>
          </p:cNvCxnSpPr>
          <p:nvPr/>
        </p:nvCxnSpPr>
        <p:spPr bwMode="auto">
          <a:xfrm>
            <a:off x="3848101" y="2441576"/>
            <a:ext cx="1039813" cy="284163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 type="stealth" w="lg" len="lg"/>
          </a:ln>
        </p:spPr>
      </p:cxnSp>
      <p:cxnSp>
        <p:nvCxnSpPr>
          <p:cNvPr id="44106" name="AutoShape 74"/>
          <p:cNvCxnSpPr>
            <a:cxnSpLocks noChangeShapeType="1"/>
            <a:stCxn id="44042" idx="5"/>
            <a:endCxn id="44041" idx="2"/>
          </p:cNvCxnSpPr>
          <p:nvPr/>
        </p:nvCxnSpPr>
        <p:spPr bwMode="auto">
          <a:xfrm>
            <a:off x="2587625" y="3016250"/>
            <a:ext cx="952500" cy="522288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 type="stealth" w="lg" len="lg"/>
          </a:ln>
        </p:spPr>
      </p:cxnSp>
      <p:cxnSp>
        <p:nvCxnSpPr>
          <p:cNvPr id="44107" name="AutoShape 75"/>
          <p:cNvCxnSpPr>
            <a:cxnSpLocks noChangeShapeType="1"/>
            <a:stCxn id="44042" idx="4"/>
            <a:endCxn id="44043" idx="0"/>
          </p:cNvCxnSpPr>
          <p:nvPr/>
        </p:nvCxnSpPr>
        <p:spPr bwMode="auto">
          <a:xfrm>
            <a:off x="2460625" y="3068639"/>
            <a:ext cx="0" cy="865187"/>
          </a:xfrm>
          <a:prstGeom prst="straightConnector1">
            <a:avLst/>
          </a:prstGeom>
          <a:noFill/>
          <a:ln w="25400">
            <a:solidFill>
              <a:srgbClr val="0099FF"/>
            </a:solidFill>
            <a:round/>
            <a:headEnd/>
            <a:tailEnd type="stealth" w="lg" len="lg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4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44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20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9" dur="500"/>
                                        <p:tgtEl>
                                          <p:spTgt spid="440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4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20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80" dur="20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20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20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84" dur="20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20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2000" fill="hold"/>
                                        <p:tgtEl>
                                          <p:spTgt spid="440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88" dur="2000" fill="hold"/>
                                        <p:tgtEl>
                                          <p:spTgt spid="440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440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3" dur="500"/>
                                        <p:tgtEl>
                                          <p:spTgt spid="440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4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20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00" dur="20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0.00255 L -1.94444E-6 -0.04722 " pathEditMode="relative" rAng="0" ptsTypes="AA">
                                      <p:cBhvr>
                                        <p:cTn id="104" dur="2000" fill="hold"/>
                                        <p:tgtEl>
                                          <p:spTgt spid="440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0.00255 L -1.94444E-6 -0.04722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440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20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114" dur="20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20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2000" fill="hold"/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18" dur="2000" fill="hold"/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0" dur="500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4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4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2000" fill="hold"/>
                                        <p:tgtEl>
                                          <p:spTgt spid="441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F5A1F"/>
                                      </p:to>
                                    </p:animClr>
                                    <p:set>
                                      <p:cBhvr>
                                        <p:cTn id="130" dur="2000" fill="hold"/>
                                        <p:tgtEl>
                                          <p:spTgt spid="441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4" dur="500"/>
                                        <p:tgtEl>
                                          <p:spTgt spid="440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20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38" dur="20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20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4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4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0.04722 L -1.94444E-6 -0.0919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440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"/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4722 " pathEditMode="relative" ptsTypes="AA">
                                      <p:cBhvr>
                                        <p:cTn id="147" dur="2000" fill="hold"/>
                                        <p:tgtEl>
                                          <p:spTgt spid="440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2000" fill="hold"/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52" dur="2000" fill="hold"/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4" dur="500"/>
                                        <p:tgtEl>
                                          <p:spTgt spid="440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4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4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4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20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167" dur="20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20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2000" fill="hold"/>
                                        <p:tgtEl>
                                          <p:spTgt spid="441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F5A1F"/>
                                      </p:to>
                                    </p:animClr>
                                    <p:set>
                                      <p:cBhvr>
                                        <p:cTn id="171" dur="2000" fill="hold"/>
                                        <p:tgtEl>
                                          <p:spTgt spid="441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2000" fill="hold"/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74" dur="2000" fill="hold"/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8" dur="500"/>
                                        <p:tgtEl>
                                          <p:spTgt spid="440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4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2000" fill="hold"/>
                                        <p:tgtEl>
                                          <p:spTgt spid="440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85" dur="2000" fill="hold"/>
                                        <p:tgtEl>
                                          <p:spTgt spid="440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" dur="2000" fill="hold"/>
                                        <p:tgtEl>
                                          <p:spTgt spid="440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8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0.04722 L -8.33333E-7 -0.09467 " pathEditMode="relative" rAng="0" ptsTypes="AA">
                                      <p:cBhvr>
                                        <p:cTn id="189" dur="2000" fill="hold"/>
                                        <p:tgtEl>
                                          <p:spTgt spid="440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4723 " pathEditMode="relative" ptsTypes="AA">
                                      <p:cBhvr>
                                        <p:cTn id="191" dur="2000" fill="hold"/>
                                        <p:tgtEl>
                                          <p:spTgt spid="440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4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4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20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202" dur="20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20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2000" fill="hold"/>
                                        <p:tgtEl>
                                          <p:spTgt spid="440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206" dur="2000" fill="hold"/>
                                        <p:tgtEl>
                                          <p:spTgt spid="440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2000" fill="hold"/>
                                        <p:tgtEl>
                                          <p:spTgt spid="440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9" dur="500"/>
                                        <p:tgtEl>
                                          <p:spTgt spid="44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2" dur="500"/>
                                        <p:tgtEl>
                                          <p:spTgt spid="440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6" dur="500"/>
                                        <p:tgtEl>
                                          <p:spTgt spid="4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4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4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0"/>
                                        <p:tgtEl>
                                          <p:spTgt spid="4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2000" fill="hold"/>
                                        <p:tgtEl>
                                          <p:spTgt spid="441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8" dur="2000" fill="hold"/>
                                        <p:tgtEl>
                                          <p:spTgt spid="441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2" dur="20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33" dur="20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4" dur="20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6" dur="500"/>
                                        <p:tgtEl>
                                          <p:spTgt spid="440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0"/>
                                        <p:tgtEl>
                                          <p:spTgt spid="4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4" dur="2000" fill="hold"/>
                                        <p:tgtEl>
                                          <p:spTgt spid="44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F5A1F"/>
                                      </p:to>
                                    </p:animClr>
                                    <p:set>
                                      <p:cBhvr>
                                        <p:cTn id="245" dur="2000" fill="hold"/>
                                        <p:tgtEl>
                                          <p:spTgt spid="44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2000" fill="hold"/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48" dur="2000" fill="hold"/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2" dur="500"/>
                                        <p:tgtEl>
                                          <p:spTgt spid="440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0"/>
                                        <p:tgtEl>
                                          <p:spTgt spid="4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20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59" dur="20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20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2000" fill="hold"/>
                                        <p:tgtEl>
                                          <p:spTgt spid="44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F5A1F"/>
                                      </p:to>
                                    </p:animClr>
                                    <p:set>
                                      <p:cBhvr>
                                        <p:cTn id="265" dur="2000" fill="hold"/>
                                        <p:tgtEl>
                                          <p:spTgt spid="44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2000" fill="hold"/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268" dur="2000" fill="hold"/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2" dur="500"/>
                                        <p:tgtEl>
                                          <p:spTgt spid="440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6" dur="500"/>
                                        <p:tgtEl>
                                          <p:spTgt spid="4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20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79" dur="20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0" dur="20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2000" fill="hold"/>
                                        <p:tgtEl>
                                          <p:spTgt spid="441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F5A1F"/>
                                      </p:to>
                                    </p:animClr>
                                    <p:set>
                                      <p:cBhvr>
                                        <p:cTn id="285" dur="2000" fill="hold"/>
                                        <p:tgtEl>
                                          <p:spTgt spid="441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2000" fill="hold"/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88" dur="2000" fill="hold"/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2" dur="500"/>
                                        <p:tgtEl>
                                          <p:spTgt spid="440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6" dur="500"/>
                                        <p:tgtEl>
                                          <p:spTgt spid="4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2000" fill="hold"/>
                                        <p:tgtEl>
                                          <p:spTgt spid="440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99" dur="2000" fill="hold"/>
                                        <p:tgtEl>
                                          <p:spTgt spid="440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0" dur="2000" fill="hold"/>
                                        <p:tgtEl>
                                          <p:spTgt spid="440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2000" fill="hold"/>
                                        <p:tgtEl>
                                          <p:spTgt spid="44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5" dur="2000" fill="hold"/>
                                        <p:tgtEl>
                                          <p:spTgt spid="44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/>
      <p:bldP spid="44055" grpId="0" animBg="1"/>
      <p:bldP spid="44056" grpId="0"/>
      <p:bldP spid="44074" grpId="0" animBg="1"/>
      <p:bldP spid="44074" grpId="1" animBg="1"/>
      <p:bldP spid="44080" grpId="0" animBg="1"/>
      <p:bldP spid="44081" grpId="0" animBg="1"/>
      <p:bldP spid="44082" grpId="0" animBg="1"/>
      <p:bldP spid="44083" grpId="0" animBg="1"/>
      <p:bldP spid="44084" grpId="0" animBg="1"/>
      <p:bldP spid="44085" grpId="0" animBg="1"/>
      <p:bldP spid="44086" grpId="0" animBg="1"/>
      <p:bldP spid="44087" grpId="0" animBg="1"/>
      <p:bldP spid="44087" grpId="1" animBg="1"/>
      <p:bldP spid="44088" grpId="0" animBg="1"/>
      <p:bldP spid="44088" grpId="1" animBg="1"/>
      <p:bldP spid="44088" grpId="2" animBg="1"/>
      <p:bldP spid="44088" grpId="3" animBg="1"/>
      <p:bldP spid="44089" grpId="0" animBg="1"/>
      <p:bldP spid="44089" grpId="1" animBg="1"/>
      <p:bldP spid="44089" grpId="2" animBg="1"/>
      <p:bldP spid="44090" grpId="0" animBg="1"/>
      <p:bldP spid="44090" grpId="1" animBg="1"/>
      <p:bldP spid="44090" grpId="2" animBg="1"/>
      <p:bldP spid="44090" grpId="3" animBg="1"/>
      <p:bldP spid="44091" grpId="0" animBg="1"/>
      <p:bldP spid="44091" grpId="1" animBg="1"/>
      <p:bldP spid="44091" grpId="2" animBg="1"/>
      <p:bldP spid="44092" grpId="0" animBg="1"/>
      <p:bldP spid="44092" grpId="1" animBg="1"/>
      <p:bldP spid="44093" grpId="0" animBg="1"/>
      <p:bldP spid="44093" grpId="1" animBg="1"/>
      <p:bldP spid="44094" grpId="0" animBg="1"/>
      <p:bldP spid="44095" grpId="0" animBg="1"/>
      <p:bldP spid="44096" grpId="0" animBg="1"/>
      <p:bldP spid="44097" grpId="0" animBg="1"/>
      <p:bldP spid="44098" grpId="0" animBg="1"/>
      <p:bldP spid="44099" grpId="0" animBg="1"/>
      <p:bldP spid="44100" grpId="0" animBg="1"/>
    </p:bld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Заголовок 1"/>
          <p:cNvSpPr>
            <a:spLocks noGrp="1"/>
          </p:cNvSpPr>
          <p:nvPr>
            <p:ph type="title" idx="4294967295"/>
          </p:nvPr>
        </p:nvSpPr>
        <p:spPr>
          <a:xfrm>
            <a:off x="1524000" y="214313"/>
            <a:ext cx="8229600" cy="939800"/>
          </a:xfrm>
        </p:spPr>
        <p:txBody>
          <a:bodyPr/>
          <a:lstStyle/>
          <a:p>
            <a:r>
              <a:rPr lang="ru-RU" sz="3200" dirty="0">
                <a:solidFill>
                  <a:srgbClr val="663300"/>
                </a:solidFill>
              </a:rPr>
              <a:t>Нахождение кратчайшего пути в лабиринте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095473" y="1142984"/>
          <a:ext cx="5214979" cy="4143404"/>
        </p:xfrm>
        <a:graphic>
          <a:graphicData uri="http://schemas.openxmlformats.org/drawingml/2006/table">
            <a:tbl>
              <a:tblPr/>
              <a:tblGrid>
                <a:gridCol w="474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40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40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4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40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40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40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408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5719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2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3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5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6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7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8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9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10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984806"/>
                      </a:fgClr>
                      <a:bgClr>
                        <a:srgbClr val="D2BB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3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2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984806"/>
                      </a:fgClr>
                      <a:bgClr>
                        <a:srgbClr val="D2BB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3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984806"/>
                      </a:fgClr>
                      <a:bgClr>
                        <a:srgbClr val="D2BB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984806"/>
                      </a:fgClr>
                      <a:bgClr>
                        <a:srgbClr val="D2BB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5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6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7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8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0066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9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628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Times New Roman"/>
                        </a:rPr>
                        <a:t>10</a:t>
                      </a:r>
                      <a:endParaRPr lang="ru-RU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nDiag">
                      <a:fgClr>
                        <a:srgbClr val="C00000"/>
                      </a:fgClr>
                      <a:bgClr>
                        <a:srgbClr val="E2B4B4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524501" y="1500189"/>
            <a:ext cx="3016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024564" y="1500189"/>
            <a:ext cx="3016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2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524501" y="1857375"/>
            <a:ext cx="301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2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953126" y="1857375"/>
            <a:ext cx="301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2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953001" y="1500189"/>
            <a:ext cx="3016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2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024439" y="1857375"/>
            <a:ext cx="301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2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524376" y="1500189"/>
            <a:ext cx="3016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3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453189" y="1500189"/>
            <a:ext cx="2762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latin typeface="Calibri" pitchFamily="34" charset="0"/>
              </a:rPr>
              <a:t>3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095751" y="1500189"/>
            <a:ext cx="3016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4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6953251" y="1500189"/>
            <a:ext cx="3016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4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095751" y="1857375"/>
            <a:ext cx="301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5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6953251" y="1857375"/>
            <a:ext cx="301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5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4095751" y="2214564"/>
            <a:ext cx="3016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6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6953251" y="2214564"/>
            <a:ext cx="3016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6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095751" y="2571750"/>
            <a:ext cx="301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7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6953251" y="2571750"/>
            <a:ext cx="301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7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6953251" y="2928939"/>
            <a:ext cx="3016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8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4095751" y="2928939"/>
            <a:ext cx="3016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8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6953251" y="3286125"/>
            <a:ext cx="301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9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3595689" y="2928939"/>
            <a:ext cx="3016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9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3095625" y="2928939"/>
            <a:ext cx="419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10</a:t>
            </a: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3095625" y="2571750"/>
            <a:ext cx="419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11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3095625" y="3286125"/>
            <a:ext cx="419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11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095625" y="3643314"/>
            <a:ext cx="419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12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3095625" y="2214564"/>
            <a:ext cx="419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12</a:t>
            </a: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3095625" y="1857375"/>
            <a:ext cx="419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13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2595563" y="3643314"/>
            <a:ext cx="419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13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3595688" y="3643314"/>
            <a:ext cx="419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13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3095625" y="1500189"/>
            <a:ext cx="419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14</a:t>
            </a: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2595563" y="4000500"/>
            <a:ext cx="419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14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4024313" y="3643314"/>
            <a:ext cx="419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14</a:t>
            </a: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2595563" y="4429125"/>
            <a:ext cx="419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15</a:t>
            </a: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4524375" y="3643314"/>
            <a:ext cx="419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15</a:t>
            </a: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2595563" y="1500189"/>
            <a:ext cx="419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15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5024438" y="3643314"/>
            <a:ext cx="419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16</a:t>
            </a: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3095625" y="4429125"/>
            <a:ext cx="419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16</a:t>
            </a:r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3595688" y="4429125"/>
            <a:ext cx="419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17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5024438" y="4000500"/>
            <a:ext cx="419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17</a:t>
            </a: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5453063" y="3643314"/>
            <a:ext cx="419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17</a:t>
            </a:r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24313" y="4429125"/>
            <a:ext cx="419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18</a:t>
            </a: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5024438" y="4429125"/>
            <a:ext cx="419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18</a:t>
            </a: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5953125" y="3643314"/>
            <a:ext cx="419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18</a:t>
            </a: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4024313" y="4929189"/>
            <a:ext cx="419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19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4524375" y="4429125"/>
            <a:ext cx="419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19</a:t>
            </a: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5024438" y="4929189"/>
            <a:ext cx="419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19</a:t>
            </a: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5953125" y="4000500"/>
            <a:ext cx="419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19</a:t>
            </a: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5953125" y="3286125"/>
            <a:ext cx="419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19</a:t>
            </a: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4524375" y="4857750"/>
            <a:ext cx="419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20</a:t>
            </a:r>
          </a:p>
        </p:txBody>
      </p: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5953125" y="4429125"/>
            <a:ext cx="419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20</a:t>
            </a:r>
          </a:p>
        </p:txBody>
      </p:sp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5953125" y="2928939"/>
            <a:ext cx="4191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>
                <a:latin typeface="Calibri" pitchFamily="34" charset="0"/>
              </a:rPr>
              <a:t>20</a:t>
            </a: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7453313" y="1143001"/>
            <a:ext cx="3236912" cy="526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ru-RU" sz="1600">
                <a:latin typeface="Calibri" pitchFamily="34" charset="0"/>
              </a:rPr>
              <a:t>Пометить числом 1 и </a:t>
            </a:r>
          </a:p>
          <a:p>
            <a:pPr marL="342900" indent="-342900"/>
            <a:r>
              <a:rPr lang="ru-RU" sz="1600">
                <a:latin typeface="Calibri" pitchFamily="34" charset="0"/>
              </a:rPr>
              <a:t>       поместить входную клетку в</a:t>
            </a:r>
          </a:p>
          <a:p>
            <a:pPr marL="342900" indent="-342900"/>
            <a:r>
              <a:rPr lang="ru-RU" sz="1600">
                <a:latin typeface="Calibri" pitchFamily="34" charset="0"/>
              </a:rPr>
              <a:t>       очередь.</a:t>
            </a:r>
          </a:p>
          <a:p>
            <a:pPr marL="342900" indent="-342900">
              <a:buFontTx/>
              <a:buAutoNum type="arabicPeriod" startAt="2"/>
            </a:pPr>
            <a:r>
              <a:rPr lang="ru-RU" sz="1600">
                <a:latin typeface="Calibri" pitchFamily="34" charset="0"/>
              </a:rPr>
              <a:t>Взять из очереди клетку. </a:t>
            </a:r>
          </a:p>
          <a:p>
            <a:pPr marL="342900" indent="-342900"/>
            <a:r>
              <a:rPr lang="ru-RU" sz="1600">
                <a:latin typeface="Calibri" pitchFamily="34" charset="0"/>
              </a:rPr>
              <a:t>	Если это выходная клетка, то</a:t>
            </a:r>
          </a:p>
          <a:p>
            <a:pPr marL="342900" indent="-342900"/>
            <a:r>
              <a:rPr lang="ru-RU" sz="1600">
                <a:latin typeface="Calibri" pitchFamily="34" charset="0"/>
              </a:rPr>
              <a:t>	перейти на шаг 4, иначе </a:t>
            </a:r>
          </a:p>
          <a:p>
            <a:pPr marL="342900" indent="-342900"/>
            <a:r>
              <a:rPr lang="ru-RU" sz="1600">
                <a:latin typeface="Calibri" pitchFamily="34" charset="0"/>
              </a:rPr>
              <a:t>	пометить все непомеченные </a:t>
            </a:r>
          </a:p>
          <a:p>
            <a:pPr marL="342900" indent="-342900"/>
            <a:r>
              <a:rPr lang="ru-RU" sz="1600">
                <a:latin typeface="Calibri" pitchFamily="34" charset="0"/>
              </a:rPr>
              <a:t>	соседние  клетки числом , </a:t>
            </a:r>
          </a:p>
          <a:p>
            <a:pPr marL="342900" indent="-342900"/>
            <a:r>
              <a:rPr lang="ru-RU" sz="1600">
                <a:latin typeface="Calibri" pitchFamily="34" charset="0"/>
              </a:rPr>
              <a:t>	на 1 большим, чем данная, </a:t>
            </a:r>
          </a:p>
          <a:p>
            <a:pPr marL="342900" indent="-342900"/>
            <a:r>
              <a:rPr lang="ru-RU" sz="1600">
                <a:latin typeface="Calibri" pitchFamily="34" charset="0"/>
              </a:rPr>
              <a:t>	и поместить их в очередь.</a:t>
            </a:r>
          </a:p>
          <a:p>
            <a:pPr marL="342900" indent="-342900">
              <a:buFontTx/>
              <a:buAutoNum type="arabicPeriod" startAt="3"/>
            </a:pPr>
            <a:r>
              <a:rPr lang="ru-RU" sz="1600">
                <a:latin typeface="Calibri" pitchFamily="34" charset="0"/>
              </a:rPr>
              <a:t>Если очередь пуста, то выдать</a:t>
            </a:r>
          </a:p>
          <a:p>
            <a:pPr marL="342900" indent="-342900"/>
            <a:r>
              <a:rPr lang="ru-RU" sz="1600">
                <a:latin typeface="Calibri" pitchFamily="34" charset="0"/>
              </a:rPr>
              <a:t>	«Выхода нет» и выйти, иначе</a:t>
            </a:r>
          </a:p>
          <a:p>
            <a:pPr marL="342900" indent="-342900"/>
            <a:r>
              <a:rPr lang="ru-RU" sz="1600">
                <a:latin typeface="Calibri" pitchFamily="34" charset="0"/>
              </a:rPr>
              <a:t> 	перейти на шаг 2.</a:t>
            </a:r>
          </a:p>
          <a:p>
            <a:pPr marL="342900" indent="-342900">
              <a:buFontTx/>
              <a:buAutoNum type="arabicPeriod" startAt="4"/>
            </a:pPr>
            <a:r>
              <a:rPr lang="ru-RU" sz="1600" b="1">
                <a:latin typeface="Calibri" pitchFamily="34" charset="0"/>
              </a:rPr>
              <a:t>Обратный ход</a:t>
            </a:r>
            <a:r>
              <a:rPr lang="ru-RU" sz="1600">
                <a:latin typeface="Calibri" pitchFamily="34" charset="0"/>
              </a:rPr>
              <a:t>:</a:t>
            </a:r>
          </a:p>
          <a:p>
            <a:pPr marL="342900" indent="-342900"/>
            <a:r>
              <a:rPr lang="ru-RU" sz="1600">
                <a:latin typeface="Calibri" pitchFamily="34" charset="0"/>
              </a:rPr>
              <a:t>	начиная с выходной клетки,</a:t>
            </a:r>
          </a:p>
          <a:p>
            <a:pPr marL="342900" indent="-342900"/>
            <a:r>
              <a:rPr lang="ru-RU" sz="1600">
                <a:latin typeface="Calibri" pitchFamily="34" charset="0"/>
              </a:rPr>
              <a:t>	каждый раз смещаться  на </a:t>
            </a:r>
          </a:p>
          <a:p>
            <a:pPr marL="342900" indent="-342900"/>
            <a:r>
              <a:rPr lang="ru-RU" sz="1600">
                <a:latin typeface="Calibri" pitchFamily="34" charset="0"/>
              </a:rPr>
              <a:t>	клетку, помеченную на 1  </a:t>
            </a:r>
          </a:p>
          <a:p>
            <a:pPr marL="342900" indent="-342900"/>
            <a:r>
              <a:rPr lang="ru-RU" sz="1600">
                <a:latin typeface="Calibri" pitchFamily="34" charset="0"/>
              </a:rPr>
              <a:t>	меньше, чем текущая, пока не </a:t>
            </a:r>
          </a:p>
          <a:p>
            <a:pPr marL="342900" indent="-342900"/>
            <a:r>
              <a:rPr lang="ru-RU" sz="1600">
                <a:latin typeface="Calibri" pitchFamily="34" charset="0"/>
              </a:rPr>
              <a:t>	дойдем до  входной клетки. </a:t>
            </a:r>
          </a:p>
          <a:p>
            <a:pPr marL="342900" indent="-342900"/>
            <a:r>
              <a:rPr lang="ru-RU" sz="1600">
                <a:latin typeface="Calibri" pitchFamily="34" charset="0"/>
              </a:rPr>
              <a:t>	При проходе выделять </a:t>
            </a:r>
          </a:p>
          <a:p>
            <a:pPr marL="342900" indent="-342900"/>
            <a:r>
              <a:rPr lang="ru-RU" sz="1600">
                <a:latin typeface="Calibri" pitchFamily="34" charset="0"/>
              </a:rPr>
              <a:t>	пройденные клетки.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56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62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6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74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80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8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9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9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04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1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1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2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2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3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4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4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5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5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6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7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82940</TotalTime>
  <Words>27836</Words>
  <Application>Microsoft Office PowerPoint</Application>
  <PresentationFormat>Widescreen</PresentationFormat>
  <Paragraphs>4128</Paragraphs>
  <Slides>243</Slides>
  <Notes>185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243</vt:i4>
      </vt:variant>
    </vt:vector>
  </HeadingPairs>
  <TitlesOfParts>
    <vt:vector size="250" baseType="lpstr">
      <vt:lpstr>Arial</vt:lpstr>
      <vt:lpstr>Calibri</vt:lpstr>
      <vt:lpstr>Cambria Math</vt:lpstr>
      <vt:lpstr>Consolas</vt:lpstr>
      <vt:lpstr>Symbol</vt:lpstr>
      <vt:lpstr>Times New Roman</vt:lpstr>
      <vt:lpstr>Office Theme</vt:lpstr>
      <vt:lpstr>Обходы и каркасы графов</vt:lpstr>
      <vt:lpstr>План лекции</vt:lpstr>
      <vt:lpstr>Обход вершин графа</vt:lpstr>
      <vt:lpstr>Обход вершин графа</vt:lpstr>
      <vt:lpstr>Обход вершин графа</vt:lpstr>
      <vt:lpstr>Обход вершин графа</vt:lpstr>
      <vt:lpstr>Обход вершин графа</vt:lpstr>
      <vt:lpstr>Обход вершин графа</vt:lpstr>
      <vt:lpstr>Обход вершин графа</vt:lpstr>
      <vt:lpstr>Обход вершин графа в глубину</vt:lpstr>
      <vt:lpstr>Обход вершин графа в глубину</vt:lpstr>
      <vt:lpstr>Обход вершин графа в глубину</vt:lpstr>
      <vt:lpstr>Обход вершин графа в глубину</vt:lpstr>
      <vt:lpstr>Обход вершин графа в глубину</vt:lpstr>
      <vt:lpstr>Обход вершин графа в глубину</vt:lpstr>
      <vt:lpstr>Обход вершин графа в глубину</vt:lpstr>
      <vt:lpstr>Обход вершин графа в глубину</vt:lpstr>
      <vt:lpstr>Обход вершин графа в глубину</vt:lpstr>
      <vt:lpstr>Обход вершин графа в глубину</vt:lpstr>
      <vt:lpstr>Пример</vt:lpstr>
      <vt:lpstr>Пример</vt:lpstr>
      <vt:lpstr>Пример</vt:lpstr>
      <vt:lpstr>Пример</vt:lpstr>
      <vt:lpstr>Пример</vt:lpstr>
      <vt:lpstr>Пример</vt:lpstr>
      <vt:lpstr>Пример</vt:lpstr>
      <vt:lpstr>Пример</vt:lpstr>
      <vt:lpstr>Пример</vt:lpstr>
      <vt:lpstr>Пример</vt:lpstr>
      <vt:lpstr>Пример</vt:lpstr>
      <vt:lpstr>Пример</vt:lpstr>
      <vt:lpstr>Пример</vt:lpstr>
      <vt:lpstr>Пример</vt:lpstr>
      <vt:lpstr>Подграф предшествования</vt:lpstr>
      <vt:lpstr>Подграф предшествования</vt:lpstr>
      <vt:lpstr>Подграф предшествования</vt:lpstr>
      <vt:lpstr>Подграф предшествования</vt:lpstr>
      <vt:lpstr>Подграф предшествования</vt:lpstr>
      <vt:lpstr>Подграф предшествования</vt:lpstr>
      <vt:lpstr>Классификация дуг графа при обходе в глубину</vt:lpstr>
      <vt:lpstr>Классификация дуг графа при обходе в глубину</vt:lpstr>
      <vt:lpstr>Классификация дуг графа при обходе в глубину</vt:lpstr>
      <vt:lpstr>Классификация дуг графа при обходе в глубину</vt:lpstr>
      <vt:lpstr>Классификация дуг графа при обходе в глубину</vt:lpstr>
      <vt:lpstr>Классификация дуг графа при обходе в глубину</vt:lpstr>
      <vt:lpstr>Число операций при обходе в глубину</vt:lpstr>
      <vt:lpstr>Число операций при обходе в глубину</vt:lpstr>
      <vt:lpstr>Число операций при обходе в глубину</vt:lpstr>
      <vt:lpstr>Число операций при обходе в глубину</vt:lpstr>
      <vt:lpstr>Число операций при обходе в глубину</vt:lpstr>
      <vt:lpstr>Число операций при обходе в глубину</vt:lpstr>
      <vt:lpstr>Число операций при обходе в глубину</vt:lpstr>
      <vt:lpstr>Свойства поиска в глубину</vt:lpstr>
      <vt:lpstr>Свойства поиска в глубину</vt:lpstr>
      <vt:lpstr>Свойства поиска в глубину</vt:lpstr>
      <vt:lpstr>Свойства поиска в глубину</vt:lpstr>
      <vt:lpstr>Свойства поиска в глубину</vt:lpstr>
      <vt:lpstr>Обход вершин графа в ширину</vt:lpstr>
      <vt:lpstr>Обход вершин графа в ширину</vt:lpstr>
      <vt:lpstr>Обход вершин графа в ширину</vt:lpstr>
      <vt:lpstr>Обход вершин графа в ширину</vt:lpstr>
      <vt:lpstr>Обход вершин графа в ширину</vt:lpstr>
      <vt:lpstr>Обход вершин графа в ширину</vt:lpstr>
      <vt:lpstr>Обход вершин графа в ширину</vt:lpstr>
      <vt:lpstr>Обход вершин графа в ширину</vt:lpstr>
      <vt:lpstr>Обход вершин графа в ширину</vt:lpstr>
      <vt:lpstr>Свойства поиска в ширину</vt:lpstr>
      <vt:lpstr>Свойства поиска в ширину</vt:lpstr>
      <vt:lpstr>Свойства поиска в ширину</vt:lpstr>
      <vt:lpstr>Свойства поиска в ширину</vt:lpstr>
      <vt:lpstr>Свойства поиска в ширину</vt:lpstr>
      <vt:lpstr>Компонента связности</vt:lpstr>
      <vt:lpstr>Компонента связности</vt:lpstr>
      <vt:lpstr>Компонента связности</vt:lpstr>
      <vt:lpstr>Компонента связности</vt:lpstr>
      <vt:lpstr>Компонента связности</vt:lpstr>
      <vt:lpstr>Компонента связности</vt:lpstr>
      <vt:lpstr>Компонента связности</vt:lpstr>
      <vt:lpstr>Компонента связности</vt:lpstr>
      <vt:lpstr>Компонента связности</vt:lpstr>
      <vt:lpstr>АТД СНМ: система непересекающихся множеств</vt:lpstr>
      <vt:lpstr>АТД СНМ: система непересекающихся множеств</vt:lpstr>
      <vt:lpstr>АТД СНМ: система непересекающихся множеств</vt:lpstr>
      <vt:lpstr>АТД СНМ: система непересекающихся множеств</vt:lpstr>
      <vt:lpstr>АТД СНМ: система непересекающихся множеств</vt:lpstr>
      <vt:lpstr>АТД СНМ: система непересекающихся множеств</vt:lpstr>
      <vt:lpstr>Построение компонент связности через СНМ</vt:lpstr>
      <vt:lpstr>Реализация СНМ на основе списка и массива</vt:lpstr>
      <vt:lpstr>Реализация СНМ на основе списка и массива</vt:lpstr>
      <vt:lpstr>Реализация СНМ на основе списка и массива</vt:lpstr>
      <vt:lpstr>Реализация СНМ на основе списка и массива</vt:lpstr>
      <vt:lpstr>Реализация СНМ на основе списка и массива</vt:lpstr>
      <vt:lpstr>Реализация СНМ на основе списка и массива</vt:lpstr>
      <vt:lpstr>Реализация СНМ на основе списка и массива</vt:lpstr>
      <vt:lpstr>Реализация СНМ на основе списка и массива</vt:lpstr>
      <vt:lpstr>Реализация СНМ на основе списка и массива</vt:lpstr>
      <vt:lpstr>Реализация СНМ на основе списка и массива</vt:lpstr>
      <vt:lpstr>Реализация СНМ на основе списка и массива</vt:lpstr>
      <vt:lpstr>Реализация СНМ на основе списка и массива</vt:lpstr>
      <vt:lpstr>Реализация СНМ на основе списка и массива</vt:lpstr>
      <vt:lpstr>Реализация СНМ на основе списка и массива</vt:lpstr>
      <vt:lpstr>Реализация СНМ на основе списка и массива</vt:lpstr>
      <vt:lpstr>Реализация СНМ на основе списка и массива</vt:lpstr>
      <vt:lpstr>Реализация СНМ на основе списка и массива</vt:lpstr>
      <vt:lpstr>Реализация СНМ на основе списка и массива</vt:lpstr>
      <vt:lpstr>Реализация СНМ на основе деревьев 1/2</vt:lpstr>
      <vt:lpstr>Реализация СНМ на основе деревьев 1/2</vt:lpstr>
      <vt:lpstr>Реализация СНМ на основе деревьев 1/2</vt:lpstr>
      <vt:lpstr>Реализация СНМ на основе деревьев 1/2</vt:lpstr>
      <vt:lpstr>Реализация СНМ на основе деревьев 1/2</vt:lpstr>
      <vt:lpstr>Реализация СНМ на основе деревьев 1/2</vt:lpstr>
      <vt:lpstr>Реализация СНМ на основе деревьев 1/2</vt:lpstr>
      <vt:lpstr>Реализация СНМ на основе деревьев 1/2</vt:lpstr>
      <vt:lpstr>Реализация СНМ на основе деревьев 1/2</vt:lpstr>
      <vt:lpstr>Реализация СНМ на основе деревьев 1/2</vt:lpstr>
      <vt:lpstr>Реализация СНМ на основе деревьев 1/2</vt:lpstr>
      <vt:lpstr>Реализация СНМ на основе деревьев 1/2</vt:lpstr>
      <vt:lpstr>Реализация СНМ на основе деревьев 1/2</vt:lpstr>
      <vt:lpstr>Реализация СНМ на основе деревьев 1/2</vt:lpstr>
      <vt:lpstr>Реализация СНМ на основе деревьев 1/2</vt:lpstr>
      <vt:lpstr>Реализация СНМ на основе деревьев 1/2</vt:lpstr>
      <vt:lpstr>Реализация СНМ на основе деревьев 1/2</vt:lpstr>
      <vt:lpstr>Реализация СНМ на основе деревьев 2/2</vt:lpstr>
      <vt:lpstr>Реализация СНМ на основе деревьев 2/2</vt:lpstr>
      <vt:lpstr>Реализация СНМ на основе деревьев 2/2</vt:lpstr>
      <vt:lpstr>Реализация СНМ на основе деревьев 2/2</vt:lpstr>
      <vt:lpstr>Реализация СНМ на основе деревьев 2/2</vt:lpstr>
      <vt:lpstr>Реализация СНМ на основе деревьев 2/2</vt:lpstr>
      <vt:lpstr>Реализация СНМ на основе деревьев 2/2</vt:lpstr>
      <vt:lpstr>Реализация СНМ на основе деревьев 2/2</vt:lpstr>
      <vt:lpstr>Реализация СНМ со сжатием путей на языке Си</vt:lpstr>
      <vt:lpstr>Реализация СНМ со сжатием путей на языке Си</vt:lpstr>
      <vt:lpstr>Реализация СНМ со сжатием путей на языке Си</vt:lpstr>
      <vt:lpstr>Реализация СНМ со сжатием путей на языке Си</vt:lpstr>
      <vt:lpstr>Реализация СНМ со сжатием путей на языке Си</vt:lpstr>
      <vt:lpstr>Реализация СНМ со сжатием путей на языке Си</vt:lpstr>
      <vt:lpstr>Минимальный каркас графа</vt:lpstr>
      <vt:lpstr>Минимальный каркас графа</vt:lpstr>
      <vt:lpstr>Минимальный каркас графа</vt:lpstr>
      <vt:lpstr>Минимальный каркас графа</vt:lpstr>
      <vt:lpstr>Минимальный каркас графа</vt:lpstr>
      <vt:lpstr>Минимальный каркас графа</vt:lpstr>
      <vt:lpstr>Алгоритм Крáскала</vt:lpstr>
      <vt:lpstr>Алгоритм Крáскала</vt:lpstr>
      <vt:lpstr>Алгоритм Крáскала</vt:lpstr>
      <vt:lpstr>Алгоритм Крáскала</vt:lpstr>
      <vt:lpstr>Алгоритм Крáскала</vt:lpstr>
      <vt:lpstr>Пример (анимация на 14 шагов)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O(M log(M) + N α-1(N))</vt:lpstr>
      <vt:lpstr>Версия O(M log(M) + N α-1(N))</vt:lpstr>
      <vt:lpstr>Версия O(M log(M) + N α-1(N))</vt:lpstr>
      <vt:lpstr>Версия O(M log(M) + N α-1(N))</vt:lpstr>
      <vt:lpstr>Версия O(M log(M) + N α-1(N))</vt:lpstr>
      <vt:lpstr>Версия O(M log(M) + N α-1(N))</vt:lpstr>
      <vt:lpstr>Версия O(M log(M) + N α-1(N))</vt:lpstr>
      <vt:lpstr>Версия O(M log(M) + N α-1(N))</vt:lpstr>
      <vt:lpstr>Версия O(M log(M) + N α-1(N))</vt:lpstr>
      <vt:lpstr>Версия O(M log(M) + N α-1(N))</vt:lpstr>
      <vt:lpstr>Версия O(M log(M) + N α-1(N))</vt:lpstr>
      <vt:lpstr>Число операций в алгоритме Краскала</vt:lpstr>
      <vt:lpstr>Число операций в алгоритме Краскала</vt:lpstr>
      <vt:lpstr>Число операций в алгоритме Краскала</vt:lpstr>
      <vt:lpstr>Число операций в алгоритме Краскала</vt:lpstr>
      <vt:lpstr>Число операций в алгоритме Краскала</vt:lpstr>
      <vt:lpstr>Число операций в алгоритме Краскала</vt:lpstr>
      <vt:lpstr>Алгоритм Прима-Краскала</vt:lpstr>
      <vt:lpstr>Алгоритм Прима-Краскала</vt:lpstr>
      <vt:lpstr>Алгоритм Прима-Краскала</vt:lpstr>
      <vt:lpstr>Алгоритм Прима-Краскала</vt:lpstr>
      <vt:lpstr>Алгоритм Прима-Краскала</vt:lpstr>
      <vt:lpstr>Алгоритм Прима-Краскала</vt:lpstr>
      <vt:lpstr>Пример (анимация на 20 шагов)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O(N3)</vt:lpstr>
      <vt:lpstr>Версия O(N2)</vt:lpstr>
      <vt:lpstr>Версия O(N2)</vt:lpstr>
      <vt:lpstr>Версия O(N2)</vt:lpstr>
      <vt:lpstr>Версия O(N2)</vt:lpstr>
      <vt:lpstr>Версия O(N2)</vt:lpstr>
      <vt:lpstr>Версия O(N2)</vt:lpstr>
      <vt:lpstr>Версия O(N2)</vt:lpstr>
      <vt:lpstr>Версия O(N2)</vt:lpstr>
      <vt:lpstr>Версия O(N2)</vt:lpstr>
      <vt:lpstr>Версия O(N2)</vt:lpstr>
      <vt:lpstr>Версия O(N2)</vt:lpstr>
      <vt:lpstr>Версия O(N2)</vt:lpstr>
      <vt:lpstr>Версия O(N2)</vt:lpstr>
      <vt:lpstr>Версия O(N2)</vt:lpstr>
      <vt:lpstr>Доказательство корректности алгоритма Прима</vt:lpstr>
      <vt:lpstr>Доказательство корректности алгоритма Прима</vt:lpstr>
      <vt:lpstr>Доказательство корректности алгоритма Прима</vt:lpstr>
      <vt:lpstr>Доказательство корректности алгоритма Прима</vt:lpstr>
      <vt:lpstr>Доказательство корректности алгоритма Прима</vt:lpstr>
      <vt:lpstr>Доказательство корректности алгоритма Прима</vt:lpstr>
      <vt:lpstr>Доказательство корректности алгоритма Прима</vt:lpstr>
      <vt:lpstr>Доказательство корректности алгоритма Прима</vt:lpstr>
      <vt:lpstr>Сравнение алгоритмов Краскала и Прима</vt:lpstr>
      <vt:lpstr>Сравнение алгоритмов Краскала и Прима</vt:lpstr>
      <vt:lpstr>Сравнение алгоритмов Краскала и Прима</vt:lpstr>
      <vt:lpstr>Сравнение алгоритмов Краскала и Прима</vt:lpstr>
      <vt:lpstr>Сравнение алгоритмов Краскала и Прима</vt:lpstr>
      <vt:lpstr>Сравнение алгоритмов Краскала и Прима</vt:lpstr>
      <vt:lpstr>Сравнение алгоритмов Краскала и Прима</vt:lpstr>
      <vt:lpstr>Сравнение алгоритмов Краскала и Прима</vt:lpstr>
      <vt:lpstr>Сравнение алгоритмов Краскала и Прима</vt:lpstr>
      <vt:lpstr>Сравнение алгоритмов Краскала и Прима</vt:lpstr>
      <vt:lpstr>Заключение</vt:lpstr>
      <vt:lpstr>PowerPoint Presentation</vt:lpstr>
      <vt:lpstr>Пример</vt:lpstr>
      <vt:lpstr>Использование стека для обхода графа</vt:lpstr>
      <vt:lpstr>PowerPoint Presentation</vt:lpstr>
      <vt:lpstr>Нахождение кратчайшего пути в лабиринте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Линейные списки: стеки, очереди, деки</dc:title>
  <dc:creator>Petrov, Evgueni S</dc:creator>
  <cp:keywords>CTPClassification=CTP_PUBLIC:VisualMarkings=</cp:keywords>
  <cp:lastModifiedBy>Evgenii Petrov</cp:lastModifiedBy>
  <cp:revision>761</cp:revision>
  <dcterms:created xsi:type="dcterms:W3CDTF">2009-09-24T12:02:26Z</dcterms:created>
  <dcterms:modified xsi:type="dcterms:W3CDTF">2026-03-16T15:43:18Z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73036b2e-2e0a-4211-bebc-019fc008aafc</vt:lpwstr>
  </property>
  <property fmtid="{D5CDD505-2E9C-101B-9397-08002B2CF9AE}" pid="3" name="CTP_TimeStamp">
    <vt:lpwstr>2016-04-15 09:00:54Z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CTP_PUBLIC</vt:lpwstr>
  </property>
</Properties>
</file>