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24"/>
  </p:notesMasterIdLst>
  <p:sldIdLst>
    <p:sldId id="256" r:id="rId2"/>
    <p:sldId id="257" r:id="rId3"/>
    <p:sldId id="391" r:id="rId4"/>
    <p:sldId id="408" r:id="rId5"/>
    <p:sldId id="409" r:id="rId6"/>
    <p:sldId id="410" r:id="rId7"/>
    <p:sldId id="432" r:id="rId8"/>
    <p:sldId id="433" r:id="rId9"/>
    <p:sldId id="434" r:id="rId10"/>
    <p:sldId id="435" r:id="rId11"/>
    <p:sldId id="412" r:id="rId12"/>
    <p:sldId id="481" r:id="rId13"/>
    <p:sldId id="482" r:id="rId14"/>
    <p:sldId id="483" r:id="rId15"/>
    <p:sldId id="484" r:id="rId16"/>
    <p:sldId id="485" r:id="rId17"/>
    <p:sldId id="487" r:id="rId18"/>
    <p:sldId id="420" r:id="rId19"/>
    <p:sldId id="486" r:id="rId20"/>
    <p:sldId id="488" r:id="rId21"/>
    <p:sldId id="489" r:id="rId22"/>
    <p:sldId id="494" r:id="rId23"/>
    <p:sldId id="495" r:id="rId24"/>
    <p:sldId id="496" r:id="rId25"/>
    <p:sldId id="497" r:id="rId26"/>
    <p:sldId id="498" r:id="rId27"/>
    <p:sldId id="499" r:id="rId28"/>
    <p:sldId id="340" r:id="rId29"/>
    <p:sldId id="341" r:id="rId30"/>
    <p:sldId id="342" r:id="rId31"/>
    <p:sldId id="375" r:id="rId32"/>
    <p:sldId id="431" r:id="rId33"/>
    <p:sldId id="339" r:id="rId34"/>
    <p:sldId id="344" r:id="rId35"/>
    <p:sldId id="451" r:id="rId36"/>
    <p:sldId id="452" r:id="rId37"/>
    <p:sldId id="453" r:id="rId38"/>
    <p:sldId id="454" r:id="rId39"/>
    <p:sldId id="455" r:id="rId40"/>
    <p:sldId id="355" r:id="rId41"/>
    <p:sldId id="456" r:id="rId42"/>
    <p:sldId id="457" r:id="rId43"/>
    <p:sldId id="458" r:id="rId44"/>
    <p:sldId id="459" r:id="rId45"/>
    <p:sldId id="460" r:id="rId46"/>
    <p:sldId id="461" r:id="rId47"/>
    <p:sldId id="357" r:id="rId48"/>
    <p:sldId id="462" r:id="rId49"/>
    <p:sldId id="463" r:id="rId50"/>
    <p:sldId id="464" r:id="rId51"/>
    <p:sldId id="465" r:id="rId52"/>
    <p:sldId id="359" r:id="rId53"/>
    <p:sldId id="466" r:id="rId54"/>
    <p:sldId id="467" r:id="rId55"/>
    <p:sldId id="468" r:id="rId56"/>
    <p:sldId id="469" r:id="rId57"/>
    <p:sldId id="358" r:id="rId58"/>
    <p:sldId id="470" r:id="rId59"/>
    <p:sldId id="471" r:id="rId60"/>
    <p:sldId id="472" r:id="rId61"/>
    <p:sldId id="473" r:id="rId62"/>
    <p:sldId id="436" r:id="rId63"/>
    <p:sldId id="474" r:id="rId64"/>
    <p:sldId id="475" r:id="rId65"/>
    <p:sldId id="476" r:id="rId66"/>
    <p:sldId id="477" r:id="rId67"/>
    <p:sldId id="354" r:id="rId68"/>
    <p:sldId id="437" r:id="rId69"/>
    <p:sldId id="438" r:id="rId70"/>
    <p:sldId id="439" r:id="rId71"/>
    <p:sldId id="440" r:id="rId72"/>
    <p:sldId id="353" r:id="rId73"/>
    <p:sldId id="441" r:id="rId74"/>
    <p:sldId id="442" r:id="rId75"/>
    <p:sldId id="443" r:id="rId76"/>
    <p:sldId id="444" r:id="rId77"/>
    <p:sldId id="445" r:id="rId78"/>
    <p:sldId id="446" r:id="rId79"/>
    <p:sldId id="447" r:id="rId80"/>
    <p:sldId id="343" r:id="rId81"/>
    <p:sldId id="352" r:id="rId82"/>
    <p:sldId id="448" r:id="rId83"/>
    <p:sldId id="449" r:id="rId84"/>
    <p:sldId id="450" r:id="rId85"/>
    <p:sldId id="479" r:id="rId86"/>
    <p:sldId id="377" r:id="rId87"/>
    <p:sldId id="392" r:id="rId88"/>
    <p:sldId id="376" r:id="rId89"/>
    <p:sldId id="378" r:id="rId90"/>
    <p:sldId id="379" r:id="rId91"/>
    <p:sldId id="381" r:id="rId92"/>
    <p:sldId id="380" r:id="rId93"/>
    <p:sldId id="382" r:id="rId94"/>
    <p:sldId id="383" r:id="rId95"/>
    <p:sldId id="384" r:id="rId96"/>
    <p:sldId id="385" r:id="rId97"/>
    <p:sldId id="386" r:id="rId98"/>
    <p:sldId id="387" r:id="rId99"/>
    <p:sldId id="388" r:id="rId100"/>
    <p:sldId id="389" r:id="rId101"/>
    <p:sldId id="390" r:id="rId102"/>
    <p:sldId id="393" r:id="rId103"/>
    <p:sldId id="400" r:id="rId104"/>
    <p:sldId id="401" r:id="rId105"/>
    <p:sldId id="402" r:id="rId106"/>
    <p:sldId id="403" r:id="rId107"/>
    <p:sldId id="404" r:id="rId108"/>
    <p:sldId id="405" r:id="rId109"/>
    <p:sldId id="406" r:id="rId110"/>
    <p:sldId id="407" r:id="rId111"/>
    <p:sldId id="374" r:id="rId112"/>
    <p:sldId id="421" r:id="rId113"/>
    <p:sldId id="422" r:id="rId114"/>
    <p:sldId id="423" r:id="rId115"/>
    <p:sldId id="424" r:id="rId116"/>
    <p:sldId id="350" r:id="rId117"/>
    <p:sldId id="425" r:id="rId118"/>
    <p:sldId id="426" r:id="rId119"/>
    <p:sldId id="427" r:id="rId120"/>
    <p:sldId id="428" r:id="rId121"/>
    <p:sldId id="429" r:id="rId122"/>
    <p:sldId id="430" r:id="rId1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1" y="3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389364-41B5-4343-9AE4-547B2BBB7679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C6709-6BC4-4406-A8FB-37D4D1120A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0955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C6709-6BC4-4406-A8FB-37D4D1120AA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17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CBB53-0814-42BF-9B93-4FC15E88B468}" type="datetime1">
              <a:rPr lang="ru-RU" smtClean="0"/>
              <a:t>17.11.2025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7922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79380-1CDA-4480-84FA-5AC15036C02B}" type="datetime1">
              <a:rPr lang="ru-RU" smtClean="0"/>
              <a:t>17.11.2025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644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39CA-79F1-4723-9E0B-AC5A367C9E54}" type="datetime1">
              <a:rPr lang="ru-RU" smtClean="0"/>
              <a:t>17.11.2025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9820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1CE64-84D5-4DF1-9C06-FEA53BC747AD}" type="datetime1">
              <a:rPr lang="ru-RU" smtClean="0"/>
              <a:t>17.11.2025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451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E4E9-E782-4BE4-B47D-4D373834D24E}" type="datetime1">
              <a:rPr lang="ru-RU" smtClean="0"/>
              <a:t>17.11.2025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5516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6D067-811C-4009-98CC-3D4CF30F5548}" type="datetime1">
              <a:rPr lang="ru-RU" smtClean="0"/>
              <a:t>17.11.2025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118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C801D-8E5F-4CB5-8F92-766231BF944F}" type="datetime1">
              <a:rPr lang="ru-RU" smtClean="0"/>
              <a:t>17.11.2025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4541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178F7-9EA6-4ABC-8EC5-DE073D6BFD42}" type="datetime1">
              <a:rPr lang="ru-RU" smtClean="0"/>
              <a:t>17.11.2025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2197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A330-6A84-473F-9F28-9B91D0A7AE78}" type="datetime1">
              <a:rPr lang="ru-RU" smtClean="0"/>
              <a:t>17.11.2025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3603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7A073-A9EB-475A-BD0B-509EDD6FDFF4}" type="datetime1">
              <a:rPr lang="ru-RU" smtClean="0"/>
              <a:t>17.11.2025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6857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50B62-3F14-4981-87D7-BBE161508939}" type="datetime1">
              <a:rPr lang="ru-RU" smtClean="0"/>
              <a:t>17.11.2025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4170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762D4-F27F-4100-B5DA-E0D301E30DF7}" type="datetime1">
              <a:rPr lang="ru-RU" smtClean="0"/>
              <a:t>17.11.2025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E2822-3F92-4355-B47E-F2E8C9595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3019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Выражения </a:t>
            </a:r>
            <a:r>
              <a:rPr lang="ru-RU"/>
              <a:t>языка Си</a:t>
            </a:r>
            <a:endParaRPr lang="ru-R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Лекция 5</a:t>
            </a:r>
          </a:p>
        </p:txBody>
      </p:sp>
    </p:spTree>
    <p:extLst>
      <p:ext uri="{BB962C8B-B14F-4D97-AF65-F5344CB8AC3E}">
        <p14:creationId xmlns:p14="http://schemas.microsoft.com/office/powerpoint/2010/main" val="3651675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лекции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Из чего и как строятся выражения?</a:t>
            </a:r>
          </a:p>
          <a:p>
            <a:pPr lvl="1"/>
            <a:r>
              <a:rPr lang="ru-RU" dirty="0"/>
              <a:t>Характеристики операторов</a:t>
            </a:r>
          </a:p>
          <a:p>
            <a:pPr lvl="1"/>
            <a:r>
              <a:rPr lang="ru-RU" dirty="0"/>
              <a:t>Неявная расстановка скобок</a:t>
            </a:r>
          </a:p>
          <a:p>
            <a:r>
              <a:rPr lang="ru-RU" dirty="0"/>
              <a:t>Что такое побочный эффект</a:t>
            </a:r>
          </a:p>
          <a:p>
            <a:r>
              <a:rPr lang="ru-RU" dirty="0"/>
              <a:t>Точки следования</a:t>
            </a:r>
          </a:p>
          <a:p>
            <a:r>
              <a:rPr lang="en-US" dirty="0"/>
              <a:t>L-value</a:t>
            </a:r>
            <a:endParaRPr lang="ru-RU" dirty="0"/>
          </a:p>
          <a:p>
            <a:r>
              <a:rPr lang="ru-RU" dirty="0"/>
              <a:t>Особенности исполнения операторов языка Си</a:t>
            </a:r>
          </a:p>
          <a:p>
            <a:pPr lvl="1"/>
            <a:r>
              <a:rPr lang="ru-RU" dirty="0"/>
              <a:t>Требования к операндам, значение и тип результата, побочные эффекты, </a:t>
            </a:r>
            <a:r>
              <a:rPr lang="en-US" dirty="0"/>
              <a:t>well-defined/Implementation-defined/unspecified/undefined behavior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0454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Выражения языка Си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Выражение – это последовательность операторов, операндов и скобок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Выражение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Описывает вычисление значения, либо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Именует значение или функцию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Выражение может иметь побочные эффекты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Например, записывает значения в память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2119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Выражения языка Си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Выражение – это последовательность операторов, операндов и скобок</a:t>
            </a:r>
          </a:p>
          <a:p>
            <a:endParaRPr lang="ru-RU" dirty="0"/>
          </a:p>
          <a:p>
            <a:r>
              <a:rPr lang="ru-RU" dirty="0">
                <a:solidFill>
                  <a:schemeClr val="bg1"/>
                </a:solidFill>
              </a:rPr>
              <a:t>Выражение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Описывает вычисление значения, либо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Именует значение или функцию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Выражение может иметь побочные эффекты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Например, записывать значения в память или в файл на диске и т.п.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7947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Выражения языка Си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Выражение – это последовательность операторов, операндов и скобок</a:t>
            </a:r>
          </a:p>
          <a:p>
            <a:endParaRPr lang="ru-RU" dirty="0"/>
          </a:p>
          <a:p>
            <a:r>
              <a:rPr lang="ru-RU" dirty="0"/>
              <a:t>Выражение</a:t>
            </a:r>
          </a:p>
          <a:p>
            <a:pPr lvl="1"/>
            <a:r>
              <a:rPr lang="ru-RU" dirty="0"/>
              <a:t>Описывает вычисление значения, либо</a:t>
            </a:r>
          </a:p>
          <a:p>
            <a:pPr lvl="1"/>
            <a:r>
              <a:rPr lang="ru-RU" dirty="0"/>
              <a:t>Именует значение или функцию</a:t>
            </a:r>
          </a:p>
          <a:p>
            <a:endParaRPr lang="ru-RU" dirty="0"/>
          </a:p>
          <a:p>
            <a:r>
              <a:rPr lang="ru-RU" dirty="0">
                <a:solidFill>
                  <a:schemeClr val="bg1"/>
                </a:solidFill>
              </a:rPr>
              <a:t>Выражение может иметь побочные эффекты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Например, записывать значения в память или в файл на диске и т.п.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5176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Выражения языка Си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Выражение – это последовательность операторов, операндов и скобок</a:t>
            </a:r>
          </a:p>
          <a:p>
            <a:endParaRPr lang="ru-RU" dirty="0"/>
          </a:p>
          <a:p>
            <a:r>
              <a:rPr lang="ru-RU" dirty="0"/>
              <a:t>Выражение</a:t>
            </a:r>
          </a:p>
          <a:p>
            <a:pPr lvl="1"/>
            <a:r>
              <a:rPr lang="ru-RU" dirty="0"/>
              <a:t>Описывает вычисление значения, либо</a:t>
            </a:r>
          </a:p>
          <a:p>
            <a:pPr lvl="1"/>
            <a:r>
              <a:rPr lang="ru-RU" dirty="0"/>
              <a:t>Именует значение или функцию</a:t>
            </a:r>
          </a:p>
          <a:p>
            <a:endParaRPr lang="ru-RU" dirty="0"/>
          </a:p>
          <a:p>
            <a:r>
              <a:rPr lang="ru-RU" dirty="0"/>
              <a:t>Выражение может иметь побочные эффекты</a:t>
            </a:r>
          </a:p>
          <a:p>
            <a:pPr lvl="1"/>
            <a:r>
              <a:rPr lang="ru-RU" dirty="0"/>
              <a:t>Например, записывать значения в память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5123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операндов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Константы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Идентификаторы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Любые выражения, заключенные в скобки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4587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операндов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Константы</a:t>
            </a:r>
          </a:p>
          <a:p>
            <a:endParaRPr lang="ru-RU" dirty="0"/>
          </a:p>
          <a:p>
            <a:r>
              <a:rPr lang="ru-RU" dirty="0">
                <a:solidFill>
                  <a:schemeClr val="bg1"/>
                </a:solidFill>
              </a:rPr>
              <a:t>Идентификаторы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Любые выражения, заключенные в скобки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5570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операндов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Константы</a:t>
            </a:r>
          </a:p>
          <a:p>
            <a:endParaRPr lang="ru-RU" dirty="0"/>
          </a:p>
          <a:p>
            <a:r>
              <a:rPr lang="ru-RU" dirty="0"/>
              <a:t>Идентификаторы</a:t>
            </a:r>
          </a:p>
          <a:p>
            <a:endParaRPr lang="ru-RU" dirty="0"/>
          </a:p>
          <a:p>
            <a:r>
              <a:rPr lang="ru-RU" dirty="0">
                <a:solidFill>
                  <a:schemeClr val="bg1"/>
                </a:solidFill>
              </a:rPr>
              <a:t>Любые выражения, заключенные в скобки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3571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операндов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Константы</a:t>
            </a:r>
          </a:p>
          <a:p>
            <a:endParaRPr lang="ru-RU" dirty="0"/>
          </a:p>
          <a:p>
            <a:r>
              <a:rPr lang="ru-RU" dirty="0"/>
              <a:t>Идентификаторы</a:t>
            </a:r>
          </a:p>
          <a:p>
            <a:endParaRPr lang="ru-RU" dirty="0"/>
          </a:p>
          <a:p>
            <a:r>
              <a:rPr lang="ru-RU" dirty="0"/>
              <a:t>Любые выражения, заключенные в скобки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857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Характеристики операторов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  <a:p>
            <a:pPr lvl="1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11</a:t>
            </a:fld>
            <a:endParaRPr lang="ru-RU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260239"/>
              </p:ext>
            </p:extLst>
          </p:nvPr>
        </p:nvGraphicFramePr>
        <p:xfrm>
          <a:off x="762000" y="2354422"/>
          <a:ext cx="10972800" cy="29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7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6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4400" dirty="0">
                          <a:solidFill>
                            <a:schemeClr val="bg1"/>
                          </a:solidFill>
                        </a:rPr>
                        <a:t>Число операндов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400" dirty="0">
                          <a:solidFill>
                            <a:schemeClr val="bg1"/>
                          </a:solidFill>
                        </a:rPr>
                        <a:t>Приоритет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400" dirty="0">
                          <a:solidFill>
                            <a:schemeClr val="bg1"/>
                          </a:solidFill>
                        </a:rPr>
                        <a:t>Ассоциативность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44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sz="4400" dirty="0">
                          <a:solidFill>
                            <a:schemeClr val="bg1"/>
                          </a:solidFill>
                        </a:rPr>
                        <a:t>натуральное число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400" dirty="0">
                          <a:solidFill>
                            <a:schemeClr val="bg1"/>
                          </a:solidFill>
                        </a:rPr>
                        <a:t>нет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4400" dirty="0">
                          <a:solidFill>
                            <a:schemeClr val="bg1"/>
                          </a:solidFill>
                        </a:rPr>
                        <a:t>2 или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400" dirty="0">
                          <a:solidFill>
                            <a:schemeClr val="bg1"/>
                          </a:solidFill>
                        </a:rPr>
                        <a:t>левая или правая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738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A0858-31D3-74D8-6A01-9A48C3114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Характеристики операторов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136BE-FA36-8F16-64C8-551FB70CC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Используются для неявной расстановки скобок в бесскобочных выражениях с двумя и более операторами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4E64F-1023-07A0-961D-BDDCFB5E4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9864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A0858-31D3-74D8-6A01-9A48C3114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Характеристики операторов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136BE-FA36-8F16-64C8-551FB70CC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Используются для неявной расстановки скобок в бесскобочных выражениях с двумя и более операторами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4E64F-1023-07A0-961D-BDDCFB5E4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13</a:t>
            </a:fld>
            <a:endParaRPr lang="ru-RU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EB73919-3EC1-E191-FE5C-466010D19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692088"/>
              </p:ext>
            </p:extLst>
          </p:nvPr>
        </p:nvGraphicFramePr>
        <p:xfrm>
          <a:off x="609600" y="2712404"/>
          <a:ext cx="10972800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7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6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4000" dirty="0"/>
                        <a:t>Число операндов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/>
                        <a:t>Приоритет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/>
                        <a:t>Ассоциативность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ru-RU" sz="40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ru-RU" sz="2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ru-RU" sz="2400" dirty="0">
                          <a:solidFill>
                            <a:schemeClr val="bg1"/>
                          </a:solidFill>
                        </a:rPr>
                        <a:t>префиксный)</a:t>
                      </a:r>
                      <a:endParaRPr lang="ru-RU" sz="4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solidFill>
                            <a:schemeClr val="bg1"/>
                          </a:solidFill>
                        </a:rPr>
                        <a:t>натуральное число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solidFill>
                            <a:schemeClr val="bg1"/>
                          </a:solidFill>
                        </a:rPr>
                        <a:t>нет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066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4000" dirty="0">
                          <a:solidFill>
                            <a:schemeClr val="bg1"/>
                          </a:solidFill>
                        </a:rPr>
                        <a:t>1 </a:t>
                      </a:r>
                      <a:r>
                        <a:rPr lang="ru-RU" sz="2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ru-RU" sz="2400" dirty="0">
                          <a:solidFill>
                            <a:schemeClr val="bg1"/>
                          </a:solidFill>
                        </a:rPr>
                        <a:t>постфиксный)</a:t>
                      </a:r>
                      <a:endParaRPr lang="ru-RU" sz="6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lang="ru-RU" sz="4400" dirty="0"/>
                        <a:t>натуральное число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lang="ru-RU" sz="4400" dirty="0"/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solidFill>
                            <a:schemeClr val="bg1"/>
                          </a:solidFill>
                        </a:rPr>
                        <a:t>2 или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solidFill>
                            <a:schemeClr val="bg1"/>
                          </a:solidFill>
                        </a:rPr>
                        <a:t>левая или правая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1884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A0858-31D3-74D8-6A01-9A48C3114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Характеристики операторов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136BE-FA36-8F16-64C8-551FB70CC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Используются для неявной расстановки скобок в бесскобочных выражениях с двумя и более операторами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4E64F-1023-07A0-961D-BDDCFB5E4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14</a:t>
            </a:fld>
            <a:endParaRPr lang="ru-RU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EB73919-3EC1-E191-FE5C-466010D19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412351"/>
              </p:ext>
            </p:extLst>
          </p:nvPr>
        </p:nvGraphicFramePr>
        <p:xfrm>
          <a:off x="609600" y="2712404"/>
          <a:ext cx="10972800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7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6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4000" dirty="0"/>
                        <a:t>Число операндов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/>
                        <a:t>Приоритет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/>
                        <a:t>Ассоциативность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1</a:t>
                      </a:r>
                      <a:r>
                        <a:rPr lang="ru-RU" sz="4000" dirty="0"/>
                        <a:t> </a:t>
                      </a:r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ru-RU" sz="2400" dirty="0"/>
                        <a:t>префиксный)</a:t>
                      </a:r>
                      <a:endParaRPr lang="ru-RU" sz="40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solidFill>
                            <a:schemeClr val="bg1"/>
                          </a:solidFill>
                        </a:rPr>
                        <a:t>натуральное число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solidFill>
                            <a:schemeClr val="bg1"/>
                          </a:solidFill>
                        </a:rPr>
                        <a:t>нет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066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4000" dirty="0"/>
                        <a:t>1 </a:t>
                      </a:r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ru-RU" sz="2400" dirty="0"/>
                        <a:t>постфиксный)</a:t>
                      </a:r>
                      <a:endParaRPr lang="ru-RU" sz="6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lang="ru-RU" sz="4400" dirty="0"/>
                        <a:t>натуральное число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lang="ru-RU" sz="4400" dirty="0"/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4000" dirty="0"/>
                        <a:t>2 или 3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solidFill>
                            <a:schemeClr val="bg1"/>
                          </a:solidFill>
                        </a:rPr>
                        <a:t>левая или правая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8802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A0858-31D3-74D8-6A01-9A48C3114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Характеристики операторов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136BE-FA36-8F16-64C8-551FB70CC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Используются для неявной расстановки скобок в бесскобочных выражениях с двумя и более операторами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4E64F-1023-07A0-961D-BDDCFB5E4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15</a:t>
            </a:fld>
            <a:endParaRPr lang="ru-RU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EB73919-3EC1-E191-FE5C-466010D19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967746"/>
              </p:ext>
            </p:extLst>
          </p:nvPr>
        </p:nvGraphicFramePr>
        <p:xfrm>
          <a:off x="609600" y="2712404"/>
          <a:ext cx="10972800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7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6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4000" dirty="0"/>
                        <a:t>Число операндов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/>
                        <a:t>Приоритет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/>
                        <a:t>Ассоциативность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1</a:t>
                      </a:r>
                      <a:r>
                        <a:rPr lang="ru-RU" sz="4000" dirty="0"/>
                        <a:t> </a:t>
                      </a:r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ru-RU" sz="2400" dirty="0"/>
                        <a:t>префиксный)</a:t>
                      </a:r>
                      <a:endParaRPr lang="ru-RU" sz="40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ru-RU" sz="4000" dirty="0"/>
                        <a:t>натуральное число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solidFill>
                            <a:schemeClr val="bg1"/>
                          </a:solidFill>
                        </a:rPr>
                        <a:t>нет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066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4000" dirty="0"/>
                        <a:t>1 </a:t>
                      </a:r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ru-RU" sz="2400" dirty="0"/>
                        <a:t>постфиксный)</a:t>
                      </a:r>
                      <a:endParaRPr lang="ru-RU" sz="6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lang="ru-RU" sz="4400" dirty="0"/>
                        <a:t>натуральное число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lang="ru-RU" sz="4400" dirty="0"/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4000" dirty="0"/>
                        <a:t>2 или 3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solidFill>
                            <a:schemeClr val="bg1"/>
                          </a:solidFill>
                        </a:rPr>
                        <a:t>левая или правая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28731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A0858-31D3-74D8-6A01-9A48C3114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Характеристики операторов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136BE-FA36-8F16-64C8-551FB70CC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Используются для неявной расстановки скобок в бесскобочных выражениях с двумя и более операторами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4E64F-1023-07A0-961D-BDDCFB5E4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16</a:t>
            </a:fld>
            <a:endParaRPr lang="ru-RU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EB73919-3EC1-E191-FE5C-466010D19710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2712404"/>
          <a:ext cx="10972800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7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6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4000" dirty="0"/>
                        <a:t>Число операндов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/>
                        <a:t>Приоритет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/>
                        <a:t>Ассоциативность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1</a:t>
                      </a:r>
                      <a:r>
                        <a:rPr lang="ru-RU" sz="4000" dirty="0"/>
                        <a:t> </a:t>
                      </a:r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ru-RU" sz="2400" dirty="0"/>
                        <a:t>префиксный)</a:t>
                      </a:r>
                      <a:endParaRPr lang="ru-RU" sz="40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ru-RU" sz="4000" dirty="0"/>
                        <a:t>натуральное число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sz="4000" dirty="0"/>
                        <a:t>нет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3066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4000" dirty="0"/>
                        <a:t>1 </a:t>
                      </a:r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ru-RU" sz="2400" dirty="0"/>
                        <a:t>постфиксный)</a:t>
                      </a:r>
                      <a:endParaRPr lang="ru-RU" sz="6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lang="ru-RU" sz="4400" dirty="0"/>
                        <a:t>натуральное число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lang="ru-RU" sz="4400" dirty="0"/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4000" dirty="0"/>
                        <a:t>2 или 3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/>
                        <a:t>левая или правая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512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Неявная расстановка скобок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71500" indent="-514350"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</a:rPr>
              <a:t>Вокруг подвыражений, содержащих только унарные операторы, идентификаторы и константы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Если есть и префиксные и постфиксные операторы, то порядке убывания приоритетов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pPr marL="571500" indent="-514350">
              <a:buFont typeface="+mj-lt"/>
              <a:buAutoNum type="arabicPeriod" startAt="2"/>
            </a:pPr>
            <a:r>
              <a:rPr lang="ru-RU" dirty="0">
                <a:solidFill>
                  <a:schemeClr val="bg1"/>
                </a:solidFill>
              </a:rPr>
              <a:t>По убыванию приоритета П -- вокруг подвыражений, содержащих только 2- и 3-местные операторы приоритета П, идентификаторы, константы и подвыражения в скобках, получившиеся на предыдущих шагах расстановки скобок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Если подвыражение содержит несколько операторов приоритета П, то в соответствии с ассоциативностью операторов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8270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Неявная расстановка скобок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71500" indent="-514350">
              <a:buFont typeface="+mj-lt"/>
              <a:buAutoNum type="arabicPeriod"/>
            </a:pPr>
            <a:r>
              <a:rPr lang="ru-RU" dirty="0"/>
              <a:t>Вокруг подвыражений, содержащих только унарные операторы, идентификаторы и константы</a:t>
            </a:r>
          </a:p>
          <a:p>
            <a:pPr lvl="1"/>
            <a:r>
              <a:rPr lang="ru-RU" dirty="0"/>
              <a:t>Постфиксные операторы связываются с операндами раньше префиксных операторов</a:t>
            </a:r>
          </a:p>
          <a:p>
            <a:endParaRPr lang="ru-RU" dirty="0"/>
          </a:p>
          <a:p>
            <a:pPr marL="571500" indent="-514350">
              <a:buFont typeface="+mj-lt"/>
              <a:buAutoNum type="arabicPeriod" startAt="2"/>
            </a:pPr>
            <a:r>
              <a:rPr lang="ru-RU" dirty="0">
                <a:solidFill>
                  <a:schemeClr val="bg1"/>
                </a:solidFill>
              </a:rPr>
              <a:t>По убыванию приоритета П -- вокруг подвыражений, содержащих только 2- и 3-местные операторы приоритета П, идентификаторы, константы и подвыражения в скобках, получившиеся на предыдущих шагах расстановки скобок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Если подвыражение содержит несколько операторов приоритета П, то в соответствии с ассоциативностью операторов</a:t>
            </a:r>
          </a:p>
          <a:p>
            <a:pPr lvl="1"/>
            <a:endParaRPr lang="ru-RU" dirty="0"/>
          </a:p>
          <a:p>
            <a:pPr lvl="1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84598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Неявная расстановка скобок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71500" indent="-514350">
              <a:buFont typeface="+mj-lt"/>
              <a:buAutoNum type="arabicPeriod"/>
            </a:pPr>
            <a:r>
              <a:rPr lang="ru-RU" dirty="0"/>
              <a:t>Вокруг подвыражений, содержащих только унарные операторы, идентификаторы и константы</a:t>
            </a:r>
          </a:p>
          <a:p>
            <a:pPr lvl="1"/>
            <a:r>
              <a:rPr lang="ru-RU" dirty="0"/>
              <a:t>Постфиксные операторы связываются с операндами раньше префиксных операторов</a:t>
            </a:r>
          </a:p>
          <a:p>
            <a:endParaRPr lang="ru-RU" dirty="0"/>
          </a:p>
          <a:p>
            <a:pPr marL="571500" indent="-514350">
              <a:buFont typeface="+mj-lt"/>
              <a:buAutoNum type="arabicPeriod" startAt="2"/>
            </a:pPr>
            <a:r>
              <a:rPr lang="ru-RU" dirty="0"/>
              <a:t>По убыванию приоритета П -- вокруг подвыражений, содержащих только 2- и 3-местные операторы приоритета П, идентификаторы, константы и подвыражения в скобках, получившиеся на предыдущих шагах расстановки скобок</a:t>
            </a:r>
          </a:p>
          <a:p>
            <a:pPr lvl="1"/>
            <a:r>
              <a:rPr lang="ru-RU" dirty="0"/>
              <a:t>Если подвыражение содержит несколько операторов приоритета П, то в соответствии с ассоциативностью операторов</a:t>
            </a:r>
          </a:p>
          <a:p>
            <a:pPr lvl="1"/>
            <a:endParaRPr lang="ru-RU" dirty="0"/>
          </a:p>
          <a:p>
            <a:pPr lvl="1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22269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DDFD-7981-9179-F22D-ADF4F16A8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неявной расстановки скобок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3514E-ED14-9CBE-2154-7737164B71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a[</a:t>
            </a:r>
            <a:r>
              <a:rPr lang="en-US" sz="2800" dirty="0" err="1"/>
              <a:t>i</a:t>
            </a:r>
            <a:r>
              <a:rPr lang="en-US" sz="2800" dirty="0"/>
              <a:t>]</a:t>
            </a:r>
            <a:r>
              <a:rPr lang="ru-RU" sz="2800" dirty="0"/>
              <a:t>		постфиксный	16</a:t>
            </a:r>
          </a:p>
          <a:p>
            <a:pPr marL="0" indent="0">
              <a:buNone/>
            </a:pPr>
            <a:r>
              <a:rPr lang="ru-RU" sz="2800" dirty="0"/>
              <a:t>++		постфиксный	16</a:t>
            </a:r>
          </a:p>
          <a:p>
            <a:pPr marL="0" indent="0">
              <a:buNone/>
            </a:pPr>
            <a:r>
              <a:rPr lang="ru-RU" sz="2800" dirty="0"/>
              <a:t>*		префиксный	15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1AFC88F-1FA4-A207-3A63-EBEAA822425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==		</a:t>
            </a:r>
            <a:r>
              <a:rPr lang="ru-RU" sz="2800" dirty="0"/>
              <a:t>бинарный		9</a:t>
            </a:r>
          </a:p>
          <a:p>
            <a:pPr marL="0" indent="0">
              <a:buNone/>
            </a:pPr>
            <a:r>
              <a:rPr lang="en-US" sz="2800" dirty="0"/>
              <a:t>&amp;		</a:t>
            </a:r>
            <a:r>
              <a:rPr lang="ru-RU" sz="2800" dirty="0"/>
              <a:t>бинарный		8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2ACEE-672D-DCC9-3BC3-61FDC990C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20</a:t>
            </a:fld>
            <a:endParaRPr lang="ru-RU"/>
          </a:p>
        </p:txBody>
      </p:sp>
      <p:graphicFrame>
        <p:nvGraphicFramePr>
          <p:cNvPr id="11" name="Table 8">
            <a:extLst>
              <a:ext uri="{FF2B5EF4-FFF2-40B4-BE49-F238E27FC236}">
                <a16:creationId xmlns:a16="http://schemas.microsoft.com/office/drawing/2014/main" id="{8D94AE6A-0800-AFE2-E7EA-BFFF3B29F54C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3212976"/>
          <a:ext cx="10972800" cy="3474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72800">
                  <a:extLst>
                    <a:ext uri="{9D8B030D-6E8A-4147-A177-3AD203B41FA5}">
                      <a16:colId xmlns:a16="http://schemas.microsoft.com/office/drawing/2014/main" val="16916956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[i]++ &amp; *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[i]++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kumimoji="0" lang="ru-RU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B5CEA8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110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 &amp; *(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570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 &amp; *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411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&amp; 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218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&amp; </a:t>
                      </a:r>
                      <a:r>
                        <a:rPr kumimoji="0" lang="ru-RU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ru-RU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940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&amp; </a:t>
                      </a:r>
                      <a:r>
                        <a:rPr kumimoji="0" lang="ru-RU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ru-RU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ru-RU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997384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EEEE0840-592F-BF03-6129-3AF2A829A468}"/>
              </a:ext>
            </a:extLst>
          </p:cNvPr>
          <p:cNvSpPr/>
          <p:nvPr/>
        </p:nvSpPr>
        <p:spPr>
          <a:xfrm>
            <a:off x="335360" y="1484784"/>
            <a:ext cx="11521280" cy="5236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22723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DDFD-7981-9179-F22D-ADF4F16A8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неявной расстановки скобок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3514E-ED14-9CBE-2154-7737164B71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a[</a:t>
            </a:r>
            <a:r>
              <a:rPr lang="en-US" sz="2800" dirty="0" err="1"/>
              <a:t>i</a:t>
            </a:r>
            <a:r>
              <a:rPr lang="en-US" sz="2800" dirty="0"/>
              <a:t>]</a:t>
            </a:r>
            <a:r>
              <a:rPr lang="ru-RU" sz="2800" dirty="0"/>
              <a:t>		постфиксный	16</a:t>
            </a:r>
          </a:p>
          <a:p>
            <a:pPr marL="0" indent="0">
              <a:buNone/>
            </a:pPr>
            <a:r>
              <a:rPr lang="ru-RU" sz="2800" dirty="0"/>
              <a:t>++		постфиксный	16</a:t>
            </a:r>
          </a:p>
          <a:p>
            <a:pPr marL="0" indent="0">
              <a:buNone/>
            </a:pPr>
            <a:r>
              <a:rPr lang="ru-RU" sz="2800" dirty="0"/>
              <a:t>*		префиксный	15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1AFC88F-1FA4-A207-3A63-EBEAA822425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==		</a:t>
            </a:r>
            <a:r>
              <a:rPr lang="ru-RU" sz="2800" dirty="0"/>
              <a:t>бинарный		9</a:t>
            </a:r>
          </a:p>
          <a:p>
            <a:pPr marL="0" indent="0">
              <a:buNone/>
            </a:pPr>
            <a:r>
              <a:rPr lang="en-US" sz="2800" dirty="0"/>
              <a:t>&amp;		</a:t>
            </a:r>
            <a:r>
              <a:rPr lang="ru-RU" sz="2800" dirty="0"/>
              <a:t>бинарный		8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2ACEE-672D-DCC9-3BC3-61FDC990C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21</a:t>
            </a:fld>
            <a:endParaRPr lang="ru-RU"/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0A8A5C9B-1BC6-2232-FC26-1EB58E62E0E5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3212976"/>
          <a:ext cx="10972800" cy="3474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72800">
                  <a:extLst>
                    <a:ext uri="{9D8B030D-6E8A-4147-A177-3AD203B41FA5}">
                      <a16:colId xmlns:a16="http://schemas.microsoft.com/office/drawing/2014/main" val="16916956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[i]++ &amp; *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[i]++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kumimoji="0" lang="ru-RU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B5CEA8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110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 &amp; *(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570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 &amp; *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411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&amp; 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218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&amp; </a:t>
                      </a:r>
                      <a:r>
                        <a:rPr kumimoji="0" lang="ru-RU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ru-RU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940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&amp; </a:t>
                      </a:r>
                      <a:r>
                        <a:rPr kumimoji="0" lang="ru-RU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ru-RU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ru-RU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997384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11FDFCFA-1283-6EF6-86BE-BFE599999722}"/>
              </a:ext>
            </a:extLst>
          </p:cNvPr>
          <p:cNvSpPr/>
          <p:nvPr/>
        </p:nvSpPr>
        <p:spPr>
          <a:xfrm>
            <a:off x="335360" y="3068960"/>
            <a:ext cx="11521280" cy="36525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1729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DDFD-7981-9179-F22D-ADF4F16A8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неявной расстановки скобок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3514E-ED14-9CBE-2154-7737164B71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a[</a:t>
            </a:r>
            <a:r>
              <a:rPr lang="en-US" sz="2800" dirty="0" err="1"/>
              <a:t>i</a:t>
            </a:r>
            <a:r>
              <a:rPr lang="en-US" sz="2800" dirty="0"/>
              <a:t>]</a:t>
            </a:r>
            <a:r>
              <a:rPr lang="ru-RU" sz="2800" dirty="0"/>
              <a:t>		постфиксный	16</a:t>
            </a:r>
          </a:p>
          <a:p>
            <a:pPr marL="0" indent="0">
              <a:buNone/>
            </a:pPr>
            <a:r>
              <a:rPr lang="ru-RU" sz="2800" dirty="0"/>
              <a:t>++		постфиксный	16</a:t>
            </a:r>
          </a:p>
          <a:p>
            <a:pPr marL="0" indent="0">
              <a:buNone/>
            </a:pPr>
            <a:r>
              <a:rPr lang="ru-RU" sz="2800" dirty="0"/>
              <a:t>*		префиксный	15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1AFC88F-1FA4-A207-3A63-EBEAA822425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==		</a:t>
            </a:r>
            <a:r>
              <a:rPr lang="ru-RU" sz="2800" dirty="0"/>
              <a:t>бинарный		9</a:t>
            </a:r>
          </a:p>
          <a:p>
            <a:pPr marL="0" indent="0">
              <a:buNone/>
            </a:pPr>
            <a:r>
              <a:rPr lang="en-US" sz="2800" dirty="0"/>
              <a:t>&amp;		</a:t>
            </a:r>
            <a:r>
              <a:rPr lang="ru-RU" sz="2800" dirty="0"/>
              <a:t>бинарный		8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2ACEE-672D-DCC9-3BC3-61FDC990C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22</a:t>
            </a:fld>
            <a:endParaRPr lang="ru-RU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F7555DFC-F8E6-0DB4-CA6F-B0A98F352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090687"/>
              </p:ext>
            </p:extLst>
          </p:nvPr>
        </p:nvGraphicFramePr>
        <p:xfrm>
          <a:off x="609600" y="3212976"/>
          <a:ext cx="10972800" cy="3474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72800">
                  <a:extLst>
                    <a:ext uri="{9D8B030D-6E8A-4147-A177-3AD203B41FA5}">
                      <a16:colId xmlns:a16="http://schemas.microsoft.com/office/drawing/2014/main" val="16916956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[i]++ &amp; *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[i]++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kumimoji="0" lang="ru-RU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B5CEA8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110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 &amp; *(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570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 &amp; *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411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&amp; 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218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&amp; </a:t>
                      </a:r>
                      <a:r>
                        <a:rPr kumimoji="0" lang="ru-RU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ru-RU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940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&amp; </a:t>
                      </a:r>
                      <a:r>
                        <a:rPr kumimoji="0" lang="ru-RU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ru-RU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ru-RU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99738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3AFAA02-113E-32E4-5A77-60A01E01BA18}"/>
              </a:ext>
            </a:extLst>
          </p:cNvPr>
          <p:cNvSpPr/>
          <p:nvPr/>
        </p:nvSpPr>
        <p:spPr>
          <a:xfrm>
            <a:off x="335360" y="3717032"/>
            <a:ext cx="11521280" cy="30044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54038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DDFD-7981-9179-F22D-ADF4F16A8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неявной расстановки скобок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3514E-ED14-9CBE-2154-7737164B71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a[</a:t>
            </a:r>
            <a:r>
              <a:rPr lang="en-US" sz="2800" dirty="0" err="1"/>
              <a:t>i</a:t>
            </a:r>
            <a:r>
              <a:rPr lang="en-US" sz="2800" dirty="0"/>
              <a:t>]</a:t>
            </a:r>
            <a:r>
              <a:rPr lang="ru-RU" sz="2800" dirty="0"/>
              <a:t>		постфиксный	16</a:t>
            </a:r>
          </a:p>
          <a:p>
            <a:pPr marL="0" indent="0">
              <a:buNone/>
            </a:pPr>
            <a:r>
              <a:rPr lang="ru-RU" sz="2800" dirty="0"/>
              <a:t>++		постфиксный	16</a:t>
            </a:r>
          </a:p>
          <a:p>
            <a:pPr marL="0" indent="0">
              <a:buNone/>
            </a:pPr>
            <a:r>
              <a:rPr lang="ru-RU" sz="2800" dirty="0"/>
              <a:t>*		префиксный	15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1AFC88F-1FA4-A207-3A63-EBEAA822425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==		</a:t>
            </a:r>
            <a:r>
              <a:rPr lang="ru-RU" sz="2800" dirty="0"/>
              <a:t>бинарный		9</a:t>
            </a:r>
          </a:p>
          <a:p>
            <a:pPr marL="0" indent="0">
              <a:buNone/>
            </a:pPr>
            <a:r>
              <a:rPr lang="en-US" sz="2800" dirty="0"/>
              <a:t>&amp;		</a:t>
            </a:r>
            <a:r>
              <a:rPr lang="ru-RU" sz="2800" dirty="0"/>
              <a:t>бинарный		8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2ACEE-672D-DCC9-3BC3-61FDC990C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23</a:t>
            </a:fld>
            <a:endParaRPr lang="ru-RU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F7555DFC-F8E6-0DB4-CA6F-B0A98F352298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3212976"/>
          <a:ext cx="10972800" cy="3474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72800">
                  <a:extLst>
                    <a:ext uri="{9D8B030D-6E8A-4147-A177-3AD203B41FA5}">
                      <a16:colId xmlns:a16="http://schemas.microsoft.com/office/drawing/2014/main" val="16916956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[i]++ &amp; *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[i]++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kumimoji="0" lang="ru-RU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B5CEA8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110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 &amp; *(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570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 &amp; *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411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&amp; 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218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&amp; </a:t>
                      </a:r>
                      <a:r>
                        <a:rPr kumimoji="0" lang="ru-RU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ru-RU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940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&amp; </a:t>
                      </a:r>
                      <a:r>
                        <a:rPr kumimoji="0" lang="ru-RU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ru-RU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ru-RU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99738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1A4D4EB-AAE7-5EF5-D4DE-E9AC7E633E54}"/>
              </a:ext>
            </a:extLst>
          </p:cNvPr>
          <p:cNvSpPr/>
          <p:nvPr/>
        </p:nvSpPr>
        <p:spPr>
          <a:xfrm>
            <a:off x="335360" y="4293096"/>
            <a:ext cx="11521280" cy="2428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75147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DDFD-7981-9179-F22D-ADF4F16A8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неявной расстановки скобок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3514E-ED14-9CBE-2154-7737164B71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a[</a:t>
            </a:r>
            <a:r>
              <a:rPr lang="en-US" sz="2800" dirty="0" err="1"/>
              <a:t>i</a:t>
            </a:r>
            <a:r>
              <a:rPr lang="en-US" sz="2800" dirty="0"/>
              <a:t>]</a:t>
            </a:r>
            <a:r>
              <a:rPr lang="ru-RU" sz="2800" dirty="0"/>
              <a:t>		постфиксный	16</a:t>
            </a:r>
          </a:p>
          <a:p>
            <a:pPr marL="0" indent="0">
              <a:buNone/>
            </a:pPr>
            <a:r>
              <a:rPr lang="ru-RU" sz="2800" dirty="0"/>
              <a:t>++		постфиксный	16</a:t>
            </a:r>
          </a:p>
          <a:p>
            <a:pPr marL="0" indent="0">
              <a:buNone/>
            </a:pPr>
            <a:r>
              <a:rPr lang="ru-RU" sz="2800" dirty="0"/>
              <a:t>*		префиксный	15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1AFC88F-1FA4-A207-3A63-EBEAA822425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==		</a:t>
            </a:r>
            <a:r>
              <a:rPr lang="ru-RU" sz="2800" dirty="0"/>
              <a:t>бинарный		9</a:t>
            </a:r>
          </a:p>
          <a:p>
            <a:pPr marL="0" indent="0">
              <a:buNone/>
            </a:pPr>
            <a:r>
              <a:rPr lang="en-US" sz="2800" dirty="0"/>
              <a:t>&amp;		</a:t>
            </a:r>
            <a:r>
              <a:rPr lang="ru-RU" sz="2800" dirty="0"/>
              <a:t>бинарный		8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2ACEE-672D-DCC9-3BC3-61FDC990C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24</a:t>
            </a:fld>
            <a:endParaRPr lang="ru-RU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F7555DFC-F8E6-0DB4-CA6F-B0A98F352298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3212976"/>
          <a:ext cx="10972800" cy="3474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72800">
                  <a:extLst>
                    <a:ext uri="{9D8B030D-6E8A-4147-A177-3AD203B41FA5}">
                      <a16:colId xmlns:a16="http://schemas.microsoft.com/office/drawing/2014/main" val="16916956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[i]++ &amp; *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[i]++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kumimoji="0" lang="ru-RU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B5CEA8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110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 &amp; *(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570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 &amp; *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411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&amp; 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218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&amp; </a:t>
                      </a:r>
                      <a:r>
                        <a:rPr kumimoji="0" lang="ru-RU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ru-RU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940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&amp; </a:t>
                      </a:r>
                      <a:r>
                        <a:rPr kumimoji="0" lang="ru-RU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ru-RU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ru-RU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99738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25F825C-7AE1-2424-8098-E388515A0D66}"/>
              </a:ext>
            </a:extLst>
          </p:cNvPr>
          <p:cNvSpPr/>
          <p:nvPr/>
        </p:nvSpPr>
        <p:spPr>
          <a:xfrm>
            <a:off x="335360" y="4797152"/>
            <a:ext cx="11521280" cy="19243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54532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DDFD-7981-9179-F22D-ADF4F16A8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неявной расстановки скобок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3514E-ED14-9CBE-2154-7737164B71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a[</a:t>
            </a:r>
            <a:r>
              <a:rPr lang="en-US" sz="2800" dirty="0" err="1"/>
              <a:t>i</a:t>
            </a:r>
            <a:r>
              <a:rPr lang="en-US" sz="2800" dirty="0"/>
              <a:t>]</a:t>
            </a:r>
            <a:r>
              <a:rPr lang="ru-RU" sz="2800" dirty="0"/>
              <a:t>		постфиксный	16</a:t>
            </a:r>
          </a:p>
          <a:p>
            <a:pPr marL="0" indent="0">
              <a:buNone/>
            </a:pPr>
            <a:r>
              <a:rPr lang="ru-RU" sz="2800" dirty="0"/>
              <a:t>++		постфиксный	16</a:t>
            </a:r>
          </a:p>
          <a:p>
            <a:pPr marL="0" indent="0">
              <a:buNone/>
            </a:pPr>
            <a:r>
              <a:rPr lang="ru-RU" sz="2800" dirty="0"/>
              <a:t>*		префиксный	15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1AFC88F-1FA4-A207-3A63-EBEAA822425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==		</a:t>
            </a:r>
            <a:r>
              <a:rPr lang="ru-RU" sz="2800" dirty="0"/>
              <a:t>бинарный		9</a:t>
            </a:r>
          </a:p>
          <a:p>
            <a:pPr marL="0" indent="0">
              <a:buNone/>
            </a:pPr>
            <a:r>
              <a:rPr lang="en-US" sz="2800" dirty="0"/>
              <a:t>&amp;		</a:t>
            </a:r>
            <a:r>
              <a:rPr lang="ru-RU" sz="2800" dirty="0"/>
              <a:t>бинарный		8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2ACEE-672D-DCC9-3BC3-61FDC990C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25</a:t>
            </a:fld>
            <a:endParaRPr lang="ru-RU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F7555DFC-F8E6-0DB4-CA6F-B0A98F352298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3212976"/>
          <a:ext cx="10972800" cy="3474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72800">
                  <a:extLst>
                    <a:ext uri="{9D8B030D-6E8A-4147-A177-3AD203B41FA5}">
                      <a16:colId xmlns:a16="http://schemas.microsoft.com/office/drawing/2014/main" val="16916956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[i]++ &amp; *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[i]++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kumimoji="0" lang="ru-RU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B5CEA8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110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 &amp; *(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570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 &amp; *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411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&amp; 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218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&amp; </a:t>
                      </a:r>
                      <a:r>
                        <a:rPr kumimoji="0" lang="ru-RU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ru-RU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940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&amp; </a:t>
                      </a:r>
                      <a:r>
                        <a:rPr kumimoji="0" lang="ru-RU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ru-RU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ru-RU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99738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1810DE2-8854-7E65-67EA-42C9EA5006A3}"/>
              </a:ext>
            </a:extLst>
          </p:cNvPr>
          <p:cNvSpPr/>
          <p:nvPr/>
        </p:nvSpPr>
        <p:spPr>
          <a:xfrm>
            <a:off x="335360" y="5445224"/>
            <a:ext cx="11521280" cy="12762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0322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DDFD-7981-9179-F22D-ADF4F16A8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неявной расстановки скобок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3514E-ED14-9CBE-2154-7737164B71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a[</a:t>
            </a:r>
            <a:r>
              <a:rPr lang="en-US" sz="2800" dirty="0" err="1"/>
              <a:t>i</a:t>
            </a:r>
            <a:r>
              <a:rPr lang="en-US" sz="2800" dirty="0"/>
              <a:t>]</a:t>
            </a:r>
            <a:r>
              <a:rPr lang="ru-RU" sz="2800" dirty="0"/>
              <a:t>		постфиксный	16</a:t>
            </a:r>
          </a:p>
          <a:p>
            <a:pPr marL="0" indent="0">
              <a:buNone/>
            </a:pPr>
            <a:r>
              <a:rPr lang="ru-RU" sz="2800" dirty="0"/>
              <a:t>++		постфиксный	16</a:t>
            </a:r>
          </a:p>
          <a:p>
            <a:pPr marL="0" indent="0">
              <a:buNone/>
            </a:pPr>
            <a:r>
              <a:rPr lang="ru-RU" sz="2800" dirty="0"/>
              <a:t>*		префиксный	15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1AFC88F-1FA4-A207-3A63-EBEAA822425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==		</a:t>
            </a:r>
            <a:r>
              <a:rPr lang="ru-RU" sz="2800" dirty="0"/>
              <a:t>бинарный		9</a:t>
            </a:r>
          </a:p>
          <a:p>
            <a:pPr marL="0" indent="0">
              <a:buNone/>
            </a:pPr>
            <a:r>
              <a:rPr lang="en-US" sz="2800" dirty="0"/>
              <a:t>&amp;		</a:t>
            </a:r>
            <a:r>
              <a:rPr lang="ru-RU" sz="2800" dirty="0"/>
              <a:t>бинарный		8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2ACEE-672D-DCC9-3BC3-61FDC990C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26</a:t>
            </a:fld>
            <a:endParaRPr lang="ru-RU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F7555DFC-F8E6-0DB4-CA6F-B0A98F352298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3212976"/>
          <a:ext cx="10972800" cy="3474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72800">
                  <a:extLst>
                    <a:ext uri="{9D8B030D-6E8A-4147-A177-3AD203B41FA5}">
                      <a16:colId xmlns:a16="http://schemas.microsoft.com/office/drawing/2014/main" val="16916956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[i]++ &amp; *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[i]++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kumimoji="0" lang="ru-RU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B5CEA8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110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 &amp; *(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570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 &amp; *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411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&amp; 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218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&amp; </a:t>
                      </a:r>
                      <a:r>
                        <a:rPr kumimoji="0" lang="ru-RU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ru-RU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940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&amp; </a:t>
                      </a:r>
                      <a:r>
                        <a:rPr kumimoji="0" lang="ru-RU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ru-RU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ru-RU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99738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ED77B41-8EED-7323-C07D-D95D5CA1D41E}"/>
              </a:ext>
            </a:extLst>
          </p:cNvPr>
          <p:cNvSpPr/>
          <p:nvPr/>
        </p:nvSpPr>
        <p:spPr>
          <a:xfrm>
            <a:off x="335360" y="6021288"/>
            <a:ext cx="11521280" cy="7001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14807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DDFD-7981-9179-F22D-ADF4F16A8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неявной расстановки скобок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3514E-ED14-9CBE-2154-7737164B71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a[</a:t>
            </a:r>
            <a:r>
              <a:rPr lang="en-US" sz="2800" dirty="0" err="1"/>
              <a:t>i</a:t>
            </a:r>
            <a:r>
              <a:rPr lang="en-US" sz="2800" dirty="0"/>
              <a:t>]</a:t>
            </a:r>
            <a:r>
              <a:rPr lang="ru-RU" sz="2800" dirty="0"/>
              <a:t>		постфиксный	16</a:t>
            </a:r>
          </a:p>
          <a:p>
            <a:pPr marL="0" indent="0">
              <a:buNone/>
            </a:pPr>
            <a:r>
              <a:rPr lang="ru-RU" sz="2800" dirty="0"/>
              <a:t>++		постфиксный	16</a:t>
            </a:r>
          </a:p>
          <a:p>
            <a:pPr marL="0" indent="0">
              <a:buNone/>
            </a:pPr>
            <a:r>
              <a:rPr lang="ru-RU" sz="2800" dirty="0"/>
              <a:t>*		префиксный	15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1AFC88F-1FA4-A207-3A63-EBEAA822425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==		</a:t>
            </a:r>
            <a:r>
              <a:rPr lang="ru-RU" sz="2800" dirty="0"/>
              <a:t>бинарный		9</a:t>
            </a:r>
          </a:p>
          <a:p>
            <a:pPr marL="0" indent="0">
              <a:buNone/>
            </a:pPr>
            <a:r>
              <a:rPr lang="en-US" sz="2800" dirty="0"/>
              <a:t>&amp;		</a:t>
            </a:r>
            <a:r>
              <a:rPr lang="ru-RU" sz="2800" dirty="0"/>
              <a:t>бинарный		8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2ACEE-672D-DCC9-3BC3-61FDC990C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27</a:t>
            </a:fld>
            <a:endParaRPr lang="ru-RU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F7555DFC-F8E6-0DB4-CA6F-B0A98F352298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3212976"/>
          <a:ext cx="10972800" cy="3474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72800">
                  <a:extLst>
                    <a:ext uri="{9D8B030D-6E8A-4147-A177-3AD203B41FA5}">
                      <a16:colId xmlns:a16="http://schemas.microsoft.com/office/drawing/2014/main" val="16916956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[i]++ &amp; *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[i]++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kumimoji="0" lang="ru-RU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B5CEA8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110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 &amp; *(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570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 &amp; *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411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&amp; 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218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&amp; </a:t>
                      </a:r>
                      <a:r>
                        <a:rPr kumimoji="0" lang="ru-RU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ru-RU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940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&amp; </a:t>
                      </a:r>
                      <a:r>
                        <a:rPr kumimoji="0" lang="ru-RU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*(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CDCF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[i]</a:t>
                      </a:r>
                      <a:r>
                        <a:rPr kumimoji="0" lang="ru-RU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++)</a:t>
                      </a:r>
                      <a:r>
                        <a:rPr kumimoji="0" lang="ru-RU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== </a:t>
                      </a:r>
                      <a:r>
                        <a:rPr kumimoji="0" lang="nn-NO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5CEA8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ru-RU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ru-RU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4D4D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endParaRPr kumimoji="0" lang="nn-NO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4D4D4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9973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42204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Приоритеты операторов в языке Си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7199561"/>
              </p:ext>
            </p:extLst>
          </p:nvPr>
        </p:nvGraphicFramePr>
        <p:xfrm>
          <a:off x="335359" y="1268760"/>
          <a:ext cx="11521280" cy="490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Лексемы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Оператор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Класс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Приор-т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Ассоц-ность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Переменные</a:t>
                      </a:r>
                    </a:p>
                    <a:p>
                      <a:pPr algn="ctr"/>
                      <a:r>
                        <a:rPr lang="ru-RU" sz="1400" dirty="0"/>
                        <a:t>Константы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Доступ к значению константы или переменной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атомарный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нет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a[k]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Доступ к элементу массива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постфиксный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слева направо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f(…)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Вызов функции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постфиксный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слева направо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Доступ к элементу</a:t>
                      </a:r>
                      <a:r>
                        <a:rPr lang="ru-RU" sz="1400" baseline="0" dirty="0"/>
                        <a:t> </a:t>
                      </a:r>
                      <a:r>
                        <a:rPr lang="en-US" sz="1400" dirty="0" err="1"/>
                        <a:t>struct</a:t>
                      </a:r>
                      <a:r>
                        <a:rPr lang="en-US" sz="1400" dirty="0"/>
                        <a:t> </a:t>
                      </a:r>
                      <a:r>
                        <a:rPr lang="ru-RU" sz="1400" dirty="0"/>
                        <a:t>или </a:t>
                      </a:r>
                      <a:r>
                        <a:rPr lang="en-US" sz="1400" dirty="0"/>
                        <a:t>union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постфиксный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слева направо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-&gt;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Доступ к элементу</a:t>
                      </a:r>
                      <a:r>
                        <a:rPr lang="ru-RU" sz="1400" baseline="0" dirty="0"/>
                        <a:t> </a:t>
                      </a:r>
                      <a:r>
                        <a:rPr lang="en-US" sz="1400" dirty="0" err="1"/>
                        <a:t>struct</a:t>
                      </a:r>
                      <a:r>
                        <a:rPr lang="en-US" sz="1400" dirty="0"/>
                        <a:t> </a:t>
                      </a:r>
                      <a:r>
                        <a:rPr lang="ru-RU" sz="1400" dirty="0"/>
                        <a:t>или </a:t>
                      </a:r>
                      <a:r>
                        <a:rPr lang="en-US" sz="1400" dirty="0"/>
                        <a:t>union</a:t>
                      </a:r>
                      <a:r>
                        <a:rPr lang="ru-RU" sz="1400" dirty="0"/>
                        <a:t> через</a:t>
                      </a:r>
                      <a:r>
                        <a:rPr lang="ru-RU" sz="1400" baseline="0" dirty="0"/>
                        <a:t> указатель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постфиксный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слева направо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k</a:t>
                      </a:r>
                      <a:r>
                        <a:rPr lang="ru-RU" sz="1400" dirty="0"/>
                        <a:t>++ </a:t>
                      </a:r>
                      <a:r>
                        <a:rPr lang="en-US" sz="1400" dirty="0"/>
                        <a:t>k</a:t>
                      </a:r>
                      <a:r>
                        <a:rPr lang="ru-RU" sz="1400" dirty="0"/>
                        <a:t>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Доступ к значению </a:t>
                      </a:r>
                      <a:r>
                        <a:rPr lang="en-US" sz="1400" dirty="0"/>
                        <a:t>k </a:t>
                      </a:r>
                      <a:r>
                        <a:rPr lang="ru-RU" sz="1400" dirty="0"/>
                        <a:t>и</a:t>
                      </a:r>
                      <a:r>
                        <a:rPr lang="ru-RU" sz="1400" baseline="0" dirty="0"/>
                        <a:t> послед. у</a:t>
                      </a:r>
                      <a:r>
                        <a:rPr lang="ru-RU" sz="1400" dirty="0"/>
                        <a:t>величение или уменьшение</a:t>
                      </a:r>
                      <a:r>
                        <a:rPr lang="ru-RU" sz="1400" baseline="0" dirty="0"/>
                        <a:t> </a:t>
                      </a:r>
                      <a:r>
                        <a:rPr lang="en-US" sz="1400" baseline="0" dirty="0"/>
                        <a:t>k </a:t>
                      </a:r>
                      <a:r>
                        <a:rPr lang="ru-RU" sz="1400" baseline="0" dirty="0"/>
                        <a:t>на 1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постфиксный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слева направо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++</a:t>
                      </a:r>
                      <a:r>
                        <a:rPr lang="en-US" sz="1400" dirty="0"/>
                        <a:t>k</a:t>
                      </a:r>
                      <a:r>
                        <a:rPr lang="ru-RU" sz="1400" dirty="0"/>
                        <a:t> --</a:t>
                      </a:r>
                      <a:r>
                        <a:rPr lang="en-US" sz="1400" dirty="0"/>
                        <a:t>k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Увеличение или уменьшение</a:t>
                      </a:r>
                      <a:r>
                        <a:rPr lang="ru-RU" sz="1400" baseline="0" dirty="0"/>
                        <a:t> </a:t>
                      </a:r>
                      <a:r>
                        <a:rPr lang="en-US" sz="1400" baseline="0" dirty="0"/>
                        <a:t>k </a:t>
                      </a:r>
                      <a:r>
                        <a:rPr lang="ru-RU" sz="1400" baseline="0" dirty="0"/>
                        <a:t>на 1 и послед. д</a:t>
                      </a:r>
                      <a:r>
                        <a:rPr lang="ru-RU" sz="1400" dirty="0"/>
                        <a:t>оступ к полученному значению </a:t>
                      </a:r>
                      <a:r>
                        <a:rPr lang="en-US" sz="1400" dirty="0"/>
                        <a:t>k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префиксный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справа налево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sizeof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Размер</a:t>
                      </a:r>
                      <a:r>
                        <a:rPr lang="en-US" sz="1400" dirty="0"/>
                        <a:t> </a:t>
                      </a:r>
                      <a:r>
                        <a:rPr lang="ru-RU" sz="1400" dirty="0"/>
                        <a:t>значения</a:t>
                      </a:r>
                      <a:r>
                        <a:rPr lang="ru-RU" sz="1400" baseline="0" dirty="0"/>
                        <a:t> или типа </a:t>
                      </a:r>
                      <a:r>
                        <a:rPr lang="ru-RU" sz="1400" dirty="0"/>
                        <a:t>в</a:t>
                      </a:r>
                      <a:r>
                        <a:rPr lang="ru-RU" sz="1400" baseline="0" dirty="0"/>
                        <a:t> байтах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префиксный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справа налево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Побитовое НЕ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префиксный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справа налево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!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Логическое НЕ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префиксный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справа налево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- 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Смена знака числа (-) или НОП (+)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префиксный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справа налево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&amp;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Взятие</a:t>
                      </a:r>
                      <a:r>
                        <a:rPr lang="ru-RU" sz="1400" baseline="0" dirty="0"/>
                        <a:t> </a:t>
                      </a:r>
                      <a:r>
                        <a:rPr lang="ru-RU" sz="1400" dirty="0"/>
                        <a:t>адреса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префиксный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справа налево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41395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Приоритеты операторов в языке Си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235027"/>
              </p:ext>
            </p:extLst>
          </p:nvPr>
        </p:nvGraphicFramePr>
        <p:xfrm>
          <a:off x="335360" y="1268760"/>
          <a:ext cx="11521280" cy="519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3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4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5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16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63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Лексемы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Оператор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Класс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Приор-т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Ассоциативность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Доступ через</a:t>
                      </a:r>
                      <a:r>
                        <a:rPr lang="ru-RU" sz="1400" baseline="0" dirty="0"/>
                        <a:t> указатель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префиксный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справа налево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(имя типа)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i="0" dirty="0"/>
                        <a:t>Преобразование</a:t>
                      </a:r>
                      <a:r>
                        <a:rPr lang="ru-RU" sz="1400" dirty="0"/>
                        <a:t> типа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префиксный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справа налево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* /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Умножение, деление, остаток от деления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бинарный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слева направо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+ 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Сложение, вычитание чисел и указателей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бинарный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слева направо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&lt;&lt; &gt;&gt;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Сдвиг влево или вправо в 2 с.с.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бинарный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слева направо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&lt; &gt; &lt;= &gt;=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Сравнение чисел и указателей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бинарный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слева направо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== !=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Проверка равенства и различия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бинарный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слева направо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&amp;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Побитовое 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бинарный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слева направо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^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Побитовое исключающее ИЛИ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бинарный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слева направо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Побитовое ИЛИ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бинарный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слева направо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&amp;&amp;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Логическое 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бинарный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слева направо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||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Логическое ИЛИ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бинарный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слева направо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 ? в1 : в2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baseline="0" dirty="0"/>
                        <a:t>в1 (если с != 0) или в2 (если с == 0)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тернарный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справа налево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89253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Приоритеты операторов в языке Си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4805603"/>
              </p:ext>
            </p:extLst>
          </p:nvPr>
        </p:nvGraphicFramePr>
        <p:xfrm>
          <a:off x="407368" y="2885936"/>
          <a:ext cx="11377265" cy="147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8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6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Лексемы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Оператор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Класс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Приор-т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Ассоц-ность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= += -= *= /= %= &lt;&lt;= &gt;&gt;= &amp;= ^= |=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Вычисление</a:t>
                      </a:r>
                      <a:r>
                        <a:rPr lang="ru-RU" sz="1400" baseline="0" dirty="0"/>
                        <a:t> правого операнда и послед. запись полученного значения в ячеку памяти, определяемую левым операндом (п</a:t>
                      </a:r>
                      <a:r>
                        <a:rPr lang="ru-RU" sz="1400" dirty="0"/>
                        <a:t>рисваивание)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бинарный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справа налево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,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Последовательное вычисление операндов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бинарный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слева направо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82324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Неожиданная неявная расстановка скобок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Соответствует математической нотации и интуиции</a:t>
            </a:r>
          </a:p>
          <a:p>
            <a:pPr lvl="1"/>
            <a:r>
              <a:rPr lang="ru-RU" sz="2400" dirty="0"/>
              <a:t>Если выражение содержит только арифметические операторы, логические связки, операторы сравнения и унарные операторы</a:t>
            </a:r>
          </a:p>
          <a:p>
            <a:pPr lvl="2"/>
            <a:r>
              <a:rPr lang="ru-RU" sz="2000" dirty="0"/>
              <a:t>Постфиксные операторы связываются с операндами раньше префиксных</a:t>
            </a:r>
          </a:p>
          <a:p>
            <a:endParaRPr lang="ru-RU" sz="2800" dirty="0"/>
          </a:p>
          <a:p>
            <a:r>
              <a:rPr lang="ru-RU" sz="2800" dirty="0"/>
              <a:t>НЕ соответствует математической нотации и интуиции</a:t>
            </a:r>
          </a:p>
          <a:p>
            <a:pPr lvl="1"/>
            <a:r>
              <a:rPr lang="ru-RU" sz="2400" dirty="0"/>
              <a:t>Если выражение содержит побитовые операторы</a:t>
            </a:r>
          </a:p>
          <a:p>
            <a:pPr lvl="1"/>
            <a:endParaRPr lang="ru-RU" sz="2400" dirty="0"/>
          </a:p>
          <a:p>
            <a:pPr marL="0" indent="0">
              <a:buNone/>
            </a:pPr>
            <a:endParaRPr lang="ru-RU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31</a:t>
            </a:fld>
            <a:endParaRPr lang="ru-RU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817DEB2-872A-E3B8-1884-813103858D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711878"/>
              </p:ext>
            </p:extLst>
          </p:nvPr>
        </p:nvGraphicFramePr>
        <p:xfrm>
          <a:off x="609600" y="4754564"/>
          <a:ext cx="10972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111588008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430842295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392437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Выражение на Си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Ожидание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Реальность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3858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x + 1 &lt;&lt; y 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x + (1 &lt;&lt; y)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(</a:t>
                      </a:r>
                      <a:r>
                        <a:rPr lang="en-US" sz="2400" dirty="0"/>
                        <a:t>x + 1</a:t>
                      </a:r>
                      <a:r>
                        <a:rPr lang="ru-RU" sz="2400" dirty="0"/>
                        <a:t>)</a:t>
                      </a:r>
                      <a:r>
                        <a:rPr lang="en-US" sz="2400" dirty="0"/>
                        <a:t> &lt;&lt; y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052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x &amp; y == 0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(x &amp; y) == 0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x &amp; (y == 0)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736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16526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Неявная расстановка скобок по ассоциативности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sz="2800" dirty="0"/>
              <a:t>Ассоциативность задает неявную расстановку скобок в выражениях, содержащих операторы одного приоритета</a:t>
            </a:r>
          </a:p>
          <a:p>
            <a:endParaRPr lang="ru-RU" sz="2800" dirty="0"/>
          </a:p>
          <a:p>
            <a:r>
              <a:rPr lang="ru-RU" dirty="0"/>
              <a:t>Левая – слева направо</a:t>
            </a:r>
          </a:p>
          <a:p>
            <a:endParaRPr lang="ru-RU" dirty="0"/>
          </a:p>
          <a:p>
            <a:r>
              <a:rPr lang="ru-RU" dirty="0"/>
              <a:t>Правая – справа налево</a:t>
            </a:r>
          </a:p>
          <a:p>
            <a:endParaRPr lang="ru-RU" sz="2800" dirty="0"/>
          </a:p>
          <a:p>
            <a:r>
              <a:rPr lang="ru-RU" sz="2800" dirty="0"/>
              <a:t>Операторы языка Си одного приоритета имеют одинаковую ассоциативность</a:t>
            </a:r>
          </a:p>
          <a:p>
            <a:pPr lvl="1"/>
            <a:r>
              <a:rPr lang="ru-RU" sz="2400" dirty="0"/>
              <a:t>Иначе расстановка скобок неоднозначна</a:t>
            </a:r>
            <a:endParaRPr lang="ru-RU" sz="280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endParaRPr lang="ru-RU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040826"/>
              </p:ext>
            </p:extLst>
          </p:nvPr>
        </p:nvGraphicFramePr>
        <p:xfrm>
          <a:off x="5994400" y="1600201"/>
          <a:ext cx="5587998" cy="4525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4030">
                  <a:extLst>
                    <a:ext uri="{9D8B030D-6E8A-4147-A177-3AD203B41FA5}">
                      <a16:colId xmlns:a16="http://schemas.microsoft.com/office/drawing/2014/main" val="1215134552"/>
                    </a:ext>
                  </a:extLst>
                </a:gridCol>
              </a:tblGrid>
              <a:tr h="1508654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Ассоциативность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Пример </a:t>
                      </a:r>
                    </a:p>
                    <a:p>
                      <a:pPr algn="ctr"/>
                      <a:r>
                        <a:rPr lang="ru-RU" sz="2800" dirty="0"/>
                        <a:t>выражения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Неявная расстановка скобок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654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Левая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x – y – z </a:t>
                      </a:r>
                      <a:endParaRPr lang="ru-RU" sz="2800" dirty="0"/>
                    </a:p>
                    <a:p>
                      <a:pPr algn="ctr"/>
                      <a:r>
                        <a:rPr lang="en-US" sz="2800" dirty="0"/>
                        <a:t>x </a:t>
                      </a:r>
                      <a:r>
                        <a:rPr lang="ru-RU" sz="2800" dirty="0"/>
                        <a:t>/</a:t>
                      </a:r>
                      <a:r>
                        <a:rPr lang="en-US" sz="2800" dirty="0"/>
                        <a:t> y </a:t>
                      </a:r>
                      <a:r>
                        <a:rPr lang="ru-RU" sz="2800" dirty="0"/>
                        <a:t>/</a:t>
                      </a:r>
                      <a:r>
                        <a:rPr lang="en-US" sz="2800" dirty="0"/>
                        <a:t> z</a:t>
                      </a:r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(x – y) – z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(x </a:t>
                      </a:r>
                      <a:r>
                        <a:rPr lang="ru-RU" sz="2800" dirty="0"/>
                        <a:t>/</a:t>
                      </a:r>
                      <a:r>
                        <a:rPr lang="en-US" sz="2800" dirty="0"/>
                        <a:t> y) </a:t>
                      </a:r>
                      <a:r>
                        <a:rPr lang="ru-RU" sz="2800" dirty="0"/>
                        <a:t>/</a:t>
                      </a:r>
                      <a:r>
                        <a:rPr lang="en-US" sz="2800" dirty="0"/>
                        <a:t> z</a:t>
                      </a:r>
                      <a:endParaRPr lang="ru-RU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8654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Правая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x = y = 1</a:t>
                      </a:r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x = </a:t>
                      </a:r>
                      <a:r>
                        <a:rPr lang="ru-RU" sz="2800" dirty="0"/>
                        <a:t>(</a:t>
                      </a:r>
                      <a:r>
                        <a:rPr lang="en-US" sz="2800" dirty="0"/>
                        <a:t>y = 1</a:t>
                      </a:r>
                      <a:r>
                        <a:rPr lang="ru-RU" sz="280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88671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Из чего и как строятся выражения?</a:t>
            </a:r>
          </a:p>
          <a:p>
            <a:pPr lvl="1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Характеристики операторов</a:t>
            </a:r>
          </a:p>
          <a:p>
            <a:pPr lvl="1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Неявная расстановка скобок</a:t>
            </a:r>
          </a:p>
          <a:p>
            <a:r>
              <a:rPr lang="ru-RU" dirty="0"/>
              <a:t>Что такое побочный эффект</a:t>
            </a:r>
          </a:p>
          <a:p>
            <a:r>
              <a:rPr lang="ru-RU" dirty="0"/>
              <a:t>Точки следования</a:t>
            </a:r>
          </a:p>
          <a:p>
            <a:r>
              <a:rPr lang="en-US" dirty="0"/>
              <a:t>L-value</a:t>
            </a:r>
            <a:endParaRPr lang="ru-RU" dirty="0"/>
          </a:p>
          <a:p>
            <a:r>
              <a:rPr lang="ru-RU" dirty="0"/>
              <a:t>Особенности исполнения операторов языка Си</a:t>
            </a:r>
          </a:p>
          <a:p>
            <a:pPr lvl="1"/>
            <a:r>
              <a:rPr lang="ru-RU" dirty="0"/>
              <a:t>Требования к операндам, значение и тип результата, побочные эффекты, </a:t>
            </a:r>
            <a:r>
              <a:rPr lang="en-US" dirty="0"/>
              <a:t>well-defined/Implementation-defined/unspecified/undefined behavior</a:t>
            </a:r>
            <a:endParaRPr lang="ru-RU" dirty="0"/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29727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Что такое побочный эффект?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Побочный эффект вычисления (</a:t>
            </a:r>
            <a:r>
              <a:rPr lang="en-US" dirty="0">
                <a:solidFill>
                  <a:schemeClr val="bg1"/>
                </a:solidFill>
              </a:rPr>
              <a:t>side effect</a:t>
            </a:r>
            <a:r>
              <a:rPr lang="ru-RU" dirty="0">
                <a:solidFill>
                  <a:schemeClr val="bg1"/>
                </a:solidFill>
              </a:rPr>
              <a:t>) выражения – это факт изменения содержимого ячеек памяти в процессе вычисления выражения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Обычное присваивание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x = 1;</a:t>
            </a:r>
            <a:r>
              <a:rPr lang="ru-RU" dirty="0">
                <a:solidFill>
                  <a:schemeClr val="bg1"/>
                </a:solidFill>
              </a:rPr>
              <a:t> 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Постфиксные ++ и --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>
                <a:solidFill>
                  <a:schemeClr val="bg1"/>
                </a:solidFill>
              </a:rPr>
              <a:t>i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=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0; A[i++]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=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i++;</a:t>
            </a:r>
            <a:endParaRPr lang="ru-RU" dirty="0">
              <a:solidFill>
                <a:schemeClr val="bg1"/>
              </a:solidFill>
            </a:endParaRPr>
          </a:p>
          <a:p>
            <a:pPr lvl="2"/>
            <a:r>
              <a:rPr lang="ru-RU" dirty="0">
                <a:solidFill>
                  <a:schemeClr val="bg1"/>
                </a:solidFill>
              </a:rPr>
              <a:t>Изменится </a:t>
            </a:r>
            <a:r>
              <a:rPr lang="en-US" dirty="0">
                <a:solidFill>
                  <a:schemeClr val="bg1"/>
                </a:solidFill>
              </a:rPr>
              <a:t>A[0] </a:t>
            </a:r>
            <a:r>
              <a:rPr lang="ru-RU" dirty="0">
                <a:solidFill>
                  <a:schemeClr val="bg1"/>
                </a:solidFill>
              </a:rPr>
              <a:t>или </a:t>
            </a:r>
            <a:r>
              <a:rPr lang="en-US" dirty="0">
                <a:solidFill>
                  <a:schemeClr val="bg1"/>
                </a:solidFill>
              </a:rPr>
              <a:t>A[1]</a:t>
            </a:r>
            <a:r>
              <a:rPr lang="ru-RU" dirty="0">
                <a:solidFill>
                  <a:schemeClr val="bg1"/>
                </a:solidFill>
              </a:rPr>
              <a:t>? Чему будет равно: </a:t>
            </a:r>
            <a:r>
              <a:rPr lang="en-US" dirty="0">
                <a:solidFill>
                  <a:schemeClr val="bg1"/>
                </a:solidFill>
              </a:rPr>
              <a:t>0 </a:t>
            </a:r>
            <a:r>
              <a:rPr lang="ru-RU" dirty="0">
                <a:solidFill>
                  <a:schemeClr val="bg1"/>
                </a:solidFill>
              </a:rPr>
              <a:t>или 1</a:t>
            </a:r>
            <a:r>
              <a:rPr lang="en-US" dirty="0">
                <a:solidFill>
                  <a:schemeClr val="bg1"/>
                </a:solidFill>
              </a:rPr>
              <a:t>?</a:t>
            </a:r>
            <a:endParaRPr lang="ru-RU" dirty="0">
              <a:solidFill>
                <a:schemeClr val="bg1"/>
              </a:solidFill>
            </a:endParaRPr>
          </a:p>
          <a:p>
            <a:pPr lvl="2"/>
            <a:r>
              <a:rPr lang="ru-RU" dirty="0">
                <a:solidFill>
                  <a:schemeClr val="bg1"/>
                </a:solidFill>
              </a:rPr>
              <a:t>В каком порядке исполнятся ++?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Определён ли вообще порядок исполнения ++?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25785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Что такое побочный эффект?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Побочный эффект вычисления (</a:t>
            </a:r>
            <a:r>
              <a:rPr lang="en-US" dirty="0"/>
              <a:t>side effect</a:t>
            </a:r>
            <a:r>
              <a:rPr lang="ru-RU" dirty="0"/>
              <a:t>) выражения – это факт изменения содержимого ячеек памяти в процессе вычисления выражения</a:t>
            </a:r>
          </a:p>
          <a:p>
            <a:endParaRPr lang="ru-R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Обычное присваивание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x = 1;</a:t>
            </a:r>
            <a:r>
              <a:rPr lang="ru-RU" dirty="0">
                <a:solidFill>
                  <a:schemeClr val="bg1"/>
                </a:solidFill>
              </a:rPr>
              <a:t> 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Постфиксные ++ и --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>
                <a:solidFill>
                  <a:schemeClr val="bg1"/>
                </a:solidFill>
              </a:rPr>
              <a:t>i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=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0; A[i++]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=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i++;</a:t>
            </a:r>
            <a:endParaRPr lang="ru-RU" dirty="0">
              <a:solidFill>
                <a:schemeClr val="bg1"/>
              </a:solidFill>
            </a:endParaRPr>
          </a:p>
          <a:p>
            <a:pPr lvl="2"/>
            <a:r>
              <a:rPr lang="ru-RU" dirty="0">
                <a:solidFill>
                  <a:schemeClr val="bg1"/>
                </a:solidFill>
              </a:rPr>
              <a:t>Изменится </a:t>
            </a:r>
            <a:r>
              <a:rPr lang="en-US" dirty="0">
                <a:solidFill>
                  <a:schemeClr val="bg1"/>
                </a:solidFill>
              </a:rPr>
              <a:t>A[0] </a:t>
            </a:r>
            <a:r>
              <a:rPr lang="ru-RU" dirty="0">
                <a:solidFill>
                  <a:schemeClr val="bg1"/>
                </a:solidFill>
              </a:rPr>
              <a:t>или </a:t>
            </a:r>
            <a:r>
              <a:rPr lang="en-US" dirty="0">
                <a:solidFill>
                  <a:schemeClr val="bg1"/>
                </a:solidFill>
              </a:rPr>
              <a:t>A[1]</a:t>
            </a:r>
            <a:r>
              <a:rPr lang="ru-RU" dirty="0">
                <a:solidFill>
                  <a:schemeClr val="bg1"/>
                </a:solidFill>
              </a:rPr>
              <a:t>? Чему будет равно: </a:t>
            </a:r>
            <a:r>
              <a:rPr lang="en-US" dirty="0">
                <a:solidFill>
                  <a:schemeClr val="bg1"/>
                </a:solidFill>
              </a:rPr>
              <a:t>0 </a:t>
            </a:r>
            <a:r>
              <a:rPr lang="ru-RU" dirty="0">
                <a:solidFill>
                  <a:schemeClr val="bg1"/>
                </a:solidFill>
              </a:rPr>
              <a:t>или 1</a:t>
            </a:r>
            <a:r>
              <a:rPr lang="en-US" dirty="0">
                <a:solidFill>
                  <a:schemeClr val="bg1"/>
                </a:solidFill>
              </a:rPr>
              <a:t>?</a:t>
            </a:r>
            <a:endParaRPr lang="ru-RU" dirty="0">
              <a:solidFill>
                <a:schemeClr val="bg1"/>
              </a:solidFill>
            </a:endParaRPr>
          </a:p>
          <a:p>
            <a:pPr lvl="2"/>
            <a:r>
              <a:rPr lang="ru-RU" dirty="0">
                <a:solidFill>
                  <a:schemeClr val="bg1"/>
                </a:solidFill>
              </a:rPr>
              <a:t>В каком порядке исполнятся ++?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Определён ли вообще порядок исполнения ++?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09783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Что такое побочный эффект?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Побочный эффект вычисления (</a:t>
            </a:r>
            <a:r>
              <a:rPr lang="en-US" dirty="0"/>
              <a:t>side effect</a:t>
            </a:r>
            <a:r>
              <a:rPr lang="ru-RU" dirty="0"/>
              <a:t>) выражения – это факт изменения содержимого ячеек памяти в процессе вычисления выражения</a:t>
            </a:r>
          </a:p>
          <a:p>
            <a:endParaRPr lang="ru-R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Обычное присваивание</a:t>
            </a:r>
          </a:p>
          <a:p>
            <a:pPr lvl="1"/>
            <a:r>
              <a:rPr lang="en-US" dirty="0"/>
              <a:t>x = 1;</a:t>
            </a:r>
            <a:r>
              <a:rPr lang="ru-RU" dirty="0"/>
              <a:t> </a:t>
            </a:r>
          </a:p>
          <a:p>
            <a:endParaRPr lang="ru-RU" dirty="0"/>
          </a:p>
          <a:p>
            <a:r>
              <a:rPr lang="ru-RU" dirty="0">
                <a:solidFill>
                  <a:schemeClr val="bg1"/>
                </a:solidFill>
              </a:rPr>
              <a:t>Постфиксные ++ и --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>
                <a:solidFill>
                  <a:schemeClr val="bg1"/>
                </a:solidFill>
              </a:rPr>
              <a:t>i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=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0; A[i++]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=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i++;</a:t>
            </a:r>
            <a:endParaRPr lang="ru-RU" dirty="0">
              <a:solidFill>
                <a:schemeClr val="bg1"/>
              </a:solidFill>
            </a:endParaRPr>
          </a:p>
          <a:p>
            <a:pPr lvl="2"/>
            <a:r>
              <a:rPr lang="ru-RU" dirty="0">
                <a:solidFill>
                  <a:schemeClr val="bg1"/>
                </a:solidFill>
              </a:rPr>
              <a:t>Изменится </a:t>
            </a:r>
            <a:r>
              <a:rPr lang="en-US" dirty="0">
                <a:solidFill>
                  <a:schemeClr val="bg1"/>
                </a:solidFill>
              </a:rPr>
              <a:t>A[0] </a:t>
            </a:r>
            <a:r>
              <a:rPr lang="ru-RU" dirty="0">
                <a:solidFill>
                  <a:schemeClr val="bg1"/>
                </a:solidFill>
              </a:rPr>
              <a:t>или </a:t>
            </a:r>
            <a:r>
              <a:rPr lang="en-US" dirty="0">
                <a:solidFill>
                  <a:schemeClr val="bg1"/>
                </a:solidFill>
              </a:rPr>
              <a:t>A[1]</a:t>
            </a:r>
            <a:r>
              <a:rPr lang="ru-RU" dirty="0">
                <a:solidFill>
                  <a:schemeClr val="bg1"/>
                </a:solidFill>
              </a:rPr>
              <a:t>? Чему будет равно: </a:t>
            </a:r>
            <a:r>
              <a:rPr lang="en-US" dirty="0">
                <a:solidFill>
                  <a:schemeClr val="bg1"/>
                </a:solidFill>
              </a:rPr>
              <a:t>0 </a:t>
            </a:r>
            <a:r>
              <a:rPr lang="ru-RU" dirty="0">
                <a:solidFill>
                  <a:schemeClr val="bg1"/>
                </a:solidFill>
              </a:rPr>
              <a:t>или 1</a:t>
            </a:r>
            <a:r>
              <a:rPr lang="en-US" dirty="0">
                <a:solidFill>
                  <a:schemeClr val="bg1"/>
                </a:solidFill>
              </a:rPr>
              <a:t>?</a:t>
            </a:r>
            <a:endParaRPr lang="ru-RU" dirty="0">
              <a:solidFill>
                <a:schemeClr val="bg1"/>
              </a:solidFill>
            </a:endParaRPr>
          </a:p>
          <a:p>
            <a:pPr lvl="2"/>
            <a:r>
              <a:rPr lang="ru-RU" dirty="0">
                <a:solidFill>
                  <a:schemeClr val="bg1"/>
                </a:solidFill>
              </a:rPr>
              <a:t>В каком порядке исполнятся ++?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Определён ли вообще порядок исполнения ++?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96646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Что такое побочный эффект?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Побочный эффект вычисления (</a:t>
            </a:r>
            <a:r>
              <a:rPr lang="en-US" dirty="0"/>
              <a:t>side effect</a:t>
            </a:r>
            <a:r>
              <a:rPr lang="ru-RU" dirty="0"/>
              <a:t>) выражения – это факт изменения содержимого ячеек памяти в процессе вычисления выражения</a:t>
            </a:r>
          </a:p>
          <a:p>
            <a:endParaRPr lang="ru-R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Обычное присваивание</a:t>
            </a:r>
          </a:p>
          <a:p>
            <a:pPr lvl="1"/>
            <a:r>
              <a:rPr lang="en-US" dirty="0"/>
              <a:t>x = 1;</a:t>
            </a:r>
            <a:r>
              <a:rPr lang="ru-RU" dirty="0"/>
              <a:t> </a:t>
            </a:r>
          </a:p>
          <a:p>
            <a:endParaRPr lang="ru-RU" dirty="0"/>
          </a:p>
          <a:p>
            <a:r>
              <a:rPr lang="ru-RU" dirty="0"/>
              <a:t>Постфиксные ++ и --</a:t>
            </a:r>
            <a:endParaRPr lang="en-US" dirty="0"/>
          </a:p>
          <a:p>
            <a:pPr lvl="1"/>
            <a:r>
              <a:rPr lang="en-US" dirty="0"/>
              <a:t>i</a:t>
            </a:r>
            <a:r>
              <a:rPr lang="ru-RU" dirty="0"/>
              <a:t> </a:t>
            </a:r>
            <a:r>
              <a:rPr lang="en-US" dirty="0"/>
              <a:t>=</a:t>
            </a:r>
            <a:r>
              <a:rPr lang="ru-RU" dirty="0"/>
              <a:t> </a:t>
            </a:r>
            <a:r>
              <a:rPr lang="en-US" dirty="0"/>
              <a:t>0; A[i++]</a:t>
            </a:r>
            <a:r>
              <a:rPr lang="ru-RU" dirty="0"/>
              <a:t> </a:t>
            </a:r>
            <a:r>
              <a:rPr lang="en-US" dirty="0"/>
              <a:t>=</a:t>
            </a:r>
            <a:r>
              <a:rPr lang="ru-RU" dirty="0"/>
              <a:t> </a:t>
            </a:r>
            <a:r>
              <a:rPr lang="en-US" dirty="0"/>
              <a:t>i++;</a:t>
            </a:r>
            <a:endParaRPr lang="ru-RU" dirty="0"/>
          </a:p>
          <a:p>
            <a:pPr lvl="2"/>
            <a:r>
              <a:rPr lang="ru-RU" dirty="0">
                <a:solidFill>
                  <a:schemeClr val="bg1"/>
                </a:solidFill>
              </a:rPr>
              <a:t>Изменится </a:t>
            </a:r>
            <a:r>
              <a:rPr lang="en-US" dirty="0">
                <a:solidFill>
                  <a:schemeClr val="bg1"/>
                </a:solidFill>
              </a:rPr>
              <a:t>A[0] </a:t>
            </a:r>
            <a:r>
              <a:rPr lang="ru-RU" dirty="0">
                <a:solidFill>
                  <a:schemeClr val="bg1"/>
                </a:solidFill>
              </a:rPr>
              <a:t>или </a:t>
            </a:r>
            <a:r>
              <a:rPr lang="en-US" dirty="0">
                <a:solidFill>
                  <a:schemeClr val="bg1"/>
                </a:solidFill>
              </a:rPr>
              <a:t>A[1]</a:t>
            </a:r>
            <a:r>
              <a:rPr lang="ru-RU" dirty="0">
                <a:solidFill>
                  <a:schemeClr val="bg1"/>
                </a:solidFill>
              </a:rPr>
              <a:t>? Чему будет равно: </a:t>
            </a:r>
            <a:r>
              <a:rPr lang="en-US" dirty="0">
                <a:solidFill>
                  <a:schemeClr val="bg1"/>
                </a:solidFill>
              </a:rPr>
              <a:t>0 </a:t>
            </a:r>
            <a:r>
              <a:rPr lang="ru-RU" dirty="0">
                <a:solidFill>
                  <a:schemeClr val="bg1"/>
                </a:solidFill>
              </a:rPr>
              <a:t>или 1</a:t>
            </a:r>
            <a:r>
              <a:rPr lang="en-US" dirty="0">
                <a:solidFill>
                  <a:schemeClr val="bg1"/>
                </a:solidFill>
              </a:rPr>
              <a:t>?</a:t>
            </a:r>
            <a:endParaRPr lang="ru-RU" dirty="0">
              <a:solidFill>
                <a:schemeClr val="bg1"/>
              </a:solidFill>
            </a:endParaRPr>
          </a:p>
          <a:p>
            <a:pPr lvl="2"/>
            <a:r>
              <a:rPr lang="ru-RU" dirty="0">
                <a:solidFill>
                  <a:schemeClr val="bg1"/>
                </a:solidFill>
              </a:rPr>
              <a:t>В каком порядке исполнятся ++?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Определён ли вообще порядок исполнения ++?</a:t>
            </a:r>
          </a:p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0021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Что такое побочный эффект?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Побочный эффект вычисления (</a:t>
            </a:r>
            <a:r>
              <a:rPr lang="en-US" dirty="0"/>
              <a:t>side effect</a:t>
            </a:r>
            <a:r>
              <a:rPr lang="ru-RU" dirty="0"/>
              <a:t>) выражения – это факт изменения содержимого ячеек памяти в процессе вычисления выражения</a:t>
            </a:r>
          </a:p>
          <a:p>
            <a:endParaRPr lang="ru-R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Обычное присваивание</a:t>
            </a:r>
          </a:p>
          <a:p>
            <a:pPr lvl="1"/>
            <a:r>
              <a:rPr lang="en-US" dirty="0"/>
              <a:t>x = 1;</a:t>
            </a:r>
            <a:r>
              <a:rPr lang="ru-RU" dirty="0"/>
              <a:t> </a:t>
            </a:r>
          </a:p>
          <a:p>
            <a:endParaRPr lang="ru-RU" dirty="0"/>
          </a:p>
          <a:p>
            <a:r>
              <a:rPr lang="ru-RU" dirty="0"/>
              <a:t>Постфиксные ++ и --</a:t>
            </a:r>
            <a:endParaRPr lang="en-US" dirty="0"/>
          </a:p>
          <a:p>
            <a:pPr lvl="1"/>
            <a:r>
              <a:rPr lang="en-US" dirty="0"/>
              <a:t>i</a:t>
            </a:r>
            <a:r>
              <a:rPr lang="ru-RU" dirty="0"/>
              <a:t> </a:t>
            </a:r>
            <a:r>
              <a:rPr lang="en-US" dirty="0"/>
              <a:t>=</a:t>
            </a:r>
            <a:r>
              <a:rPr lang="ru-RU" dirty="0"/>
              <a:t> </a:t>
            </a:r>
            <a:r>
              <a:rPr lang="en-US" dirty="0"/>
              <a:t>0; A[i++]</a:t>
            </a:r>
            <a:r>
              <a:rPr lang="ru-RU" dirty="0"/>
              <a:t> </a:t>
            </a:r>
            <a:r>
              <a:rPr lang="en-US" dirty="0"/>
              <a:t>=</a:t>
            </a:r>
            <a:r>
              <a:rPr lang="ru-RU" dirty="0"/>
              <a:t> </a:t>
            </a:r>
            <a:r>
              <a:rPr lang="en-US" dirty="0"/>
              <a:t>i++;</a:t>
            </a:r>
            <a:endParaRPr lang="ru-RU" dirty="0"/>
          </a:p>
          <a:p>
            <a:pPr lvl="2"/>
            <a:r>
              <a:rPr lang="ru-RU" dirty="0"/>
              <a:t>Изменится </a:t>
            </a:r>
            <a:r>
              <a:rPr lang="en-US" dirty="0"/>
              <a:t>A[0] </a:t>
            </a:r>
            <a:r>
              <a:rPr lang="ru-RU" dirty="0"/>
              <a:t>или </a:t>
            </a:r>
            <a:r>
              <a:rPr lang="en-US" dirty="0"/>
              <a:t>A[1]</a:t>
            </a:r>
            <a:r>
              <a:rPr lang="ru-RU" dirty="0"/>
              <a:t>? Чему будет равно: </a:t>
            </a:r>
            <a:r>
              <a:rPr lang="en-US" dirty="0"/>
              <a:t>0 </a:t>
            </a:r>
            <a:r>
              <a:rPr lang="ru-RU" dirty="0"/>
              <a:t>или 1</a:t>
            </a:r>
            <a:r>
              <a:rPr lang="en-US" dirty="0"/>
              <a:t>?</a:t>
            </a:r>
            <a:endParaRPr lang="ru-RU" dirty="0"/>
          </a:p>
          <a:p>
            <a:pPr lvl="2"/>
            <a:r>
              <a:rPr lang="ru-RU" dirty="0"/>
              <a:t>В каком порядке исполнятся ++?</a:t>
            </a:r>
          </a:p>
          <a:p>
            <a:pPr lvl="2"/>
            <a:r>
              <a:rPr lang="ru-RU" dirty="0"/>
              <a:t>Определён ли вообще порядок исполнения ++?</a:t>
            </a:r>
          </a:p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17737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Что такое точка следования?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Точка следования (</a:t>
            </a:r>
            <a:r>
              <a:rPr lang="en-US" dirty="0">
                <a:solidFill>
                  <a:schemeClr val="bg1"/>
                </a:solidFill>
              </a:rPr>
              <a:t>s</a:t>
            </a:r>
            <a:r>
              <a:rPr lang="ru-RU" dirty="0">
                <a:solidFill>
                  <a:schemeClr val="bg1"/>
                </a:solidFill>
              </a:rPr>
              <a:t>equence point)</a:t>
            </a:r>
            <a:r>
              <a:rPr lang="en-US" dirty="0">
                <a:solidFill>
                  <a:schemeClr val="bg1"/>
                </a:solidFill>
              </a:rPr>
              <a:t> – </a:t>
            </a:r>
            <a:r>
              <a:rPr lang="ru-RU" dirty="0">
                <a:solidFill>
                  <a:schemeClr val="bg1"/>
                </a:solidFill>
              </a:rPr>
              <a:t>момент исполнения программы, когда гарантируется, что все побочные эффекты предыдущих вычислений уже случились, а побочные эффекты последующих – ещё нет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49898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E2A85B80-2DB9-209D-6AD9-C019EF6BD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905" y="3739339"/>
            <a:ext cx="8397145" cy="23868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Что такое точка следования?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Точка следования (</a:t>
            </a:r>
            <a:r>
              <a:rPr lang="en-US" dirty="0"/>
              <a:t>s</a:t>
            </a:r>
            <a:r>
              <a:rPr lang="ru-RU" dirty="0"/>
              <a:t>equence point)</a:t>
            </a:r>
            <a:r>
              <a:rPr lang="en-US" dirty="0"/>
              <a:t> – </a:t>
            </a:r>
            <a:r>
              <a:rPr lang="ru-RU" dirty="0"/>
              <a:t>это момент вычисления выражения, когда побочные эффекты</a:t>
            </a:r>
          </a:p>
          <a:p>
            <a:pPr lvl="1"/>
            <a:r>
              <a:rPr lang="ru-RU" dirty="0"/>
              <a:t>все произошли в вычисленной части выражения</a:t>
            </a:r>
          </a:p>
          <a:p>
            <a:pPr lvl="1"/>
            <a:r>
              <a:rPr lang="ru-RU" dirty="0"/>
              <a:t>ни один не произошёл в невычисленной части выражения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40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3056DA-B9C6-A021-F5D4-7C74BEDB96FB}"/>
              </a:ext>
            </a:extLst>
          </p:cNvPr>
          <p:cNvSpPr txBox="1"/>
          <p:nvPr/>
        </p:nvSpPr>
        <p:spPr>
          <a:xfrm>
            <a:off x="4512141" y="3884971"/>
            <a:ext cx="820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  1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94CE18-5721-13AC-004E-563544E07E6F}"/>
              </a:ext>
            </a:extLst>
          </p:cNvPr>
          <p:cNvSpPr txBox="1"/>
          <p:nvPr/>
        </p:nvSpPr>
        <p:spPr>
          <a:xfrm>
            <a:off x="9307963" y="3884971"/>
            <a:ext cx="820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  2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D2B7F-5C37-5E18-40C0-062E35B7AA61}"/>
              </a:ext>
            </a:extLst>
          </p:cNvPr>
          <p:cNvSpPr txBox="1"/>
          <p:nvPr/>
        </p:nvSpPr>
        <p:spPr>
          <a:xfrm>
            <a:off x="7176437" y="388497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1358F7-56BC-9187-D22D-4353500B1259}"/>
              </a:ext>
            </a:extLst>
          </p:cNvPr>
          <p:cNvSpPr txBox="1"/>
          <p:nvPr/>
        </p:nvSpPr>
        <p:spPr>
          <a:xfrm>
            <a:off x="4512141" y="4571836"/>
            <a:ext cx="820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  1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5D5B7E-01AB-8F13-413D-60E1D00110BC}"/>
              </a:ext>
            </a:extLst>
          </p:cNvPr>
          <p:cNvSpPr txBox="1"/>
          <p:nvPr/>
        </p:nvSpPr>
        <p:spPr>
          <a:xfrm>
            <a:off x="8227843" y="4509120"/>
            <a:ext cx="820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  2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E885B4-2203-0140-D76D-59935C6A01DB}"/>
              </a:ext>
            </a:extLst>
          </p:cNvPr>
          <p:cNvSpPr txBox="1"/>
          <p:nvPr/>
        </p:nvSpPr>
        <p:spPr>
          <a:xfrm>
            <a:off x="10708555" y="450912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E408B1-63D8-2E22-5223-06BE17024531}"/>
              </a:ext>
            </a:extLst>
          </p:cNvPr>
          <p:cNvSpPr txBox="1"/>
          <p:nvPr/>
        </p:nvSpPr>
        <p:spPr>
          <a:xfrm>
            <a:off x="535909" y="4556604"/>
            <a:ext cx="2751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Исполняемые инструкции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A38C2F-51C4-311B-4B60-CF91601ECA96}"/>
              </a:ext>
            </a:extLst>
          </p:cNvPr>
          <p:cNvSpPr txBox="1"/>
          <p:nvPr/>
        </p:nvSpPr>
        <p:spPr>
          <a:xfrm>
            <a:off x="851385" y="5061015"/>
            <a:ext cx="2120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Побочные эффекты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DF8541-BA29-85E0-E034-CBCFBD08601D}"/>
              </a:ext>
            </a:extLst>
          </p:cNvPr>
          <p:cNvSpPr txBox="1"/>
          <p:nvPr/>
        </p:nvSpPr>
        <p:spPr>
          <a:xfrm>
            <a:off x="1125589" y="3884971"/>
            <a:ext cx="1572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Исходный код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B31354-A4D4-F801-25F7-0CFDC41F01A3}"/>
              </a:ext>
            </a:extLst>
          </p:cNvPr>
          <p:cNvSpPr txBox="1"/>
          <p:nvPr/>
        </p:nvSpPr>
        <p:spPr>
          <a:xfrm>
            <a:off x="896664" y="5615736"/>
            <a:ext cx="2030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Значения в памяти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EB663FA-0C5D-0EEC-3042-2EEE7B5D3362}"/>
              </a:ext>
            </a:extLst>
          </p:cNvPr>
          <p:cNvSpPr/>
          <p:nvPr/>
        </p:nvSpPr>
        <p:spPr>
          <a:xfrm>
            <a:off x="6456040" y="4293096"/>
            <a:ext cx="331518" cy="831363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44606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Виды точек следования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82930" indent="-514350">
              <a:buFont typeface="+mj-lt"/>
              <a:buAutoNum type="arabicPeriod"/>
            </a:pPr>
            <a:r>
              <a:rPr lang="ru-RU" sz="2800" dirty="0"/>
              <a:t>В конце вычисления левого операнда &amp;&amp;, || и , (запятая)</a:t>
            </a:r>
            <a:endParaRPr lang="en-US" sz="2800" dirty="0"/>
          </a:p>
          <a:p>
            <a:pPr marL="582930" indent="-514350">
              <a:buFont typeface="+mj-lt"/>
              <a:buAutoNum type="arabicPeriod"/>
            </a:pPr>
            <a:endParaRPr lang="ru-RU" sz="2800" dirty="0"/>
          </a:p>
          <a:p>
            <a:pPr marL="582930" indent="-514350">
              <a:buFont typeface="+mj-lt"/>
              <a:buAutoNum type="arabicPeriod"/>
            </a:pPr>
            <a:r>
              <a:rPr lang="ru-RU" sz="2800" dirty="0">
                <a:solidFill>
                  <a:schemeClr val="bg1"/>
                </a:solidFill>
              </a:rPr>
              <a:t>В конце вычисления первого операнда </a:t>
            </a:r>
            <a:r>
              <a:rPr lang="en-US" sz="2800" dirty="0">
                <a:solidFill>
                  <a:schemeClr val="bg1"/>
                </a:solidFill>
              </a:rPr>
              <a:t>?:</a:t>
            </a:r>
            <a:endParaRPr lang="ru-RU" sz="2800" dirty="0">
              <a:solidFill>
                <a:schemeClr val="bg1"/>
              </a:solidFill>
            </a:endParaRPr>
          </a:p>
          <a:p>
            <a:pPr marL="582930" indent="-514350">
              <a:buFont typeface="+mj-lt"/>
              <a:buAutoNum type="arabicPeriod"/>
            </a:pPr>
            <a:endParaRPr lang="ru-RU" sz="2800" dirty="0">
              <a:solidFill>
                <a:schemeClr val="bg1"/>
              </a:solidFill>
            </a:endParaRPr>
          </a:p>
          <a:p>
            <a:pPr marL="582930" indent="-514350">
              <a:buFont typeface="+mj-lt"/>
              <a:buAutoNum type="arabicPeriod"/>
            </a:pPr>
            <a:r>
              <a:rPr lang="ru-RU" sz="2800" dirty="0">
                <a:solidFill>
                  <a:schemeClr val="bg1"/>
                </a:solidFill>
              </a:rPr>
              <a:t>В конце всего выражения</a:t>
            </a:r>
          </a:p>
          <a:p>
            <a:pPr marL="582930" indent="-514350">
              <a:buFont typeface="+mj-lt"/>
              <a:buAutoNum type="arabicPeriod"/>
            </a:pPr>
            <a:endParaRPr lang="ru-RU" sz="2800" dirty="0">
              <a:solidFill>
                <a:schemeClr val="bg1"/>
              </a:solidFill>
            </a:endParaRPr>
          </a:p>
          <a:p>
            <a:pPr marL="582930" indent="-514350">
              <a:buFont typeface="+mj-lt"/>
              <a:buAutoNum type="arabicPeriod"/>
            </a:pPr>
            <a:r>
              <a:rPr lang="ru-RU" sz="2800" dirty="0">
                <a:solidFill>
                  <a:schemeClr val="bg1"/>
                </a:solidFill>
              </a:rPr>
              <a:t>Перед входом в вызываемую функцию</a:t>
            </a:r>
          </a:p>
          <a:p>
            <a:pPr marL="582930" indent="-514350">
              <a:buFont typeface="+mj-lt"/>
              <a:buAutoNum type="arabicPeriod"/>
            </a:pPr>
            <a:endParaRPr lang="ru-RU" sz="2800" dirty="0">
              <a:solidFill>
                <a:schemeClr val="bg1"/>
              </a:solidFill>
            </a:endParaRPr>
          </a:p>
          <a:p>
            <a:pPr marL="582930" indent="-514350">
              <a:buFont typeface="+mj-lt"/>
              <a:buAutoNum type="arabicPeriod"/>
            </a:pPr>
            <a:r>
              <a:rPr lang="ru-RU" sz="2800" dirty="0">
                <a:solidFill>
                  <a:schemeClr val="bg1"/>
                </a:solidFill>
              </a:rPr>
              <a:t>В объявлении с инициализацией на момент завершения вычисления инициализирующего значения</a:t>
            </a:r>
          </a:p>
          <a:p>
            <a:pPr marL="582930" indent="-514350"/>
            <a:endParaRPr lang="ru-RU" sz="2800" dirty="0">
              <a:solidFill>
                <a:schemeClr val="bg1"/>
              </a:solidFill>
            </a:endParaRPr>
          </a:p>
          <a:p>
            <a:pPr marL="582930" indent="-514350"/>
            <a:r>
              <a:rPr lang="ru-RU" sz="2800" dirty="0">
                <a:solidFill>
                  <a:schemeClr val="bg1"/>
                </a:solidFill>
              </a:rPr>
              <a:t>В остальном порядок побочных эффектов является </a:t>
            </a:r>
            <a:r>
              <a:rPr lang="en-US" sz="2800" dirty="0">
                <a:solidFill>
                  <a:schemeClr val="bg1"/>
                </a:solidFill>
              </a:rPr>
              <a:t>undefined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5499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Виды точек следования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82930" indent="-514350">
              <a:buFont typeface="+mj-lt"/>
              <a:buAutoNum type="arabicPeriod"/>
            </a:pPr>
            <a:r>
              <a:rPr lang="ru-RU" sz="2800" dirty="0"/>
              <a:t>В конце вычисления левого операнда &amp;&amp;, || и , (запятая)</a:t>
            </a:r>
            <a:endParaRPr lang="en-US" sz="2800" dirty="0"/>
          </a:p>
          <a:p>
            <a:pPr marL="582930" indent="-514350">
              <a:buFont typeface="+mj-lt"/>
              <a:buAutoNum type="arabicPeriod"/>
            </a:pPr>
            <a:endParaRPr lang="ru-RU" sz="2800" dirty="0"/>
          </a:p>
          <a:p>
            <a:pPr marL="582930" indent="-514350">
              <a:buFont typeface="+mj-lt"/>
              <a:buAutoNum type="arabicPeriod"/>
            </a:pPr>
            <a:r>
              <a:rPr lang="ru-RU" sz="2800" dirty="0"/>
              <a:t>В конце вычисления первого операнда </a:t>
            </a:r>
            <a:r>
              <a:rPr lang="en-US" sz="2800" dirty="0"/>
              <a:t>?:</a:t>
            </a:r>
            <a:endParaRPr lang="ru-RU" sz="2800" dirty="0"/>
          </a:p>
          <a:p>
            <a:pPr marL="582930" indent="-514350">
              <a:buFont typeface="+mj-lt"/>
              <a:buAutoNum type="arabicPeriod"/>
            </a:pPr>
            <a:endParaRPr lang="ru-RU" sz="2800" dirty="0"/>
          </a:p>
          <a:p>
            <a:pPr marL="582930" indent="-514350">
              <a:buFont typeface="+mj-lt"/>
              <a:buAutoNum type="arabicPeriod"/>
            </a:pPr>
            <a:r>
              <a:rPr lang="ru-RU" sz="2800" dirty="0">
                <a:solidFill>
                  <a:schemeClr val="bg1"/>
                </a:solidFill>
              </a:rPr>
              <a:t>В конце всего выражения</a:t>
            </a:r>
          </a:p>
          <a:p>
            <a:pPr marL="582930" indent="-514350">
              <a:buFont typeface="+mj-lt"/>
              <a:buAutoNum type="arabicPeriod"/>
            </a:pPr>
            <a:endParaRPr lang="ru-RU" sz="2800" dirty="0">
              <a:solidFill>
                <a:schemeClr val="bg1"/>
              </a:solidFill>
            </a:endParaRPr>
          </a:p>
          <a:p>
            <a:pPr marL="582930" indent="-514350">
              <a:buFont typeface="+mj-lt"/>
              <a:buAutoNum type="arabicPeriod"/>
            </a:pPr>
            <a:r>
              <a:rPr lang="ru-RU" sz="2800" dirty="0">
                <a:solidFill>
                  <a:schemeClr val="bg1"/>
                </a:solidFill>
              </a:rPr>
              <a:t>Перед входом в вызываемую функцию</a:t>
            </a:r>
          </a:p>
          <a:p>
            <a:pPr marL="582930" indent="-514350">
              <a:buFont typeface="+mj-lt"/>
              <a:buAutoNum type="arabicPeriod"/>
            </a:pPr>
            <a:endParaRPr lang="ru-RU" sz="2800" dirty="0">
              <a:solidFill>
                <a:schemeClr val="bg1"/>
              </a:solidFill>
            </a:endParaRPr>
          </a:p>
          <a:p>
            <a:pPr marL="582930" indent="-514350">
              <a:buFont typeface="+mj-lt"/>
              <a:buAutoNum type="arabicPeriod"/>
            </a:pPr>
            <a:r>
              <a:rPr lang="ru-RU" sz="2800" dirty="0">
                <a:solidFill>
                  <a:schemeClr val="bg1"/>
                </a:solidFill>
              </a:rPr>
              <a:t>В объявлении с инициализацией на момент завершения вычисления инициализирующего значения</a:t>
            </a:r>
          </a:p>
          <a:p>
            <a:pPr marL="582930" indent="-514350"/>
            <a:endParaRPr lang="ru-RU" sz="2800" dirty="0">
              <a:solidFill>
                <a:schemeClr val="bg1"/>
              </a:solidFill>
            </a:endParaRPr>
          </a:p>
          <a:p>
            <a:pPr marL="582930" indent="-514350"/>
            <a:r>
              <a:rPr lang="ru-RU" sz="2800" dirty="0">
                <a:solidFill>
                  <a:schemeClr val="bg1"/>
                </a:solidFill>
              </a:rPr>
              <a:t>В остальном порядок побочных эффектов является </a:t>
            </a:r>
            <a:r>
              <a:rPr lang="en-US" sz="2800" dirty="0">
                <a:solidFill>
                  <a:schemeClr val="bg1"/>
                </a:solidFill>
              </a:rPr>
              <a:t>undefined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72410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Виды точек следования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82930" indent="-514350">
              <a:buFont typeface="+mj-lt"/>
              <a:buAutoNum type="arabicPeriod"/>
            </a:pPr>
            <a:r>
              <a:rPr lang="ru-RU" sz="2800" dirty="0"/>
              <a:t>В конце вычисления левого операнда &amp;&amp;, || и , (запятая)</a:t>
            </a:r>
            <a:endParaRPr lang="en-US" sz="2800" dirty="0"/>
          </a:p>
          <a:p>
            <a:pPr marL="582930" indent="-514350">
              <a:buFont typeface="+mj-lt"/>
              <a:buAutoNum type="arabicPeriod"/>
            </a:pPr>
            <a:endParaRPr lang="ru-RU" sz="2800" dirty="0"/>
          </a:p>
          <a:p>
            <a:pPr marL="582930" indent="-514350">
              <a:buFont typeface="+mj-lt"/>
              <a:buAutoNum type="arabicPeriod"/>
            </a:pPr>
            <a:r>
              <a:rPr lang="ru-RU" sz="2800" dirty="0"/>
              <a:t>В конце вычисления первого операнда </a:t>
            </a:r>
            <a:r>
              <a:rPr lang="en-US" sz="2800" dirty="0"/>
              <a:t>?:</a:t>
            </a:r>
            <a:endParaRPr lang="ru-RU" sz="2800" dirty="0"/>
          </a:p>
          <a:p>
            <a:pPr marL="582930" indent="-514350">
              <a:buFont typeface="+mj-lt"/>
              <a:buAutoNum type="arabicPeriod"/>
            </a:pPr>
            <a:endParaRPr lang="ru-RU" sz="2800" dirty="0"/>
          </a:p>
          <a:p>
            <a:pPr marL="582930" indent="-514350">
              <a:buFont typeface="+mj-lt"/>
              <a:buAutoNum type="arabicPeriod"/>
            </a:pPr>
            <a:r>
              <a:rPr lang="ru-RU" sz="2800" dirty="0"/>
              <a:t>В конце всего выражения</a:t>
            </a:r>
          </a:p>
          <a:p>
            <a:pPr marL="582930" indent="-514350">
              <a:buFont typeface="+mj-lt"/>
              <a:buAutoNum type="arabicPeriod"/>
            </a:pPr>
            <a:endParaRPr lang="ru-RU" sz="2800" dirty="0"/>
          </a:p>
          <a:p>
            <a:pPr marL="582930" indent="-514350">
              <a:buFont typeface="+mj-lt"/>
              <a:buAutoNum type="arabicPeriod"/>
            </a:pPr>
            <a:r>
              <a:rPr lang="ru-RU" sz="2800" dirty="0">
                <a:solidFill>
                  <a:schemeClr val="bg1"/>
                </a:solidFill>
              </a:rPr>
              <a:t>Перед входом в вызываемую функцию</a:t>
            </a:r>
          </a:p>
          <a:p>
            <a:pPr marL="582930" indent="-514350">
              <a:buFont typeface="+mj-lt"/>
              <a:buAutoNum type="arabicPeriod"/>
            </a:pPr>
            <a:endParaRPr lang="ru-RU" sz="2800" dirty="0">
              <a:solidFill>
                <a:schemeClr val="bg1"/>
              </a:solidFill>
            </a:endParaRPr>
          </a:p>
          <a:p>
            <a:pPr marL="582930" indent="-514350">
              <a:buFont typeface="+mj-lt"/>
              <a:buAutoNum type="arabicPeriod"/>
            </a:pPr>
            <a:r>
              <a:rPr lang="ru-RU" sz="2800" dirty="0">
                <a:solidFill>
                  <a:schemeClr val="bg1"/>
                </a:solidFill>
              </a:rPr>
              <a:t>В объявлении с инициализацией на момент завершения вычисления инициализирующего значения</a:t>
            </a:r>
          </a:p>
          <a:p>
            <a:pPr marL="582930" indent="-514350"/>
            <a:endParaRPr lang="ru-RU" sz="2800" dirty="0">
              <a:solidFill>
                <a:schemeClr val="bg1"/>
              </a:solidFill>
            </a:endParaRPr>
          </a:p>
          <a:p>
            <a:pPr marL="582930" indent="-514350"/>
            <a:r>
              <a:rPr lang="ru-RU" sz="2800" dirty="0">
                <a:solidFill>
                  <a:schemeClr val="bg1"/>
                </a:solidFill>
              </a:rPr>
              <a:t>В остальном порядок побочных эффектов является </a:t>
            </a:r>
            <a:r>
              <a:rPr lang="en-US" sz="2800" dirty="0">
                <a:solidFill>
                  <a:schemeClr val="bg1"/>
                </a:solidFill>
              </a:rPr>
              <a:t>undefined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89192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Виды точек следования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82930" indent="-514350">
              <a:buFont typeface="+mj-lt"/>
              <a:buAutoNum type="arabicPeriod"/>
            </a:pPr>
            <a:r>
              <a:rPr lang="ru-RU" sz="2800" dirty="0"/>
              <a:t>В конце вычисления левого операнда &amp;&amp;, || и , (запятая)</a:t>
            </a:r>
            <a:endParaRPr lang="en-US" sz="2800" dirty="0"/>
          </a:p>
          <a:p>
            <a:pPr marL="582930" indent="-514350">
              <a:buFont typeface="+mj-lt"/>
              <a:buAutoNum type="arabicPeriod"/>
            </a:pPr>
            <a:endParaRPr lang="ru-RU" sz="2800" dirty="0"/>
          </a:p>
          <a:p>
            <a:pPr marL="582930" indent="-514350">
              <a:buFont typeface="+mj-lt"/>
              <a:buAutoNum type="arabicPeriod"/>
            </a:pPr>
            <a:r>
              <a:rPr lang="ru-RU" sz="2800" dirty="0"/>
              <a:t>В конце вычисления первого операнда </a:t>
            </a:r>
            <a:r>
              <a:rPr lang="en-US" sz="2800" dirty="0"/>
              <a:t>?:</a:t>
            </a:r>
            <a:endParaRPr lang="ru-RU" sz="2800" dirty="0"/>
          </a:p>
          <a:p>
            <a:pPr marL="582930" indent="-514350">
              <a:buFont typeface="+mj-lt"/>
              <a:buAutoNum type="arabicPeriod"/>
            </a:pPr>
            <a:endParaRPr lang="ru-RU" sz="2800" dirty="0"/>
          </a:p>
          <a:p>
            <a:pPr marL="582930" indent="-514350">
              <a:buFont typeface="+mj-lt"/>
              <a:buAutoNum type="arabicPeriod"/>
            </a:pPr>
            <a:r>
              <a:rPr lang="ru-RU" sz="2800" dirty="0"/>
              <a:t>В конце всего выражения</a:t>
            </a:r>
          </a:p>
          <a:p>
            <a:pPr marL="582930" indent="-514350">
              <a:buFont typeface="+mj-lt"/>
              <a:buAutoNum type="arabicPeriod"/>
            </a:pPr>
            <a:endParaRPr lang="ru-RU" sz="2800" dirty="0"/>
          </a:p>
          <a:p>
            <a:pPr marL="582930" indent="-514350">
              <a:buFont typeface="+mj-lt"/>
              <a:buAutoNum type="arabicPeriod"/>
            </a:pPr>
            <a:r>
              <a:rPr lang="ru-RU" sz="2800" dirty="0"/>
              <a:t>Перед входом в вызываемую функцию</a:t>
            </a:r>
          </a:p>
          <a:p>
            <a:pPr marL="582930" indent="-514350">
              <a:buFont typeface="+mj-lt"/>
              <a:buAutoNum type="arabicPeriod"/>
            </a:pPr>
            <a:endParaRPr lang="ru-RU" sz="2800" dirty="0"/>
          </a:p>
          <a:p>
            <a:pPr marL="582930" indent="-514350">
              <a:buFont typeface="+mj-lt"/>
              <a:buAutoNum type="arabicPeriod"/>
            </a:pPr>
            <a:r>
              <a:rPr lang="ru-RU" sz="2800" dirty="0">
                <a:solidFill>
                  <a:schemeClr val="bg1"/>
                </a:solidFill>
              </a:rPr>
              <a:t>В объявлении с инициализацией на момент завершения вычисления инициализирующего значения</a:t>
            </a:r>
          </a:p>
          <a:p>
            <a:pPr marL="582930" indent="-514350"/>
            <a:endParaRPr lang="ru-RU" sz="2800" dirty="0">
              <a:solidFill>
                <a:schemeClr val="bg1"/>
              </a:solidFill>
            </a:endParaRPr>
          </a:p>
          <a:p>
            <a:pPr marL="582930" indent="-514350"/>
            <a:r>
              <a:rPr lang="ru-RU" sz="2800" dirty="0">
                <a:solidFill>
                  <a:schemeClr val="bg1"/>
                </a:solidFill>
              </a:rPr>
              <a:t>В остальном порядок побочных эффектов является </a:t>
            </a:r>
            <a:r>
              <a:rPr lang="en-US" sz="2800" dirty="0">
                <a:solidFill>
                  <a:schemeClr val="bg1"/>
                </a:solidFill>
              </a:rPr>
              <a:t>undefined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60079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Виды точек следования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82930" indent="-514350">
              <a:buFont typeface="+mj-lt"/>
              <a:buAutoNum type="arabicPeriod"/>
            </a:pPr>
            <a:r>
              <a:rPr lang="ru-RU" sz="2800" dirty="0"/>
              <a:t>В конце вычисления левого операнда &amp;&amp;, || и , (запятая)</a:t>
            </a:r>
            <a:endParaRPr lang="en-US" sz="2800" dirty="0"/>
          </a:p>
          <a:p>
            <a:pPr marL="582930" indent="-514350">
              <a:buFont typeface="+mj-lt"/>
              <a:buAutoNum type="arabicPeriod"/>
            </a:pPr>
            <a:endParaRPr lang="ru-RU" sz="2800" dirty="0"/>
          </a:p>
          <a:p>
            <a:pPr marL="582930" indent="-514350">
              <a:buFont typeface="+mj-lt"/>
              <a:buAutoNum type="arabicPeriod"/>
            </a:pPr>
            <a:r>
              <a:rPr lang="ru-RU" sz="2800" dirty="0"/>
              <a:t>В конце вычисления первого операнда </a:t>
            </a:r>
            <a:r>
              <a:rPr lang="en-US" sz="2800" dirty="0"/>
              <a:t>?:</a:t>
            </a:r>
            <a:endParaRPr lang="ru-RU" sz="2800" dirty="0"/>
          </a:p>
          <a:p>
            <a:pPr marL="582930" indent="-514350">
              <a:buFont typeface="+mj-lt"/>
              <a:buAutoNum type="arabicPeriod"/>
            </a:pPr>
            <a:endParaRPr lang="ru-RU" sz="2800" dirty="0"/>
          </a:p>
          <a:p>
            <a:pPr marL="582930" indent="-514350">
              <a:buFont typeface="+mj-lt"/>
              <a:buAutoNum type="arabicPeriod"/>
            </a:pPr>
            <a:r>
              <a:rPr lang="ru-RU" sz="2800" dirty="0"/>
              <a:t>В конце всего выражения</a:t>
            </a:r>
          </a:p>
          <a:p>
            <a:pPr marL="582930" indent="-514350">
              <a:buFont typeface="+mj-lt"/>
              <a:buAutoNum type="arabicPeriod"/>
            </a:pPr>
            <a:endParaRPr lang="ru-RU" sz="2800" dirty="0"/>
          </a:p>
          <a:p>
            <a:pPr marL="582930" indent="-514350">
              <a:buFont typeface="+mj-lt"/>
              <a:buAutoNum type="arabicPeriod"/>
            </a:pPr>
            <a:r>
              <a:rPr lang="ru-RU" sz="2800" dirty="0"/>
              <a:t>Перед входом в вызываемую функцию</a:t>
            </a:r>
          </a:p>
          <a:p>
            <a:pPr marL="582930" indent="-514350">
              <a:buFont typeface="+mj-lt"/>
              <a:buAutoNum type="arabicPeriod"/>
            </a:pPr>
            <a:endParaRPr lang="ru-RU" sz="2800" dirty="0"/>
          </a:p>
          <a:p>
            <a:pPr marL="582930" indent="-514350">
              <a:buFont typeface="+mj-lt"/>
              <a:buAutoNum type="arabicPeriod"/>
            </a:pPr>
            <a:r>
              <a:rPr lang="ru-RU" sz="2800" dirty="0"/>
              <a:t>В объявлении с инициализацией на момент завершения вычисления инициализирующего значения</a:t>
            </a:r>
          </a:p>
          <a:p>
            <a:pPr marL="582930" indent="-514350"/>
            <a:endParaRPr lang="ru-RU" sz="2800" dirty="0"/>
          </a:p>
          <a:p>
            <a:pPr marL="582930" indent="-514350"/>
            <a:r>
              <a:rPr lang="ru-RU" sz="2800" dirty="0">
                <a:solidFill>
                  <a:schemeClr val="bg1"/>
                </a:solidFill>
              </a:rPr>
              <a:t>В остальном порядок побочных эффектов является </a:t>
            </a:r>
            <a:r>
              <a:rPr lang="en-US" sz="2800" dirty="0">
                <a:solidFill>
                  <a:schemeClr val="bg1"/>
                </a:solidFill>
              </a:rPr>
              <a:t>undefined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99779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Виды точек следования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82930" indent="-514350">
              <a:buFont typeface="+mj-lt"/>
              <a:buAutoNum type="arabicPeriod"/>
            </a:pPr>
            <a:r>
              <a:rPr lang="ru-RU" sz="2800" dirty="0"/>
              <a:t>В конце вычисления левого операнда &amp;&amp;, || и , (запятая)</a:t>
            </a:r>
            <a:endParaRPr lang="en-US" sz="2800" dirty="0"/>
          </a:p>
          <a:p>
            <a:pPr marL="582930" indent="-514350">
              <a:buFont typeface="+mj-lt"/>
              <a:buAutoNum type="arabicPeriod"/>
            </a:pPr>
            <a:endParaRPr lang="ru-RU" sz="2800" dirty="0"/>
          </a:p>
          <a:p>
            <a:pPr marL="582930" indent="-514350">
              <a:buFont typeface="+mj-lt"/>
              <a:buAutoNum type="arabicPeriod"/>
            </a:pPr>
            <a:r>
              <a:rPr lang="ru-RU" sz="2800" dirty="0"/>
              <a:t>В конце вычисления первого операнда </a:t>
            </a:r>
            <a:r>
              <a:rPr lang="en-US" sz="2800" dirty="0"/>
              <a:t>?:</a:t>
            </a:r>
            <a:endParaRPr lang="ru-RU" sz="2800" dirty="0"/>
          </a:p>
          <a:p>
            <a:pPr marL="582930" indent="-514350">
              <a:buFont typeface="+mj-lt"/>
              <a:buAutoNum type="arabicPeriod"/>
            </a:pPr>
            <a:endParaRPr lang="ru-RU" sz="2800" dirty="0"/>
          </a:p>
          <a:p>
            <a:pPr marL="582930" indent="-514350">
              <a:buFont typeface="+mj-lt"/>
              <a:buAutoNum type="arabicPeriod"/>
            </a:pPr>
            <a:r>
              <a:rPr lang="ru-RU" sz="2800" dirty="0"/>
              <a:t>В конце всего выражения</a:t>
            </a:r>
          </a:p>
          <a:p>
            <a:pPr marL="582930" indent="-514350">
              <a:buFont typeface="+mj-lt"/>
              <a:buAutoNum type="arabicPeriod"/>
            </a:pPr>
            <a:endParaRPr lang="ru-RU" sz="2800" dirty="0"/>
          </a:p>
          <a:p>
            <a:pPr marL="582930" indent="-514350">
              <a:buFont typeface="+mj-lt"/>
              <a:buAutoNum type="arabicPeriod"/>
            </a:pPr>
            <a:r>
              <a:rPr lang="ru-RU" sz="2800" dirty="0"/>
              <a:t>Перед входом в вызываемую функцию</a:t>
            </a:r>
          </a:p>
          <a:p>
            <a:pPr marL="582930" indent="-514350">
              <a:buFont typeface="+mj-lt"/>
              <a:buAutoNum type="arabicPeriod"/>
            </a:pPr>
            <a:endParaRPr lang="ru-RU" sz="2800" dirty="0"/>
          </a:p>
          <a:p>
            <a:pPr marL="582930" indent="-514350">
              <a:buFont typeface="+mj-lt"/>
              <a:buAutoNum type="arabicPeriod"/>
            </a:pPr>
            <a:r>
              <a:rPr lang="ru-RU" sz="2800" dirty="0"/>
              <a:t>В объявлении с инициализацией на момент завершения вычисления инициализирующего значения</a:t>
            </a:r>
          </a:p>
          <a:p>
            <a:pPr marL="582930" indent="-514350"/>
            <a:endParaRPr lang="ru-RU" sz="2800" dirty="0"/>
          </a:p>
          <a:p>
            <a:pPr marL="582930" indent="-514350"/>
            <a:r>
              <a:rPr lang="ru-RU" sz="2800" dirty="0"/>
              <a:t>В остальном порядок побочных эффектов является </a:t>
            </a:r>
            <a:r>
              <a:rPr lang="en-US" sz="2800" dirty="0"/>
              <a:t>undefined</a:t>
            </a:r>
            <a:endParaRPr lang="ru-RU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3935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while (*p++ != 0 &amp;&amp; *q++ != 0) *p = *q;</a:t>
            </a:r>
            <a:endParaRPr lang="ru-RU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1"/>
            <a:r>
              <a:rPr lang="ru-RU" dirty="0">
                <a:solidFill>
                  <a:schemeClr val="bg1"/>
                </a:solidFill>
              </a:rPr>
              <a:t>Никогда не пишите так =)</a:t>
            </a:r>
          </a:p>
          <a:p>
            <a:pPr lvl="2"/>
            <a:endParaRPr lang="ru-RU" dirty="0">
              <a:solidFill>
                <a:schemeClr val="bg1"/>
              </a:solidFill>
            </a:endParaRPr>
          </a:p>
          <a:p>
            <a:pPr lvl="1"/>
            <a:r>
              <a:rPr lang="ru-RU" dirty="0">
                <a:solidFill>
                  <a:schemeClr val="bg1"/>
                </a:solidFill>
              </a:rPr>
              <a:t>Побочный эффект *p++ != 0 проявится до начала вычисления *q++ != 0 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Конец первого операнда </a:t>
            </a:r>
            <a:r>
              <a:rPr lang="en-US" dirty="0">
                <a:solidFill>
                  <a:schemeClr val="bg1"/>
                </a:solidFill>
              </a:rPr>
              <a:t>&amp;&amp;</a:t>
            </a:r>
            <a:endParaRPr lang="ru-RU" dirty="0">
              <a:solidFill>
                <a:schemeClr val="bg1"/>
              </a:solidFill>
            </a:endParaRPr>
          </a:p>
          <a:p>
            <a:pPr lvl="2"/>
            <a:endParaRPr lang="ru-RU" dirty="0">
              <a:solidFill>
                <a:schemeClr val="bg1"/>
              </a:solidFill>
            </a:endParaRPr>
          </a:p>
          <a:p>
            <a:pPr lvl="1"/>
            <a:r>
              <a:rPr lang="ru-RU" dirty="0">
                <a:solidFill>
                  <a:schemeClr val="bg1"/>
                </a:solidFill>
              </a:rPr>
              <a:t>Побочный эффект *q++ != 0 проявится до начала вычисления *p = *q </a:t>
            </a:r>
            <a:endParaRPr lang="en-US" dirty="0">
              <a:solidFill>
                <a:schemeClr val="bg1"/>
              </a:solidFill>
            </a:endParaRPr>
          </a:p>
          <a:p>
            <a:pPr lvl="2"/>
            <a:r>
              <a:rPr lang="ru-RU" dirty="0">
                <a:solidFill>
                  <a:schemeClr val="bg1"/>
                </a:solidFill>
              </a:rPr>
              <a:t>Конец выражения</a:t>
            </a:r>
          </a:p>
          <a:p>
            <a:pPr marL="0" indent="0">
              <a:buNone/>
            </a:pPr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Сколько точек следования в каждом из этих операторов?</a:t>
            </a:r>
          </a:p>
          <a:p>
            <a:pPr marL="857250" lvl="1" indent="-457200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while (*p != 0 &amp;&amp; *q != 0) *p++ = *q++;</a:t>
            </a:r>
          </a:p>
          <a:p>
            <a:pPr marL="857250" lvl="1" indent="-457200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while (*q != 0) *p++ = *q++;</a:t>
            </a:r>
          </a:p>
          <a:p>
            <a:pPr marL="125730" indent="0">
              <a:buNone/>
            </a:pP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30485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(*p++ != 0 &amp;&amp; *q++ != 0) *p = *q;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ru-RU" dirty="0">
                <a:solidFill>
                  <a:schemeClr val="bg1"/>
                </a:solidFill>
              </a:rPr>
              <a:t>Никогда не пишите так =)</a:t>
            </a:r>
          </a:p>
          <a:p>
            <a:pPr lvl="2"/>
            <a:endParaRPr lang="ru-RU" dirty="0">
              <a:solidFill>
                <a:schemeClr val="bg1"/>
              </a:solidFill>
            </a:endParaRPr>
          </a:p>
          <a:p>
            <a:pPr lvl="1"/>
            <a:r>
              <a:rPr lang="ru-RU" dirty="0">
                <a:solidFill>
                  <a:schemeClr val="bg1"/>
                </a:solidFill>
              </a:rPr>
              <a:t>Побочный эффект *p++ != 0 проявится до начала вычисления *q++ != 0 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Конец первого операнда </a:t>
            </a:r>
            <a:r>
              <a:rPr lang="en-US" dirty="0">
                <a:solidFill>
                  <a:schemeClr val="bg1"/>
                </a:solidFill>
              </a:rPr>
              <a:t>&amp;&amp;</a:t>
            </a:r>
            <a:endParaRPr lang="ru-RU" dirty="0">
              <a:solidFill>
                <a:schemeClr val="bg1"/>
              </a:solidFill>
            </a:endParaRPr>
          </a:p>
          <a:p>
            <a:pPr lvl="2"/>
            <a:endParaRPr lang="ru-RU" dirty="0">
              <a:solidFill>
                <a:schemeClr val="bg1"/>
              </a:solidFill>
            </a:endParaRPr>
          </a:p>
          <a:p>
            <a:pPr lvl="1"/>
            <a:r>
              <a:rPr lang="ru-RU" dirty="0">
                <a:solidFill>
                  <a:schemeClr val="bg1"/>
                </a:solidFill>
              </a:rPr>
              <a:t>Побочный эффект *q++ != 0 проявится до начала вычисления *p = *q </a:t>
            </a:r>
            <a:endParaRPr lang="en-US" dirty="0">
              <a:solidFill>
                <a:schemeClr val="bg1"/>
              </a:solidFill>
            </a:endParaRPr>
          </a:p>
          <a:p>
            <a:pPr lvl="2"/>
            <a:r>
              <a:rPr lang="ru-RU" dirty="0">
                <a:solidFill>
                  <a:schemeClr val="bg1"/>
                </a:solidFill>
              </a:rPr>
              <a:t>Конец выражения</a:t>
            </a:r>
          </a:p>
          <a:p>
            <a:pPr marL="0" indent="0">
              <a:buNone/>
            </a:pPr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Сколько точек следования в каждом из этих операторов?</a:t>
            </a:r>
          </a:p>
          <a:p>
            <a:pPr marL="857250" lvl="1" indent="-457200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while (*p != 0 &amp;&amp; *q != 0) *p++ = *q++;</a:t>
            </a:r>
          </a:p>
          <a:p>
            <a:pPr marL="857250" lvl="1" indent="-457200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while (*q != 0) *p++ = *q++;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66578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(*p++ != 0 &amp;&amp; *q++ != 0) *p = *q;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ru-RU" dirty="0"/>
              <a:t>Никогда не пишите так =)</a:t>
            </a:r>
          </a:p>
          <a:p>
            <a:pPr lvl="2"/>
            <a:endParaRPr lang="ru-RU" dirty="0"/>
          </a:p>
          <a:p>
            <a:pPr lvl="1"/>
            <a:r>
              <a:rPr lang="ru-RU" dirty="0">
                <a:solidFill>
                  <a:schemeClr val="bg1"/>
                </a:solidFill>
              </a:rPr>
              <a:t>Побочный эффект *p++ != 0 проявится до начала вычисления *q++ != 0 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Конец первого операнда </a:t>
            </a:r>
            <a:r>
              <a:rPr lang="en-US" dirty="0">
                <a:solidFill>
                  <a:schemeClr val="bg1"/>
                </a:solidFill>
              </a:rPr>
              <a:t>&amp;&amp;</a:t>
            </a:r>
            <a:endParaRPr lang="ru-RU" dirty="0">
              <a:solidFill>
                <a:schemeClr val="bg1"/>
              </a:solidFill>
            </a:endParaRPr>
          </a:p>
          <a:p>
            <a:pPr lvl="2"/>
            <a:endParaRPr lang="ru-RU" dirty="0">
              <a:solidFill>
                <a:schemeClr val="bg1"/>
              </a:solidFill>
            </a:endParaRPr>
          </a:p>
          <a:p>
            <a:pPr lvl="1"/>
            <a:r>
              <a:rPr lang="ru-RU" dirty="0">
                <a:solidFill>
                  <a:schemeClr val="bg1"/>
                </a:solidFill>
              </a:rPr>
              <a:t>Побочный эффект *q++ != 0 проявится до начала вычисления *p = *q </a:t>
            </a:r>
            <a:endParaRPr lang="en-US" dirty="0">
              <a:solidFill>
                <a:schemeClr val="bg1"/>
              </a:solidFill>
            </a:endParaRPr>
          </a:p>
          <a:p>
            <a:pPr lvl="2"/>
            <a:r>
              <a:rPr lang="ru-RU" dirty="0">
                <a:solidFill>
                  <a:schemeClr val="bg1"/>
                </a:solidFill>
              </a:rPr>
              <a:t>Конец выражения</a:t>
            </a:r>
          </a:p>
          <a:p>
            <a:pPr marL="0" indent="0">
              <a:buNone/>
            </a:pPr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Сколько точек следования в каждом из этих операторов?</a:t>
            </a:r>
          </a:p>
          <a:p>
            <a:pPr marL="857250" lvl="1" indent="-457200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while (*p != 0 &amp;&amp; *q != 0) *p++ = *q++;</a:t>
            </a:r>
          </a:p>
          <a:p>
            <a:pPr marL="857250" lvl="1" indent="-457200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while (*q != 0) *p++ = *q++;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73021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(*p++ != 0 &amp;&amp; *q++ != 0) *p = *q;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ru-RU" dirty="0"/>
              <a:t>Никогда не пишите так =)</a:t>
            </a:r>
          </a:p>
          <a:p>
            <a:pPr lvl="2"/>
            <a:endParaRPr lang="ru-RU" dirty="0"/>
          </a:p>
          <a:p>
            <a:pPr lvl="1"/>
            <a:r>
              <a:rPr lang="ru-RU" dirty="0"/>
              <a:t>Побочный эффект *p++ != 0 проявится до начала вычисления *q++ != 0 </a:t>
            </a:r>
          </a:p>
          <a:p>
            <a:pPr lvl="2"/>
            <a:r>
              <a:rPr lang="ru-RU" dirty="0"/>
              <a:t>Конец первого операнда </a:t>
            </a:r>
            <a:r>
              <a:rPr lang="en-US" dirty="0"/>
              <a:t>&amp;&amp;</a:t>
            </a:r>
            <a:endParaRPr lang="ru-RU" dirty="0"/>
          </a:p>
          <a:p>
            <a:pPr lvl="2"/>
            <a:endParaRPr lang="ru-RU" dirty="0"/>
          </a:p>
          <a:p>
            <a:pPr lvl="1"/>
            <a:r>
              <a:rPr lang="ru-RU" dirty="0"/>
              <a:t>Побочный эффект *q++ != 0 проявится до начала вычисления *p = *q </a:t>
            </a:r>
            <a:endParaRPr lang="en-US" dirty="0"/>
          </a:p>
          <a:p>
            <a:pPr lvl="2"/>
            <a:r>
              <a:rPr lang="ru-RU" dirty="0"/>
              <a:t>Конец выражения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>
                <a:solidFill>
                  <a:schemeClr val="bg1"/>
                </a:solidFill>
              </a:rPr>
              <a:t>Сколько точек следования в каждом из этих операторов?</a:t>
            </a:r>
          </a:p>
          <a:p>
            <a:pPr marL="857250" lvl="1" indent="-457200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while (*p != 0 &amp;&amp; *q != 0) *p++ = *q++;</a:t>
            </a:r>
          </a:p>
          <a:p>
            <a:pPr marL="857250" lvl="1" indent="-457200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while (*q != 0) *p++ = *q++;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53307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(*p++ != 0 &amp;&amp; *q++ != 0) *p = *q;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ru-RU" dirty="0"/>
              <a:t>Никогда не пишите так =)</a:t>
            </a:r>
          </a:p>
          <a:p>
            <a:pPr lvl="2"/>
            <a:endParaRPr lang="ru-RU" dirty="0"/>
          </a:p>
          <a:p>
            <a:pPr lvl="1"/>
            <a:r>
              <a:rPr lang="ru-RU" dirty="0"/>
              <a:t>Побочный эффект *p++ != 0 проявится до начала вычисления *q++ != 0 </a:t>
            </a:r>
          </a:p>
          <a:p>
            <a:pPr lvl="2"/>
            <a:r>
              <a:rPr lang="ru-RU" dirty="0"/>
              <a:t>Конец первого операнда </a:t>
            </a:r>
            <a:r>
              <a:rPr lang="en-US" dirty="0"/>
              <a:t>&amp;&amp;</a:t>
            </a:r>
            <a:endParaRPr lang="ru-RU" dirty="0"/>
          </a:p>
          <a:p>
            <a:pPr lvl="2"/>
            <a:endParaRPr lang="ru-RU" dirty="0"/>
          </a:p>
          <a:p>
            <a:pPr lvl="1"/>
            <a:r>
              <a:rPr lang="ru-RU" dirty="0"/>
              <a:t>Побочный эффект *q++ != 0 проявится до начала вычисления *p = *q </a:t>
            </a:r>
            <a:endParaRPr lang="en-US" dirty="0"/>
          </a:p>
          <a:p>
            <a:pPr lvl="2"/>
            <a:r>
              <a:rPr lang="ru-RU" dirty="0"/>
              <a:t>Конец выражения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Сколько точек следования в каждом из этих операторов?</a:t>
            </a:r>
          </a:p>
          <a:p>
            <a:pPr marL="857250" lvl="1" indent="-457200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(*p != 0 &amp;&amp; *q != 0) *p++ = *q++;</a:t>
            </a:r>
          </a:p>
          <a:p>
            <a:pPr marL="857250" lvl="1" indent="-457200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(*q != 0) *p++ = *q++;</a:t>
            </a:r>
          </a:p>
          <a:p>
            <a:pPr marL="125730" indent="0">
              <a:buNone/>
            </a:pPr>
            <a:endParaRPr lang="ru-RU" dirty="0"/>
          </a:p>
          <a:p>
            <a:pPr marL="125730" indent="0">
              <a:buNone/>
            </a:pP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12383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A[3] = { 1,</a:t>
            </a: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0,</a:t>
            </a: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2 }, *p = A;</a:t>
            </a:r>
            <a:b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ru-RU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 a = (*p++) ? (*p++) : 0; // чему равно a?</a:t>
            </a:r>
          </a:p>
          <a:p>
            <a:pPr marL="68580" indent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Точка следования находится после первого *p++</a:t>
            </a:r>
          </a:p>
          <a:p>
            <a:endParaRPr lang="ru-RU" sz="2800" dirty="0">
              <a:solidFill>
                <a:schemeClr val="bg1"/>
              </a:solidFill>
            </a:endParaRP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p уже увеличена на 1 при вычислении второго *p++ </a:t>
            </a:r>
          </a:p>
          <a:p>
            <a:endParaRPr lang="ru-RU" sz="2800" dirty="0">
              <a:solidFill>
                <a:schemeClr val="bg1"/>
              </a:solidFill>
            </a:endParaRPr>
          </a:p>
          <a:p>
            <a:r>
              <a:rPr lang="ru-RU" sz="2800" dirty="0">
                <a:solidFill>
                  <a:schemeClr val="bg1"/>
                </a:solidFill>
              </a:rPr>
              <a:t>Никогда, никогда не пишите так!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64053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A[3] = { 1,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0,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2 }, *p = A;</a:t>
            </a:r>
            <a:b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ru-RU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a = (*p++) ? (*p++) : 0;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// чему равно a?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68580" indent="0">
              <a:buNone/>
            </a:pPr>
            <a:endParaRPr lang="en-US" sz="2400" dirty="0"/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Точка следования находится после первого *p++</a:t>
            </a:r>
          </a:p>
          <a:p>
            <a:endParaRPr lang="ru-RU" sz="2800" dirty="0">
              <a:solidFill>
                <a:schemeClr val="bg1"/>
              </a:solidFill>
            </a:endParaRP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p уже увеличена на 1 при вычислении второго *p++ </a:t>
            </a:r>
          </a:p>
          <a:p>
            <a:endParaRPr lang="ru-RU" sz="2800" dirty="0">
              <a:solidFill>
                <a:schemeClr val="bg1"/>
              </a:solidFill>
            </a:endParaRPr>
          </a:p>
          <a:p>
            <a:r>
              <a:rPr lang="ru-RU" sz="2800" dirty="0">
                <a:solidFill>
                  <a:schemeClr val="bg1"/>
                </a:solidFill>
              </a:rPr>
              <a:t>Никогда, никогда не пишите так!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11838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A[3] = { 1,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0,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2 }, *p = A;</a:t>
            </a:r>
            <a:b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ru-RU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a = (*p++) ? (*p++) : 0;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// чему равно a?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68580" indent="0">
              <a:buNone/>
            </a:pPr>
            <a:endParaRPr lang="en-US" sz="2400" dirty="0"/>
          </a:p>
          <a:p>
            <a:pPr lvl="1"/>
            <a:r>
              <a:rPr lang="ru-RU" sz="2400" dirty="0"/>
              <a:t>Точка следования находится после первого *p++</a:t>
            </a:r>
          </a:p>
          <a:p>
            <a:endParaRPr lang="ru-RU" sz="2800" dirty="0"/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p уже увеличена на 1 при вычислении второго *p++ </a:t>
            </a:r>
          </a:p>
          <a:p>
            <a:endParaRPr lang="ru-RU" sz="2800" dirty="0">
              <a:solidFill>
                <a:schemeClr val="bg1"/>
              </a:solidFill>
            </a:endParaRPr>
          </a:p>
          <a:p>
            <a:r>
              <a:rPr lang="ru-RU" sz="2800" dirty="0">
                <a:solidFill>
                  <a:schemeClr val="bg1"/>
                </a:solidFill>
              </a:rPr>
              <a:t>Никогда, никогда не пишите так!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5679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A[3] = { 1,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0,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2 }, *p = A;</a:t>
            </a:r>
            <a:b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ru-RU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a = (*p++) ? (*p++) : 0;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// чему равно a?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68580" indent="0">
              <a:buNone/>
            </a:pPr>
            <a:endParaRPr lang="en-US" sz="2400" dirty="0"/>
          </a:p>
          <a:p>
            <a:pPr lvl="1"/>
            <a:r>
              <a:rPr lang="ru-RU" sz="2400" dirty="0"/>
              <a:t>Точка следования находится после первого *p++</a:t>
            </a:r>
          </a:p>
          <a:p>
            <a:endParaRPr lang="ru-RU" sz="2800" dirty="0"/>
          </a:p>
          <a:p>
            <a:pPr lvl="1"/>
            <a:r>
              <a:rPr lang="ru-RU" sz="2400" dirty="0"/>
              <a:t>p уже увеличена на 1 при вычислении второго *p++ </a:t>
            </a:r>
          </a:p>
          <a:p>
            <a:endParaRPr lang="ru-RU" sz="2800" dirty="0"/>
          </a:p>
          <a:p>
            <a:r>
              <a:rPr lang="ru-RU" sz="2800" dirty="0">
                <a:solidFill>
                  <a:schemeClr val="bg1"/>
                </a:solidFill>
              </a:rPr>
              <a:t>Никогда, никогда не пишите так!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90140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A[3] = { 1,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0,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2 }, *p = A;</a:t>
            </a:r>
            <a:b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ru-RU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a = (*p++) ? (*p++) : 0;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// чему равно a?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68580" indent="0">
              <a:buNone/>
            </a:pPr>
            <a:endParaRPr lang="en-US" sz="2400" dirty="0"/>
          </a:p>
          <a:p>
            <a:pPr lvl="1"/>
            <a:r>
              <a:rPr lang="ru-RU" sz="2400" dirty="0"/>
              <a:t>Точка следования находится после первого *p++</a:t>
            </a:r>
          </a:p>
          <a:p>
            <a:endParaRPr lang="ru-RU" sz="2800" dirty="0"/>
          </a:p>
          <a:p>
            <a:pPr lvl="1"/>
            <a:r>
              <a:rPr lang="ru-RU" sz="2400" dirty="0"/>
              <a:t>p уже увеличена на 1 при вычислении второго *p++ </a:t>
            </a:r>
          </a:p>
          <a:p>
            <a:endParaRPr lang="ru-RU" sz="2800" dirty="0"/>
          </a:p>
          <a:p>
            <a:r>
              <a:rPr lang="ru-RU" sz="2800" dirty="0"/>
              <a:t>Никогда, никогда не пишите так!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923477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nn-NO" dirty="0">
                <a:solidFill>
                  <a:schemeClr val="bg1"/>
                </a:solidFill>
                <a:latin typeface="Consolas" panose="020B0609020204030204" pitchFamily="49" charset="0"/>
              </a:rPr>
              <a:t>int i = 0, j = i++, k = i++;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</a:rPr>
              <a:t> // (1) </a:t>
            </a:r>
            <a:br>
              <a:rPr lang="ru-RU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x = f(i++) + g(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j++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) + h(k++);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</a:rPr>
              <a:t> // (2)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Каждая из переменных i, j и k принимает новое значение перед входом в f, g и h соответственно, но при этом…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pPr lvl="1"/>
            <a:r>
              <a:rPr lang="ru-RU" dirty="0">
                <a:solidFill>
                  <a:schemeClr val="bg1"/>
                </a:solidFill>
              </a:rPr>
              <a:t>Не определен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Порядок вызова функций f(), g(), h() и порядок инкрементов i, j, k в строке 2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Если </a:t>
            </a:r>
            <a:r>
              <a:rPr lang="en-US" dirty="0">
                <a:solidFill>
                  <a:schemeClr val="bg1"/>
                </a:solidFill>
              </a:rPr>
              <a:t>i, </a:t>
            </a:r>
            <a:r>
              <a:rPr lang="ru-RU" dirty="0">
                <a:solidFill>
                  <a:schemeClr val="bg1"/>
                </a:solidFill>
              </a:rPr>
              <a:t>j и k – глобальные переменные, то не определены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Значения j и k внутри f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Значения </a:t>
            </a:r>
            <a:r>
              <a:rPr lang="en-US" dirty="0">
                <a:solidFill>
                  <a:schemeClr val="bg1"/>
                </a:solidFill>
              </a:rPr>
              <a:t>i</a:t>
            </a:r>
            <a:r>
              <a:rPr lang="ru-RU" dirty="0">
                <a:solidFill>
                  <a:schemeClr val="bg1"/>
                </a:solidFill>
              </a:rPr>
              <a:t> и k внутри </a:t>
            </a:r>
            <a:r>
              <a:rPr lang="en-US" dirty="0">
                <a:solidFill>
                  <a:schemeClr val="bg1"/>
                </a:solidFill>
              </a:rPr>
              <a:t>g</a:t>
            </a:r>
            <a:endParaRPr lang="ru-RU" dirty="0">
              <a:solidFill>
                <a:schemeClr val="bg1"/>
              </a:solidFill>
            </a:endParaRPr>
          </a:p>
          <a:p>
            <a:pPr lvl="2"/>
            <a:r>
              <a:rPr lang="ru-RU" dirty="0">
                <a:solidFill>
                  <a:schemeClr val="bg1"/>
                </a:solidFill>
              </a:rPr>
              <a:t>Значения </a:t>
            </a:r>
            <a:r>
              <a:rPr lang="en-US" dirty="0">
                <a:solidFill>
                  <a:schemeClr val="bg1"/>
                </a:solidFill>
              </a:rPr>
              <a:t>i </a:t>
            </a:r>
            <a:r>
              <a:rPr lang="ru-RU" dirty="0">
                <a:solidFill>
                  <a:schemeClr val="bg1"/>
                </a:solidFill>
              </a:rPr>
              <a:t>и j внутри </a:t>
            </a:r>
            <a:r>
              <a:rPr lang="en-US" dirty="0">
                <a:solidFill>
                  <a:schemeClr val="bg1"/>
                </a:solidFill>
              </a:rPr>
              <a:t>h</a:t>
            </a:r>
            <a:r>
              <a:rPr lang="ru-RU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07921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i = 0, j = i++, k = i++;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(1) </a:t>
            </a:r>
            <a:b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x = f(i++) + g(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+ h(k++);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(2)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dirty="0"/>
          </a:p>
          <a:p>
            <a:r>
              <a:rPr lang="ru-RU" dirty="0">
                <a:solidFill>
                  <a:schemeClr val="bg1"/>
                </a:solidFill>
              </a:rPr>
              <a:t>Каждая из переменных i, j и k принимает новое значение перед входом в f, g и h соответственно, но при этом…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pPr lvl="1"/>
            <a:r>
              <a:rPr lang="ru-RU" dirty="0">
                <a:solidFill>
                  <a:schemeClr val="bg1"/>
                </a:solidFill>
              </a:rPr>
              <a:t>Не определен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Порядок вызова функций f(), g(), h() и порядок инкрементов i, j, k в строке 2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Если </a:t>
            </a:r>
            <a:r>
              <a:rPr lang="en-US" dirty="0">
                <a:solidFill>
                  <a:schemeClr val="bg1"/>
                </a:solidFill>
              </a:rPr>
              <a:t>i, </a:t>
            </a:r>
            <a:r>
              <a:rPr lang="ru-RU" dirty="0">
                <a:solidFill>
                  <a:schemeClr val="bg1"/>
                </a:solidFill>
              </a:rPr>
              <a:t>j и k – глобальные переменные, то не определены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Значения j и k внутри f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Значения </a:t>
            </a:r>
            <a:r>
              <a:rPr lang="en-US" dirty="0">
                <a:solidFill>
                  <a:schemeClr val="bg1"/>
                </a:solidFill>
              </a:rPr>
              <a:t>i</a:t>
            </a:r>
            <a:r>
              <a:rPr lang="ru-RU" dirty="0">
                <a:solidFill>
                  <a:schemeClr val="bg1"/>
                </a:solidFill>
              </a:rPr>
              <a:t> и k внутри </a:t>
            </a:r>
            <a:r>
              <a:rPr lang="en-US" dirty="0">
                <a:solidFill>
                  <a:schemeClr val="bg1"/>
                </a:solidFill>
              </a:rPr>
              <a:t>g</a:t>
            </a:r>
            <a:endParaRPr lang="ru-RU" dirty="0">
              <a:solidFill>
                <a:schemeClr val="bg1"/>
              </a:solidFill>
            </a:endParaRPr>
          </a:p>
          <a:p>
            <a:pPr lvl="2"/>
            <a:r>
              <a:rPr lang="ru-RU" dirty="0">
                <a:solidFill>
                  <a:schemeClr val="bg1"/>
                </a:solidFill>
              </a:rPr>
              <a:t>Значения </a:t>
            </a:r>
            <a:r>
              <a:rPr lang="en-US" dirty="0">
                <a:solidFill>
                  <a:schemeClr val="bg1"/>
                </a:solidFill>
              </a:rPr>
              <a:t>i </a:t>
            </a:r>
            <a:r>
              <a:rPr lang="ru-RU" dirty="0">
                <a:solidFill>
                  <a:schemeClr val="bg1"/>
                </a:solidFill>
              </a:rPr>
              <a:t>и j внутри </a:t>
            </a:r>
            <a:r>
              <a:rPr lang="en-US" dirty="0">
                <a:solidFill>
                  <a:schemeClr val="bg1"/>
                </a:solidFill>
              </a:rPr>
              <a:t>h</a:t>
            </a:r>
            <a:r>
              <a:rPr lang="ru-RU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075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i = 0, j = i++, k = i++;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(1) </a:t>
            </a:r>
            <a:b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x = f(i++) + g(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+ h(k++);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(2)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dirty="0"/>
          </a:p>
          <a:p>
            <a:r>
              <a:rPr lang="ru-RU" dirty="0"/>
              <a:t>Каждая из переменных i, j и k принимает новое значение перед входом в f, g и h соответственно, но при этом…</a:t>
            </a:r>
          </a:p>
          <a:p>
            <a:endParaRPr lang="ru-RU" dirty="0"/>
          </a:p>
          <a:p>
            <a:pPr lvl="1"/>
            <a:r>
              <a:rPr lang="ru-RU" dirty="0">
                <a:solidFill>
                  <a:schemeClr val="bg1"/>
                </a:solidFill>
              </a:rPr>
              <a:t>Не определен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Порядок вызова функций f(), g(), h() и порядок инкрементов i, j, k в строке 2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Если </a:t>
            </a:r>
            <a:r>
              <a:rPr lang="en-US" dirty="0">
                <a:solidFill>
                  <a:schemeClr val="bg1"/>
                </a:solidFill>
              </a:rPr>
              <a:t>i, </a:t>
            </a:r>
            <a:r>
              <a:rPr lang="ru-RU" dirty="0">
                <a:solidFill>
                  <a:schemeClr val="bg1"/>
                </a:solidFill>
              </a:rPr>
              <a:t>j и k – глобальные переменные, то не определены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Значения j и k внутри f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Значения </a:t>
            </a:r>
            <a:r>
              <a:rPr lang="en-US" dirty="0">
                <a:solidFill>
                  <a:schemeClr val="bg1"/>
                </a:solidFill>
              </a:rPr>
              <a:t>i</a:t>
            </a:r>
            <a:r>
              <a:rPr lang="ru-RU" dirty="0">
                <a:solidFill>
                  <a:schemeClr val="bg1"/>
                </a:solidFill>
              </a:rPr>
              <a:t> и k внутри </a:t>
            </a:r>
            <a:r>
              <a:rPr lang="en-US" dirty="0">
                <a:solidFill>
                  <a:schemeClr val="bg1"/>
                </a:solidFill>
              </a:rPr>
              <a:t>g</a:t>
            </a:r>
            <a:endParaRPr lang="ru-RU" dirty="0">
              <a:solidFill>
                <a:schemeClr val="bg1"/>
              </a:solidFill>
            </a:endParaRPr>
          </a:p>
          <a:p>
            <a:pPr lvl="2"/>
            <a:r>
              <a:rPr lang="ru-RU" dirty="0">
                <a:solidFill>
                  <a:schemeClr val="bg1"/>
                </a:solidFill>
              </a:rPr>
              <a:t>Значения </a:t>
            </a:r>
            <a:r>
              <a:rPr lang="en-US" dirty="0">
                <a:solidFill>
                  <a:schemeClr val="bg1"/>
                </a:solidFill>
              </a:rPr>
              <a:t>i </a:t>
            </a:r>
            <a:r>
              <a:rPr lang="ru-RU" dirty="0">
                <a:solidFill>
                  <a:schemeClr val="bg1"/>
                </a:solidFill>
              </a:rPr>
              <a:t>и j внутри </a:t>
            </a:r>
            <a:r>
              <a:rPr lang="en-US" dirty="0">
                <a:solidFill>
                  <a:schemeClr val="bg1"/>
                </a:solidFill>
              </a:rPr>
              <a:t>h</a:t>
            </a:r>
            <a:r>
              <a:rPr lang="ru-RU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9330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i = 0, j = i++, k = i++;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(1) </a:t>
            </a:r>
            <a:b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x = f(i++) + g(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+ h(k++);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(2)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dirty="0"/>
          </a:p>
          <a:p>
            <a:r>
              <a:rPr lang="ru-RU" dirty="0"/>
              <a:t>Каждая из переменных i, j и k принимает новое значение перед входом в f, g и h соответственно, но при этом…</a:t>
            </a:r>
          </a:p>
          <a:p>
            <a:endParaRPr lang="ru-RU" dirty="0"/>
          </a:p>
          <a:p>
            <a:pPr lvl="1"/>
            <a:r>
              <a:rPr lang="ru-RU" dirty="0"/>
              <a:t>Не определен</a:t>
            </a:r>
          </a:p>
          <a:p>
            <a:pPr lvl="2"/>
            <a:r>
              <a:rPr lang="ru-RU" dirty="0"/>
              <a:t>Порядок вызова функций f(), g(), h() и порядок инкрементов i, j, k в строке 2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Если </a:t>
            </a:r>
            <a:r>
              <a:rPr lang="en-US" dirty="0">
                <a:solidFill>
                  <a:schemeClr val="bg1"/>
                </a:solidFill>
              </a:rPr>
              <a:t>i, </a:t>
            </a:r>
            <a:r>
              <a:rPr lang="ru-RU" dirty="0">
                <a:solidFill>
                  <a:schemeClr val="bg1"/>
                </a:solidFill>
              </a:rPr>
              <a:t>j и k – глобальные переменные, то не определены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Значения j и k внутри f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Значения </a:t>
            </a:r>
            <a:r>
              <a:rPr lang="en-US" dirty="0">
                <a:solidFill>
                  <a:schemeClr val="bg1"/>
                </a:solidFill>
              </a:rPr>
              <a:t>i</a:t>
            </a:r>
            <a:r>
              <a:rPr lang="ru-RU" dirty="0">
                <a:solidFill>
                  <a:schemeClr val="bg1"/>
                </a:solidFill>
              </a:rPr>
              <a:t> и k внутри </a:t>
            </a:r>
            <a:r>
              <a:rPr lang="en-US" dirty="0">
                <a:solidFill>
                  <a:schemeClr val="bg1"/>
                </a:solidFill>
              </a:rPr>
              <a:t>g</a:t>
            </a:r>
            <a:endParaRPr lang="ru-RU" dirty="0">
              <a:solidFill>
                <a:schemeClr val="bg1"/>
              </a:solidFill>
            </a:endParaRPr>
          </a:p>
          <a:p>
            <a:pPr lvl="2"/>
            <a:r>
              <a:rPr lang="ru-RU" dirty="0">
                <a:solidFill>
                  <a:schemeClr val="bg1"/>
                </a:solidFill>
              </a:rPr>
              <a:t>Значения </a:t>
            </a:r>
            <a:r>
              <a:rPr lang="en-US" dirty="0">
                <a:solidFill>
                  <a:schemeClr val="bg1"/>
                </a:solidFill>
              </a:rPr>
              <a:t>i </a:t>
            </a:r>
            <a:r>
              <a:rPr lang="ru-RU" dirty="0">
                <a:solidFill>
                  <a:schemeClr val="bg1"/>
                </a:solidFill>
              </a:rPr>
              <a:t>и j внутри </a:t>
            </a:r>
            <a:r>
              <a:rPr lang="en-US" dirty="0">
                <a:solidFill>
                  <a:schemeClr val="bg1"/>
                </a:solidFill>
              </a:rPr>
              <a:t>h</a:t>
            </a:r>
            <a:r>
              <a:rPr lang="ru-RU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17707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i = 0, j = i++, k = i++;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(1) </a:t>
            </a:r>
            <a:b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x = f(i++) + g(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+ h(k++);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(2)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dirty="0"/>
          </a:p>
          <a:p>
            <a:r>
              <a:rPr lang="ru-RU" dirty="0"/>
              <a:t>Каждая из переменных i, j и k принимает новое значение перед входом в f, g и h соответственно, но при этом…</a:t>
            </a:r>
          </a:p>
          <a:p>
            <a:endParaRPr lang="ru-RU" dirty="0"/>
          </a:p>
          <a:p>
            <a:pPr lvl="1"/>
            <a:r>
              <a:rPr lang="ru-RU" dirty="0"/>
              <a:t>Не определен</a:t>
            </a:r>
          </a:p>
          <a:p>
            <a:pPr lvl="2"/>
            <a:r>
              <a:rPr lang="ru-RU" dirty="0"/>
              <a:t>Порядок вызова функций f(), g(), h() и порядок инкрементов i, j, k в строке 2</a:t>
            </a:r>
          </a:p>
          <a:p>
            <a:pPr lvl="1"/>
            <a:r>
              <a:rPr lang="ru-RU" dirty="0"/>
              <a:t>Если </a:t>
            </a:r>
            <a:r>
              <a:rPr lang="en-US" dirty="0"/>
              <a:t>i, </a:t>
            </a:r>
            <a:r>
              <a:rPr lang="ru-RU" dirty="0"/>
              <a:t>j и k – глобальные переменные, то не определены</a:t>
            </a:r>
          </a:p>
          <a:p>
            <a:pPr lvl="2"/>
            <a:r>
              <a:rPr lang="ru-RU" dirty="0"/>
              <a:t>Значения j и k внутри f</a:t>
            </a:r>
          </a:p>
          <a:p>
            <a:pPr lvl="2"/>
            <a:r>
              <a:rPr lang="ru-RU" dirty="0"/>
              <a:t>Значения </a:t>
            </a:r>
            <a:r>
              <a:rPr lang="en-US" dirty="0"/>
              <a:t>i</a:t>
            </a:r>
            <a:r>
              <a:rPr lang="ru-RU" dirty="0"/>
              <a:t> и k внутри </a:t>
            </a:r>
            <a:r>
              <a:rPr lang="en-US" dirty="0"/>
              <a:t>g</a:t>
            </a:r>
            <a:endParaRPr lang="ru-RU" dirty="0"/>
          </a:p>
          <a:p>
            <a:pPr lvl="2"/>
            <a:r>
              <a:rPr lang="ru-RU" dirty="0"/>
              <a:t>Значения </a:t>
            </a:r>
            <a:r>
              <a:rPr lang="en-US" dirty="0"/>
              <a:t>i </a:t>
            </a:r>
            <a:r>
              <a:rPr lang="ru-RU" dirty="0"/>
              <a:t>и j внутри </a:t>
            </a:r>
            <a:r>
              <a:rPr lang="en-US" dirty="0"/>
              <a:t>h</a:t>
            </a:r>
            <a:r>
              <a:rPr lang="ru-RU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57207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Советы по </a:t>
            </a:r>
            <a:r>
              <a:rPr lang="en-US" dirty="0">
                <a:solidFill>
                  <a:schemeClr val="bg1"/>
                </a:solidFill>
              </a:rPr>
              <a:t>[</a:t>
            </a:r>
            <a:r>
              <a:rPr lang="ru-RU" dirty="0">
                <a:solidFill>
                  <a:schemeClr val="bg1"/>
                </a:solidFill>
              </a:rPr>
              <a:t>не</a:t>
            </a:r>
            <a:r>
              <a:rPr lang="en-US" dirty="0">
                <a:solidFill>
                  <a:schemeClr val="bg1"/>
                </a:solidFill>
              </a:rPr>
              <a:t>]</a:t>
            </a:r>
            <a:r>
              <a:rPr lang="ru-RU" sz="4100" dirty="0"/>
              <a:t>использованию</a:t>
            </a:r>
            <a:r>
              <a:rPr lang="ru-RU" dirty="0"/>
              <a:t> побочных эффектов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Меньше побочных эффектов – лучше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Более одного побочного эффекта с одним и тем же </a:t>
            </a:r>
            <a:r>
              <a:rPr lang="en-US" dirty="0">
                <a:solidFill>
                  <a:schemeClr val="bg1"/>
                </a:solidFill>
              </a:rPr>
              <a:t>l-value </a:t>
            </a:r>
            <a:r>
              <a:rPr lang="ru-RU" dirty="0">
                <a:solidFill>
                  <a:schemeClr val="bg1"/>
                </a:solidFill>
              </a:rPr>
              <a:t>между соседними точками следования == </a:t>
            </a:r>
            <a:r>
              <a:rPr lang="en-US" dirty="0">
                <a:solidFill>
                  <a:schemeClr val="bg1"/>
                </a:solidFill>
              </a:rPr>
              <a:t>undefined behavior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936823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Советы по </a:t>
            </a:r>
            <a:r>
              <a:rPr lang="en-US" dirty="0"/>
              <a:t>[</a:t>
            </a:r>
            <a:r>
              <a:rPr lang="ru-RU" dirty="0"/>
              <a:t>не</a:t>
            </a:r>
            <a:r>
              <a:rPr lang="en-US" dirty="0"/>
              <a:t>]</a:t>
            </a:r>
            <a:r>
              <a:rPr lang="ru-RU" sz="4100" dirty="0"/>
              <a:t>использованию</a:t>
            </a:r>
            <a:r>
              <a:rPr lang="ru-RU" dirty="0"/>
              <a:t> побочных эффектов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Меньше побочных эффектов – лучше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Более одного побочного эффекта с одним и тем же </a:t>
            </a:r>
            <a:r>
              <a:rPr lang="en-US" dirty="0">
                <a:solidFill>
                  <a:schemeClr val="bg1"/>
                </a:solidFill>
              </a:rPr>
              <a:t>l-value </a:t>
            </a:r>
            <a:r>
              <a:rPr lang="ru-RU" dirty="0">
                <a:solidFill>
                  <a:schemeClr val="bg1"/>
                </a:solidFill>
              </a:rPr>
              <a:t>между соседними точками следования == </a:t>
            </a:r>
            <a:r>
              <a:rPr lang="en-US" dirty="0">
                <a:solidFill>
                  <a:schemeClr val="bg1"/>
                </a:solidFill>
              </a:rPr>
              <a:t>undefined behavior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136896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Советы по </a:t>
            </a:r>
            <a:r>
              <a:rPr lang="en-US" dirty="0"/>
              <a:t>[</a:t>
            </a:r>
            <a:r>
              <a:rPr lang="ru-RU" dirty="0"/>
              <a:t>не</a:t>
            </a:r>
            <a:r>
              <a:rPr lang="en-US" dirty="0"/>
              <a:t>]</a:t>
            </a:r>
            <a:r>
              <a:rPr lang="ru-RU" sz="4100" dirty="0"/>
              <a:t>использованию</a:t>
            </a:r>
            <a:r>
              <a:rPr lang="ru-RU" dirty="0"/>
              <a:t> побочных эффектов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Меньше побочных эффектов – лучше </a:t>
            </a:r>
          </a:p>
          <a:p>
            <a:endParaRPr lang="en-US" dirty="0"/>
          </a:p>
          <a:p>
            <a:r>
              <a:rPr lang="ru-RU" dirty="0">
                <a:solidFill>
                  <a:schemeClr val="bg1"/>
                </a:solidFill>
              </a:rPr>
              <a:t>Более одного побочного эффекта с одним и тем же </a:t>
            </a:r>
            <a:r>
              <a:rPr lang="en-US" dirty="0">
                <a:solidFill>
                  <a:schemeClr val="bg1"/>
                </a:solidFill>
              </a:rPr>
              <a:t>l-value </a:t>
            </a:r>
            <a:r>
              <a:rPr lang="ru-RU" dirty="0">
                <a:solidFill>
                  <a:schemeClr val="bg1"/>
                </a:solidFill>
              </a:rPr>
              <a:t>между соседними точками следования == </a:t>
            </a:r>
            <a:r>
              <a:rPr lang="en-US" dirty="0">
                <a:solidFill>
                  <a:schemeClr val="bg1"/>
                </a:solidFill>
              </a:rPr>
              <a:t>undefined behavior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114469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Советы по </a:t>
            </a:r>
            <a:r>
              <a:rPr lang="en-US" dirty="0"/>
              <a:t>[</a:t>
            </a:r>
            <a:r>
              <a:rPr lang="ru-RU" dirty="0"/>
              <a:t>не</a:t>
            </a:r>
            <a:r>
              <a:rPr lang="en-US" dirty="0"/>
              <a:t>]</a:t>
            </a:r>
            <a:r>
              <a:rPr lang="ru-RU" sz="4100" dirty="0"/>
              <a:t>использованию</a:t>
            </a:r>
            <a:r>
              <a:rPr lang="ru-RU" dirty="0"/>
              <a:t> побочных эффектов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Меньше побочных эффектов – лучше </a:t>
            </a:r>
          </a:p>
          <a:p>
            <a:endParaRPr lang="en-US" dirty="0"/>
          </a:p>
          <a:p>
            <a:r>
              <a:rPr lang="ru-RU" dirty="0"/>
              <a:t>Более одного побочного эффекта с одним и тем же </a:t>
            </a:r>
            <a:r>
              <a:rPr lang="en-US" dirty="0"/>
              <a:t>l-value </a:t>
            </a:r>
            <a:r>
              <a:rPr lang="ru-RU" dirty="0"/>
              <a:t>между соседними точками следования == </a:t>
            </a:r>
            <a:r>
              <a:rPr lang="en-US" dirty="0"/>
              <a:t>undefined behavior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87528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Из чего и как строятся выражения?</a:t>
            </a:r>
          </a:p>
          <a:p>
            <a:pPr lvl="1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Характеристики операторов</a:t>
            </a:r>
          </a:p>
          <a:p>
            <a:pPr lvl="1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Неявная расстановка скобок</a:t>
            </a: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Что такое побочный эффект</a:t>
            </a: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Точки следования</a:t>
            </a:r>
          </a:p>
          <a:p>
            <a:r>
              <a:rPr lang="en-US" dirty="0"/>
              <a:t>L-value</a:t>
            </a:r>
            <a:endParaRPr lang="ru-RU" dirty="0"/>
          </a:p>
          <a:p>
            <a:r>
              <a:rPr lang="ru-RU" dirty="0"/>
              <a:t>Особенности исполнения операторов языка Си</a:t>
            </a:r>
          </a:p>
          <a:p>
            <a:pPr lvl="1"/>
            <a:r>
              <a:rPr lang="ru-RU" dirty="0"/>
              <a:t>Требования к операндам, значение и тип результата, побочные эффекты, </a:t>
            </a:r>
            <a:r>
              <a:rPr lang="en-US" dirty="0"/>
              <a:t>well-defined/Implementation-defined/unspecified/undefined behavior</a:t>
            </a:r>
            <a:endParaRPr lang="ru-RU" dirty="0"/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292955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l-value</a:t>
            </a:r>
            <a:r>
              <a:rPr lang="ru-RU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L-value </a:t>
            </a:r>
            <a:r>
              <a:rPr lang="ru-RU" sz="2800" dirty="0">
                <a:solidFill>
                  <a:schemeClr val="bg1"/>
                </a:solidFill>
              </a:rPr>
              <a:t>– значение, которому гарантировано соответствует участок памяти</a:t>
            </a:r>
          </a:p>
          <a:p>
            <a:pPr marL="0" indent="0">
              <a:buNone/>
            </a:pPr>
            <a:endParaRPr lang="ru-RU" sz="2800" dirty="0">
              <a:solidFill>
                <a:schemeClr val="bg1"/>
              </a:solidFill>
            </a:endParaRPr>
          </a:p>
          <a:p>
            <a:r>
              <a:rPr lang="ru-RU" sz="2800" dirty="0">
                <a:solidFill>
                  <a:schemeClr val="bg1"/>
                </a:solidFill>
              </a:rPr>
              <a:t>Прагматика </a:t>
            </a:r>
            <a:r>
              <a:rPr lang="en-US" sz="2800" dirty="0">
                <a:solidFill>
                  <a:schemeClr val="bg1"/>
                </a:solidFill>
              </a:rPr>
              <a:t>l-value</a:t>
            </a:r>
            <a:endParaRPr lang="ru-RU" sz="2800" dirty="0">
              <a:solidFill>
                <a:schemeClr val="bg1"/>
              </a:solidFill>
            </a:endParaRP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Придание точного смысла операторам, использующим адреса памяти</a:t>
            </a:r>
          </a:p>
          <a:p>
            <a:pPr marL="1085850" lvl="2" indent="-285750"/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&amp;A[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] </a:t>
            </a: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OK</a:t>
            </a:r>
          </a:p>
          <a:p>
            <a:pPr marL="1085850" lvl="2" indent="-285750"/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&amp;(A[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] + A[j])</a:t>
            </a: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 // не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OK</a:t>
            </a:r>
          </a:p>
          <a:p>
            <a:pPr marL="1085850" lvl="2" indent="-285750"/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A[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] = 5</a:t>
            </a: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 //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OK</a:t>
            </a:r>
          </a:p>
          <a:p>
            <a:pPr marL="1085850" lvl="2" indent="-285750"/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A[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] + A[j] = 5</a:t>
            </a: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  // не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OK</a:t>
            </a: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Больше свободы компилятору при оптимизации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8263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l-value</a:t>
            </a:r>
            <a:r>
              <a:rPr lang="ru-RU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L-value </a:t>
            </a:r>
            <a:r>
              <a:rPr lang="ru-RU" sz="2800" dirty="0"/>
              <a:t>– значение, которому гарантировано соответствует участок памяти</a:t>
            </a:r>
          </a:p>
          <a:p>
            <a:pPr marL="0" indent="0">
              <a:buNone/>
            </a:pPr>
            <a:endParaRPr lang="ru-RU" sz="2800" dirty="0"/>
          </a:p>
          <a:p>
            <a:r>
              <a:rPr lang="ru-RU" sz="2800" dirty="0">
                <a:solidFill>
                  <a:schemeClr val="bg1"/>
                </a:solidFill>
              </a:rPr>
              <a:t>Прагматика </a:t>
            </a:r>
            <a:r>
              <a:rPr lang="en-US" sz="2800" dirty="0">
                <a:solidFill>
                  <a:schemeClr val="bg1"/>
                </a:solidFill>
              </a:rPr>
              <a:t>l-value</a:t>
            </a:r>
            <a:endParaRPr lang="ru-RU" sz="2800" dirty="0">
              <a:solidFill>
                <a:schemeClr val="bg1"/>
              </a:solidFill>
            </a:endParaRP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Придание точного смысла операторам, использующим адреса памяти</a:t>
            </a:r>
          </a:p>
          <a:p>
            <a:pPr marL="1085850" lvl="2" indent="-285750"/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&amp;A[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] </a:t>
            </a: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OK</a:t>
            </a:r>
          </a:p>
          <a:p>
            <a:pPr marL="1085850" lvl="2" indent="-285750"/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&amp;(A[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] + A[j])</a:t>
            </a: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 // не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OK</a:t>
            </a:r>
          </a:p>
          <a:p>
            <a:pPr marL="1085850" lvl="2" indent="-285750"/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A[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] = 5</a:t>
            </a: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 //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OK</a:t>
            </a:r>
          </a:p>
          <a:p>
            <a:pPr marL="1085850" lvl="2" indent="-285750"/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A[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] + A[j] = 5</a:t>
            </a: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  // не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OK</a:t>
            </a: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Больше свободы компилятору при оптимизации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364205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l-value</a:t>
            </a:r>
            <a:r>
              <a:rPr lang="ru-RU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L-value </a:t>
            </a:r>
            <a:r>
              <a:rPr lang="ru-RU" sz="2800" dirty="0"/>
              <a:t>– значение, которому гарантировано соответствует участок памяти</a:t>
            </a:r>
          </a:p>
          <a:p>
            <a:pPr marL="0" indent="0">
              <a:buNone/>
            </a:pPr>
            <a:endParaRPr lang="ru-RU" sz="2800" dirty="0"/>
          </a:p>
          <a:p>
            <a:r>
              <a:rPr lang="ru-RU" sz="2800" dirty="0"/>
              <a:t>Прагматика </a:t>
            </a:r>
            <a:r>
              <a:rPr lang="en-US" sz="2800" dirty="0"/>
              <a:t>l-value</a:t>
            </a:r>
            <a:endParaRPr lang="ru-RU" sz="2800" dirty="0"/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Придание точного смысла операторам, использующим адреса памяти</a:t>
            </a:r>
          </a:p>
          <a:p>
            <a:pPr marL="1085850" lvl="2" indent="-285750"/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&amp;A[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] </a:t>
            </a: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OK</a:t>
            </a:r>
          </a:p>
          <a:p>
            <a:pPr marL="1085850" lvl="2" indent="-285750"/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&amp;(A[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] + A[j])</a:t>
            </a: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 // не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OK</a:t>
            </a:r>
          </a:p>
          <a:p>
            <a:pPr marL="1085850" lvl="2" indent="-285750"/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A[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] = 5</a:t>
            </a: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 //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OK</a:t>
            </a:r>
          </a:p>
          <a:p>
            <a:pPr marL="1085850" lvl="2" indent="-285750"/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A[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] + A[j] = 5</a:t>
            </a: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</a:rPr>
              <a:t>  // не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</a:rPr>
              <a:t>OK</a:t>
            </a: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Больше свободы компилятору при оптимизации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517206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l-value</a:t>
            </a:r>
            <a:r>
              <a:rPr lang="ru-RU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L-value </a:t>
            </a:r>
            <a:r>
              <a:rPr lang="ru-RU" sz="2800" dirty="0"/>
              <a:t>– значение, которому гарантировано соответствует участок памяти</a:t>
            </a:r>
          </a:p>
          <a:p>
            <a:pPr marL="0" indent="0">
              <a:buNone/>
            </a:pPr>
            <a:endParaRPr lang="ru-RU" sz="2800" dirty="0"/>
          </a:p>
          <a:p>
            <a:r>
              <a:rPr lang="ru-RU" sz="2800" dirty="0"/>
              <a:t>Прагматика </a:t>
            </a:r>
            <a:r>
              <a:rPr lang="en-US" sz="2800" dirty="0"/>
              <a:t>l-value</a:t>
            </a:r>
            <a:endParaRPr lang="ru-RU" sz="2800" dirty="0"/>
          </a:p>
          <a:p>
            <a:pPr lvl="1"/>
            <a:r>
              <a:rPr lang="ru-RU" sz="2400" dirty="0"/>
              <a:t>Придание точного смысла операторам, использующим адреса памяти</a:t>
            </a:r>
          </a:p>
          <a:p>
            <a:pPr marL="1085850" lvl="2" indent="-285750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&amp;A[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 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OK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085850" lvl="2" indent="-285750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&amp;(A[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 + A[j])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 // не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OK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085850" lvl="2" indent="-285750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A[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 = 5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OK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085850" lvl="2" indent="-285750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A[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 + A[j] = 5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 // не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OK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Больше свободы компилятору при оптимизации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70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78000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l-value</a:t>
            </a:r>
            <a:r>
              <a:rPr lang="ru-RU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L-value </a:t>
            </a:r>
            <a:r>
              <a:rPr lang="ru-RU" sz="2800" dirty="0"/>
              <a:t>– значение, которому гарантировано соответствует участок памяти</a:t>
            </a:r>
          </a:p>
          <a:p>
            <a:pPr marL="0" indent="0">
              <a:buNone/>
            </a:pPr>
            <a:endParaRPr lang="ru-RU" sz="2800" dirty="0"/>
          </a:p>
          <a:p>
            <a:r>
              <a:rPr lang="ru-RU" sz="2800" dirty="0"/>
              <a:t>Прагматика </a:t>
            </a:r>
            <a:r>
              <a:rPr lang="en-US" sz="2800" dirty="0"/>
              <a:t>l-value</a:t>
            </a:r>
            <a:endParaRPr lang="ru-RU" sz="2800" dirty="0"/>
          </a:p>
          <a:p>
            <a:pPr lvl="1"/>
            <a:r>
              <a:rPr lang="ru-RU" sz="2400" dirty="0"/>
              <a:t>Придание точного смысла операторам, использующим адреса памяти</a:t>
            </a:r>
          </a:p>
          <a:p>
            <a:pPr marL="1085850" lvl="2" indent="-285750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&amp;A[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 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OK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085850" lvl="2" indent="-285750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&amp;(A[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 + A[j])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 // не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OK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085850" lvl="2" indent="-285750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A[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 = 5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OK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085850" lvl="2" indent="-285750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A[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 + A[j] = 5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 // не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OK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ru-RU" sz="2400" dirty="0"/>
              <a:t>Больше свободы компилятору при оптимизации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75087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Операторы, возвращающие </a:t>
            </a:r>
            <a:r>
              <a:rPr lang="en-US" dirty="0"/>
              <a:t>l-value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l-value</a:t>
            </a:r>
            <a:r>
              <a:rPr lang="ru-RU" sz="2800" dirty="0">
                <a:solidFill>
                  <a:schemeClr val="bg1"/>
                </a:solidFill>
              </a:rPr>
              <a:t> получаются при выполнении операторов</a:t>
            </a: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Доступ к значению переменной</a:t>
            </a:r>
            <a:endParaRPr lang="en-US" sz="2400" dirty="0">
              <a:solidFill>
                <a:schemeClr val="bg1"/>
              </a:solidFill>
            </a:endParaRP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Доступ через указатель *</a:t>
            </a: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Доступ к элементу массива </a:t>
            </a:r>
            <a:r>
              <a:rPr lang="en-US" sz="2400" dirty="0">
                <a:solidFill>
                  <a:schemeClr val="bg1"/>
                </a:solidFill>
              </a:rPr>
              <a:t>a[k]</a:t>
            </a:r>
            <a:endParaRPr lang="ru-RU" sz="2400" dirty="0">
              <a:solidFill>
                <a:schemeClr val="bg1"/>
              </a:solidFill>
            </a:endParaRP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Доступ к полю структуры или объединения</a:t>
            </a:r>
            <a:r>
              <a:rPr lang="en-US" sz="2400" dirty="0">
                <a:solidFill>
                  <a:schemeClr val="bg1"/>
                </a:solidFill>
              </a:rPr>
              <a:t> student.name</a:t>
            </a:r>
            <a:endParaRPr lang="ru-RU" sz="2400" dirty="0">
              <a:solidFill>
                <a:schemeClr val="bg1"/>
              </a:solidFill>
            </a:endParaRP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Доступ к полю структуры или объединения через указатель</a:t>
            </a:r>
            <a:r>
              <a:rPr lang="en-US" sz="2400" dirty="0">
                <a:solidFill>
                  <a:schemeClr val="bg1"/>
                </a:solidFill>
              </a:rPr>
              <a:t> student-&gt;name</a:t>
            </a:r>
            <a:endParaRPr lang="ru-RU" sz="2400" dirty="0">
              <a:solidFill>
                <a:schemeClr val="bg1"/>
              </a:solidFill>
            </a:endParaRPr>
          </a:p>
          <a:p>
            <a:endParaRPr lang="ru-RU" sz="2800" dirty="0">
              <a:solidFill>
                <a:schemeClr val="bg1"/>
              </a:solidFill>
            </a:endParaRPr>
          </a:p>
          <a:p>
            <a:r>
              <a:rPr lang="ru-RU" sz="2800" dirty="0">
                <a:solidFill>
                  <a:schemeClr val="bg1"/>
                </a:solidFill>
              </a:rPr>
              <a:t>Все остальные операторы возвращают обычные значения</a:t>
            </a: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Хранить или нет эти значения в памяти решает компилятор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054508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Операторы, возвращающие </a:t>
            </a:r>
            <a:r>
              <a:rPr lang="en-US" dirty="0"/>
              <a:t>l-value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l-value</a:t>
            </a:r>
            <a:r>
              <a:rPr lang="ru-RU" sz="2800" dirty="0"/>
              <a:t> получаются при выполнении операторов</a:t>
            </a: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Доступ к значению переменной</a:t>
            </a:r>
            <a:endParaRPr lang="en-US" sz="2400" dirty="0">
              <a:solidFill>
                <a:schemeClr val="bg1"/>
              </a:solidFill>
            </a:endParaRP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Доступ через указатель *</a:t>
            </a: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Доступ к элементу массива </a:t>
            </a:r>
            <a:r>
              <a:rPr lang="en-US" sz="2400" dirty="0">
                <a:solidFill>
                  <a:schemeClr val="bg1"/>
                </a:solidFill>
              </a:rPr>
              <a:t>a[k]</a:t>
            </a:r>
            <a:endParaRPr lang="ru-RU" sz="2400" dirty="0">
              <a:solidFill>
                <a:schemeClr val="bg1"/>
              </a:solidFill>
            </a:endParaRP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Доступ к полю структуры или объединения</a:t>
            </a:r>
            <a:r>
              <a:rPr lang="en-US" sz="2400" dirty="0">
                <a:solidFill>
                  <a:schemeClr val="bg1"/>
                </a:solidFill>
              </a:rPr>
              <a:t> student.name</a:t>
            </a:r>
            <a:endParaRPr lang="ru-RU" sz="2400" dirty="0">
              <a:solidFill>
                <a:schemeClr val="bg1"/>
              </a:solidFill>
            </a:endParaRP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Доступ к полю структуры или объединения через указатель</a:t>
            </a:r>
            <a:r>
              <a:rPr lang="en-US" sz="2400" dirty="0">
                <a:solidFill>
                  <a:schemeClr val="bg1"/>
                </a:solidFill>
              </a:rPr>
              <a:t> student-&gt;name</a:t>
            </a:r>
            <a:endParaRPr lang="ru-RU" sz="2400" dirty="0">
              <a:solidFill>
                <a:schemeClr val="bg1"/>
              </a:solidFill>
            </a:endParaRPr>
          </a:p>
          <a:p>
            <a:endParaRPr lang="ru-RU" sz="2800" dirty="0">
              <a:solidFill>
                <a:schemeClr val="bg1"/>
              </a:solidFill>
            </a:endParaRPr>
          </a:p>
          <a:p>
            <a:r>
              <a:rPr lang="ru-RU" sz="2800" dirty="0">
                <a:solidFill>
                  <a:schemeClr val="bg1"/>
                </a:solidFill>
              </a:rPr>
              <a:t>Все остальные операторы возвращают обычные значения</a:t>
            </a: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Хранить или нет эти значения в памяти решает компилятор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73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746561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Операторы, возвращающие </a:t>
            </a:r>
            <a:r>
              <a:rPr lang="en-US" dirty="0"/>
              <a:t>l-value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l-value</a:t>
            </a:r>
            <a:r>
              <a:rPr lang="ru-RU" sz="2800" dirty="0"/>
              <a:t> получаются при выполнении операторов</a:t>
            </a:r>
          </a:p>
          <a:p>
            <a:pPr lvl="1"/>
            <a:r>
              <a:rPr lang="ru-RU" sz="2400" dirty="0"/>
              <a:t>Доступ к значению переменной</a:t>
            </a:r>
            <a:endParaRPr lang="en-US" sz="2400" dirty="0"/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Доступ через указатель *</a:t>
            </a: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Доступ к элементу массива </a:t>
            </a:r>
            <a:r>
              <a:rPr lang="en-US" sz="2400" dirty="0">
                <a:solidFill>
                  <a:schemeClr val="bg1"/>
                </a:solidFill>
              </a:rPr>
              <a:t>a[k]</a:t>
            </a:r>
            <a:endParaRPr lang="ru-RU" sz="2400" dirty="0">
              <a:solidFill>
                <a:schemeClr val="bg1"/>
              </a:solidFill>
            </a:endParaRP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Доступ к полю структуры или объединения</a:t>
            </a:r>
            <a:r>
              <a:rPr lang="en-US" sz="2400" dirty="0">
                <a:solidFill>
                  <a:schemeClr val="bg1"/>
                </a:solidFill>
              </a:rPr>
              <a:t> student.name</a:t>
            </a:r>
            <a:endParaRPr lang="ru-RU" sz="2400" dirty="0">
              <a:solidFill>
                <a:schemeClr val="bg1"/>
              </a:solidFill>
            </a:endParaRP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Доступ к полю структуры или объединения через указатель</a:t>
            </a:r>
            <a:r>
              <a:rPr lang="en-US" sz="2400" dirty="0">
                <a:solidFill>
                  <a:schemeClr val="bg1"/>
                </a:solidFill>
              </a:rPr>
              <a:t> student-&gt;name</a:t>
            </a:r>
            <a:endParaRPr lang="ru-RU" sz="2400" dirty="0">
              <a:solidFill>
                <a:schemeClr val="bg1"/>
              </a:solidFill>
            </a:endParaRPr>
          </a:p>
          <a:p>
            <a:endParaRPr lang="ru-RU" sz="2800" dirty="0">
              <a:solidFill>
                <a:schemeClr val="bg1"/>
              </a:solidFill>
            </a:endParaRPr>
          </a:p>
          <a:p>
            <a:r>
              <a:rPr lang="ru-RU" sz="2800" dirty="0">
                <a:solidFill>
                  <a:schemeClr val="bg1"/>
                </a:solidFill>
              </a:rPr>
              <a:t>Все остальные операторы возвращают обычные значения</a:t>
            </a: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Хранить или нет эти значения в памяти решает компилятор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74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597411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Операторы, возвращающие </a:t>
            </a:r>
            <a:r>
              <a:rPr lang="en-US" dirty="0"/>
              <a:t>l-value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l-value</a:t>
            </a:r>
            <a:r>
              <a:rPr lang="ru-RU" sz="2800" dirty="0"/>
              <a:t> получаются при выполнении операторов</a:t>
            </a:r>
          </a:p>
          <a:p>
            <a:pPr lvl="1"/>
            <a:r>
              <a:rPr lang="ru-RU" sz="2400" dirty="0"/>
              <a:t>Доступ к значению переменной</a:t>
            </a:r>
            <a:endParaRPr lang="en-US" sz="2400" dirty="0"/>
          </a:p>
          <a:p>
            <a:pPr lvl="1"/>
            <a:r>
              <a:rPr lang="ru-RU" sz="2400" dirty="0"/>
              <a:t>Доступ через указатель *</a:t>
            </a: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Доступ к элементу массива </a:t>
            </a:r>
            <a:r>
              <a:rPr lang="en-US" sz="2400" dirty="0">
                <a:solidFill>
                  <a:schemeClr val="bg1"/>
                </a:solidFill>
              </a:rPr>
              <a:t>a[k]</a:t>
            </a:r>
            <a:endParaRPr lang="ru-RU" sz="2400" dirty="0">
              <a:solidFill>
                <a:schemeClr val="bg1"/>
              </a:solidFill>
            </a:endParaRP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Доступ к полю структуры или объединения</a:t>
            </a:r>
            <a:r>
              <a:rPr lang="en-US" sz="2400" dirty="0">
                <a:solidFill>
                  <a:schemeClr val="bg1"/>
                </a:solidFill>
              </a:rPr>
              <a:t> student.name</a:t>
            </a:r>
            <a:endParaRPr lang="ru-RU" sz="2400" dirty="0">
              <a:solidFill>
                <a:schemeClr val="bg1"/>
              </a:solidFill>
            </a:endParaRP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Доступ к полю структуры или объединения через указатель</a:t>
            </a:r>
            <a:r>
              <a:rPr lang="en-US" sz="2400" dirty="0">
                <a:solidFill>
                  <a:schemeClr val="bg1"/>
                </a:solidFill>
              </a:rPr>
              <a:t> student-&gt;name</a:t>
            </a:r>
            <a:endParaRPr lang="ru-RU" sz="2400" dirty="0">
              <a:solidFill>
                <a:schemeClr val="bg1"/>
              </a:solidFill>
            </a:endParaRPr>
          </a:p>
          <a:p>
            <a:endParaRPr lang="ru-RU" sz="2800" dirty="0">
              <a:solidFill>
                <a:schemeClr val="bg1"/>
              </a:solidFill>
            </a:endParaRPr>
          </a:p>
          <a:p>
            <a:r>
              <a:rPr lang="ru-RU" sz="2800" dirty="0">
                <a:solidFill>
                  <a:schemeClr val="bg1"/>
                </a:solidFill>
              </a:rPr>
              <a:t>Все остальные операторы возвращают обычные значения</a:t>
            </a: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Хранить или нет эти значения в памяти решает компилятор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75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497158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Операторы, возвращающие </a:t>
            </a:r>
            <a:r>
              <a:rPr lang="en-US" dirty="0"/>
              <a:t>l-value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l-value</a:t>
            </a:r>
            <a:r>
              <a:rPr lang="ru-RU" sz="2800" dirty="0"/>
              <a:t> получаются при выполнении операторов</a:t>
            </a:r>
          </a:p>
          <a:p>
            <a:pPr lvl="1"/>
            <a:r>
              <a:rPr lang="ru-RU" sz="2400" dirty="0"/>
              <a:t>Доступ к значению переменной</a:t>
            </a:r>
            <a:endParaRPr lang="en-US" sz="2400" dirty="0"/>
          </a:p>
          <a:p>
            <a:pPr lvl="1"/>
            <a:r>
              <a:rPr lang="ru-RU" sz="2400" dirty="0"/>
              <a:t>Доступ через указатель *</a:t>
            </a:r>
          </a:p>
          <a:p>
            <a:pPr lvl="1"/>
            <a:r>
              <a:rPr lang="ru-RU" sz="2400" dirty="0"/>
              <a:t>Доступ к элементу массива </a:t>
            </a:r>
            <a:r>
              <a:rPr lang="en-US" sz="2400" dirty="0"/>
              <a:t>a[k]</a:t>
            </a:r>
            <a:endParaRPr lang="ru-RU" sz="2400" dirty="0"/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Доступ к полю структуры или объединения</a:t>
            </a:r>
            <a:r>
              <a:rPr lang="en-US" sz="2400" dirty="0">
                <a:solidFill>
                  <a:schemeClr val="bg1"/>
                </a:solidFill>
              </a:rPr>
              <a:t> student.name</a:t>
            </a:r>
            <a:endParaRPr lang="ru-RU" sz="2400" dirty="0">
              <a:solidFill>
                <a:schemeClr val="bg1"/>
              </a:solidFill>
            </a:endParaRP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Доступ к полю структуры или объединения через указатель</a:t>
            </a:r>
            <a:r>
              <a:rPr lang="en-US" sz="2400" dirty="0">
                <a:solidFill>
                  <a:schemeClr val="bg1"/>
                </a:solidFill>
              </a:rPr>
              <a:t> student-&gt;name</a:t>
            </a:r>
            <a:endParaRPr lang="ru-RU" sz="2400" dirty="0">
              <a:solidFill>
                <a:schemeClr val="bg1"/>
              </a:solidFill>
            </a:endParaRPr>
          </a:p>
          <a:p>
            <a:endParaRPr lang="ru-RU" sz="2800" dirty="0">
              <a:solidFill>
                <a:schemeClr val="bg1"/>
              </a:solidFill>
            </a:endParaRPr>
          </a:p>
          <a:p>
            <a:r>
              <a:rPr lang="ru-RU" sz="2800" dirty="0">
                <a:solidFill>
                  <a:schemeClr val="bg1"/>
                </a:solidFill>
              </a:rPr>
              <a:t>Все остальные операторы возвращают обычные значения</a:t>
            </a: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Хранить или нет эти значения в памяти решает компилятор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76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236318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Операторы, возвращающие </a:t>
            </a:r>
            <a:r>
              <a:rPr lang="en-US" dirty="0"/>
              <a:t>l-value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l-value</a:t>
            </a:r>
            <a:r>
              <a:rPr lang="ru-RU" sz="2800" dirty="0"/>
              <a:t> получаются при выполнении операторов</a:t>
            </a:r>
          </a:p>
          <a:p>
            <a:pPr lvl="1"/>
            <a:r>
              <a:rPr lang="ru-RU" sz="2400" dirty="0"/>
              <a:t>Доступ к значению переменной</a:t>
            </a:r>
            <a:endParaRPr lang="en-US" sz="2400" dirty="0"/>
          </a:p>
          <a:p>
            <a:pPr lvl="1"/>
            <a:r>
              <a:rPr lang="ru-RU" sz="2400" dirty="0"/>
              <a:t>Доступ через указатель *</a:t>
            </a:r>
          </a:p>
          <a:p>
            <a:pPr lvl="1"/>
            <a:r>
              <a:rPr lang="ru-RU" sz="2400" dirty="0"/>
              <a:t>Доступ к элементу массива </a:t>
            </a:r>
            <a:r>
              <a:rPr lang="en-US" sz="2400" dirty="0"/>
              <a:t>a[k]</a:t>
            </a:r>
            <a:endParaRPr lang="ru-RU" sz="2400" dirty="0"/>
          </a:p>
          <a:p>
            <a:pPr lvl="1"/>
            <a:r>
              <a:rPr lang="ru-RU" sz="2400" dirty="0"/>
              <a:t>Доступ к полю структуры или объединения</a:t>
            </a:r>
            <a:r>
              <a:rPr lang="en-US" sz="2400" dirty="0"/>
              <a:t> student.name</a:t>
            </a:r>
            <a:endParaRPr lang="ru-RU" sz="2400" dirty="0"/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Доступ к полю структуры или объединения через указатель</a:t>
            </a:r>
            <a:r>
              <a:rPr lang="en-US" sz="2400" dirty="0">
                <a:solidFill>
                  <a:schemeClr val="bg1"/>
                </a:solidFill>
              </a:rPr>
              <a:t> student-&gt;name</a:t>
            </a:r>
            <a:endParaRPr lang="ru-RU" sz="2400" dirty="0">
              <a:solidFill>
                <a:schemeClr val="bg1"/>
              </a:solidFill>
            </a:endParaRPr>
          </a:p>
          <a:p>
            <a:endParaRPr lang="ru-RU" sz="2800" dirty="0">
              <a:solidFill>
                <a:schemeClr val="bg1"/>
              </a:solidFill>
            </a:endParaRPr>
          </a:p>
          <a:p>
            <a:r>
              <a:rPr lang="ru-RU" sz="2800" dirty="0">
                <a:solidFill>
                  <a:schemeClr val="bg1"/>
                </a:solidFill>
              </a:rPr>
              <a:t>Все остальные операторы возвращают обычные значения</a:t>
            </a: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Хранить или нет эти значения в памяти решает компилятор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77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260001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Операторы, возвращающие </a:t>
            </a:r>
            <a:r>
              <a:rPr lang="en-US" dirty="0"/>
              <a:t>l-value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l-value</a:t>
            </a:r>
            <a:r>
              <a:rPr lang="ru-RU" sz="2800" dirty="0"/>
              <a:t> получаются при выполнении операторов</a:t>
            </a:r>
          </a:p>
          <a:p>
            <a:pPr lvl="1"/>
            <a:r>
              <a:rPr lang="ru-RU" sz="2400" dirty="0"/>
              <a:t>Доступ к значению переменной</a:t>
            </a:r>
            <a:endParaRPr lang="en-US" sz="2400" dirty="0"/>
          </a:p>
          <a:p>
            <a:pPr lvl="1"/>
            <a:r>
              <a:rPr lang="ru-RU" sz="2400" dirty="0"/>
              <a:t>Доступ через указатель *</a:t>
            </a:r>
          </a:p>
          <a:p>
            <a:pPr lvl="1"/>
            <a:r>
              <a:rPr lang="ru-RU" sz="2400" dirty="0"/>
              <a:t>Доступ к элементу массива </a:t>
            </a:r>
            <a:r>
              <a:rPr lang="en-US" sz="2400" dirty="0"/>
              <a:t>a[k]</a:t>
            </a:r>
            <a:endParaRPr lang="ru-RU" sz="2400" dirty="0"/>
          </a:p>
          <a:p>
            <a:pPr lvl="1"/>
            <a:r>
              <a:rPr lang="ru-RU" sz="2400" dirty="0"/>
              <a:t>Доступ к полю структуры или объединения</a:t>
            </a:r>
            <a:r>
              <a:rPr lang="en-US" sz="2400" dirty="0"/>
              <a:t> student.name</a:t>
            </a:r>
            <a:endParaRPr lang="ru-RU" sz="2400" dirty="0"/>
          </a:p>
          <a:p>
            <a:pPr lvl="1"/>
            <a:r>
              <a:rPr lang="ru-RU" sz="2400" dirty="0"/>
              <a:t>Доступ к полю структуры или объединения через указатель</a:t>
            </a:r>
            <a:r>
              <a:rPr lang="en-US" sz="2400" dirty="0"/>
              <a:t> student-&gt;name</a:t>
            </a:r>
            <a:endParaRPr lang="ru-RU" sz="2400" dirty="0"/>
          </a:p>
          <a:p>
            <a:endParaRPr lang="ru-RU" sz="2800" dirty="0"/>
          </a:p>
          <a:p>
            <a:r>
              <a:rPr lang="ru-RU" sz="2800" dirty="0">
                <a:solidFill>
                  <a:schemeClr val="bg1"/>
                </a:solidFill>
              </a:rPr>
              <a:t>Все остальные операторы возвращают обычные значения</a:t>
            </a: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Хранить или нет эти значения в памяти решает компилятор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78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714796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Операторы, возвращающие </a:t>
            </a:r>
            <a:r>
              <a:rPr lang="en-US" dirty="0"/>
              <a:t>l-value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l-value</a:t>
            </a:r>
            <a:r>
              <a:rPr lang="ru-RU" sz="2800" dirty="0"/>
              <a:t> получаются при выполнении операторов</a:t>
            </a:r>
          </a:p>
          <a:p>
            <a:pPr lvl="1"/>
            <a:r>
              <a:rPr lang="ru-RU" sz="2400" dirty="0"/>
              <a:t>Доступ к значению переменной</a:t>
            </a:r>
            <a:endParaRPr lang="en-US" sz="2400" dirty="0"/>
          </a:p>
          <a:p>
            <a:pPr lvl="1"/>
            <a:r>
              <a:rPr lang="ru-RU" sz="2400" dirty="0"/>
              <a:t>Доступ через указатель *</a:t>
            </a:r>
          </a:p>
          <a:p>
            <a:pPr lvl="1"/>
            <a:r>
              <a:rPr lang="ru-RU" sz="2400" dirty="0"/>
              <a:t>Доступ к элементу массива </a:t>
            </a:r>
            <a:r>
              <a:rPr lang="en-US" sz="2400" dirty="0"/>
              <a:t>a[k]</a:t>
            </a:r>
            <a:endParaRPr lang="ru-RU" sz="2400" dirty="0"/>
          </a:p>
          <a:p>
            <a:pPr lvl="1"/>
            <a:r>
              <a:rPr lang="ru-RU" sz="2400" dirty="0"/>
              <a:t>Доступ к полю структуры или объединения</a:t>
            </a:r>
            <a:r>
              <a:rPr lang="en-US" sz="2400" dirty="0"/>
              <a:t> student.name</a:t>
            </a:r>
            <a:endParaRPr lang="ru-RU" sz="2400" dirty="0"/>
          </a:p>
          <a:p>
            <a:pPr lvl="1"/>
            <a:r>
              <a:rPr lang="ru-RU" sz="2400" dirty="0"/>
              <a:t>Доступ к полю структуры или объединения через указатель</a:t>
            </a:r>
            <a:r>
              <a:rPr lang="en-US" sz="2400" dirty="0"/>
              <a:t> student-&gt;name</a:t>
            </a:r>
            <a:endParaRPr lang="ru-RU" sz="2400" dirty="0"/>
          </a:p>
          <a:p>
            <a:endParaRPr lang="ru-RU" sz="2800" dirty="0"/>
          </a:p>
          <a:p>
            <a:r>
              <a:rPr lang="ru-RU" sz="2800" dirty="0"/>
              <a:t>Все остальные операторы возвращают обычные значения</a:t>
            </a:r>
          </a:p>
          <a:p>
            <a:pPr lvl="1"/>
            <a:r>
              <a:rPr lang="ru-RU" sz="2400" dirty="0"/>
              <a:t>Хранить или нет эти значения в памяти решает компилятор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79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273148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Операторы, требующие </a:t>
            </a:r>
            <a:r>
              <a:rPr lang="en-US" dirty="0"/>
              <a:t>l-value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Левый операнд во всех видах присваивания</a:t>
            </a:r>
            <a:r>
              <a:rPr lang="en-US" dirty="0"/>
              <a:t> =, +=</a:t>
            </a:r>
            <a:r>
              <a:rPr lang="ru-RU" dirty="0"/>
              <a:t> и т.п.</a:t>
            </a:r>
          </a:p>
          <a:p>
            <a:r>
              <a:rPr lang="ru-RU" dirty="0"/>
              <a:t>Взятие адреса </a:t>
            </a:r>
            <a:r>
              <a:rPr lang="en-US" dirty="0"/>
              <a:t>&amp;</a:t>
            </a:r>
            <a:endParaRPr lang="ru-RU" dirty="0"/>
          </a:p>
          <a:p>
            <a:r>
              <a:rPr lang="ru-RU" dirty="0"/>
              <a:t>Префиксные и постфиксные ++ и --</a:t>
            </a:r>
          </a:p>
          <a:p>
            <a:endParaRPr lang="ru-RU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80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337745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Примеры с </a:t>
            </a:r>
            <a:r>
              <a:rPr lang="en-US" dirty="0"/>
              <a:t>l-value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Пример 1</a:t>
            </a:r>
          </a:p>
          <a:p>
            <a:pPr marL="400050" lvl="1" indent="0">
              <a:buNone/>
            </a:pP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x;</a:t>
            </a:r>
          </a:p>
          <a:p>
            <a:pPr marL="400050" lvl="1" indent="0"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x = 2; // x – l-value</a:t>
            </a:r>
          </a:p>
          <a:p>
            <a:pPr marL="400050" lvl="1" indent="0">
              <a:buNone/>
            </a:pP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A[10];</a:t>
            </a:r>
          </a:p>
          <a:p>
            <a:pPr marL="400050" lvl="1" indent="0"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A[5] = 5+x; // A[5] – l-value, 5+x –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не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l-value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Пример 2</a:t>
            </a:r>
          </a:p>
          <a:p>
            <a:pPr marL="400050" lvl="1" indent="0">
              <a:buNone/>
            </a:pP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x, y;</a:t>
            </a:r>
          </a:p>
          <a:p>
            <a:pPr marL="400050" lvl="1" indent="0">
              <a:buNone/>
            </a:pPr>
            <a:r>
              <a:rPr lang="es-ES" sz="2000" dirty="0">
                <a:solidFill>
                  <a:schemeClr val="bg1"/>
                </a:solidFill>
                <a:latin typeface="Consolas" panose="020B0609020204030204" pitchFamily="49" charset="0"/>
              </a:rPr>
              <a:t>(x &lt; y ? x : y) = 1;//  ошибка, т.к. (x &lt; y ? x : y) не l-value</a:t>
            </a:r>
          </a:p>
          <a:p>
            <a:pPr marL="400050" lvl="1" indent="0">
              <a:buNone/>
            </a:pPr>
            <a:r>
              <a:rPr lang="es-ES" sz="2000" dirty="0">
                <a:solidFill>
                  <a:schemeClr val="bg1"/>
                </a:solidFill>
                <a:latin typeface="Consolas" panose="020B0609020204030204" pitchFamily="49" charset="0"/>
              </a:rPr>
              <a:t>*(x &lt; y ? &amp;x : &amp;y) = 1; // ОК, т.к. *(x &lt; y ? &amp;x : &amp;y) – l-value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Пример 3</a:t>
            </a:r>
          </a:p>
          <a:p>
            <a:pPr marL="400050" lvl="1" indent="0"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(A[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] &lt; A[j] ? A[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] : A[j]) = 1; // 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ошибка</a:t>
            </a:r>
          </a:p>
          <a:p>
            <a:pPr marL="400050" lvl="1" indent="0"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A[ A[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] &lt; A[j] ?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: j ] = 1; // 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ОК </a:t>
            </a:r>
          </a:p>
          <a:p>
            <a:pPr marL="68580" indent="0">
              <a:buNone/>
            </a:pP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81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303830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Примеры с </a:t>
            </a:r>
            <a:r>
              <a:rPr lang="en-US" dirty="0"/>
              <a:t>l-value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2400" dirty="0"/>
              <a:t>Пример 1</a:t>
            </a:r>
          </a:p>
          <a:p>
            <a:pPr marL="400050" lvl="1" indent="0">
              <a:buNone/>
            </a:pP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</a:p>
          <a:p>
            <a:pPr marL="400050" lvl="1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x = 2;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x – l-value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00050" lvl="1" indent="0">
              <a:buNone/>
            </a:pP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A[10];</a:t>
            </a:r>
          </a:p>
          <a:p>
            <a:pPr marL="400050" lvl="1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A[5] = 5+x;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A[5] – l-value, 5+x – </a:t>
            </a:r>
            <a:r>
              <a:rPr lang="en-U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не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 l-value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2400" dirty="0"/>
          </a:p>
          <a:p>
            <a:r>
              <a:rPr lang="ru-RU" sz="2400" dirty="0">
                <a:solidFill>
                  <a:schemeClr val="bg1"/>
                </a:solidFill>
              </a:rPr>
              <a:t>Пример 2</a:t>
            </a:r>
          </a:p>
          <a:p>
            <a:pPr marL="400050" lvl="1" indent="0">
              <a:buNone/>
            </a:pP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x, y;</a:t>
            </a:r>
          </a:p>
          <a:p>
            <a:pPr marL="400050" lvl="1" indent="0">
              <a:buNone/>
            </a:pPr>
            <a:r>
              <a:rPr lang="es-ES" sz="2000" dirty="0">
                <a:solidFill>
                  <a:schemeClr val="bg1"/>
                </a:solidFill>
                <a:latin typeface="Consolas" panose="020B0609020204030204" pitchFamily="49" charset="0"/>
              </a:rPr>
              <a:t>(x &lt; y ? x : y) = 1;//  ошибка, т.к. (x &lt; y ? x : y) не l-value</a:t>
            </a:r>
          </a:p>
          <a:p>
            <a:pPr marL="400050" lvl="1" indent="0">
              <a:buNone/>
            </a:pPr>
            <a:r>
              <a:rPr lang="es-ES" sz="2000" dirty="0">
                <a:solidFill>
                  <a:schemeClr val="bg1"/>
                </a:solidFill>
                <a:latin typeface="Consolas" panose="020B0609020204030204" pitchFamily="49" charset="0"/>
              </a:rPr>
              <a:t>*(x &lt; y ? &amp;x : &amp;y) = 1; // ОК, т.к. *(x &lt; y ? &amp;x : &amp;y) – l-value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Пример 3</a:t>
            </a:r>
          </a:p>
          <a:p>
            <a:pPr marL="400050" lvl="1" indent="0"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(A[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] &lt; A[j] ? A[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] : A[j]) = 1; // 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ошибка</a:t>
            </a:r>
          </a:p>
          <a:p>
            <a:pPr marL="400050" lvl="1" indent="0"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A[ A[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] &lt; A[j] ?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: j ] = 1; // 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ОК </a:t>
            </a:r>
          </a:p>
          <a:p>
            <a:pPr marL="68580" indent="0">
              <a:buNone/>
            </a:pP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82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509350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Примеры с </a:t>
            </a:r>
            <a:r>
              <a:rPr lang="en-US" dirty="0"/>
              <a:t>l-value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2400" dirty="0"/>
              <a:t>Пример 1</a:t>
            </a:r>
          </a:p>
          <a:p>
            <a:pPr marL="400050" lvl="1" indent="0">
              <a:buNone/>
            </a:pP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</a:p>
          <a:p>
            <a:pPr marL="400050" lvl="1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x = 2;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x – l-value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00050" lvl="1" indent="0">
              <a:buNone/>
            </a:pP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A[10];</a:t>
            </a:r>
          </a:p>
          <a:p>
            <a:pPr marL="400050" lvl="1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A[5] = 5+x;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A[5] – l-value, 5+x – </a:t>
            </a:r>
            <a:r>
              <a:rPr lang="en-U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не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 l-value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2400" dirty="0"/>
          </a:p>
          <a:p>
            <a:r>
              <a:rPr lang="ru-RU" sz="2400" dirty="0"/>
              <a:t>Пример 2</a:t>
            </a:r>
          </a:p>
          <a:p>
            <a:pPr marL="400050" lvl="1" indent="0">
              <a:buNone/>
            </a:pP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x, y;</a:t>
            </a:r>
          </a:p>
          <a:p>
            <a:pPr marL="400050" lvl="1" indent="0">
              <a:buNone/>
            </a:pP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(x &lt; y ? x : y) = 1;</a:t>
            </a:r>
            <a:r>
              <a:rPr lang="es-E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 ошибка, т.к. (x &lt; y ? x : y) не l-value</a:t>
            </a:r>
            <a:endParaRPr lang="es-E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00050" lvl="1" indent="0">
              <a:buNone/>
            </a:pP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*(x &lt; y ? &amp;x : &amp;y) = 1; </a:t>
            </a:r>
            <a:r>
              <a:rPr lang="es-E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ОК, т.к. *(x &lt; y ? &amp;x : &amp;y) – l-value</a:t>
            </a:r>
            <a:endParaRPr lang="es-E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2400" dirty="0"/>
          </a:p>
          <a:p>
            <a:r>
              <a:rPr lang="ru-RU" sz="2400" dirty="0">
                <a:solidFill>
                  <a:schemeClr val="bg1"/>
                </a:solidFill>
              </a:rPr>
              <a:t>Пример 3</a:t>
            </a:r>
          </a:p>
          <a:p>
            <a:pPr marL="400050" lvl="1" indent="0"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(A[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] &lt; A[j] ? A[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] : A[j]) = 1; // 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ошибка</a:t>
            </a:r>
          </a:p>
          <a:p>
            <a:pPr marL="400050" lvl="1" indent="0"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A[ A[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] &lt; A[j] ?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: j ] = 1; // 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</a:rPr>
              <a:t>ОК </a:t>
            </a:r>
          </a:p>
          <a:p>
            <a:pPr marL="68580" indent="0">
              <a:buNone/>
            </a:pP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83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6964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Примеры с </a:t>
            </a:r>
            <a:r>
              <a:rPr lang="en-US" dirty="0"/>
              <a:t>l-value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2400" dirty="0"/>
              <a:t>Пример 1</a:t>
            </a:r>
          </a:p>
          <a:p>
            <a:pPr marL="400050" lvl="1" indent="0">
              <a:buNone/>
            </a:pP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</a:p>
          <a:p>
            <a:pPr marL="400050" lvl="1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x = 2;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x – l-value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00050" lvl="1" indent="0">
              <a:buNone/>
            </a:pP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A[10];</a:t>
            </a:r>
          </a:p>
          <a:p>
            <a:pPr marL="400050" lvl="1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A[5] = 5+x;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A[5] – l-value, 5+x – </a:t>
            </a:r>
            <a:r>
              <a:rPr lang="en-U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не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 l-value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2400" dirty="0"/>
          </a:p>
          <a:p>
            <a:r>
              <a:rPr lang="ru-RU" sz="2400" dirty="0"/>
              <a:t>Пример 2</a:t>
            </a:r>
          </a:p>
          <a:p>
            <a:pPr marL="400050" lvl="1" indent="0">
              <a:buNone/>
            </a:pP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x, y;</a:t>
            </a:r>
          </a:p>
          <a:p>
            <a:pPr marL="400050" lvl="1" indent="0">
              <a:buNone/>
            </a:pP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(x &lt; y ? x : y) = 1;</a:t>
            </a:r>
            <a:r>
              <a:rPr lang="es-E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 ошибка, т.к. (x &lt; y ? x : y) не l-value</a:t>
            </a:r>
            <a:endParaRPr lang="es-E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00050" lvl="1" indent="0">
              <a:buNone/>
            </a:pP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*(x &lt; y ? &amp;x : &amp;y) = 1; </a:t>
            </a:r>
            <a:r>
              <a:rPr lang="es-E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ОК, т.к. *(x &lt; y ? &amp;x : &amp;y) – l-value</a:t>
            </a:r>
            <a:endParaRPr lang="es-E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2400" dirty="0"/>
          </a:p>
          <a:p>
            <a:r>
              <a:rPr lang="ru-RU" sz="2400" dirty="0"/>
              <a:t>Пример 3</a:t>
            </a:r>
          </a:p>
          <a:p>
            <a:pPr marL="400050" lvl="1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(A[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 &lt; A[j] ? A[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 : A[j]) = 1;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ошибка</a:t>
            </a: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00050" lvl="1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A[ A[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 &lt; A[j] ?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: j ] = 1;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ОК </a:t>
            </a: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68580" indent="0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84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787431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Из чего и как строятся выражения?</a:t>
            </a:r>
          </a:p>
          <a:p>
            <a:pPr lvl="1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Характеристики операторов</a:t>
            </a:r>
          </a:p>
          <a:p>
            <a:pPr lvl="1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Неявная расстановка скобок</a:t>
            </a: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Что такое побочный эффект</a:t>
            </a: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Точки следования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L-value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dirty="0"/>
              <a:t>Особенности исполнения операторов языка Си</a:t>
            </a:r>
          </a:p>
          <a:p>
            <a:pPr lvl="1"/>
            <a:r>
              <a:rPr lang="ru-RU" dirty="0"/>
              <a:t>Требования к операндам, значение и тип результата, побочные эффекты, </a:t>
            </a:r>
            <a:r>
              <a:rPr lang="en-US" dirty="0"/>
              <a:t>well-defined/Implementation-defined/unspecified/undefined behavior</a:t>
            </a:r>
            <a:endParaRPr lang="ru-RU" dirty="0"/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85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029343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Операторы языка Си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7792965"/>
              </p:ext>
            </p:extLst>
          </p:nvPr>
        </p:nvGraphicFramePr>
        <p:xfrm>
          <a:off x="609600" y="1600200"/>
          <a:ext cx="10972800" cy="387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Требования к виду и типам операндов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определения типа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вычисления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Побочные эффекты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Как меняется состояние памяти при </a:t>
                      </a:r>
                      <a:r>
                        <a:rPr lang="ru-RU" baseline="0" dirty="0"/>
                        <a:t>исполнения самой операции</a:t>
                      </a:r>
                      <a:r>
                        <a:rPr lang="en-US" baseline="0" dirty="0"/>
                        <a:t> (</a:t>
                      </a:r>
                      <a:r>
                        <a:rPr lang="ru-RU" baseline="0" dirty="0"/>
                        <a:t>исключая побочные эффекты при вычислении операндов</a:t>
                      </a:r>
                      <a:r>
                        <a:rPr lang="en-US" baseline="0" dirty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/>
                        <a:t>Well</a:t>
                      </a:r>
                      <a:r>
                        <a:rPr lang="ru-RU" baseline="0" dirty="0"/>
                        <a:t>-</a:t>
                      </a:r>
                      <a:r>
                        <a:rPr lang="en-US" baseline="0" dirty="0"/>
                        <a:t>defined</a:t>
                      </a:r>
                      <a:r>
                        <a:rPr lang="ru-RU" baseline="0" dirty="0"/>
                        <a:t> (</a:t>
                      </a:r>
                      <a:r>
                        <a:rPr lang="en-US" baseline="0" dirty="0"/>
                        <a:t>standard</a:t>
                      </a:r>
                      <a:r>
                        <a:rPr lang="ru-RU" baseline="0" dirty="0"/>
                        <a:t>)</a:t>
                      </a:r>
                      <a:r>
                        <a:rPr lang="en-US" baseline="0" dirty="0"/>
                        <a:t> behavior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Поведение, описанное в стандарте</a:t>
                      </a:r>
                      <a:r>
                        <a:rPr lang="ru-RU" baseline="0" dirty="0"/>
                        <a:t> языка Си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Implementation-defined behavior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</a:t>
                      </a:r>
                      <a:r>
                        <a:rPr lang="ru-RU" baseline="0" dirty="0"/>
                        <a:t>оведение, описанное в документации компилятора языка Си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Unspecified behavior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aseline="0" dirty="0"/>
                        <a:t>Одно из нескольких поведений, описанных в стандарте языка Си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Undefined behavior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aseline="0" dirty="0"/>
                        <a:t>Поведение, неописанное ни в стандарте, ни в документации компилятора языка Си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741054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86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300430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Первичные выражения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graphicFrame>
        <p:nvGraphicFramePr>
          <p:cNvPr id="4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1231165"/>
              </p:ext>
            </p:extLst>
          </p:nvPr>
        </p:nvGraphicFramePr>
        <p:xfrm>
          <a:off x="609599" y="1600201"/>
          <a:ext cx="10972801" cy="431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7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5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Требования к виду и типам операндов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Идентификатор, явная константа, строковый литерал или функция, или (</a:t>
                      </a:r>
                      <a:r>
                        <a:rPr lang="ru-RU" dirty="0" err="1"/>
                        <a:t>выр</a:t>
                      </a:r>
                      <a:r>
                        <a:rPr lang="ru-RU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определения типа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Переменная -</a:t>
                      </a:r>
                      <a:r>
                        <a:rPr lang="en-US" dirty="0"/>
                        <a:t>&gt; </a:t>
                      </a:r>
                      <a:r>
                        <a:rPr lang="ru-RU" dirty="0"/>
                        <a:t>по описанию; константа -</a:t>
                      </a:r>
                      <a:r>
                        <a:rPr lang="en-US" dirty="0"/>
                        <a:t>&gt;</a:t>
                      </a:r>
                      <a:r>
                        <a:rPr lang="ru-RU" dirty="0"/>
                        <a:t> по записи; литерал, функция -</a:t>
                      </a:r>
                      <a:r>
                        <a:rPr lang="en-US" dirty="0"/>
                        <a:t>&gt;</a:t>
                      </a:r>
                      <a:r>
                        <a:rPr lang="ru-RU" dirty="0"/>
                        <a:t> указатель;</a:t>
                      </a:r>
                      <a:r>
                        <a:rPr lang="ru-RU" baseline="0" dirty="0"/>
                        <a:t> (</a:t>
                      </a:r>
                      <a:r>
                        <a:rPr lang="ru-RU" baseline="0" dirty="0" err="1"/>
                        <a:t>выр</a:t>
                      </a:r>
                      <a:r>
                        <a:rPr lang="ru-RU" baseline="0" dirty="0"/>
                        <a:t>) </a:t>
                      </a:r>
                      <a:r>
                        <a:rPr lang="ru-RU" dirty="0"/>
                        <a:t>-</a:t>
                      </a:r>
                      <a:r>
                        <a:rPr lang="en-US" dirty="0"/>
                        <a:t>&gt;</a:t>
                      </a:r>
                      <a:r>
                        <a:rPr lang="ru-RU" dirty="0"/>
                        <a:t> тип </a:t>
                      </a:r>
                      <a:r>
                        <a:rPr lang="ru-RU" dirty="0" err="1"/>
                        <a:t>выр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вычисления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переменная -</a:t>
                      </a:r>
                      <a:r>
                        <a:rPr lang="en-US" dirty="0"/>
                        <a:t>&gt;</a:t>
                      </a:r>
                      <a:r>
                        <a:rPr lang="ru-RU" dirty="0"/>
                        <a:t> читаем из памяти во время исполнения</a:t>
                      </a:r>
                      <a:endParaRPr lang="en-US" dirty="0"/>
                    </a:p>
                    <a:p>
                      <a:r>
                        <a:rPr lang="ru-RU" dirty="0"/>
                        <a:t>константа</a:t>
                      </a:r>
                      <a:r>
                        <a:rPr lang="ru-RU" baseline="0" dirty="0"/>
                        <a:t> </a:t>
                      </a:r>
                      <a:r>
                        <a:rPr lang="ru-RU" dirty="0"/>
                        <a:t>-</a:t>
                      </a:r>
                      <a:r>
                        <a:rPr lang="en-US" dirty="0"/>
                        <a:t>&gt;</a:t>
                      </a:r>
                      <a:r>
                        <a:rPr lang="ru-RU" dirty="0"/>
                        <a:t> по записи во время компиляции</a:t>
                      </a:r>
                      <a:endParaRPr lang="en-US" dirty="0"/>
                    </a:p>
                    <a:p>
                      <a:r>
                        <a:rPr lang="ru-RU" dirty="0"/>
                        <a:t>литерал, функция -</a:t>
                      </a:r>
                      <a:r>
                        <a:rPr lang="en-US" dirty="0"/>
                        <a:t>&gt;</a:t>
                      </a:r>
                      <a:r>
                        <a:rPr lang="ru-RU" dirty="0"/>
                        <a:t> во время линковки; (</a:t>
                      </a:r>
                      <a:r>
                        <a:rPr lang="ru-RU" dirty="0" err="1"/>
                        <a:t>выр</a:t>
                      </a:r>
                      <a:r>
                        <a:rPr lang="ru-RU" dirty="0"/>
                        <a:t>) -</a:t>
                      </a:r>
                      <a:r>
                        <a:rPr lang="en-US" dirty="0"/>
                        <a:t>&gt;</a:t>
                      </a:r>
                      <a:r>
                        <a:rPr lang="ru-RU" dirty="0"/>
                        <a:t> вычисляем </a:t>
                      </a:r>
                      <a:r>
                        <a:rPr lang="ru-RU" dirty="0" err="1"/>
                        <a:t>выр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Побочные эффекты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/>
                        <a:t>Well</a:t>
                      </a:r>
                      <a:r>
                        <a:rPr lang="ru-RU" baseline="0" dirty="0"/>
                        <a:t>-</a:t>
                      </a:r>
                      <a:r>
                        <a:rPr lang="en-US" baseline="0" dirty="0"/>
                        <a:t>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Константы, литералы, функции, (</a:t>
                      </a:r>
                      <a:r>
                        <a:rPr lang="ru-RU" dirty="0" err="1"/>
                        <a:t>выр</a:t>
                      </a:r>
                      <a:r>
                        <a:rPr lang="ru-RU" dirty="0"/>
                        <a:t>) </a:t>
                      </a:r>
                      <a:r>
                        <a:rPr lang="en-US" dirty="0"/>
                        <a:t>--</a:t>
                      </a:r>
                      <a:r>
                        <a:rPr lang="ru-RU" dirty="0"/>
                        <a:t> всегда; переменная </a:t>
                      </a:r>
                      <a:r>
                        <a:rPr lang="en-US" dirty="0"/>
                        <a:t>--</a:t>
                      </a:r>
                      <a:r>
                        <a:rPr lang="ru-RU" dirty="0"/>
                        <a:t> если присвоено 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Implementation-defined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Вещественные константы</a:t>
                      </a:r>
                      <a:r>
                        <a:rPr lang="ru-RU" baseline="0" dirty="0"/>
                        <a:t>, записанные в 10 </a:t>
                      </a:r>
                      <a:r>
                        <a:rPr lang="ru-RU" baseline="0" dirty="0" err="1"/>
                        <a:t>с.с</a:t>
                      </a:r>
                      <a:r>
                        <a:rPr lang="ru-RU" baseline="0" dirty="0"/>
                        <a:t>. и </a:t>
                      </a:r>
                      <a:r>
                        <a:rPr lang="ru-RU" dirty="0"/>
                        <a:t>неточно представимые в 2 </a:t>
                      </a:r>
                      <a:r>
                        <a:rPr lang="ru-RU" dirty="0" err="1"/>
                        <a:t>с.с</a:t>
                      </a:r>
                      <a:r>
                        <a:rPr lang="ru-RU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</a:t>
                      </a:r>
                      <a:r>
                        <a:rPr lang="en-US" baseline="0" dirty="0"/>
                        <a:t>ndefined behavior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Переменная</a:t>
                      </a:r>
                      <a:r>
                        <a:rPr lang="en-US" dirty="0"/>
                        <a:t> --</a:t>
                      </a:r>
                      <a:r>
                        <a:rPr lang="ru-RU" dirty="0"/>
                        <a:t> если</a:t>
                      </a:r>
                      <a:r>
                        <a:rPr lang="ru-RU" baseline="0" dirty="0"/>
                        <a:t> не присвоено значение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87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867037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Доступ к элементу массива</a:t>
            </a:r>
            <a:r>
              <a:rPr lang="en-US" dirty="0"/>
              <a:t> A[k]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graphicFrame>
        <p:nvGraphicFramePr>
          <p:cNvPr id="4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9969378"/>
              </p:ext>
            </p:extLst>
          </p:nvPr>
        </p:nvGraphicFramePr>
        <p:xfrm>
          <a:off x="630841" y="1602000"/>
          <a:ext cx="10972800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Требования к виду и типам операндов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Выражение </a:t>
                      </a:r>
                      <a:r>
                        <a:rPr lang="en-US" dirty="0"/>
                        <a:t>A </a:t>
                      </a:r>
                      <a:r>
                        <a:rPr lang="ru-RU" dirty="0"/>
                        <a:t>имеет тип </a:t>
                      </a:r>
                      <a:r>
                        <a:rPr lang="en-US" dirty="0"/>
                        <a:t>T*, </a:t>
                      </a:r>
                      <a:r>
                        <a:rPr lang="ru-RU" dirty="0"/>
                        <a:t>выражение </a:t>
                      </a:r>
                      <a:r>
                        <a:rPr lang="en-US" dirty="0"/>
                        <a:t>k </a:t>
                      </a:r>
                      <a:r>
                        <a:rPr lang="ru-RU" dirty="0"/>
                        <a:t>имеет целочисленный</a:t>
                      </a:r>
                      <a:r>
                        <a:rPr lang="ru-RU" baseline="0" dirty="0"/>
                        <a:t> тип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определения типа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 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вычисления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</a:t>
                      </a:r>
                      <a:r>
                        <a:rPr lang="ru-RU" baseline="0" dirty="0"/>
                        <a:t>начение, начиная с адреса </a:t>
                      </a:r>
                      <a:r>
                        <a:rPr lang="en-US" dirty="0"/>
                        <a:t>A + k*</a:t>
                      </a:r>
                      <a:r>
                        <a:rPr lang="ru-RU" dirty="0"/>
                        <a:t>размер</a:t>
                      </a:r>
                      <a:r>
                        <a:rPr lang="en-US" dirty="0"/>
                        <a:t>(T)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Побочные эффекты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/>
                        <a:t>Well-defined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Память по адресам </a:t>
                      </a:r>
                      <a:r>
                        <a:rPr lang="en-US" dirty="0"/>
                        <a:t>[A + </a:t>
                      </a:r>
                      <a:r>
                        <a:rPr lang="ru-RU" dirty="0"/>
                        <a:t>размер</a:t>
                      </a:r>
                      <a:r>
                        <a:rPr lang="en-US" dirty="0"/>
                        <a:t>(T)*k, A + </a:t>
                      </a:r>
                      <a:r>
                        <a:rPr lang="ru-RU" dirty="0"/>
                        <a:t>размер</a:t>
                      </a:r>
                      <a:r>
                        <a:rPr lang="en-US" dirty="0"/>
                        <a:t>(T)*(k+1) - 1</a:t>
                      </a:r>
                      <a:r>
                        <a:rPr lang="en-US" baseline="0" dirty="0"/>
                        <a:t> ]</a:t>
                      </a:r>
                      <a:r>
                        <a:rPr lang="en-US" dirty="0"/>
                        <a:t> </a:t>
                      </a:r>
                      <a:r>
                        <a:rPr lang="ru-RU" dirty="0"/>
                        <a:t>доступна</a:t>
                      </a:r>
                      <a:r>
                        <a:rPr lang="en-US" dirty="0"/>
                        <a:t> </a:t>
                      </a:r>
                      <a:r>
                        <a:rPr lang="ru-RU" dirty="0"/>
                        <a:t>и</a:t>
                      </a:r>
                      <a:r>
                        <a:rPr lang="ru-RU" baseline="0" dirty="0"/>
                        <a:t> ей присвоено значение</a:t>
                      </a:r>
                      <a:r>
                        <a:rPr lang="en-US" dirty="0"/>
                        <a:t>,</a:t>
                      </a:r>
                      <a:r>
                        <a:rPr lang="en-US" baseline="0" dirty="0"/>
                        <a:t> </a:t>
                      </a:r>
                      <a:r>
                        <a:rPr lang="ru-RU" baseline="0" dirty="0"/>
                        <a:t>адрес А</a:t>
                      </a:r>
                      <a:r>
                        <a:rPr lang="en-US" baseline="0" dirty="0"/>
                        <a:t> </a:t>
                      </a:r>
                      <a:r>
                        <a:rPr lang="ru-RU" baseline="0" dirty="0"/>
                        <a:t>кратен </a:t>
                      </a:r>
                      <a:r>
                        <a:rPr lang="en-US" baseline="0" dirty="0" err="1"/>
                        <a:t>alignof</a:t>
                      </a:r>
                      <a:r>
                        <a:rPr lang="ru-RU" baseline="0" dirty="0"/>
                        <a:t>(Т)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Unspecified behavior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Очередность вычисления А и 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</a:t>
                      </a:r>
                      <a:r>
                        <a:rPr lang="en-US" baseline="0" dirty="0"/>
                        <a:t>ndefined behavior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Нарушены условия </a:t>
                      </a:r>
                      <a:r>
                        <a:rPr lang="en-US" dirty="0"/>
                        <a:t>well-defined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768398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88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742765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Вызов функции </a:t>
            </a:r>
            <a:r>
              <a:rPr lang="en-US" dirty="0"/>
              <a:t>f(…)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graphicFrame>
        <p:nvGraphicFramePr>
          <p:cNvPr id="4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4606300"/>
              </p:ext>
            </p:extLst>
          </p:nvPr>
        </p:nvGraphicFramePr>
        <p:xfrm>
          <a:off x="609600" y="1602000"/>
          <a:ext cx="10972800" cy="468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0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2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Требования к виду и типам операндов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</a:t>
                      </a:r>
                      <a:r>
                        <a:rPr lang="ru-RU" baseline="0" dirty="0"/>
                        <a:t> выражения </a:t>
                      </a:r>
                      <a:r>
                        <a:rPr lang="en-US" baseline="0" dirty="0"/>
                        <a:t>f </a:t>
                      </a:r>
                      <a:r>
                        <a:rPr lang="ru-RU" baseline="0" dirty="0"/>
                        <a:t>– функция или указатель на функцию</a:t>
                      </a:r>
                    </a:p>
                    <a:p>
                      <a:r>
                        <a:rPr lang="ru-RU" baseline="0" dirty="0"/>
                        <a:t>Типы фактических параметров можно неявно преобразовать к типам формальных параметров </a:t>
                      </a:r>
                      <a:r>
                        <a:rPr lang="en-US" baseline="0" dirty="0"/>
                        <a:t>f -- </a:t>
                      </a:r>
                      <a:r>
                        <a:rPr lang="ru-RU" baseline="0" dirty="0"/>
                        <a:t>см. лекцию про преобразования типов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определения типа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Из описания </a:t>
                      </a:r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вычисления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Вычисление </a:t>
                      </a:r>
                      <a:r>
                        <a:rPr lang="ru-RU" baseline="0" dirty="0"/>
                        <a:t>выражений в </a:t>
                      </a:r>
                      <a:r>
                        <a:rPr lang="en-US" baseline="0" dirty="0"/>
                        <a:t>...</a:t>
                      </a:r>
                      <a:r>
                        <a:rPr lang="ru-RU" baseline="0" dirty="0"/>
                        <a:t>, в</a:t>
                      </a:r>
                      <a:r>
                        <a:rPr lang="ru-RU" dirty="0"/>
                        <a:t>ычисление выражения </a:t>
                      </a:r>
                      <a:r>
                        <a:rPr lang="en-US" dirty="0"/>
                        <a:t>f</a:t>
                      </a:r>
                      <a:r>
                        <a:rPr lang="ru-RU" dirty="0"/>
                        <a:t>, исполнение тела </a:t>
                      </a:r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Побочные эффекты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Создание стекового кадра на время работы тела </a:t>
                      </a:r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  <a:r>
                        <a:rPr lang="en-US" baseline="0" dirty="0"/>
                        <a:t>ell-defined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Достаточно</a:t>
                      </a:r>
                      <a:r>
                        <a:rPr lang="ru-RU" baseline="0" dirty="0"/>
                        <a:t> памяти для стекового кадра; содержимое памяти по адресу </a:t>
                      </a:r>
                      <a:r>
                        <a:rPr lang="en-US" baseline="0" dirty="0"/>
                        <a:t>f </a:t>
                      </a:r>
                      <a:r>
                        <a:rPr lang="ru-RU" baseline="0" dirty="0"/>
                        <a:t>доступно для исполнения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Implementation-defined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Одно из неявных преобразований к типам параметров </a:t>
                      </a:r>
                      <a:r>
                        <a:rPr lang="en-US" dirty="0"/>
                        <a:t>f </a:t>
                      </a:r>
                      <a:r>
                        <a:rPr lang="ru-RU" dirty="0"/>
                        <a:t>является </a:t>
                      </a:r>
                      <a:r>
                        <a:rPr lang="en-US" dirty="0"/>
                        <a:t>Implementation-defined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Unspecified behavior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Очередность вычисления фактических параметров</a:t>
                      </a:r>
                      <a:r>
                        <a:rPr lang="ru-RU" baseline="0" dirty="0"/>
                        <a:t> и выражения </a:t>
                      </a:r>
                      <a:r>
                        <a:rPr lang="en-US" baseline="0" dirty="0"/>
                        <a:t>f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Undefined behavior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aseline="0" dirty="0"/>
                        <a:t>Нарушено </a:t>
                      </a:r>
                      <a:r>
                        <a:rPr lang="en-US" baseline="0" dirty="0"/>
                        <a:t>well-defined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387595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89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0682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Доступ к элементу </a:t>
            </a:r>
            <a:r>
              <a:rPr lang="en-US" dirty="0" err="1"/>
              <a:t>struct</a:t>
            </a:r>
            <a:r>
              <a:rPr lang="en-US" dirty="0"/>
              <a:t> </a:t>
            </a:r>
            <a:r>
              <a:rPr lang="ru-RU" dirty="0"/>
              <a:t>или </a:t>
            </a:r>
            <a:r>
              <a:rPr lang="en-US" dirty="0"/>
              <a:t>union </a:t>
            </a:r>
            <a:r>
              <a:rPr lang="en-US" dirty="0" err="1"/>
              <a:t>s.x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graphicFrame>
        <p:nvGraphicFramePr>
          <p:cNvPr id="4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6785787"/>
              </p:ext>
            </p:extLst>
          </p:nvPr>
        </p:nvGraphicFramePr>
        <p:xfrm>
          <a:off x="609600" y="1602000"/>
          <a:ext cx="10972800" cy="286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431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Требования к виду и типам операндов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aseline="0" dirty="0"/>
                        <a:t>Тип выражения </a:t>
                      </a:r>
                      <a:r>
                        <a:rPr lang="en-US" dirty="0"/>
                        <a:t>s</a:t>
                      </a:r>
                      <a:r>
                        <a:rPr lang="ru-RU" dirty="0"/>
                        <a:t> -- </a:t>
                      </a:r>
                      <a:r>
                        <a:rPr lang="en-US" dirty="0"/>
                        <a:t>struct </a:t>
                      </a:r>
                      <a:r>
                        <a:rPr lang="ru-RU" dirty="0"/>
                        <a:t>или </a:t>
                      </a:r>
                      <a:r>
                        <a:rPr lang="en-US" dirty="0"/>
                        <a:t>union, x – </a:t>
                      </a:r>
                      <a:r>
                        <a:rPr lang="ru-RU" dirty="0"/>
                        <a:t>имя</a:t>
                      </a:r>
                      <a:r>
                        <a:rPr lang="ru-RU" baseline="0" dirty="0"/>
                        <a:t> элемента этом </a:t>
                      </a:r>
                      <a:r>
                        <a:rPr lang="en-US" baseline="0" dirty="0"/>
                        <a:t>struct </a:t>
                      </a:r>
                      <a:r>
                        <a:rPr lang="ru-RU" baseline="0" dirty="0"/>
                        <a:t>или </a:t>
                      </a:r>
                      <a:r>
                        <a:rPr lang="en-US" baseline="0" dirty="0"/>
                        <a:t>union</a:t>
                      </a:r>
                      <a:r>
                        <a:rPr lang="ru-RU" baseline="0" dirty="0"/>
                        <a:t> -- см. лекцию про структуры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определения типа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 элемента с именем</a:t>
                      </a:r>
                      <a:r>
                        <a:rPr lang="en-US" baseline="0" dirty="0"/>
                        <a:t> x</a:t>
                      </a:r>
                      <a:r>
                        <a:rPr lang="ru-RU" baseline="0" dirty="0"/>
                        <a:t> 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вычисления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 элемента с именем х в значении выражения </a:t>
                      </a:r>
                      <a:r>
                        <a:rPr lang="en-US" dirty="0"/>
                        <a:t>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Побочные эффекты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  <a:r>
                        <a:rPr lang="en-US" baseline="0" dirty="0"/>
                        <a:t>ell-defined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Элементу с именем х в значении выражения </a:t>
                      </a:r>
                      <a:r>
                        <a:rPr lang="en-US" dirty="0"/>
                        <a:t>s</a:t>
                      </a:r>
                      <a:r>
                        <a:rPr lang="ru-RU" dirty="0"/>
                        <a:t> присвоено 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</a:t>
                      </a:r>
                      <a:r>
                        <a:rPr lang="en-US" baseline="0" dirty="0"/>
                        <a:t>ndefined behavior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aseline="0" dirty="0"/>
                        <a:t>Нарушено </a:t>
                      </a:r>
                      <a:r>
                        <a:rPr lang="en-US" baseline="0" dirty="0"/>
                        <a:t>well-defined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90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141637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Доступ к элементу </a:t>
            </a:r>
            <a:r>
              <a:rPr lang="en-US" dirty="0" err="1"/>
              <a:t>struct</a:t>
            </a:r>
            <a:r>
              <a:rPr lang="en-US" dirty="0"/>
              <a:t> </a:t>
            </a:r>
            <a:r>
              <a:rPr lang="ru-RU" dirty="0"/>
              <a:t>или </a:t>
            </a:r>
            <a:r>
              <a:rPr lang="en-US" dirty="0"/>
              <a:t>union </a:t>
            </a:r>
            <a:r>
              <a:rPr lang="en-US" dirty="0" err="1"/>
              <a:t>sptr</a:t>
            </a:r>
            <a:r>
              <a:rPr lang="en-US" dirty="0"/>
              <a:t>-&gt;x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graphicFrame>
        <p:nvGraphicFramePr>
          <p:cNvPr id="4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1617143"/>
              </p:ext>
            </p:extLst>
          </p:nvPr>
        </p:nvGraphicFramePr>
        <p:xfrm>
          <a:off x="609600" y="1602000"/>
          <a:ext cx="10972800" cy="3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Требования к виду и типам операндов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</a:t>
                      </a:r>
                      <a:r>
                        <a:rPr lang="ru-RU" baseline="0" dirty="0"/>
                        <a:t> выражения </a:t>
                      </a:r>
                      <a:r>
                        <a:rPr lang="en-US" dirty="0" err="1"/>
                        <a:t>sptr</a:t>
                      </a:r>
                      <a:r>
                        <a:rPr lang="en-US" dirty="0"/>
                        <a:t> -- </a:t>
                      </a:r>
                      <a:r>
                        <a:rPr lang="ru-RU" dirty="0"/>
                        <a:t>указатель на </a:t>
                      </a:r>
                      <a:r>
                        <a:rPr lang="en-US" dirty="0"/>
                        <a:t>struct </a:t>
                      </a:r>
                      <a:r>
                        <a:rPr lang="ru-RU" dirty="0"/>
                        <a:t>или </a:t>
                      </a:r>
                      <a:r>
                        <a:rPr lang="en-US" dirty="0"/>
                        <a:t>union, x – </a:t>
                      </a:r>
                      <a:r>
                        <a:rPr lang="ru-RU" dirty="0"/>
                        <a:t>имя</a:t>
                      </a:r>
                      <a:r>
                        <a:rPr lang="ru-RU" baseline="0" dirty="0"/>
                        <a:t> элемента в этом </a:t>
                      </a:r>
                      <a:r>
                        <a:rPr lang="en-US" baseline="0" dirty="0"/>
                        <a:t>struct </a:t>
                      </a:r>
                      <a:r>
                        <a:rPr lang="ru-RU" baseline="0" dirty="0"/>
                        <a:t>или </a:t>
                      </a:r>
                      <a:r>
                        <a:rPr lang="en-US" baseline="0" dirty="0"/>
                        <a:t>union</a:t>
                      </a:r>
                      <a:r>
                        <a:rPr lang="ru-RU" baseline="0" dirty="0"/>
                        <a:t> -- см. лекцию про структуры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определения типа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 элемента с именем</a:t>
                      </a:r>
                      <a:r>
                        <a:rPr lang="en-US" baseline="0" dirty="0"/>
                        <a:t> x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вычисления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 элемента с именем х в значении,</a:t>
                      </a:r>
                      <a:r>
                        <a:rPr lang="ru-RU" baseline="0" dirty="0"/>
                        <a:t> хранящемся под адресу, равному значению</a:t>
                      </a:r>
                      <a:r>
                        <a:rPr lang="ru-RU" dirty="0"/>
                        <a:t> выражения </a:t>
                      </a:r>
                      <a:r>
                        <a:rPr lang="en-US" dirty="0" err="1"/>
                        <a:t>sptr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Побочные эффекты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  <a:r>
                        <a:rPr lang="en-US" baseline="0" dirty="0"/>
                        <a:t>ell-defined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Элементу с именем х в значении, хранящемся по адресу,</a:t>
                      </a:r>
                      <a:r>
                        <a:rPr lang="ru-RU" baseline="0" dirty="0"/>
                        <a:t> равному</a:t>
                      </a:r>
                      <a:r>
                        <a:rPr lang="ru-RU" dirty="0"/>
                        <a:t> значению выражения </a:t>
                      </a:r>
                      <a:r>
                        <a:rPr lang="en-US" dirty="0" err="1"/>
                        <a:t>sptr</a:t>
                      </a:r>
                      <a:r>
                        <a:rPr lang="ru-RU" dirty="0"/>
                        <a:t>,</a:t>
                      </a:r>
                      <a:r>
                        <a:rPr lang="en-US" dirty="0"/>
                        <a:t> </a:t>
                      </a:r>
                      <a:r>
                        <a:rPr lang="ru-RU" dirty="0"/>
                        <a:t>присвоено значение</a:t>
                      </a:r>
                      <a:r>
                        <a:rPr lang="en-US" dirty="0"/>
                        <a:t>; </a:t>
                      </a:r>
                      <a:r>
                        <a:rPr lang="ru-RU" dirty="0"/>
                        <a:t>память по адресу </a:t>
                      </a:r>
                      <a:r>
                        <a:rPr lang="en-US" dirty="0" err="1"/>
                        <a:t>sptr</a:t>
                      </a:r>
                      <a:r>
                        <a:rPr lang="en-US" dirty="0"/>
                        <a:t> </a:t>
                      </a:r>
                      <a:r>
                        <a:rPr lang="ru-RU" dirty="0"/>
                        <a:t>доступна для чтения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</a:t>
                      </a:r>
                      <a:r>
                        <a:rPr lang="en-US" baseline="0" dirty="0"/>
                        <a:t>ndefined behavior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aseline="0" dirty="0"/>
                        <a:t>Нарушено </a:t>
                      </a:r>
                      <a:r>
                        <a:rPr lang="en-US" baseline="0" dirty="0"/>
                        <a:t>well-defined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91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353073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Постфиксный инкремент/декремент </a:t>
            </a:r>
            <a:r>
              <a:rPr lang="en-US" dirty="0"/>
              <a:t>k++, k--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92</a:t>
            </a:fld>
            <a:endParaRPr lang="ru-RU"/>
          </a:p>
        </p:txBody>
      </p:sp>
      <p:graphicFrame>
        <p:nvGraphicFramePr>
          <p:cNvPr id="6" name="Объект 3">
            <a:extLst>
              <a:ext uri="{FF2B5EF4-FFF2-40B4-BE49-F238E27FC236}">
                <a16:creationId xmlns:a16="http://schemas.microsoft.com/office/drawing/2014/main" id="{8E020420-5DC3-4941-9E93-8380114CA4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6592742"/>
              </p:ext>
            </p:extLst>
          </p:nvPr>
        </p:nvGraphicFramePr>
        <p:xfrm>
          <a:off x="609600" y="1602000"/>
          <a:ext cx="10972800" cy="377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Требования к виду и типам операндов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 выражения</a:t>
                      </a:r>
                      <a:r>
                        <a:rPr lang="ru-RU" baseline="0" dirty="0"/>
                        <a:t> </a:t>
                      </a:r>
                      <a:r>
                        <a:rPr lang="en-US" dirty="0"/>
                        <a:t>k</a:t>
                      </a:r>
                      <a:r>
                        <a:rPr lang="en-US" baseline="0" dirty="0"/>
                        <a:t> </a:t>
                      </a:r>
                      <a:r>
                        <a:rPr lang="ru-RU" baseline="0" dirty="0"/>
                        <a:t>целый, указатель или вещественное, является </a:t>
                      </a:r>
                      <a:r>
                        <a:rPr lang="en-US" baseline="0" dirty="0"/>
                        <a:t>l-value – </a:t>
                      </a:r>
                      <a:r>
                        <a:rPr lang="ru-RU" baseline="0" dirty="0"/>
                        <a:t>см. эту лекцию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определения типа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</a:t>
                      </a:r>
                      <a:r>
                        <a:rPr lang="ru-RU" baseline="0" dirty="0"/>
                        <a:t> выражения </a:t>
                      </a:r>
                      <a:r>
                        <a:rPr lang="en-US" baseline="0" dirty="0"/>
                        <a:t>k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вычисления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Побочные эффекты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для </a:t>
                      </a:r>
                      <a:r>
                        <a:rPr lang="en-US" dirty="0"/>
                        <a:t>k++</a:t>
                      </a:r>
                      <a:r>
                        <a:rPr lang="en-US" baseline="0" dirty="0"/>
                        <a:t> </a:t>
                      </a:r>
                      <a:r>
                        <a:rPr lang="ru-RU" baseline="0" dirty="0"/>
                        <a:t> -- </a:t>
                      </a:r>
                      <a:r>
                        <a:rPr lang="en-US" baseline="0" dirty="0"/>
                        <a:t>k = k + 1, </a:t>
                      </a:r>
                      <a:r>
                        <a:rPr lang="ru-RU" baseline="0" dirty="0"/>
                        <a:t>для </a:t>
                      </a:r>
                      <a:r>
                        <a:rPr lang="en-US" baseline="0" dirty="0"/>
                        <a:t>k-- </a:t>
                      </a:r>
                      <a:r>
                        <a:rPr lang="ru-RU" baseline="0" dirty="0"/>
                        <a:t>-- </a:t>
                      </a:r>
                      <a:r>
                        <a:rPr lang="en-US" baseline="0" dirty="0"/>
                        <a:t>k = k - 1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  <a:r>
                        <a:rPr lang="en-US" baseline="0" dirty="0"/>
                        <a:t>ell-defined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Память, хранящая</a:t>
                      </a:r>
                      <a:r>
                        <a:rPr lang="ru-RU" baseline="0" dirty="0"/>
                        <a:t> значение выражения </a:t>
                      </a:r>
                      <a:r>
                        <a:rPr lang="en-US" baseline="0" dirty="0"/>
                        <a:t>k</a:t>
                      </a:r>
                      <a:r>
                        <a:rPr lang="ru-RU" baseline="0" dirty="0"/>
                        <a:t>, доступна для чтения и записи и присвоено значение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Unspecified behavior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aseline="0" dirty="0"/>
                        <a:t>Момент проявления побочного эффекта – см. эту лекцию про точки следования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</a:t>
                      </a:r>
                      <a:r>
                        <a:rPr lang="en-US" baseline="0" dirty="0"/>
                        <a:t>ndefined behavior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Нарушено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well defined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411962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Префиксный инкремент/декремент </a:t>
            </a:r>
            <a:r>
              <a:rPr lang="en-US" dirty="0"/>
              <a:t>++k, --k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Требования времени компиляции</a:t>
            </a:r>
            <a:endParaRPr lang="en-US" dirty="0"/>
          </a:p>
          <a:p>
            <a:pPr lvl="1"/>
            <a:r>
              <a:rPr lang="en-US" dirty="0"/>
              <a:t>k </a:t>
            </a:r>
            <a:r>
              <a:rPr lang="ru-RU" dirty="0"/>
              <a:t>имеет целочисленный тип</a:t>
            </a:r>
          </a:p>
          <a:p>
            <a:pPr lvl="1"/>
            <a:r>
              <a:rPr lang="en-US" dirty="0"/>
              <a:t>k </a:t>
            </a:r>
            <a:r>
              <a:rPr lang="ru-RU" dirty="0"/>
              <a:t>является</a:t>
            </a:r>
            <a:r>
              <a:rPr lang="en-US" dirty="0"/>
              <a:t> l-value</a:t>
            </a:r>
            <a:endParaRPr lang="ru-RU" dirty="0"/>
          </a:p>
          <a:p>
            <a:r>
              <a:rPr lang="ru-RU" dirty="0"/>
              <a:t>Выражения </a:t>
            </a:r>
            <a:r>
              <a:rPr lang="en-US" dirty="0"/>
              <a:t>++k</a:t>
            </a:r>
            <a:r>
              <a:rPr lang="ru-RU" dirty="0"/>
              <a:t> и</a:t>
            </a:r>
            <a:r>
              <a:rPr lang="en-US" dirty="0"/>
              <a:t> --k </a:t>
            </a:r>
            <a:r>
              <a:rPr lang="ru-RU" dirty="0"/>
              <a:t>имеют тот же тип, что </a:t>
            </a:r>
            <a:r>
              <a:rPr lang="en-US" dirty="0"/>
              <a:t>k</a:t>
            </a:r>
          </a:p>
          <a:p>
            <a:r>
              <a:rPr lang="ru-RU" dirty="0"/>
              <a:t>Значение </a:t>
            </a:r>
            <a:r>
              <a:rPr lang="en-US" dirty="0"/>
              <a:t>++k</a:t>
            </a:r>
            <a:r>
              <a:rPr lang="ru-RU" dirty="0"/>
              <a:t> = </a:t>
            </a:r>
            <a:r>
              <a:rPr lang="en-US" dirty="0"/>
              <a:t>k + 1</a:t>
            </a:r>
            <a:r>
              <a:rPr lang="ru-RU" dirty="0"/>
              <a:t>, значение </a:t>
            </a:r>
            <a:r>
              <a:rPr lang="en-US" dirty="0"/>
              <a:t>k-- </a:t>
            </a:r>
            <a:r>
              <a:rPr lang="ru-RU" dirty="0"/>
              <a:t>= </a:t>
            </a:r>
            <a:r>
              <a:rPr lang="en-US" dirty="0"/>
              <a:t>k - 1</a:t>
            </a:r>
          </a:p>
          <a:p>
            <a:r>
              <a:rPr lang="ru-RU" dirty="0"/>
              <a:t>Побочный эффект – </a:t>
            </a:r>
            <a:r>
              <a:rPr lang="en-US" dirty="0"/>
              <a:t>k = k + 1 </a:t>
            </a:r>
            <a:r>
              <a:rPr lang="ru-RU" dirty="0"/>
              <a:t>или </a:t>
            </a:r>
            <a:r>
              <a:rPr lang="en-US" dirty="0"/>
              <a:t>k = k - 1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5263820"/>
              </p:ext>
            </p:extLst>
          </p:nvPr>
        </p:nvGraphicFramePr>
        <p:xfrm>
          <a:off x="609600" y="1600200"/>
          <a:ext cx="10972800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Требования к виду и типам операндов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 выражения </a:t>
                      </a:r>
                      <a:r>
                        <a:rPr lang="en-US" dirty="0"/>
                        <a:t>k</a:t>
                      </a:r>
                      <a:r>
                        <a:rPr lang="en-US" baseline="0" dirty="0"/>
                        <a:t> </a:t>
                      </a:r>
                      <a:r>
                        <a:rPr lang="ru-RU" baseline="0" dirty="0"/>
                        <a:t>целый, указатель или вещественное, является </a:t>
                      </a:r>
                      <a:r>
                        <a:rPr lang="en-US" baseline="0" dirty="0"/>
                        <a:t>l-value – </a:t>
                      </a:r>
                      <a:r>
                        <a:rPr lang="ru-RU" baseline="0" dirty="0"/>
                        <a:t>см. эту лекцию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определения типа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</a:t>
                      </a:r>
                      <a:r>
                        <a:rPr lang="ru-RU" baseline="0" dirty="0"/>
                        <a:t> выражения </a:t>
                      </a:r>
                      <a:r>
                        <a:rPr lang="en-US" baseline="0" dirty="0"/>
                        <a:t>k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вычисления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для </a:t>
                      </a:r>
                      <a:r>
                        <a:rPr lang="en-US" dirty="0"/>
                        <a:t>++k -- k + 1, </a:t>
                      </a:r>
                      <a:r>
                        <a:rPr lang="ru-RU" dirty="0"/>
                        <a:t>для </a:t>
                      </a:r>
                      <a:r>
                        <a:rPr lang="en-US" dirty="0"/>
                        <a:t>--k -- k – 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Побочные эффекты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для </a:t>
                      </a:r>
                      <a:r>
                        <a:rPr lang="en-US" dirty="0"/>
                        <a:t>++k </a:t>
                      </a:r>
                      <a:r>
                        <a:rPr lang="en-US" baseline="0" dirty="0"/>
                        <a:t>-- k = k + 1, </a:t>
                      </a:r>
                      <a:r>
                        <a:rPr lang="ru-RU" baseline="0" dirty="0"/>
                        <a:t>для </a:t>
                      </a:r>
                      <a:r>
                        <a:rPr lang="en-US" baseline="0" dirty="0"/>
                        <a:t>--k -- k = k - 1 </a:t>
                      </a:r>
                      <a:r>
                        <a:rPr lang="ru-RU" baseline="0" dirty="0"/>
                        <a:t>к моменту вычисления значения выражения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  <a:r>
                        <a:rPr lang="en-US" baseline="0" dirty="0"/>
                        <a:t>ell-defined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Память, хранящая</a:t>
                      </a:r>
                      <a:r>
                        <a:rPr lang="ru-RU" baseline="0" dirty="0"/>
                        <a:t> значение выражения </a:t>
                      </a:r>
                      <a:r>
                        <a:rPr lang="en-US" baseline="0" dirty="0"/>
                        <a:t>k</a:t>
                      </a:r>
                      <a:r>
                        <a:rPr lang="ru-RU" baseline="0" dirty="0"/>
                        <a:t>, доступна для чтения и записи и присвоено значение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</a:t>
                      </a:r>
                      <a:r>
                        <a:rPr lang="en-US" baseline="0" dirty="0"/>
                        <a:t>ndefined behavior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Нарушено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well-defined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93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048973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ctr"/>
            <a:r>
              <a:rPr lang="ru-RU" dirty="0"/>
              <a:t>Размер</a:t>
            </a:r>
            <a:r>
              <a:rPr lang="en-US" dirty="0"/>
              <a:t> </a:t>
            </a:r>
            <a:r>
              <a:rPr lang="ru-RU" dirty="0"/>
              <a:t>значения или типа </a:t>
            </a:r>
            <a:r>
              <a:rPr lang="en-US" dirty="0" err="1"/>
              <a:t>sizeof</a:t>
            </a:r>
            <a:r>
              <a:rPr lang="en-US" dirty="0"/>
              <a:t> x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graphicFrame>
        <p:nvGraphicFramePr>
          <p:cNvPr id="4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4010834"/>
              </p:ext>
            </p:extLst>
          </p:nvPr>
        </p:nvGraphicFramePr>
        <p:xfrm>
          <a:off x="609600" y="1602000"/>
          <a:ext cx="109728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Требования к виду и типам операндов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0" dirty="0"/>
                        <a:t> </a:t>
                      </a:r>
                      <a:r>
                        <a:rPr lang="ru-RU" baseline="0" dirty="0"/>
                        <a:t>-- выражение или конструкция вида (</a:t>
                      </a:r>
                      <a:r>
                        <a:rPr lang="en-US" i="0" baseline="0" dirty="0"/>
                        <a:t>T</a:t>
                      </a:r>
                      <a:r>
                        <a:rPr lang="ru-RU" baseline="0" dirty="0"/>
                        <a:t>), где </a:t>
                      </a:r>
                      <a:r>
                        <a:rPr lang="en-US" baseline="0" dirty="0"/>
                        <a:t>T -- </a:t>
                      </a:r>
                      <a:r>
                        <a:rPr lang="ru-RU" baseline="0" dirty="0"/>
                        <a:t>имя и объявитель типа (например, </a:t>
                      </a:r>
                      <a:r>
                        <a:rPr lang="en-US" baseline="0" dirty="0"/>
                        <a:t>int, void*, char (*)[10] </a:t>
                      </a:r>
                      <a:r>
                        <a:rPr lang="ru-RU" baseline="0" dirty="0"/>
                        <a:t>и т.п.)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определения типа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size_t</a:t>
                      </a:r>
                      <a:r>
                        <a:rPr lang="en-US" baseline="0" dirty="0"/>
                        <a:t> </a:t>
                      </a:r>
                      <a:r>
                        <a:rPr lang="ru-RU" baseline="0" dirty="0"/>
                        <a:t>(определён в </a:t>
                      </a:r>
                      <a:r>
                        <a:rPr lang="en-US" baseline="0" dirty="0" err="1"/>
                        <a:t>stddef.h</a:t>
                      </a:r>
                      <a:r>
                        <a:rPr lang="ru-RU" baseline="0" dirty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вычисления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aseline="0" dirty="0"/>
                        <a:t>Число байтов, нужное для хранения значений типа, который имеет выражение х, или типа </a:t>
                      </a:r>
                      <a:r>
                        <a:rPr lang="en-US" baseline="0" dirty="0"/>
                        <a:t>T</a:t>
                      </a:r>
                      <a:endParaRPr lang="ru-RU" baseline="0" dirty="0"/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aseline="0" dirty="0"/>
                        <a:t>Вычисляется </a:t>
                      </a:r>
                      <a:r>
                        <a:rPr lang="ru-RU" sz="1600" dirty="0"/>
                        <a:t>при </a:t>
                      </a:r>
                      <a:r>
                        <a:rPr lang="ru-RU" sz="1600" baseline="0" dirty="0"/>
                        <a:t>компиляции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aseline="0" dirty="0"/>
                        <a:t>Допустимо 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int* x = malloc(</a:t>
                      </a:r>
                      <a:r>
                        <a:rPr lang="en-US" sz="1600" dirty="0" err="1"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ru-RU" sz="16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*x);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Побочные эффекты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</a:t>
                      </a:r>
                      <a:r>
                        <a:rPr lang="en-US" baseline="0" dirty="0"/>
                        <a:t>mplementation-defined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Всегда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94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087215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ctr"/>
            <a:r>
              <a:rPr lang="ru-RU" dirty="0"/>
              <a:t>Побитовое НЕ </a:t>
            </a:r>
            <a:r>
              <a:rPr lang="en-US" dirty="0"/>
              <a:t>~x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graphicFrame>
        <p:nvGraphicFramePr>
          <p:cNvPr id="4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4280535"/>
              </p:ext>
            </p:extLst>
          </p:nvPr>
        </p:nvGraphicFramePr>
        <p:xfrm>
          <a:off x="603844" y="1602000"/>
          <a:ext cx="10972800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Требования к виду и типам операндов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</a:t>
                      </a:r>
                      <a:r>
                        <a:rPr lang="ru-RU" baseline="0" dirty="0"/>
                        <a:t>ыражение х имеет целочисленный тип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определения типа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 выражения</a:t>
                      </a:r>
                      <a:r>
                        <a:rPr lang="ru-RU" baseline="0" dirty="0"/>
                        <a:t> х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вычисления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  <a:r>
                        <a:rPr lang="en-US" dirty="0"/>
                        <a:t> --&gt; 0, 0 --&gt; 1 </a:t>
                      </a:r>
                      <a:r>
                        <a:rPr lang="ru-RU" dirty="0"/>
                        <a:t>для</a:t>
                      </a:r>
                      <a:r>
                        <a:rPr lang="ru-RU" baseline="0" dirty="0"/>
                        <a:t> всех битов в значении выражения х, включая незначащие нули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Побочные эффекты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  <a:r>
                        <a:rPr lang="en-US" baseline="0" dirty="0"/>
                        <a:t>ell-defined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Всегда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</a:t>
                      </a:r>
                      <a:r>
                        <a:rPr lang="en-US" baseline="0" dirty="0"/>
                        <a:t>mplementation-defined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 </a:t>
                      </a:r>
                      <a:r>
                        <a:rPr lang="en-US" dirty="0"/>
                        <a:t>x </a:t>
                      </a:r>
                      <a:r>
                        <a:rPr lang="ru-RU" dirty="0"/>
                        <a:t>знаковый и значение </a:t>
                      </a:r>
                      <a:r>
                        <a:rPr lang="en-US" dirty="0"/>
                        <a:t>x -- </a:t>
                      </a:r>
                      <a:r>
                        <a:rPr lang="ru-RU" dirty="0"/>
                        <a:t>отрицательное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207692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95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6419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ctr"/>
            <a:r>
              <a:rPr lang="ru-RU" dirty="0"/>
              <a:t>Логическое НЕ !</a:t>
            </a:r>
            <a:r>
              <a:rPr lang="en-US" dirty="0"/>
              <a:t>x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graphicFrame>
        <p:nvGraphicFramePr>
          <p:cNvPr id="4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2195459"/>
              </p:ext>
            </p:extLst>
          </p:nvPr>
        </p:nvGraphicFramePr>
        <p:xfrm>
          <a:off x="609600" y="1602000"/>
          <a:ext cx="109728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Требования к виду и типам операндов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  <a:r>
                        <a:rPr lang="ru-RU" dirty="0"/>
                        <a:t> или неявно преобразуется к </a:t>
                      </a:r>
                      <a:r>
                        <a:rPr lang="en-US" dirty="0"/>
                        <a:t>int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определения типа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int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вычисления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 = </a:t>
                      </a:r>
                      <a:r>
                        <a:rPr lang="ru-RU" dirty="0"/>
                        <a:t>0 --</a:t>
                      </a:r>
                      <a:r>
                        <a:rPr lang="en-US" dirty="0"/>
                        <a:t>&gt; 1, x != 0 --&gt; 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Побочные эффекты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  <a:r>
                        <a:rPr lang="en-US" baseline="0" dirty="0"/>
                        <a:t>ell-defined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Всегда, кроме </a:t>
                      </a:r>
                      <a:r>
                        <a:rPr lang="en-US" dirty="0"/>
                        <a:t>implementation-defined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Implementation-defined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Случаи, когда преобразование к </a:t>
                      </a:r>
                      <a:r>
                        <a:rPr lang="en-US" dirty="0"/>
                        <a:t>int </a:t>
                      </a:r>
                      <a:r>
                        <a:rPr lang="ru-RU" dirty="0"/>
                        <a:t>является </a:t>
                      </a:r>
                      <a:r>
                        <a:rPr lang="en-US" dirty="0"/>
                        <a:t>implementation-defined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209590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96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476297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ctr"/>
            <a:r>
              <a:rPr lang="ru-RU" dirty="0"/>
              <a:t>Смена/сохранение знака числа -х и +х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graphicFrame>
        <p:nvGraphicFramePr>
          <p:cNvPr id="4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2858111"/>
              </p:ext>
            </p:extLst>
          </p:nvPr>
        </p:nvGraphicFramePr>
        <p:xfrm>
          <a:off x="609600" y="1602000"/>
          <a:ext cx="1097280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Требования к виду и типам операндов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Выражение</a:t>
                      </a:r>
                      <a:r>
                        <a:rPr lang="ru-RU" baseline="0" dirty="0"/>
                        <a:t> х имеет числовой тип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определения типа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 выражения 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вычисления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-х --</a:t>
                      </a:r>
                      <a:r>
                        <a:rPr lang="en-US" dirty="0"/>
                        <a:t>&gt; </a:t>
                      </a:r>
                      <a:r>
                        <a:rPr lang="ru-RU" dirty="0"/>
                        <a:t>- значение</a:t>
                      </a:r>
                      <a:r>
                        <a:rPr lang="ru-RU" baseline="0" dirty="0"/>
                        <a:t> выражения х</a:t>
                      </a:r>
                    </a:p>
                    <a:p>
                      <a:r>
                        <a:rPr lang="ru-RU" baseline="0" dirty="0"/>
                        <a:t>+х --</a:t>
                      </a:r>
                      <a:r>
                        <a:rPr lang="en-US" baseline="0" dirty="0"/>
                        <a:t>&gt; </a:t>
                      </a:r>
                      <a:r>
                        <a:rPr lang="ru-RU" baseline="0" dirty="0"/>
                        <a:t>значение выражения х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Побочные эффекты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  <a:r>
                        <a:rPr lang="en-US" baseline="0" dirty="0"/>
                        <a:t>ell-defined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Всегда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97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184137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ctr"/>
            <a:r>
              <a:rPr lang="ru-RU" dirty="0"/>
              <a:t>Взятие адреса </a:t>
            </a:r>
            <a:r>
              <a:rPr lang="en-US" dirty="0"/>
              <a:t>&amp;</a:t>
            </a:r>
            <a:r>
              <a:rPr lang="ru-RU" dirty="0"/>
              <a:t>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graphicFrame>
        <p:nvGraphicFramePr>
          <p:cNvPr id="4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9588063"/>
              </p:ext>
            </p:extLst>
          </p:nvPr>
        </p:nvGraphicFramePr>
        <p:xfrm>
          <a:off x="609600" y="1602000"/>
          <a:ext cx="1097280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Требования к виду и типам операндов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Выражение х является </a:t>
                      </a:r>
                      <a:r>
                        <a:rPr lang="en-US" dirty="0"/>
                        <a:t>l-value – </a:t>
                      </a:r>
                      <a:r>
                        <a:rPr lang="ru-RU" dirty="0"/>
                        <a:t>см. эту лекцию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определения типа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Т*, где Т – тип выражения 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вычисления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Адрес, по которому хранится значение выражения х</a:t>
                      </a:r>
                    </a:p>
                    <a:p>
                      <a:r>
                        <a:rPr lang="ru-RU" dirty="0"/>
                        <a:t>Вычисляется при компиляции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Побочные эффекты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Implementation-defined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Всегда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98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932354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ctr"/>
            <a:r>
              <a:rPr lang="ru-RU" dirty="0"/>
              <a:t>Доступ через указатель *х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graphicFrame>
        <p:nvGraphicFramePr>
          <p:cNvPr id="4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8052702"/>
              </p:ext>
            </p:extLst>
          </p:nvPr>
        </p:nvGraphicFramePr>
        <p:xfrm>
          <a:off x="614750" y="1602000"/>
          <a:ext cx="10972800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Требования к виду и типам операндов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Выражение х имеет тип Т*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определения типа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вычисления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Значение, хранящееся по</a:t>
                      </a:r>
                      <a:r>
                        <a:rPr lang="ru-RU" baseline="0" dirty="0"/>
                        <a:t> адресу, равному значению выражения х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Побочные эффекты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  <a:r>
                        <a:rPr lang="en-US" baseline="0" dirty="0"/>
                        <a:t>ell-defined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Память по адресу, равному значению выражения х, доступна для</a:t>
                      </a:r>
                      <a:r>
                        <a:rPr lang="ru-RU" baseline="0" dirty="0"/>
                        <a:t> чтения </a:t>
                      </a:r>
                      <a:r>
                        <a:rPr lang="ru-RU" dirty="0"/>
                        <a:t>и присвоено 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</a:t>
                      </a:r>
                      <a:r>
                        <a:rPr lang="en-US" baseline="0" dirty="0"/>
                        <a:t>ndefined behavior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 </a:t>
                      </a:r>
                      <a:r>
                        <a:rPr lang="en-US" dirty="0"/>
                        <a:t>well defined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99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50905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ctr"/>
            <a:r>
              <a:rPr lang="ru-RU" dirty="0"/>
              <a:t>Преобразование типа (</a:t>
            </a:r>
            <a:r>
              <a:rPr lang="en-US" dirty="0"/>
              <a:t>T) </a:t>
            </a:r>
            <a:r>
              <a:rPr lang="ru-RU" dirty="0"/>
              <a:t>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graphicFrame>
        <p:nvGraphicFramePr>
          <p:cNvPr id="4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9256781"/>
              </p:ext>
            </p:extLst>
          </p:nvPr>
        </p:nvGraphicFramePr>
        <p:xfrm>
          <a:off x="609600" y="1602000"/>
          <a:ext cx="10972800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Требования к виду и типам операндов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 выражения </a:t>
                      </a:r>
                      <a:r>
                        <a:rPr lang="en-US" dirty="0"/>
                        <a:t>x </a:t>
                      </a:r>
                      <a:r>
                        <a:rPr lang="ru-RU" dirty="0"/>
                        <a:t>– либо простой тип, либо тип функции, либо указатель, либо </a:t>
                      </a:r>
                      <a:r>
                        <a:rPr lang="en-US" dirty="0" err="1"/>
                        <a:t>enum</a:t>
                      </a:r>
                      <a:endParaRPr lang="ru-RU" dirty="0"/>
                    </a:p>
                    <a:p>
                      <a:r>
                        <a:rPr lang="ru-RU" dirty="0"/>
                        <a:t>допустимые комбинации типа </a:t>
                      </a:r>
                      <a:r>
                        <a:rPr lang="en-US" dirty="0"/>
                        <a:t>x </a:t>
                      </a:r>
                      <a:r>
                        <a:rPr lang="ru-RU" dirty="0"/>
                        <a:t>и типа </a:t>
                      </a:r>
                      <a:r>
                        <a:rPr lang="en-US" dirty="0"/>
                        <a:t>T </a:t>
                      </a:r>
                      <a:r>
                        <a:rPr lang="ru-RU" dirty="0"/>
                        <a:t>– см. </a:t>
                      </a:r>
                      <a:r>
                        <a:rPr lang="ru-RU" baseline="0" dirty="0"/>
                        <a:t>лекцию про преобразования типов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определения типа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вычисления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см.</a:t>
                      </a:r>
                      <a:r>
                        <a:rPr lang="ru-RU" baseline="0" dirty="0"/>
                        <a:t> лекцию про преобразования типов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Побочные эффекты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  <a:r>
                        <a:rPr lang="en-US" baseline="0" dirty="0"/>
                        <a:t>ell-defined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см.</a:t>
                      </a:r>
                      <a:r>
                        <a:rPr lang="ru-RU" baseline="0" dirty="0"/>
                        <a:t> лекцию про преобразования типов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Implementation-defined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см.</a:t>
                      </a:r>
                      <a:r>
                        <a:rPr lang="ru-RU" baseline="0" dirty="0"/>
                        <a:t> лекцию про преобразования типов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100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865612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 fontAlgn="ctr"/>
            <a:r>
              <a:rPr lang="ru-RU" dirty="0"/>
              <a:t>Умножение, деление,</a:t>
            </a:r>
            <a:r>
              <a:rPr lang="en-US" dirty="0"/>
              <a:t> </a:t>
            </a:r>
            <a:r>
              <a:rPr lang="ru-RU" dirty="0"/>
              <a:t>остаток </a:t>
            </a:r>
            <a:r>
              <a:rPr lang="en-US" dirty="0"/>
              <a:t>x op y</a:t>
            </a:r>
            <a:r>
              <a:rPr lang="ru-RU" dirty="0"/>
              <a:t>, </a:t>
            </a:r>
            <a:r>
              <a:rPr lang="en-US" dirty="0"/>
              <a:t>op = */%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graphicFrame>
        <p:nvGraphicFramePr>
          <p:cNvPr id="4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5762889"/>
              </p:ext>
            </p:extLst>
          </p:nvPr>
        </p:nvGraphicFramePr>
        <p:xfrm>
          <a:off x="609600" y="1600201"/>
          <a:ext cx="10972800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Требования к виду и типам операндов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Выражения х и у имеют числовой тип</a:t>
                      </a:r>
                      <a:endParaRPr lang="en-US" dirty="0"/>
                    </a:p>
                    <a:p>
                      <a:r>
                        <a:rPr lang="ru-RU" dirty="0"/>
                        <a:t>если </a:t>
                      </a:r>
                      <a:r>
                        <a:rPr lang="en-US" dirty="0"/>
                        <a:t>op = </a:t>
                      </a:r>
                      <a:r>
                        <a:rPr lang="ru-RU" baseline="0" dirty="0"/>
                        <a:t>%, то х и у имеют целочисленный тип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определения типа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Общий тип для типов выражений </a:t>
                      </a:r>
                      <a:r>
                        <a:rPr lang="en-US" dirty="0"/>
                        <a:t>x </a:t>
                      </a:r>
                      <a:r>
                        <a:rPr lang="ru-RU" dirty="0"/>
                        <a:t>и </a:t>
                      </a:r>
                      <a:r>
                        <a:rPr lang="en-US" dirty="0"/>
                        <a:t>y -- </a:t>
                      </a:r>
                      <a:r>
                        <a:rPr lang="ru-RU" dirty="0"/>
                        <a:t>см. лекцию про преобразования типов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вычисления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Пусть</a:t>
                      </a:r>
                      <a:r>
                        <a:rPr lang="ru-RU" baseline="0" dirty="0"/>
                        <a:t> Т -- тип</a:t>
                      </a:r>
                      <a:r>
                        <a:rPr lang="en-US" baseline="0" dirty="0"/>
                        <a:t>(x op y)</a:t>
                      </a:r>
                      <a:endParaRPr lang="ru-RU" baseline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Если х или у вещественные, то (Т)х ор (Т)у; иначе</a:t>
                      </a:r>
                      <a:r>
                        <a:rPr lang="ru-RU" baseline="0" dirty="0"/>
                        <a:t> (Т)((Т)</a:t>
                      </a:r>
                      <a:r>
                        <a:rPr lang="ru-RU" dirty="0"/>
                        <a:t>х ор (Т)у)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Побочные эффекты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  <a:r>
                        <a:rPr lang="en-US" baseline="0" dirty="0"/>
                        <a:t>ell-defined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 </a:t>
                      </a:r>
                      <a:r>
                        <a:rPr lang="en-US" dirty="0"/>
                        <a:t>implementation-defined </a:t>
                      </a:r>
                      <a:r>
                        <a:rPr lang="ru-RU" dirty="0"/>
                        <a:t>и не </a:t>
                      </a:r>
                      <a:r>
                        <a:rPr lang="en-US" dirty="0"/>
                        <a:t>undefined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Implementation-defined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/>
                        <a:t>op = </a:t>
                      </a:r>
                      <a:r>
                        <a:rPr lang="ru-RU" baseline="0" dirty="0"/>
                        <a:t>% и х либо у </a:t>
                      </a:r>
                      <a:r>
                        <a:rPr lang="en-US" baseline="0" dirty="0"/>
                        <a:t>&lt; 0; x / y </a:t>
                      </a:r>
                      <a:r>
                        <a:rPr lang="ru-RU" baseline="0" dirty="0"/>
                        <a:t>и х != 0 и у = 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Unspecified behavior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aseline="0" dirty="0"/>
                        <a:t>Очерёдность вычисления х и у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</a:t>
                      </a:r>
                      <a:r>
                        <a:rPr lang="en-US" baseline="0" dirty="0"/>
                        <a:t>ndefined behavior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 % 0</a:t>
                      </a:r>
                      <a:r>
                        <a:rPr lang="ru-RU" dirty="0"/>
                        <a:t> или </a:t>
                      </a:r>
                      <a:r>
                        <a:rPr lang="ru-RU" baseline="0" dirty="0"/>
                        <a:t>0</a:t>
                      </a:r>
                      <a:r>
                        <a:rPr lang="en-US" baseline="0" dirty="0"/>
                        <a:t> / 0</a:t>
                      </a:r>
                      <a:r>
                        <a:rPr lang="ru-RU" baseline="0" dirty="0"/>
                        <a:t> или</a:t>
                      </a:r>
                      <a:r>
                        <a:rPr lang="en-US" baseline="0" dirty="0"/>
                        <a:t> </a:t>
                      </a:r>
                      <a:r>
                        <a:rPr lang="ru-RU" baseline="0" dirty="0"/>
                        <a:t>переполнение</a:t>
                      </a:r>
                      <a:r>
                        <a:rPr lang="en-US" baseline="0" dirty="0"/>
                        <a:t> </a:t>
                      </a:r>
                      <a:r>
                        <a:rPr lang="ru-RU" baseline="0" dirty="0"/>
                        <a:t>для целочисленных со знаком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8001441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101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713677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fontAlgn="ctr"/>
            <a:r>
              <a:rPr lang="ru-RU" dirty="0"/>
              <a:t>Сложение, вычитание </a:t>
            </a:r>
            <a:r>
              <a:rPr lang="en-US" dirty="0"/>
              <a:t>x op y</a:t>
            </a:r>
            <a:r>
              <a:rPr lang="ru-RU" dirty="0"/>
              <a:t>, </a:t>
            </a:r>
            <a:r>
              <a:rPr lang="en-US" dirty="0"/>
              <a:t>op = </a:t>
            </a:r>
            <a:r>
              <a:rPr lang="ru-RU" dirty="0"/>
              <a:t>+-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graphicFrame>
        <p:nvGraphicFramePr>
          <p:cNvPr id="4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2630932"/>
              </p:ext>
            </p:extLst>
          </p:nvPr>
        </p:nvGraphicFramePr>
        <p:xfrm>
          <a:off x="609600" y="1602000"/>
          <a:ext cx="10972800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Требования к виду и типам операндов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Типы выражений х и у числовые, или один из них целочисленный, а второй</a:t>
                      </a:r>
                      <a:r>
                        <a:rPr lang="ru-RU" baseline="0" dirty="0"/>
                        <a:t> – указатель, или ор = - и оба указатели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определения типа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Если</a:t>
                      </a:r>
                      <a:r>
                        <a:rPr lang="ru-RU" baseline="0" dirty="0"/>
                        <a:t> типы выражений числовые, то к</a:t>
                      </a:r>
                      <a:r>
                        <a:rPr lang="ru-RU" dirty="0"/>
                        <a:t>ак для * / %; иначе</a:t>
                      </a:r>
                      <a:r>
                        <a:rPr lang="ru-RU" baseline="0" dirty="0"/>
                        <a:t> указатель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вычисления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Для числовых типов см. слайд про * / %</a:t>
                      </a:r>
                      <a:br>
                        <a:rPr lang="ru-RU" dirty="0"/>
                      </a:br>
                      <a:r>
                        <a:rPr lang="ru-RU" dirty="0"/>
                        <a:t>Для указателей см. лекцию про указатели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Побочные эффекты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/>
                        <a:t>Well-defined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Для числовых типов -- </a:t>
                      </a:r>
                      <a:r>
                        <a:rPr lang="ru-RU" baseline="0" dirty="0"/>
                        <a:t>отсутствие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undefined behavior</a:t>
                      </a:r>
                      <a:endParaRPr lang="ru-RU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Для указателей см. лекцию про указатели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Implementation-defined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aseline="0" dirty="0"/>
                        <a:t>Для указателей см. лекцию </a:t>
                      </a:r>
                      <a:r>
                        <a:rPr lang="ru-RU" dirty="0"/>
                        <a:t>про указатели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Unspecified behavior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Очерёдность  вычисления </a:t>
                      </a:r>
                      <a:r>
                        <a:rPr lang="en-US" dirty="0"/>
                        <a:t>x </a:t>
                      </a:r>
                      <a:r>
                        <a:rPr lang="ru-RU" dirty="0"/>
                        <a:t>и </a:t>
                      </a:r>
                      <a:r>
                        <a:rPr lang="en-US" dirty="0"/>
                        <a:t>y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Undefined behavior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 переполнении для целочисленных типов со знаком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57981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102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970695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fontAlgn="ctr"/>
            <a:r>
              <a:rPr lang="ru-RU" dirty="0"/>
              <a:t>Сдвиг </a:t>
            </a:r>
            <a:r>
              <a:rPr lang="en-US" dirty="0"/>
              <a:t>x op y</a:t>
            </a:r>
            <a:r>
              <a:rPr lang="ru-RU" dirty="0"/>
              <a:t>, </a:t>
            </a:r>
            <a:r>
              <a:rPr lang="en-US" dirty="0"/>
              <a:t>op = &lt;&lt; &gt;&gt;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graphicFrame>
        <p:nvGraphicFramePr>
          <p:cNvPr id="4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7448975"/>
              </p:ext>
            </p:extLst>
          </p:nvPr>
        </p:nvGraphicFramePr>
        <p:xfrm>
          <a:off x="609600" y="1602000"/>
          <a:ext cx="10972800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Требования к виду и типам операндов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Выражения х и у имеют целочисленный</a:t>
                      </a:r>
                      <a:r>
                        <a:rPr lang="ru-RU" baseline="0" dirty="0"/>
                        <a:t> тип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определения типа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aseline="0" dirty="0"/>
                        <a:t>размер(х ор у) = МАХ(размер(х), размер(</a:t>
                      </a:r>
                      <a:r>
                        <a:rPr lang="en-US" baseline="0" dirty="0" err="1"/>
                        <a:t>int</a:t>
                      </a:r>
                      <a:r>
                        <a:rPr lang="ru-RU" baseline="0" dirty="0"/>
                        <a:t>))</a:t>
                      </a:r>
                    </a:p>
                    <a:p>
                      <a:r>
                        <a:rPr lang="ru-RU" baseline="0" dirty="0" err="1"/>
                        <a:t>беззнака</a:t>
                      </a:r>
                      <a:r>
                        <a:rPr lang="ru-RU" baseline="0" dirty="0"/>
                        <a:t>(х ор у) = </a:t>
                      </a:r>
                      <a:r>
                        <a:rPr lang="ru-RU" baseline="0" dirty="0" err="1"/>
                        <a:t>беззнака</a:t>
                      </a:r>
                      <a:r>
                        <a:rPr lang="ru-RU" baseline="0" dirty="0"/>
                        <a:t>(х)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вычисления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</a:t>
                      </a:r>
                      <a:r>
                        <a:rPr lang="ru-RU" baseline="0" dirty="0"/>
                        <a:t>(</a:t>
                      </a:r>
                      <a:r>
                        <a:rPr lang="en-US" dirty="0"/>
                        <a:t>x </a:t>
                      </a:r>
                      <a:r>
                        <a:rPr lang="en-US" baseline="0" dirty="0"/>
                        <a:t>&gt;&gt; </a:t>
                      </a:r>
                      <a:r>
                        <a:rPr lang="ru-RU" baseline="0" dirty="0"/>
                        <a:t>у)</a:t>
                      </a:r>
                      <a:r>
                        <a:rPr lang="en-US" baseline="0" dirty="0"/>
                        <a:t> = </a:t>
                      </a:r>
                      <a:r>
                        <a:rPr lang="ru-RU" baseline="0" dirty="0"/>
                        <a:t>значение(</a:t>
                      </a:r>
                      <a:r>
                        <a:rPr lang="en-US" baseline="0" dirty="0"/>
                        <a:t>x</a:t>
                      </a:r>
                      <a:r>
                        <a:rPr lang="ru-RU" baseline="0" dirty="0"/>
                        <a:t>)</a:t>
                      </a:r>
                      <a:r>
                        <a:rPr lang="en-US" baseline="0" dirty="0"/>
                        <a:t> / 2</a:t>
                      </a:r>
                      <a:r>
                        <a:rPr lang="ru-RU" baseline="30000" dirty="0"/>
                        <a:t>значение(у)</a:t>
                      </a:r>
                      <a:endParaRPr lang="en-US" baseline="0" dirty="0"/>
                    </a:p>
                    <a:p>
                      <a:r>
                        <a:rPr lang="ru-RU" dirty="0"/>
                        <a:t>значение</a:t>
                      </a:r>
                      <a:r>
                        <a:rPr lang="ru-RU" baseline="0" dirty="0"/>
                        <a:t>(</a:t>
                      </a:r>
                      <a:r>
                        <a:rPr lang="en-US" baseline="0" dirty="0"/>
                        <a:t>x &lt;&lt; y</a:t>
                      </a:r>
                      <a:r>
                        <a:rPr lang="ru-RU" baseline="0" dirty="0"/>
                        <a:t>)</a:t>
                      </a:r>
                      <a:r>
                        <a:rPr lang="en-US" baseline="0" dirty="0"/>
                        <a:t> = </a:t>
                      </a:r>
                      <a:r>
                        <a:rPr lang="ru-RU" baseline="0" dirty="0"/>
                        <a:t>значение(</a:t>
                      </a:r>
                      <a:r>
                        <a:rPr lang="en-US" baseline="0" dirty="0"/>
                        <a:t>x</a:t>
                      </a:r>
                      <a:r>
                        <a:rPr lang="ru-RU" baseline="0" dirty="0"/>
                        <a:t>)</a:t>
                      </a:r>
                      <a:r>
                        <a:rPr lang="en-US" baseline="0" dirty="0"/>
                        <a:t> * 2</a:t>
                      </a:r>
                      <a:r>
                        <a:rPr lang="ru-RU" baseline="30000" dirty="0"/>
                        <a:t>значение(у)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Побочные эффекты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  <a:r>
                        <a:rPr lang="en-US" baseline="0" dirty="0"/>
                        <a:t>ell-defined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aseline="0" dirty="0"/>
                        <a:t>Не </a:t>
                      </a:r>
                      <a:r>
                        <a:rPr lang="en-US" baseline="0" dirty="0"/>
                        <a:t>undefined behavior</a:t>
                      </a:r>
                      <a:r>
                        <a:rPr lang="ru-RU" baseline="0" dirty="0"/>
                        <a:t> и значение х </a:t>
                      </a:r>
                      <a:r>
                        <a:rPr lang="en-US" baseline="0" dirty="0"/>
                        <a:t>&gt;= 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Implementation-defined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aseline="0" dirty="0"/>
                        <a:t>Не </a:t>
                      </a:r>
                      <a:r>
                        <a:rPr lang="en-US" baseline="0" dirty="0"/>
                        <a:t>undefined behavior</a:t>
                      </a:r>
                      <a:r>
                        <a:rPr lang="ru-RU" baseline="0" dirty="0"/>
                        <a:t> и </a:t>
                      </a:r>
                      <a:r>
                        <a:rPr lang="en-US" dirty="0"/>
                        <a:t>op</a:t>
                      </a:r>
                      <a:r>
                        <a:rPr lang="en-US" baseline="0" dirty="0"/>
                        <a:t> = &gt;&gt;</a:t>
                      </a:r>
                      <a:r>
                        <a:rPr lang="ru-RU" baseline="0" dirty="0"/>
                        <a:t> и</a:t>
                      </a:r>
                      <a:r>
                        <a:rPr lang="en-US" baseline="0" dirty="0"/>
                        <a:t> </a:t>
                      </a:r>
                      <a:r>
                        <a:rPr lang="ru-RU" dirty="0"/>
                        <a:t>значение х </a:t>
                      </a:r>
                      <a:r>
                        <a:rPr lang="en-US" dirty="0"/>
                        <a:t>&lt;</a:t>
                      </a:r>
                      <a:r>
                        <a:rPr lang="en-US" baseline="0" dirty="0"/>
                        <a:t> 0</a:t>
                      </a:r>
                      <a:r>
                        <a:rPr lang="ru-RU" baseline="0" dirty="0"/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aseline="0" dirty="0"/>
                        <a:t>Не </a:t>
                      </a:r>
                      <a:r>
                        <a:rPr lang="en-US" baseline="0" dirty="0"/>
                        <a:t>undefined behavior</a:t>
                      </a:r>
                      <a:r>
                        <a:rPr lang="ru-RU" baseline="0" dirty="0"/>
                        <a:t> и </a:t>
                      </a:r>
                      <a:r>
                        <a:rPr lang="en-US" dirty="0"/>
                        <a:t>op</a:t>
                      </a:r>
                      <a:r>
                        <a:rPr lang="en-US" baseline="0" dirty="0"/>
                        <a:t> = &lt;&lt;</a:t>
                      </a:r>
                      <a:r>
                        <a:rPr lang="ru-RU" baseline="0" dirty="0"/>
                        <a:t> и</a:t>
                      </a:r>
                      <a:r>
                        <a:rPr lang="en-US" baseline="0" dirty="0"/>
                        <a:t> </a:t>
                      </a:r>
                      <a:r>
                        <a:rPr lang="ru-RU" dirty="0"/>
                        <a:t>значение х </a:t>
                      </a:r>
                      <a:r>
                        <a:rPr lang="en-US" dirty="0"/>
                        <a:t>&lt;</a:t>
                      </a:r>
                      <a:r>
                        <a:rPr lang="en-US" baseline="0" dirty="0"/>
                        <a:t> 0</a:t>
                      </a:r>
                      <a:r>
                        <a:rPr lang="ru-RU" baseline="0" dirty="0"/>
                        <a:t> или значащие разряды </a:t>
                      </a:r>
                      <a:r>
                        <a:rPr lang="en-US" baseline="0" dirty="0"/>
                        <a:t>x </a:t>
                      </a:r>
                      <a:r>
                        <a:rPr lang="ru-RU" baseline="0" dirty="0"/>
                        <a:t>попадают при сдвиге в старший разряд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Unspecified behavior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Очерёдность</a:t>
                      </a:r>
                      <a:r>
                        <a:rPr lang="ru-RU" baseline="0" dirty="0"/>
                        <a:t> вычисления х и у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</a:t>
                      </a:r>
                      <a:r>
                        <a:rPr lang="en-US" baseline="0" dirty="0"/>
                        <a:t>ndefined behavior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(значение</a:t>
                      </a:r>
                      <a:r>
                        <a:rPr lang="ru-RU" baseline="0" dirty="0"/>
                        <a:t> у </a:t>
                      </a:r>
                      <a:r>
                        <a:rPr lang="en-US" baseline="0" dirty="0"/>
                        <a:t>&lt; 0</a:t>
                      </a:r>
                      <a:r>
                        <a:rPr lang="ru-RU" baseline="0" dirty="0"/>
                        <a:t>)</a:t>
                      </a:r>
                      <a:r>
                        <a:rPr lang="en-US" baseline="0" dirty="0"/>
                        <a:t> </a:t>
                      </a:r>
                      <a:r>
                        <a:rPr lang="ru-RU" baseline="0" dirty="0"/>
                        <a:t>или </a:t>
                      </a:r>
                      <a:r>
                        <a:rPr lang="en-US" baseline="0" dirty="0"/>
                        <a:t>(y &gt;=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8*</a:t>
                      </a:r>
                      <a:r>
                        <a:rPr lang="ru-RU" baseline="0" dirty="0"/>
                        <a:t>размер(х ор у)</a:t>
                      </a:r>
                      <a:r>
                        <a:rPr lang="en-US" baseline="0" dirty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291817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103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911950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fontAlgn="ctr"/>
            <a:r>
              <a:rPr lang="ru-RU" dirty="0"/>
              <a:t>Сравнение х ор у, ор = &lt; &gt; &lt;= &gt;=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graphicFrame>
        <p:nvGraphicFramePr>
          <p:cNvPr id="4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0256858"/>
              </p:ext>
            </p:extLst>
          </p:nvPr>
        </p:nvGraphicFramePr>
        <p:xfrm>
          <a:off x="609600" y="1613205"/>
          <a:ext cx="1097280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Требования к виду и типам операндов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Типы</a:t>
                      </a:r>
                      <a:r>
                        <a:rPr lang="ru-RU" baseline="0" dirty="0"/>
                        <a:t> х и у скалярные, кроме комбинации указатель + вещественный 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определения типа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int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вычисления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aseline="0" dirty="0"/>
                        <a:t>Т = общий тип для </a:t>
                      </a:r>
                      <a:r>
                        <a:rPr lang="ru-RU" dirty="0"/>
                        <a:t>типа </a:t>
                      </a:r>
                      <a:r>
                        <a:rPr lang="ru-RU" baseline="0" dirty="0"/>
                        <a:t>х и типа у</a:t>
                      </a:r>
                      <a:endParaRPr lang="ru-RU" dirty="0"/>
                    </a:p>
                    <a:p>
                      <a:r>
                        <a:rPr lang="ru-RU" dirty="0"/>
                        <a:t>Если для значений (Т)х и (Т)у выполнено ор, то 1; иначе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Побочные эффекты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  <a:r>
                        <a:rPr lang="en-US" baseline="0" dirty="0"/>
                        <a:t>ell-defined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 х и тип у числовые; тип х и тип</a:t>
                      </a:r>
                      <a:r>
                        <a:rPr lang="ru-RU" baseline="0" dirty="0"/>
                        <a:t> у указатели на элементы одного </a:t>
                      </a:r>
                      <a:r>
                        <a:rPr lang="en-US" baseline="0" dirty="0" err="1"/>
                        <a:t>struct</a:t>
                      </a:r>
                      <a:r>
                        <a:rPr lang="en-US" baseline="0" dirty="0"/>
                        <a:t>, union</a:t>
                      </a:r>
                      <a:r>
                        <a:rPr lang="ru-RU" baseline="0" dirty="0"/>
                        <a:t>, или массива, или один элемент за концом массива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Implementation-defined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Один из типов целочисленный,</a:t>
                      </a:r>
                      <a:r>
                        <a:rPr lang="ru-RU" baseline="0" dirty="0"/>
                        <a:t> второй – указатель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Unspecified behavior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Очерёдность</a:t>
                      </a:r>
                      <a:r>
                        <a:rPr lang="ru-RU" baseline="0" dirty="0"/>
                        <a:t> вычисления х и у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104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166458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fontAlgn="ctr"/>
            <a:r>
              <a:rPr lang="ru-RU" dirty="0"/>
              <a:t>Проверка равенства </a:t>
            </a:r>
            <a:r>
              <a:rPr lang="en-US" dirty="0"/>
              <a:t>x op y</a:t>
            </a:r>
            <a:r>
              <a:rPr lang="ru-RU" dirty="0"/>
              <a:t>, </a:t>
            </a:r>
            <a:r>
              <a:rPr lang="en-US" dirty="0"/>
              <a:t>op = </a:t>
            </a:r>
            <a:r>
              <a:rPr lang="ru-RU" dirty="0"/>
              <a:t>== !=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graphicFrame>
        <p:nvGraphicFramePr>
          <p:cNvPr id="4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7610871"/>
              </p:ext>
            </p:extLst>
          </p:nvPr>
        </p:nvGraphicFramePr>
        <p:xfrm>
          <a:off x="609600" y="1610612"/>
          <a:ext cx="1097280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см. </a:t>
                      </a:r>
                      <a:r>
                        <a:rPr lang="en-US" dirty="0"/>
                        <a:t>&lt; &gt; &lt;= &gt;=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Требования к виду и типам операндов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Типы</a:t>
                      </a:r>
                      <a:r>
                        <a:rPr lang="ru-RU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х и у скалярные, кроме комбинации указатель + вещественный </a:t>
                      </a:r>
                      <a:endParaRPr lang="ru-RU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определения типа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int</a:t>
                      </a:r>
                      <a:endParaRPr lang="ru-RU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вычисления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Т = общий тип для </a:t>
                      </a:r>
                      <a:r>
                        <a:rPr lang="ru-R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типа </a:t>
                      </a:r>
                      <a:r>
                        <a:rPr lang="ru-RU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х и типа у</a:t>
                      </a:r>
                      <a:endParaRPr lang="ru-RU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  <a:p>
                      <a:r>
                        <a:rPr lang="ru-R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Если для значений (Т)х и (Т)у выполнено ор, то 1; иначе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Побочные эффекты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  <a:r>
                        <a:rPr lang="en-US" baseline="0" dirty="0"/>
                        <a:t>ell-defined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тип х и тип у числовые; тип х и тип</a:t>
                      </a:r>
                      <a:r>
                        <a:rPr lang="ru-RU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у указатели на элементы одного </a:t>
                      </a:r>
                      <a:r>
                        <a:rPr lang="en-US" baseline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struct</a:t>
                      </a:r>
                      <a:r>
                        <a:rPr lang="en-US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, union</a:t>
                      </a:r>
                      <a:r>
                        <a:rPr lang="ru-RU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, или массива, или один элемент за концом массива</a:t>
                      </a:r>
                      <a:endParaRPr lang="ru-RU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Implementation-defined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Один из типов целочисленный,</a:t>
                      </a:r>
                      <a:r>
                        <a:rPr lang="ru-RU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второй – указатель</a:t>
                      </a:r>
                      <a:endParaRPr lang="ru-RU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Unspecified behavior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Очерёдность</a:t>
                      </a:r>
                      <a:r>
                        <a:rPr lang="ru-RU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вычисления х и у</a:t>
                      </a:r>
                      <a:endParaRPr lang="ru-RU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080516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105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366417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fontAlgn="ctr"/>
            <a:r>
              <a:rPr lang="ru-RU" dirty="0"/>
              <a:t>Побитовое И, </a:t>
            </a:r>
            <a:r>
              <a:rPr lang="ru-RU" dirty="0" err="1"/>
              <a:t>ИсклИЛИ</a:t>
            </a:r>
            <a:r>
              <a:rPr lang="ru-RU" dirty="0"/>
              <a:t>, ИЛИ  </a:t>
            </a:r>
            <a:r>
              <a:rPr lang="en-US" dirty="0"/>
              <a:t>x </a:t>
            </a:r>
            <a:r>
              <a:rPr lang="ru-RU" dirty="0"/>
              <a:t>ор</a:t>
            </a:r>
            <a:r>
              <a:rPr lang="en-US" dirty="0"/>
              <a:t> y</a:t>
            </a:r>
            <a:r>
              <a:rPr lang="ru-RU" dirty="0"/>
              <a:t>, ор = </a:t>
            </a:r>
            <a:r>
              <a:rPr lang="en-US" dirty="0"/>
              <a:t>&amp;^|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graphicFrame>
        <p:nvGraphicFramePr>
          <p:cNvPr id="4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4236014"/>
              </p:ext>
            </p:extLst>
          </p:nvPr>
        </p:nvGraphicFramePr>
        <p:xfrm>
          <a:off x="609600" y="1600201"/>
          <a:ext cx="10972800" cy="395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Требования к виду и типам операндов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Типы</a:t>
                      </a:r>
                      <a:r>
                        <a:rPr lang="ru-RU" baseline="0" dirty="0"/>
                        <a:t> выражений х и у целочисленные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определения типа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aseline="0" dirty="0"/>
                        <a:t>размер(х ор у) = МАХ(размер(х), размер(у))</a:t>
                      </a:r>
                    </a:p>
                    <a:p>
                      <a:r>
                        <a:rPr lang="ru-RU" baseline="0" dirty="0" err="1"/>
                        <a:t>беззнака</a:t>
                      </a:r>
                      <a:r>
                        <a:rPr lang="ru-RU" baseline="0" dirty="0"/>
                        <a:t>(х ор у) = </a:t>
                      </a:r>
                      <a:r>
                        <a:rPr lang="ru-RU" baseline="0" dirty="0" err="1"/>
                        <a:t>беззнака</a:t>
                      </a:r>
                      <a:r>
                        <a:rPr lang="ru-RU" baseline="0" dirty="0"/>
                        <a:t>(х) ИЛИ </a:t>
                      </a:r>
                      <a:r>
                        <a:rPr lang="ru-RU" baseline="0" dirty="0" err="1"/>
                        <a:t>беззнака</a:t>
                      </a:r>
                      <a:r>
                        <a:rPr lang="ru-RU" baseline="0" dirty="0"/>
                        <a:t>(у)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вычисления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Бит значения х ор</a:t>
                      </a:r>
                      <a:r>
                        <a:rPr lang="ru-RU" baseline="0" dirty="0"/>
                        <a:t> у вычисляется по соответствующим битам значений х и у, включая незначащие нули</a:t>
                      </a:r>
                    </a:p>
                    <a:p>
                      <a:r>
                        <a:rPr lang="en-US" baseline="0" dirty="0">
                          <a:latin typeface="Consolas" panose="020B0609020204030204" pitchFamily="49" charset="0"/>
                        </a:rPr>
                        <a:t>&amp; 0 1  ^ 0 1  | 0 1</a:t>
                      </a:r>
                    </a:p>
                    <a:p>
                      <a:r>
                        <a:rPr lang="en-US" baseline="0" dirty="0">
                          <a:latin typeface="Consolas" panose="020B0609020204030204" pitchFamily="49" charset="0"/>
                        </a:rPr>
                        <a:t>0 0 0  0 0 1  0 0 1</a:t>
                      </a:r>
                    </a:p>
                    <a:p>
                      <a:r>
                        <a:rPr lang="en-US" baseline="0" dirty="0">
                          <a:latin typeface="Consolas" panose="020B0609020204030204" pitchFamily="49" charset="0"/>
                        </a:rPr>
                        <a:t>1 0 1  1 1 0  1 1 1</a:t>
                      </a:r>
                      <a:endParaRPr lang="ru-RU" baseline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Побочные эффекты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  <a:r>
                        <a:rPr lang="en-US" baseline="0" dirty="0"/>
                        <a:t>ell-defined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Всегда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</a:t>
                      </a:r>
                      <a:r>
                        <a:rPr lang="en-US" baseline="0" dirty="0"/>
                        <a:t>nspecified behavior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aseline="0" dirty="0"/>
                        <a:t>Очерёдность вычисления х и у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106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336019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fontAlgn="ctr"/>
            <a:r>
              <a:rPr lang="ru-RU" dirty="0"/>
              <a:t>Логические И </a:t>
            </a:r>
            <a:r>
              <a:rPr lang="ru-RU" dirty="0" err="1"/>
              <a:t>и</a:t>
            </a:r>
            <a:r>
              <a:rPr lang="ru-RU" dirty="0"/>
              <a:t> ИЛИ х ор у, ор = </a:t>
            </a:r>
            <a:r>
              <a:rPr lang="en-US" dirty="0"/>
              <a:t>&amp;&amp; ||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graphicFrame>
        <p:nvGraphicFramePr>
          <p:cNvPr id="4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04547"/>
              </p:ext>
            </p:extLst>
          </p:nvPr>
        </p:nvGraphicFramePr>
        <p:xfrm>
          <a:off x="609600" y="1602000"/>
          <a:ext cx="10972800" cy="313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Требования к виду и типам операндов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 </a:t>
                      </a:r>
                      <a:r>
                        <a:rPr lang="ru-RU" dirty="0"/>
                        <a:t>или неявно преобразуется к </a:t>
                      </a:r>
                      <a:r>
                        <a:rPr lang="en-US" dirty="0"/>
                        <a:t>int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определения типа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err="1"/>
                        <a:t>int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вычисления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aseline="0" dirty="0"/>
                        <a:t>ор = </a:t>
                      </a:r>
                      <a:r>
                        <a:rPr lang="en-US" baseline="0" dirty="0"/>
                        <a:t>&amp;&amp;</a:t>
                      </a:r>
                      <a:r>
                        <a:rPr lang="ru-RU" baseline="0" dirty="0"/>
                        <a:t>: если значение х == 0, то 0; иначе значение !!у</a:t>
                      </a:r>
                      <a:endParaRPr lang="en-US" baseline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aseline="0" dirty="0"/>
                        <a:t>ор = </a:t>
                      </a:r>
                      <a:r>
                        <a:rPr lang="en-US" baseline="0" dirty="0"/>
                        <a:t>||:</a:t>
                      </a:r>
                      <a:r>
                        <a:rPr lang="ru-RU" baseline="0" dirty="0"/>
                        <a:t> если значение х </a:t>
                      </a:r>
                      <a:r>
                        <a:rPr lang="en-US" baseline="0" dirty="0"/>
                        <a:t>!</a:t>
                      </a:r>
                      <a:r>
                        <a:rPr lang="ru-RU" baseline="0" dirty="0"/>
                        <a:t>= </a:t>
                      </a:r>
                      <a:r>
                        <a:rPr lang="en-US" baseline="0" dirty="0"/>
                        <a:t>0</a:t>
                      </a:r>
                      <a:r>
                        <a:rPr lang="ru-RU" baseline="0" dirty="0"/>
                        <a:t>, то 1; иначе значение !!</a:t>
                      </a:r>
                      <a:r>
                        <a:rPr lang="en-US" baseline="0" dirty="0"/>
                        <a:t>y</a:t>
                      </a:r>
                    </a:p>
                    <a:p>
                      <a:r>
                        <a:rPr lang="ru-RU" baseline="0" dirty="0"/>
                        <a:t>Первым вычисляется х и потом, возможно, у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Побочные эффекты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  <a:r>
                        <a:rPr lang="en-US" baseline="0" dirty="0"/>
                        <a:t>ell-defined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aseline="0" dirty="0"/>
                        <a:t>Всегда,</a:t>
                      </a:r>
                      <a:r>
                        <a:rPr lang="en-US" baseline="0" dirty="0"/>
                        <a:t> </a:t>
                      </a:r>
                      <a:r>
                        <a:rPr lang="ru-RU" baseline="0" dirty="0"/>
                        <a:t>кроме </a:t>
                      </a:r>
                      <a:r>
                        <a:rPr lang="en-US" dirty="0"/>
                        <a:t>Implementation-defined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Implementation-defined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Случаи, когда преобразование к </a:t>
                      </a:r>
                      <a:r>
                        <a:rPr lang="en-US" dirty="0"/>
                        <a:t>int </a:t>
                      </a:r>
                      <a:r>
                        <a:rPr lang="ru-RU" dirty="0"/>
                        <a:t>является </a:t>
                      </a:r>
                      <a:r>
                        <a:rPr lang="en-US" dirty="0"/>
                        <a:t>Implementation-defined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522653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107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732679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fontAlgn="ctr"/>
            <a:r>
              <a:rPr lang="ru-RU" dirty="0"/>
              <a:t>Условное выражение </a:t>
            </a:r>
            <a:r>
              <a:rPr lang="en-US" dirty="0"/>
              <a:t>c ? e1 : e2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graphicFrame>
        <p:nvGraphicFramePr>
          <p:cNvPr id="4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1474629"/>
              </p:ext>
            </p:extLst>
          </p:nvPr>
        </p:nvGraphicFramePr>
        <p:xfrm>
          <a:off x="609600" y="1600200"/>
          <a:ext cx="10972800" cy="313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Требования к виду и типам операндов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</a:t>
                      </a:r>
                      <a:r>
                        <a:rPr lang="ru-RU" baseline="0" dirty="0"/>
                        <a:t> выражения с скалярный, и выполнено одно из условий: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baseline="0" dirty="0"/>
                        <a:t>тип выражений е1 и е2 -- </a:t>
                      </a:r>
                      <a:r>
                        <a:rPr lang="en-US" baseline="0" dirty="0"/>
                        <a:t>void</a:t>
                      </a:r>
                      <a:endParaRPr lang="ru-RU" baseline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baseline="0" dirty="0"/>
                        <a:t>типы выражений е1 и е2</a:t>
                      </a:r>
                      <a:r>
                        <a:rPr lang="en-US" baseline="0" dirty="0"/>
                        <a:t> </a:t>
                      </a:r>
                      <a:r>
                        <a:rPr lang="ru-RU" baseline="0" dirty="0"/>
                        <a:t>-- не </a:t>
                      </a:r>
                      <a:r>
                        <a:rPr lang="en-US" baseline="0" dirty="0"/>
                        <a:t>void </a:t>
                      </a:r>
                      <a:r>
                        <a:rPr lang="ru-RU" baseline="0" dirty="0"/>
                        <a:t>и имеют общий тип </a:t>
                      </a:r>
                      <a:r>
                        <a:rPr lang="en-US" baseline="0" dirty="0"/>
                        <a:t>T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определения типа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Если оба типа </a:t>
                      </a:r>
                      <a:r>
                        <a:rPr lang="en-US" dirty="0"/>
                        <a:t>void,</a:t>
                      </a:r>
                      <a:r>
                        <a:rPr lang="en-US" baseline="0" dirty="0"/>
                        <a:t> </a:t>
                      </a:r>
                      <a:r>
                        <a:rPr lang="ru-RU" baseline="0" dirty="0"/>
                        <a:t>то </a:t>
                      </a:r>
                      <a:r>
                        <a:rPr lang="en-US" baseline="0" dirty="0"/>
                        <a:t>void; </a:t>
                      </a:r>
                      <a:r>
                        <a:rPr lang="ru-RU" baseline="0" dirty="0"/>
                        <a:t>иначе </a:t>
                      </a:r>
                      <a:r>
                        <a:rPr lang="en-US" baseline="0" dirty="0"/>
                        <a:t>T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вычисления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Если значение с !=</a:t>
                      </a:r>
                      <a:r>
                        <a:rPr lang="ru-RU" baseline="0" dirty="0"/>
                        <a:t> 0, то значение е1; иначе значение е2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Побочные эффекты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  <a:r>
                        <a:rPr lang="en-US" baseline="0" dirty="0"/>
                        <a:t>ell-defined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Всегда, кроме </a:t>
                      </a:r>
                      <a:r>
                        <a:rPr lang="en-US" dirty="0"/>
                        <a:t>implementation specific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Implementation-defined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Случаи, когда преобразование к </a:t>
                      </a:r>
                      <a:r>
                        <a:rPr lang="en-US" dirty="0"/>
                        <a:t>T </a:t>
                      </a:r>
                      <a:r>
                        <a:rPr lang="ru-RU" dirty="0"/>
                        <a:t>является </a:t>
                      </a:r>
                      <a:r>
                        <a:rPr lang="en-US" dirty="0"/>
                        <a:t>Implementation-defined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108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08486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fontAlgn="ctr"/>
            <a:r>
              <a:rPr lang="ru-RU" dirty="0"/>
              <a:t>Присваивание </a:t>
            </a:r>
            <a:r>
              <a:rPr lang="en-US" dirty="0"/>
              <a:t>x op y, op = = += -= *= …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graphicFrame>
        <p:nvGraphicFramePr>
          <p:cNvPr id="4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2884171"/>
              </p:ext>
            </p:extLst>
          </p:nvPr>
        </p:nvGraphicFramePr>
        <p:xfrm>
          <a:off x="609600" y="1602000"/>
          <a:ext cx="10972800" cy="377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Требования к виду и типам операндов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 у может быть</a:t>
                      </a:r>
                      <a:r>
                        <a:rPr lang="ru-RU" baseline="0" dirty="0"/>
                        <a:t> неявно </a:t>
                      </a:r>
                      <a:r>
                        <a:rPr lang="ru-RU" dirty="0"/>
                        <a:t>преобразован к типу х; х является </a:t>
                      </a:r>
                      <a:r>
                        <a:rPr lang="en-US" dirty="0"/>
                        <a:t>l-value</a:t>
                      </a:r>
                      <a:r>
                        <a:rPr lang="ru-RU" baseline="0" dirty="0"/>
                        <a:t> 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определения типа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</a:t>
                      </a:r>
                      <a:r>
                        <a:rPr lang="ru-RU" baseline="0" dirty="0"/>
                        <a:t> х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вычисления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ор = ор</a:t>
                      </a:r>
                      <a:r>
                        <a:rPr lang="ru-RU" baseline="-25000" dirty="0"/>
                        <a:t>1</a:t>
                      </a:r>
                      <a:r>
                        <a:rPr lang="ru-RU" dirty="0"/>
                        <a:t>= --</a:t>
                      </a:r>
                      <a:r>
                        <a:rPr lang="en-US" dirty="0"/>
                        <a:t>&gt; </a:t>
                      </a:r>
                      <a:r>
                        <a:rPr lang="ru-RU" dirty="0"/>
                        <a:t>(значение</a:t>
                      </a:r>
                      <a:r>
                        <a:rPr lang="ru-RU" baseline="0" dirty="0"/>
                        <a:t> </a:t>
                      </a:r>
                      <a:r>
                        <a:rPr lang="ru-RU" dirty="0"/>
                        <a:t>выражения х) ор</a:t>
                      </a:r>
                      <a:r>
                        <a:rPr lang="ru-RU" baseline="-25000" dirty="0"/>
                        <a:t>1</a:t>
                      </a:r>
                      <a:r>
                        <a:rPr lang="ru-RU" dirty="0"/>
                        <a:t> (значение выражения у, преобразованное к типу х)</a:t>
                      </a:r>
                      <a:endParaRPr lang="en-US" dirty="0"/>
                    </a:p>
                    <a:p>
                      <a:r>
                        <a:rPr lang="ru-RU" dirty="0"/>
                        <a:t>Например, </a:t>
                      </a:r>
                      <a:r>
                        <a:rPr lang="en-US" dirty="0"/>
                        <a:t>x</a:t>
                      </a:r>
                      <a:r>
                        <a:rPr lang="en-US" baseline="0" dirty="0"/>
                        <a:t> += 1 --&gt; x = x + 1</a:t>
                      </a:r>
                      <a:r>
                        <a:rPr lang="ru-RU" baseline="0" dirty="0"/>
                        <a:t> (</a:t>
                      </a:r>
                      <a:r>
                        <a:rPr lang="en-US" baseline="0" dirty="0"/>
                        <a:t>op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/>
                        <a:t> = +</a:t>
                      </a:r>
                      <a:r>
                        <a:rPr lang="ru-RU" baseline="0" dirty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Побочные эффекты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Память </a:t>
                      </a:r>
                      <a:r>
                        <a:rPr lang="ru-RU" baseline="0" dirty="0"/>
                        <a:t>по адресу, равному адресу значения х, заменяется на результат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  <a:r>
                        <a:rPr lang="en-US" baseline="0" dirty="0"/>
                        <a:t>ell-defined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Всегда кроме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implementation specific </a:t>
                      </a:r>
                      <a:r>
                        <a:rPr lang="ru-RU" baseline="0" dirty="0"/>
                        <a:t>и </a:t>
                      </a:r>
                      <a:r>
                        <a:rPr lang="en-US" baseline="0" dirty="0"/>
                        <a:t>undefined behavior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Implementation-defined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aseline="0" dirty="0"/>
                        <a:t>Преобразование к типу </a:t>
                      </a:r>
                      <a:r>
                        <a:rPr lang="en-US" baseline="0" dirty="0"/>
                        <a:t>x </a:t>
                      </a:r>
                      <a:r>
                        <a:rPr lang="ru-RU" baseline="0" dirty="0"/>
                        <a:t>является </a:t>
                      </a:r>
                      <a:r>
                        <a:rPr lang="en-US" baseline="0" dirty="0"/>
                        <a:t>Implementation-defined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</a:t>
                      </a:r>
                      <a:r>
                        <a:rPr lang="en-US" baseline="0" dirty="0"/>
                        <a:t>ndefined behavior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Память по адресу значения х не доступна для</a:t>
                      </a:r>
                      <a:r>
                        <a:rPr lang="ru-RU" baseline="0" dirty="0"/>
                        <a:t> чтения и записи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109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734823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fontAlgn="ctr"/>
            <a:r>
              <a:rPr lang="ru-RU" dirty="0"/>
              <a:t>Последовательное вычисление </a:t>
            </a:r>
            <a:r>
              <a:rPr lang="en-US" dirty="0"/>
              <a:t>x , y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graphicFrame>
        <p:nvGraphicFramePr>
          <p:cNvPr id="4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0251977"/>
              </p:ext>
            </p:extLst>
          </p:nvPr>
        </p:nvGraphicFramePr>
        <p:xfrm>
          <a:off x="609600" y="1600200"/>
          <a:ext cx="109728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Требования к виду и типам операндов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определения типа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 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Правило вычисления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Вычисляем значение х; </a:t>
                      </a:r>
                      <a:r>
                        <a:rPr lang="ru-RU" baseline="0" dirty="0"/>
                        <a:t>результат = </a:t>
                      </a:r>
                      <a:r>
                        <a:rPr lang="ru-RU" dirty="0"/>
                        <a:t>значение</a:t>
                      </a:r>
                      <a:r>
                        <a:rPr lang="ru-RU" baseline="0" dirty="0"/>
                        <a:t> у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Побочные эффекты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  <a:r>
                        <a:rPr lang="en-US" baseline="0" dirty="0"/>
                        <a:t>ell-defined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Всегда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745252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Из чего и как строятся выражения?</a:t>
            </a:r>
          </a:p>
          <a:p>
            <a:pPr lvl="1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Характеристики операторов</a:t>
            </a:r>
          </a:p>
          <a:p>
            <a:pPr lvl="1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Неявная расстановка скобок</a:t>
            </a: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Что такое побочный эффект</a:t>
            </a: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Точки следования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L-value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Особенности исполнения операторов языка Си</a:t>
            </a:r>
          </a:p>
          <a:p>
            <a:pPr lvl="1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Требования к операндам, значение и тип результата, побочные эффекты,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well-defined/Implementation-defined/unspecified/undefined behavior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ru-RU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349712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Влияние приоритетов</a:t>
            </a:r>
            <a:r>
              <a:rPr lang="en-US" dirty="0"/>
              <a:t> </a:t>
            </a:r>
            <a:r>
              <a:rPr lang="ru-RU" dirty="0"/>
              <a:t>на расстановку скобок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460265"/>
              </p:ext>
            </p:extLst>
          </p:nvPr>
        </p:nvGraphicFramePr>
        <p:xfrm>
          <a:off x="609600" y="1628800"/>
          <a:ext cx="10972800" cy="4636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9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9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04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/>
                        <a:t>П(*) </a:t>
                      </a:r>
                      <a:r>
                        <a:rPr lang="en-US" sz="3200" dirty="0"/>
                        <a:t>?</a:t>
                      </a:r>
                      <a:r>
                        <a:rPr lang="en-US" sz="3200" baseline="0" dirty="0"/>
                        <a:t> </a:t>
                      </a:r>
                      <a:r>
                        <a:rPr lang="ru-RU" sz="3200" dirty="0"/>
                        <a:t>П(+)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Возможные расстановки скобок в х*х+у*у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38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&gt;</a:t>
                      </a:r>
                      <a:endParaRPr lang="ru-RU" sz="3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chemeClr val="bg1"/>
                          </a:solidFill>
                        </a:rPr>
                        <a:t>(х*х)+(у*у)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38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&lt;</a:t>
                      </a:r>
                      <a:endParaRPr lang="ru-RU" sz="3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chemeClr val="bg1"/>
                          </a:solidFill>
                        </a:rPr>
                        <a:t>(х*(х+у))*у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>
                          <a:solidFill>
                            <a:schemeClr val="bg1"/>
                          </a:solidFill>
                        </a:rPr>
                        <a:t>х*((</a:t>
                      </a:r>
                      <a:r>
                        <a:rPr lang="ru-RU" sz="3200" dirty="0" err="1">
                          <a:solidFill>
                            <a:schemeClr val="bg1"/>
                          </a:solidFill>
                        </a:rPr>
                        <a:t>х+у</a:t>
                      </a:r>
                      <a:r>
                        <a:rPr lang="ru-RU" sz="3200" dirty="0">
                          <a:solidFill>
                            <a:schemeClr val="bg1"/>
                          </a:solidFill>
                        </a:rPr>
                        <a:t>)*у)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380">
                <a:tc rowSpan="3"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==</a:t>
                      </a:r>
                      <a:endParaRPr lang="ru-RU" sz="3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chemeClr val="bg1"/>
                          </a:solidFill>
                        </a:rPr>
                        <a:t>((х*х)+у)*у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chemeClr val="bg1"/>
                          </a:solidFill>
                        </a:rPr>
                        <a:t>х*(х+(у*у))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138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chemeClr val="bg1"/>
                          </a:solidFill>
                        </a:rPr>
                        <a:t>(х*(</a:t>
                      </a:r>
                      <a:r>
                        <a:rPr lang="ru-RU" sz="3200" dirty="0" err="1">
                          <a:solidFill>
                            <a:schemeClr val="bg1"/>
                          </a:solidFill>
                        </a:rPr>
                        <a:t>х+у</a:t>
                      </a:r>
                      <a:r>
                        <a:rPr lang="ru-RU" sz="3200" dirty="0">
                          <a:solidFill>
                            <a:schemeClr val="bg1"/>
                          </a:solidFill>
                        </a:rPr>
                        <a:t>))*у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>
                          <a:solidFill>
                            <a:schemeClr val="bg1"/>
                          </a:solidFill>
                        </a:rPr>
                        <a:t>х*((</a:t>
                      </a:r>
                      <a:r>
                        <a:rPr lang="ru-RU" sz="3200" dirty="0" err="1">
                          <a:solidFill>
                            <a:schemeClr val="bg1"/>
                          </a:solidFill>
                        </a:rPr>
                        <a:t>х+у</a:t>
                      </a:r>
                      <a:r>
                        <a:rPr lang="ru-RU" sz="3200" dirty="0">
                          <a:solidFill>
                            <a:schemeClr val="bg1"/>
                          </a:solidFill>
                        </a:rPr>
                        <a:t>)*у)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138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chemeClr val="bg1"/>
                          </a:solidFill>
                        </a:rPr>
                        <a:t>(х*х)+(у*у)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3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244825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Влияние приоритетов</a:t>
            </a:r>
            <a:r>
              <a:rPr lang="en-US" dirty="0"/>
              <a:t> </a:t>
            </a:r>
            <a:r>
              <a:rPr lang="ru-RU" dirty="0"/>
              <a:t>на расстановку скобок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933959"/>
              </p:ext>
            </p:extLst>
          </p:nvPr>
        </p:nvGraphicFramePr>
        <p:xfrm>
          <a:off x="609600" y="1628800"/>
          <a:ext cx="10972800" cy="4636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9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9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04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/>
                        <a:t>П(*) </a:t>
                      </a:r>
                      <a:r>
                        <a:rPr lang="en-US" sz="3200" dirty="0"/>
                        <a:t>?</a:t>
                      </a:r>
                      <a:r>
                        <a:rPr lang="en-US" sz="3200" baseline="0" dirty="0"/>
                        <a:t> </a:t>
                      </a:r>
                      <a:r>
                        <a:rPr lang="ru-RU" sz="3200" dirty="0"/>
                        <a:t>П(+)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Возможные расстановки скобок в х*х+у*у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38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&gt;</a:t>
                      </a:r>
                      <a:endParaRPr lang="ru-RU" sz="32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(х*х)+(у*у)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38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&lt;</a:t>
                      </a:r>
                      <a:endParaRPr lang="ru-RU" sz="3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chemeClr val="bg1"/>
                          </a:solidFill>
                        </a:rPr>
                        <a:t>(х*(х+у))*у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>
                          <a:solidFill>
                            <a:schemeClr val="bg1"/>
                          </a:solidFill>
                        </a:rPr>
                        <a:t>х*((</a:t>
                      </a:r>
                      <a:r>
                        <a:rPr lang="ru-RU" sz="3200" dirty="0" err="1">
                          <a:solidFill>
                            <a:schemeClr val="bg1"/>
                          </a:solidFill>
                        </a:rPr>
                        <a:t>х+у</a:t>
                      </a:r>
                      <a:r>
                        <a:rPr lang="ru-RU" sz="3200" dirty="0">
                          <a:solidFill>
                            <a:schemeClr val="bg1"/>
                          </a:solidFill>
                        </a:rPr>
                        <a:t>)*у)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380">
                <a:tc rowSpan="3"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==</a:t>
                      </a:r>
                      <a:endParaRPr lang="ru-RU" sz="3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chemeClr val="bg1"/>
                          </a:solidFill>
                        </a:rPr>
                        <a:t>((х*х)+у)*у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chemeClr val="bg1"/>
                          </a:solidFill>
                        </a:rPr>
                        <a:t>х*(х+(у*у))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138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chemeClr val="bg1"/>
                          </a:solidFill>
                        </a:rPr>
                        <a:t>(х*(</a:t>
                      </a:r>
                      <a:r>
                        <a:rPr lang="ru-RU" sz="3200" dirty="0" err="1">
                          <a:solidFill>
                            <a:schemeClr val="bg1"/>
                          </a:solidFill>
                        </a:rPr>
                        <a:t>х+у</a:t>
                      </a:r>
                      <a:r>
                        <a:rPr lang="ru-RU" sz="3200" dirty="0">
                          <a:solidFill>
                            <a:schemeClr val="bg1"/>
                          </a:solidFill>
                        </a:rPr>
                        <a:t>))*у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>
                          <a:solidFill>
                            <a:schemeClr val="bg1"/>
                          </a:solidFill>
                        </a:rPr>
                        <a:t>х*((</a:t>
                      </a:r>
                      <a:r>
                        <a:rPr lang="ru-RU" sz="3200" dirty="0" err="1">
                          <a:solidFill>
                            <a:schemeClr val="bg1"/>
                          </a:solidFill>
                        </a:rPr>
                        <a:t>х+у</a:t>
                      </a:r>
                      <a:r>
                        <a:rPr lang="ru-RU" sz="3200" dirty="0">
                          <a:solidFill>
                            <a:schemeClr val="bg1"/>
                          </a:solidFill>
                        </a:rPr>
                        <a:t>)*у)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138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chemeClr val="bg1"/>
                          </a:solidFill>
                        </a:rPr>
                        <a:t>(х*х)+(у*у)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3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183320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Влияние приоритетов</a:t>
            </a:r>
            <a:r>
              <a:rPr lang="en-US" dirty="0"/>
              <a:t> </a:t>
            </a:r>
            <a:r>
              <a:rPr lang="ru-RU" dirty="0"/>
              <a:t>на расстановку скобок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124841"/>
              </p:ext>
            </p:extLst>
          </p:nvPr>
        </p:nvGraphicFramePr>
        <p:xfrm>
          <a:off x="609600" y="1628800"/>
          <a:ext cx="10972800" cy="4636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9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9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04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/>
                        <a:t>П(*) </a:t>
                      </a:r>
                      <a:r>
                        <a:rPr lang="en-US" sz="3200" dirty="0"/>
                        <a:t>?</a:t>
                      </a:r>
                      <a:r>
                        <a:rPr lang="en-US" sz="3200" baseline="0" dirty="0"/>
                        <a:t> </a:t>
                      </a:r>
                      <a:r>
                        <a:rPr lang="ru-RU" sz="3200" dirty="0"/>
                        <a:t>П(+)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Возможные расстановки скобок в х*х+у*у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38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&gt;</a:t>
                      </a:r>
                      <a:endParaRPr lang="ru-RU" sz="32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(х*х)+(у*у)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38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&lt;</a:t>
                      </a:r>
                      <a:endParaRPr lang="ru-RU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(х*(х+у))*у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/>
                        <a:t>х*((</a:t>
                      </a:r>
                      <a:r>
                        <a:rPr lang="ru-RU" sz="3200" dirty="0" err="1"/>
                        <a:t>х+у</a:t>
                      </a:r>
                      <a:r>
                        <a:rPr lang="ru-RU" sz="3200" dirty="0"/>
                        <a:t>)*у)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380">
                <a:tc rowSpan="3"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==</a:t>
                      </a:r>
                      <a:endParaRPr lang="ru-RU" sz="3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chemeClr val="bg1"/>
                          </a:solidFill>
                        </a:rPr>
                        <a:t>((х*х)+у)*у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chemeClr val="bg1"/>
                          </a:solidFill>
                        </a:rPr>
                        <a:t>х*(х+(у*у))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138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chemeClr val="bg1"/>
                          </a:solidFill>
                        </a:rPr>
                        <a:t>(х*(</a:t>
                      </a:r>
                      <a:r>
                        <a:rPr lang="ru-RU" sz="3200" dirty="0" err="1">
                          <a:solidFill>
                            <a:schemeClr val="bg1"/>
                          </a:solidFill>
                        </a:rPr>
                        <a:t>х+у</a:t>
                      </a:r>
                      <a:r>
                        <a:rPr lang="ru-RU" sz="3200" dirty="0">
                          <a:solidFill>
                            <a:schemeClr val="bg1"/>
                          </a:solidFill>
                        </a:rPr>
                        <a:t>))*у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>
                          <a:solidFill>
                            <a:schemeClr val="bg1"/>
                          </a:solidFill>
                        </a:rPr>
                        <a:t>х*((</a:t>
                      </a:r>
                      <a:r>
                        <a:rPr lang="ru-RU" sz="3200" dirty="0" err="1">
                          <a:solidFill>
                            <a:schemeClr val="bg1"/>
                          </a:solidFill>
                        </a:rPr>
                        <a:t>х+у</a:t>
                      </a:r>
                      <a:r>
                        <a:rPr lang="ru-RU" sz="3200" dirty="0">
                          <a:solidFill>
                            <a:schemeClr val="bg1"/>
                          </a:solidFill>
                        </a:rPr>
                        <a:t>)*у)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138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solidFill>
                            <a:schemeClr val="bg1"/>
                          </a:solidFill>
                        </a:rPr>
                        <a:t>(х*х)+(у*у)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3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032808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Влияние приоритетов</a:t>
            </a:r>
            <a:r>
              <a:rPr lang="en-US" dirty="0"/>
              <a:t> </a:t>
            </a:r>
            <a:r>
              <a:rPr lang="ru-RU" dirty="0"/>
              <a:t>на расстановку скобок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538762"/>
              </p:ext>
            </p:extLst>
          </p:nvPr>
        </p:nvGraphicFramePr>
        <p:xfrm>
          <a:off x="609600" y="1628800"/>
          <a:ext cx="10972800" cy="4636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9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9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04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/>
                        <a:t>П(*) </a:t>
                      </a:r>
                      <a:r>
                        <a:rPr lang="en-US" sz="3200" dirty="0"/>
                        <a:t>?</a:t>
                      </a:r>
                      <a:r>
                        <a:rPr lang="en-US" sz="3200" baseline="0" dirty="0"/>
                        <a:t> </a:t>
                      </a:r>
                      <a:r>
                        <a:rPr lang="ru-RU" sz="3200" dirty="0"/>
                        <a:t>П(+)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Возможные расстановки скобок в х*х+у*у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38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&gt;</a:t>
                      </a:r>
                      <a:endParaRPr lang="ru-RU" sz="32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(х*х)+(у*у)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38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&lt;</a:t>
                      </a:r>
                      <a:endParaRPr lang="ru-RU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(х*(х+у))*у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/>
                        <a:t>х*((</a:t>
                      </a:r>
                      <a:r>
                        <a:rPr lang="ru-RU" sz="3200" dirty="0" err="1"/>
                        <a:t>х+у</a:t>
                      </a:r>
                      <a:r>
                        <a:rPr lang="ru-RU" sz="3200" dirty="0"/>
                        <a:t>)*у)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380">
                <a:tc rowSpan="3"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==</a:t>
                      </a:r>
                      <a:endParaRPr lang="ru-RU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((х*х)+у)*у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х*(х+(у*у))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138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(х*(</a:t>
                      </a:r>
                      <a:r>
                        <a:rPr lang="ru-RU" sz="3200" dirty="0" err="1"/>
                        <a:t>х+у</a:t>
                      </a:r>
                      <a:r>
                        <a:rPr lang="ru-RU" sz="3200" dirty="0"/>
                        <a:t>))*у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/>
                        <a:t>х*((</a:t>
                      </a:r>
                      <a:r>
                        <a:rPr lang="ru-RU" sz="3200" dirty="0" err="1"/>
                        <a:t>х+у</a:t>
                      </a:r>
                      <a:r>
                        <a:rPr lang="ru-RU" sz="3200" dirty="0"/>
                        <a:t>)*у)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138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(х*х)+(у*у)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653441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Влияние ассоциативности на расстановку скобок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solidFill>
            <a:schemeClr val="bg1"/>
          </a:solidFill>
        </p:spPr>
        <p:txBody>
          <a:bodyPr>
            <a:normAutofit fontScale="77500" lnSpcReduction="20000"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Ассоциативность задает неявную расстановку скобок в выражениях, содержащих операторы одного приоритета</a:t>
            </a:r>
          </a:p>
          <a:p>
            <a:endParaRPr lang="ru-RU" sz="2800" dirty="0">
              <a:solidFill>
                <a:schemeClr val="bg1"/>
              </a:solidFill>
            </a:endParaRPr>
          </a:p>
          <a:p>
            <a:r>
              <a:rPr lang="ru-RU" sz="2800" dirty="0" err="1">
                <a:solidFill>
                  <a:schemeClr val="bg1"/>
                </a:solidFill>
              </a:rPr>
              <a:t>Левоассоциативные</a:t>
            </a:r>
            <a:r>
              <a:rPr lang="ru-RU" sz="2800" dirty="0">
                <a:solidFill>
                  <a:schemeClr val="bg1"/>
                </a:solidFill>
              </a:rPr>
              <a:t> – слева направо</a:t>
            </a:r>
          </a:p>
          <a:p>
            <a:endParaRPr lang="ru-RU" sz="2800" dirty="0">
              <a:solidFill>
                <a:schemeClr val="bg1"/>
              </a:solidFill>
            </a:endParaRPr>
          </a:p>
          <a:p>
            <a:r>
              <a:rPr lang="ru-RU" sz="2800" dirty="0" err="1">
                <a:solidFill>
                  <a:schemeClr val="bg1"/>
                </a:solidFill>
              </a:rPr>
              <a:t>Правоассоциативные</a:t>
            </a:r>
            <a:r>
              <a:rPr lang="ru-RU" sz="2800" dirty="0">
                <a:solidFill>
                  <a:schemeClr val="bg1"/>
                </a:solidFill>
              </a:rPr>
              <a:t> – справа налево</a:t>
            </a:r>
          </a:p>
          <a:p>
            <a:endParaRPr lang="ru-RU" sz="2800" dirty="0">
              <a:solidFill>
                <a:schemeClr val="bg1"/>
              </a:solidFill>
            </a:endParaRPr>
          </a:p>
          <a:p>
            <a:r>
              <a:rPr lang="ru-RU" sz="2800" dirty="0">
                <a:solidFill>
                  <a:schemeClr val="bg1"/>
                </a:solidFill>
              </a:rPr>
              <a:t>Операторы языка Си одного приоритета имеют одинаковую ассоциативность</a:t>
            </a: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Иначе расстановка скобок неоднозначна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endParaRPr lang="ru-RU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613818"/>
              </p:ext>
            </p:extLst>
          </p:nvPr>
        </p:nvGraphicFramePr>
        <p:xfrm>
          <a:off x="6197598" y="1600201"/>
          <a:ext cx="5384801" cy="4525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6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08654"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А(–)</a:t>
                      </a:r>
                    </a:p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А(+)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Расстановка скобок в х-х+у-у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654"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л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((х-х)+у)-у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8654"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п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х-(х+(у-у))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626146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Влияние ассоциативности на расстановку скобок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sz="2800" dirty="0"/>
              <a:t>Ассоциативность задает неявную расстановку скобок в выражениях, содержащих операторы одного приоритета</a:t>
            </a:r>
          </a:p>
          <a:p>
            <a:endParaRPr lang="ru-RU" sz="2800" dirty="0"/>
          </a:p>
          <a:p>
            <a:r>
              <a:rPr lang="ru-RU" dirty="0">
                <a:solidFill>
                  <a:schemeClr val="bg1"/>
                </a:solidFill>
              </a:rPr>
              <a:t>Правая – справа налево</a:t>
            </a:r>
          </a:p>
          <a:p>
            <a:endParaRPr lang="ru-RU" sz="2800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Правая – справа налево</a:t>
            </a:r>
          </a:p>
          <a:p>
            <a:endParaRPr lang="ru-RU" sz="2800" dirty="0">
              <a:solidFill>
                <a:schemeClr val="bg1"/>
              </a:solidFill>
            </a:endParaRPr>
          </a:p>
          <a:p>
            <a:r>
              <a:rPr lang="ru-RU" sz="2800" dirty="0">
                <a:solidFill>
                  <a:schemeClr val="bg1"/>
                </a:solidFill>
              </a:rPr>
              <a:t>Операторы языка Си одного приоритета имеют одинаковую ассоциативность</a:t>
            </a: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Иначе расстановка скобок неоднозначна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endParaRPr lang="ru-RU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829393"/>
              </p:ext>
            </p:extLst>
          </p:nvPr>
        </p:nvGraphicFramePr>
        <p:xfrm>
          <a:off x="6197598" y="1600201"/>
          <a:ext cx="5384801" cy="4525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6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08654"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А(–)</a:t>
                      </a:r>
                    </a:p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А(+)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Расстановка скобок в х-х+у-у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654"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л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((х-х)+у)-у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8654"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п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х-(х+(у-у))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577892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Влияние ассоциативности на расстановку скобок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sz="2800" dirty="0"/>
              <a:t>Ассоциативность задает неявную расстановку скобок в выражениях, содержащих операторы одного приоритета</a:t>
            </a:r>
          </a:p>
          <a:p>
            <a:endParaRPr lang="ru-RU" sz="2800" dirty="0"/>
          </a:p>
          <a:p>
            <a:r>
              <a:rPr lang="ru-RU" sz="2800" dirty="0"/>
              <a:t>Левая – слева направо</a:t>
            </a:r>
          </a:p>
          <a:p>
            <a:endParaRPr lang="ru-RU" sz="2800" dirty="0"/>
          </a:p>
          <a:p>
            <a:r>
              <a:rPr lang="ru-RU" dirty="0">
                <a:solidFill>
                  <a:schemeClr val="bg1"/>
                </a:solidFill>
              </a:rPr>
              <a:t>Правая – справа налево</a:t>
            </a:r>
          </a:p>
          <a:p>
            <a:endParaRPr lang="ru-RU" sz="2800" dirty="0">
              <a:solidFill>
                <a:schemeClr val="bg1"/>
              </a:solidFill>
            </a:endParaRPr>
          </a:p>
          <a:p>
            <a:r>
              <a:rPr lang="ru-RU" sz="2800" dirty="0">
                <a:solidFill>
                  <a:schemeClr val="bg1"/>
                </a:solidFill>
              </a:rPr>
              <a:t>Операторы языка Си одного приоритета имеют одинаковую ассоциативность</a:t>
            </a: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Иначе расстановка скобок неоднозначна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endParaRPr lang="ru-RU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461518"/>
              </p:ext>
            </p:extLst>
          </p:nvPr>
        </p:nvGraphicFramePr>
        <p:xfrm>
          <a:off x="6197598" y="1600201"/>
          <a:ext cx="5384801" cy="4525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6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08654"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А(–)</a:t>
                      </a:r>
                    </a:p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А(+)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Расстановка скобок в х-х+у-у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654"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л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((х-х)+у)-у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8654"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п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х-(х+(у-у))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60912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Влияние ассоциативности на расстановку скобок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sz="2800" dirty="0"/>
              <a:t>Ассоциативность задает неявную расстановку скобок в выражениях, содержащих операторы одного приоритета</a:t>
            </a:r>
          </a:p>
          <a:p>
            <a:endParaRPr lang="ru-RU" sz="2800" dirty="0"/>
          </a:p>
          <a:p>
            <a:r>
              <a:rPr lang="ru-RU" sz="2800" dirty="0"/>
              <a:t>Левая – слева направо</a:t>
            </a:r>
          </a:p>
          <a:p>
            <a:endParaRPr lang="ru-RU" sz="2800" dirty="0"/>
          </a:p>
          <a:p>
            <a:r>
              <a:rPr lang="ru-RU" sz="2800" dirty="0"/>
              <a:t>Правая – справа налево</a:t>
            </a:r>
          </a:p>
          <a:p>
            <a:endParaRPr lang="ru-RU" sz="2800" dirty="0"/>
          </a:p>
          <a:p>
            <a:r>
              <a:rPr lang="ru-RU" sz="2800" dirty="0">
                <a:solidFill>
                  <a:schemeClr val="bg1"/>
                </a:solidFill>
              </a:rPr>
              <a:t>Операторы языка Си одного приоритета имеют одинаковую ассоциативность</a:t>
            </a: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Иначе расстановка скобок неоднозначна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endParaRPr lang="ru-RU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331903"/>
              </p:ext>
            </p:extLst>
          </p:nvPr>
        </p:nvGraphicFramePr>
        <p:xfrm>
          <a:off x="6197598" y="1600201"/>
          <a:ext cx="5384801" cy="4525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6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08654"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А(–)</a:t>
                      </a:r>
                    </a:p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А(+)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Расстановка скобок в х-х+у-у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654"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л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((х-х)+у)-у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8654"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п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х-(х+(у-у))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290787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Влияние ассоциативности на расстановку скобок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sz="2800" dirty="0"/>
              <a:t>Ассоциативность задает неявную расстановку скобок в выражениях, содержащих операторы одного приоритета</a:t>
            </a:r>
          </a:p>
          <a:p>
            <a:endParaRPr lang="ru-RU" sz="2800" dirty="0"/>
          </a:p>
          <a:p>
            <a:r>
              <a:rPr lang="ru-RU" dirty="0"/>
              <a:t>Левая – слева направо</a:t>
            </a:r>
          </a:p>
          <a:p>
            <a:endParaRPr lang="ru-RU" dirty="0"/>
          </a:p>
          <a:p>
            <a:r>
              <a:rPr lang="ru-RU" dirty="0"/>
              <a:t>Правая – справа налево</a:t>
            </a:r>
          </a:p>
          <a:p>
            <a:endParaRPr lang="ru-RU" sz="2800" dirty="0"/>
          </a:p>
          <a:p>
            <a:r>
              <a:rPr lang="ru-RU" sz="2800" dirty="0"/>
              <a:t>Операторы языка Си одного приоритета имеют одинаковую ассоциативность</a:t>
            </a:r>
          </a:p>
          <a:p>
            <a:pPr lvl="1"/>
            <a:r>
              <a:rPr lang="ru-RU" sz="2400" dirty="0"/>
              <a:t>Иначе расстановка скобок неоднозначна</a:t>
            </a:r>
            <a:endParaRPr lang="ru-RU" sz="280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endParaRPr lang="ru-RU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174472"/>
              </p:ext>
            </p:extLst>
          </p:nvPr>
        </p:nvGraphicFramePr>
        <p:xfrm>
          <a:off x="6197598" y="1600201"/>
          <a:ext cx="5384801" cy="4525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6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08654"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А(–)</a:t>
                      </a:r>
                    </a:p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А(+)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Расстановка скобок в х-х+у-у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654"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л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((х-х)+у)-у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8654"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п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х-(х+(у-у))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180357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Влияние ассоциативности на расстановку скобок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sz="2800" dirty="0"/>
              <a:t>Ассоциативность задает неявную расстановку скобок в выражениях, содержащих операторы одного приоритета</a:t>
            </a:r>
          </a:p>
          <a:p>
            <a:endParaRPr lang="ru-RU" sz="2800" dirty="0"/>
          </a:p>
          <a:p>
            <a:r>
              <a:rPr lang="ru-RU" dirty="0"/>
              <a:t>Левая – слева направо</a:t>
            </a:r>
          </a:p>
          <a:p>
            <a:endParaRPr lang="ru-RU" dirty="0"/>
          </a:p>
          <a:p>
            <a:r>
              <a:rPr lang="ru-RU" dirty="0"/>
              <a:t>Правая – справа налево</a:t>
            </a:r>
          </a:p>
          <a:p>
            <a:endParaRPr lang="ru-RU" sz="2800" dirty="0"/>
          </a:p>
          <a:p>
            <a:r>
              <a:rPr lang="ru-RU" sz="2800" dirty="0"/>
              <a:t>Операторы языка Си одного приоритета имеют одинаковую ассоциативность</a:t>
            </a:r>
          </a:p>
          <a:p>
            <a:pPr lvl="1"/>
            <a:r>
              <a:rPr lang="ru-RU" sz="2400" dirty="0"/>
              <a:t>Иначе расстановка скобок неоднозначна</a:t>
            </a:r>
            <a:endParaRPr lang="ru-RU" sz="280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endParaRPr lang="ru-RU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439715"/>
              </p:ext>
            </p:extLst>
          </p:nvPr>
        </p:nvGraphicFramePr>
        <p:xfrm>
          <a:off x="6197598" y="1600201"/>
          <a:ext cx="5384801" cy="4525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6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08654"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А(–)</a:t>
                      </a:r>
                    </a:p>
                    <a:p>
                      <a:pPr algn="ctr"/>
                      <a:r>
                        <a:rPr lang="ru-RU" sz="3600" dirty="0"/>
                        <a:t>А(+)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Расстановка скобок в х-х+у-у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654"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л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((х-х)+у)-у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8654"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п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х-(х+(у-у))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446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Влияние ассоциативности на расстановку скобок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sz="2800" dirty="0"/>
              <a:t>Ассоциативность задает неявную расстановку скобок в выражениях, содержащих операторы одного приоритета</a:t>
            </a:r>
          </a:p>
          <a:p>
            <a:endParaRPr lang="ru-RU" sz="2800" dirty="0"/>
          </a:p>
          <a:p>
            <a:r>
              <a:rPr lang="ru-RU" dirty="0"/>
              <a:t>Левая – слева направо</a:t>
            </a:r>
          </a:p>
          <a:p>
            <a:endParaRPr lang="ru-RU" dirty="0"/>
          </a:p>
          <a:p>
            <a:r>
              <a:rPr lang="ru-RU" dirty="0"/>
              <a:t>Правая – справа налево</a:t>
            </a:r>
          </a:p>
          <a:p>
            <a:endParaRPr lang="ru-RU" sz="2800" dirty="0"/>
          </a:p>
          <a:p>
            <a:r>
              <a:rPr lang="ru-RU" sz="2800" dirty="0"/>
              <a:t>Операторы языка Си одного приоритета имеют одинаковую ассоциативность</a:t>
            </a:r>
          </a:p>
          <a:p>
            <a:pPr lvl="1"/>
            <a:r>
              <a:rPr lang="ru-RU" sz="2400" dirty="0"/>
              <a:t>Иначе расстановка скобок неоднозначна</a:t>
            </a:r>
            <a:endParaRPr lang="ru-RU" sz="280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endParaRPr lang="ru-RU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616716"/>
              </p:ext>
            </p:extLst>
          </p:nvPr>
        </p:nvGraphicFramePr>
        <p:xfrm>
          <a:off x="6197598" y="1600201"/>
          <a:ext cx="5384801" cy="4525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6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08654"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А(–)</a:t>
                      </a:r>
                    </a:p>
                    <a:p>
                      <a:pPr algn="ctr"/>
                      <a:r>
                        <a:rPr lang="ru-RU" sz="3600" dirty="0"/>
                        <a:t>А(+)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Расстановка скобок в х-х+у-у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654"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((х-х)+у)-у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8654"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п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х-(х+(у-у))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2333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139244</TotalTime>
  <Words>9765</Words>
  <Application>Microsoft Office PowerPoint</Application>
  <PresentationFormat>Widescreen</PresentationFormat>
  <Paragraphs>1639</Paragraphs>
  <Slides>122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122</vt:i4>
      </vt:variant>
    </vt:vector>
  </HeadingPairs>
  <TitlesOfParts>
    <vt:vector size="126" baseType="lpstr">
      <vt:lpstr>Arial</vt:lpstr>
      <vt:lpstr>Calibri</vt:lpstr>
      <vt:lpstr>Consolas</vt:lpstr>
      <vt:lpstr>Office Theme</vt:lpstr>
      <vt:lpstr>Выражения языка Си</vt:lpstr>
      <vt:lpstr>План лекции</vt:lpstr>
      <vt:lpstr>Выражения языка Си</vt:lpstr>
      <vt:lpstr>Выражения языка Си</vt:lpstr>
      <vt:lpstr>Выражения языка Си</vt:lpstr>
      <vt:lpstr>Выражения языка Си</vt:lpstr>
      <vt:lpstr>Виды операндов</vt:lpstr>
      <vt:lpstr>Виды операндов</vt:lpstr>
      <vt:lpstr>Виды операндов</vt:lpstr>
      <vt:lpstr>Виды операндов</vt:lpstr>
      <vt:lpstr>Характеристики операторов</vt:lpstr>
      <vt:lpstr>Характеристики операторов</vt:lpstr>
      <vt:lpstr>Характеристики операторов</vt:lpstr>
      <vt:lpstr>Характеристики операторов</vt:lpstr>
      <vt:lpstr>Характеристики операторов</vt:lpstr>
      <vt:lpstr>Характеристики операторов</vt:lpstr>
      <vt:lpstr>Неявная расстановка скобок</vt:lpstr>
      <vt:lpstr>Неявная расстановка скобок</vt:lpstr>
      <vt:lpstr>Неявная расстановка скобок</vt:lpstr>
      <vt:lpstr>Пример неявной расстановки скобок</vt:lpstr>
      <vt:lpstr>Пример неявной расстановки скобок</vt:lpstr>
      <vt:lpstr>Пример неявной расстановки скобок</vt:lpstr>
      <vt:lpstr>Пример неявной расстановки скобок</vt:lpstr>
      <vt:lpstr>Пример неявной расстановки скобок</vt:lpstr>
      <vt:lpstr>Пример неявной расстановки скобок</vt:lpstr>
      <vt:lpstr>Пример неявной расстановки скобок</vt:lpstr>
      <vt:lpstr>Пример неявной расстановки скобок</vt:lpstr>
      <vt:lpstr>Приоритеты операторов в языке Си</vt:lpstr>
      <vt:lpstr>Приоритеты операторов в языке Си</vt:lpstr>
      <vt:lpstr>Приоритеты операторов в языке Си</vt:lpstr>
      <vt:lpstr>Неожиданная неявная расстановка скобок</vt:lpstr>
      <vt:lpstr>Неявная расстановка скобок по ассоциативности</vt:lpstr>
      <vt:lpstr>PowerPoint Presentation</vt:lpstr>
      <vt:lpstr>Что такое побочный эффект?</vt:lpstr>
      <vt:lpstr>Что такое побочный эффект?</vt:lpstr>
      <vt:lpstr>Что такое побочный эффект?</vt:lpstr>
      <vt:lpstr>Что такое побочный эффект?</vt:lpstr>
      <vt:lpstr>Что такое побочный эффект?</vt:lpstr>
      <vt:lpstr>Что такое точка следования?</vt:lpstr>
      <vt:lpstr>Что такое точка следования?</vt:lpstr>
      <vt:lpstr>Виды точек следования</vt:lpstr>
      <vt:lpstr>Виды точек следования</vt:lpstr>
      <vt:lpstr>Виды точек следования</vt:lpstr>
      <vt:lpstr>Виды точек следования</vt:lpstr>
      <vt:lpstr>Виды точек следования</vt:lpstr>
      <vt:lpstr>Виды точек следования</vt:lpstr>
      <vt:lpstr>Пример 1</vt:lpstr>
      <vt:lpstr>Пример 1</vt:lpstr>
      <vt:lpstr>Пример 1</vt:lpstr>
      <vt:lpstr>Пример 1</vt:lpstr>
      <vt:lpstr>Пример 1</vt:lpstr>
      <vt:lpstr>Пример 2</vt:lpstr>
      <vt:lpstr>Пример 2</vt:lpstr>
      <vt:lpstr>Пример 2</vt:lpstr>
      <vt:lpstr>Пример 2</vt:lpstr>
      <vt:lpstr>Пример 2</vt:lpstr>
      <vt:lpstr>Пример 3</vt:lpstr>
      <vt:lpstr>Пример 3</vt:lpstr>
      <vt:lpstr>Пример 3</vt:lpstr>
      <vt:lpstr>Пример 3</vt:lpstr>
      <vt:lpstr>Пример 3</vt:lpstr>
      <vt:lpstr>Советы по [не]использованию побочных эффектов</vt:lpstr>
      <vt:lpstr>Советы по [не]использованию побочных эффектов</vt:lpstr>
      <vt:lpstr>Советы по [не]использованию побочных эффектов</vt:lpstr>
      <vt:lpstr>Советы по [не]использованию побочных эффектов</vt:lpstr>
      <vt:lpstr>PowerPoint Presentation</vt:lpstr>
      <vt:lpstr>Что такое l-value?</vt:lpstr>
      <vt:lpstr>Что такое l-value?</vt:lpstr>
      <vt:lpstr>Что такое l-value?</vt:lpstr>
      <vt:lpstr>Что такое l-value?</vt:lpstr>
      <vt:lpstr>Что такое l-value?</vt:lpstr>
      <vt:lpstr>Операторы, возвращающие l-value</vt:lpstr>
      <vt:lpstr>Операторы, возвращающие l-value</vt:lpstr>
      <vt:lpstr>Операторы, возвращающие l-value</vt:lpstr>
      <vt:lpstr>Операторы, возвращающие l-value</vt:lpstr>
      <vt:lpstr>Операторы, возвращающие l-value</vt:lpstr>
      <vt:lpstr>Операторы, возвращающие l-value</vt:lpstr>
      <vt:lpstr>Операторы, возвращающие l-value</vt:lpstr>
      <vt:lpstr>Операторы, возвращающие l-value</vt:lpstr>
      <vt:lpstr>Операторы, требующие l-value</vt:lpstr>
      <vt:lpstr>Примеры с l-value</vt:lpstr>
      <vt:lpstr>Примеры с l-value</vt:lpstr>
      <vt:lpstr>Примеры с l-value</vt:lpstr>
      <vt:lpstr>Примеры с l-value</vt:lpstr>
      <vt:lpstr>PowerPoint Presentation</vt:lpstr>
      <vt:lpstr>Операторы языка Си</vt:lpstr>
      <vt:lpstr>Первичные выражения</vt:lpstr>
      <vt:lpstr>Доступ к элементу массива A[k]</vt:lpstr>
      <vt:lpstr>Вызов функции f(…)</vt:lpstr>
      <vt:lpstr>Доступ к элементу struct или union s.x</vt:lpstr>
      <vt:lpstr>Доступ к элементу struct или union sptr-&gt;x</vt:lpstr>
      <vt:lpstr>Постфиксный инкремент/декремент k++, k--</vt:lpstr>
      <vt:lpstr>Префиксный инкремент/декремент ++k, --k</vt:lpstr>
      <vt:lpstr>Размер значения или типа sizeof x</vt:lpstr>
      <vt:lpstr>Побитовое НЕ ~x</vt:lpstr>
      <vt:lpstr>Логическое НЕ !x</vt:lpstr>
      <vt:lpstr>Смена/сохранение знака числа -х и +х</vt:lpstr>
      <vt:lpstr>Взятие адреса &amp;х</vt:lpstr>
      <vt:lpstr>Доступ через указатель *х</vt:lpstr>
      <vt:lpstr>Преобразование типа (T) х</vt:lpstr>
      <vt:lpstr>Умножение, деление, остаток x op y, op = */%</vt:lpstr>
      <vt:lpstr>Сложение, вычитание x op y, op = +-</vt:lpstr>
      <vt:lpstr>Сдвиг x op y, op = &lt;&lt; &gt;&gt;</vt:lpstr>
      <vt:lpstr>Сравнение х ор у, ор = &lt; &gt; &lt;= &gt;=</vt:lpstr>
      <vt:lpstr>Проверка равенства x op y, op = == !=</vt:lpstr>
      <vt:lpstr>Побитовое И, ИсклИЛИ, ИЛИ  x ор y, ор = &amp;^|</vt:lpstr>
      <vt:lpstr>Логические И и ИЛИ х ор у, ор = &amp;&amp; ||</vt:lpstr>
      <vt:lpstr>Условное выражение c ? e1 : e2</vt:lpstr>
      <vt:lpstr>Присваивание x op y, op = = += -= *= …</vt:lpstr>
      <vt:lpstr>Последовательное вычисление x , y</vt:lpstr>
      <vt:lpstr>Заключение</vt:lpstr>
      <vt:lpstr>Влияние приоритетов на расстановку скобок</vt:lpstr>
      <vt:lpstr>Влияние приоритетов на расстановку скобок</vt:lpstr>
      <vt:lpstr>Влияние приоритетов на расстановку скобок</vt:lpstr>
      <vt:lpstr>Влияние приоритетов на расстановку скобок</vt:lpstr>
      <vt:lpstr>Влияние ассоциативности на расстановку скобок</vt:lpstr>
      <vt:lpstr>Влияние ассоциативности на расстановку скобок</vt:lpstr>
      <vt:lpstr>Влияние ассоциативности на расстановку скобок</vt:lpstr>
      <vt:lpstr>Влияние ассоциативности на расстановку скобок</vt:lpstr>
      <vt:lpstr>Влияние ассоциативности на расстановку скобок</vt:lpstr>
      <vt:lpstr>Влияние ассоциативности на расстановку скобок</vt:lpstr>
      <vt:lpstr>Влияние ассоциативности на расстановку скобок</vt:lpstr>
    </vt:vector>
  </TitlesOfParts>
  <Company>Intel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Простые типы данных языка С</dc:title>
  <dc:creator>Petrov, Evgueni S</dc:creator>
  <cp:lastModifiedBy>Evgenii Petrov</cp:lastModifiedBy>
  <cp:revision>534</cp:revision>
  <dcterms:created xsi:type="dcterms:W3CDTF">2012-09-17T07:39:46Z</dcterms:created>
  <dcterms:modified xsi:type="dcterms:W3CDTF">2025-11-17T17:36:45Z</dcterms:modified>
</cp:coreProperties>
</file>