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6" r:id="rId3"/>
    <p:sldId id="402" r:id="rId4"/>
    <p:sldId id="333" r:id="rId5"/>
    <p:sldId id="438" r:id="rId6"/>
    <p:sldId id="340" r:id="rId7"/>
    <p:sldId id="432" r:id="rId8"/>
    <p:sldId id="458" r:id="rId9"/>
    <p:sldId id="439" r:id="rId10"/>
    <p:sldId id="435" r:id="rId11"/>
    <p:sldId id="43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5" r:id="rId20"/>
    <p:sldId id="442" r:id="rId21"/>
    <p:sldId id="325" r:id="rId22"/>
    <p:sldId id="328" r:id="rId23"/>
    <p:sldId id="398" r:id="rId24"/>
    <p:sldId id="338" r:id="rId25"/>
    <p:sldId id="457" r:id="rId26"/>
    <p:sldId id="342" r:id="rId27"/>
    <p:sldId id="346" r:id="rId28"/>
    <p:sldId id="360" r:id="rId29"/>
    <p:sldId id="366" r:id="rId30"/>
    <p:sldId id="362" r:id="rId31"/>
    <p:sldId id="363" r:id="rId32"/>
    <p:sldId id="337" r:id="rId33"/>
    <p:sldId id="460" r:id="rId34"/>
    <p:sldId id="344" r:id="rId35"/>
    <p:sldId id="459" r:id="rId36"/>
    <p:sldId id="257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DC19-2F82-1C33-2F1D-F602EA7BC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4C726-A435-5C50-59AA-3D3B85055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C7B0-F86C-5507-B401-156126A9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C8E47-8E22-9FA5-BCB9-E7460CA4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A5CC-B0D6-7CB6-BC9B-9CB15AD8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68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0CF3-4C9F-936B-F2C1-604299F4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A995-6D65-8CAD-FF1A-68F585B8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3CF1E-1E7F-6776-9CB7-B90D058C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BB1CF-8ED2-7B84-4B6C-62CB9764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29D30-FE09-43AC-20EB-C3EAFD09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09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B615-0F78-79D1-CCAA-7252541A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66501-552B-D2A3-3C59-4527BA864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AAAB4-A5DC-D30E-1DF4-93846607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FF50A-B56F-5546-CF3C-A127E916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46D3B-B470-B2FB-903A-C5EF1D10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78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6A7F-7ECB-2111-B3B5-44978738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5E17-AA77-5C7A-F11F-4B7F5397B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ED785-CB9C-174A-4B5B-138AECACA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17FE4-4072-6247-89AB-F047D9EA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446A7-A991-0708-385E-F05264C6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328E2-5BF0-C243-1240-31DD447C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36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B4B1-EAD3-F792-8CE0-10BF283A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D1918-6021-4E9E-652A-E3F09151A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63569-B1CC-3DFE-0751-728235CFE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69951-A0A4-8842-8E26-21622802A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2B206-F853-AAEC-25C4-9D5166D0B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025D1-A5BC-5E16-95F9-4CF5FA53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80D16D-E221-58AF-7378-33723D0F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A55D6-CCA5-24C3-1BF4-05191387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50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D62C-5F75-2EDA-22C8-B047B546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14B3C-667C-E84A-6C58-1C5D4648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91F15-69F7-DB28-7929-4303E82D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933C3-0FAF-1848-0D3D-0F13FA3D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22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59027-1369-F45F-1F10-9B3EC58F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5285-B280-20EA-F6A2-FC023ACD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4EE5C-D2B6-4548-4AAA-463CD221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04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9E26-D847-3E44-FE39-F1ECF9AD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91958-7A90-7254-1641-BAE84A3D1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CFF7D-A061-695F-5886-CB0EBD86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F9C5F-F97C-A1FA-7F3F-63D0157E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2DED7-8C5D-6D24-DB47-BA75D290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71E3A-36A5-7116-F65B-FDEFABF4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45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C8D2-A440-0A5B-5F36-963458B6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1780D-9353-9623-6458-9F6AD974E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C1044-EE3E-EAD3-45B1-95FE65A0C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84B2E-6374-B0CA-65FE-D46B3BA6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05EAC-1BA8-3AF1-71B3-C77969810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F40E4-D154-B1EE-96FF-EFF43CC9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10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FC09-FC84-FE90-4465-862A79C0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3DE2E-3A23-C481-AF2D-E6D3DC38B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FAB2-29A0-FA5C-B220-50260046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C98B3-061F-627B-5CD6-01CF7B08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650D-BDFD-7850-C98D-B9D104A1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3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151FDF-B8C5-337A-ACC2-E7683FD88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1C459-9300-1254-05EB-A238DF330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BF868-8790-40F6-56A6-CE9B1ED3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1E80-ACB7-4596-8DFB-4F9ED627F08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2C1A-56C0-1EE0-35B0-924E4D60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C30E2-2CE8-3305-0991-19C3B20E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B3E9-47DD-44F0-BC87-D03E9DC66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4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C08E1-A723-5034-5901-88015270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53818-8882-57BA-AB6E-518EDD60B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03C06-B795-4875-AE7E-E2EBBC7D3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08ED1E80-ACB7-4596-8DFB-4F9ED627F08A}" type="datetimeFigureOut">
              <a:rPr lang="ru-RU" smtClean="0"/>
              <a:pPr/>
              <a:t>11.10.2026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4619-33A7-7A2A-36AE-703ECCF4A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F8986-BF09-A3C1-8F83-BA4AFC6BC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3AB3B3E9-47DD-44F0-BC87-D03E9DC6635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80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gee.cs.oswego.edu/dl/html/malloc.html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tatic.googleusercontent.com/media/research.google.com/en/pubs/archive/37752.pdf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0B94-2D1D-3ADB-C05D-E1C94DA9D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Виды </a:t>
            </a:r>
            <a:r>
              <a:rPr lang="ru-RU" dirty="0"/>
              <a:t>хранения значений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55EB5-D9E2-E27F-0AF5-591448407E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79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75F6-BFA1-D430-11C2-23E55AC7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9EA4-21F0-EBA6-AE2E-FE25F305B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Понятие времени жизни значения, связь со способом хранения</a:t>
            </a:r>
          </a:p>
          <a:p>
            <a:endParaRPr lang="ru-RU" dirty="0"/>
          </a:p>
          <a:p>
            <a:r>
              <a:rPr lang="ru-RU" dirty="0"/>
              <a:t>Способы хранения:</a:t>
            </a:r>
          </a:p>
          <a:p>
            <a:pPr lvl="1"/>
            <a:r>
              <a:rPr lang="ru-RU" dirty="0"/>
              <a:t>Автоматическое</a:t>
            </a:r>
          </a:p>
          <a:p>
            <a:pPr lvl="1"/>
            <a:r>
              <a:rPr lang="ru-RU" dirty="0"/>
              <a:t>Динамическое</a:t>
            </a:r>
          </a:p>
          <a:p>
            <a:pPr lvl="1"/>
            <a:r>
              <a:rPr lang="ru-RU" dirty="0"/>
              <a:t>Статическое</a:t>
            </a:r>
          </a:p>
          <a:p>
            <a:pPr lvl="1"/>
            <a:r>
              <a:rPr lang="ru-RU" dirty="0"/>
              <a:t>Потоковое</a:t>
            </a:r>
          </a:p>
        </p:txBody>
      </p:sp>
    </p:spTree>
    <p:extLst>
      <p:ext uri="{BB962C8B-B14F-4D97-AF65-F5344CB8AC3E}">
        <p14:creationId xmlns:p14="http://schemas.microsoft.com/office/powerpoint/2010/main" val="206295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памяти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Обрабатываемые значения и исполняемые инструкции хранятся в </a:t>
            </a:r>
            <a:r>
              <a:rPr lang="ru-RU" sz="2400" dirty="0">
                <a:highlight>
                  <a:srgbClr val="00FFFF"/>
                </a:highlight>
              </a:rPr>
              <a:t>памяти программы</a:t>
            </a:r>
          </a:p>
          <a:p>
            <a:pPr lvl="1"/>
            <a:endParaRPr lang="ru-RU" sz="2000" dirty="0"/>
          </a:p>
          <a:p>
            <a:r>
              <a:rPr lang="ru-RU" sz="2400" dirty="0"/>
              <a:t>Память программы – это одномерный массив байтов</a:t>
            </a:r>
          </a:p>
          <a:p>
            <a:pPr lvl="1"/>
            <a:r>
              <a:rPr lang="ru-RU" sz="1800" dirty="0"/>
              <a:t>Обычно размер памяти программы 2</a:t>
            </a:r>
            <a:r>
              <a:rPr lang="ru-RU" sz="1800" baseline="30000" dirty="0"/>
              <a:t>32</a:t>
            </a:r>
            <a:r>
              <a:rPr lang="ru-RU" sz="1800" dirty="0"/>
              <a:t> или 2</a:t>
            </a:r>
            <a:r>
              <a:rPr lang="ru-RU" sz="1800" baseline="30000" dirty="0"/>
              <a:t>64</a:t>
            </a:r>
            <a:r>
              <a:rPr lang="ru-RU" sz="1800" dirty="0"/>
              <a:t> байтов</a:t>
            </a:r>
            <a:endParaRPr lang="ru-RU" sz="1800" baseline="30000" dirty="0"/>
          </a:p>
          <a:p>
            <a:pPr lvl="1"/>
            <a:endParaRPr lang="ru-RU" sz="2000" dirty="0"/>
          </a:p>
          <a:p>
            <a:r>
              <a:rPr lang="ru-RU" sz="2400" dirty="0">
                <a:highlight>
                  <a:srgbClr val="00FFFF"/>
                </a:highlight>
              </a:rPr>
              <a:t>Адрес</a:t>
            </a:r>
            <a:r>
              <a:rPr lang="ru-RU" sz="2400" i="1" dirty="0"/>
              <a:t> </a:t>
            </a:r>
            <a:r>
              <a:rPr lang="ru-RU" sz="2400" dirty="0"/>
              <a:t>байта памяти программы – это его индекс в этом массиве</a:t>
            </a:r>
          </a:p>
          <a:p>
            <a:endParaRPr lang="ru-RU" sz="2400" dirty="0"/>
          </a:p>
          <a:p>
            <a:r>
              <a:rPr lang="ru-RU" sz="2400" dirty="0"/>
              <a:t>ОС может запретить читать и/или изменять и/или исполнять некоторые байты памяти программы</a:t>
            </a:r>
          </a:p>
          <a:p>
            <a:pPr lvl="1"/>
            <a:r>
              <a:rPr lang="ru-RU" sz="1800" dirty="0"/>
              <a:t>Такие байты </a:t>
            </a:r>
            <a:r>
              <a:rPr lang="ru-RU" sz="1800" dirty="0">
                <a:highlight>
                  <a:srgbClr val="00FFFF"/>
                </a:highlight>
              </a:rPr>
              <a:t>недоступны </a:t>
            </a:r>
            <a:r>
              <a:rPr lang="ru-RU" sz="1800" dirty="0"/>
              <a:t>для чтения/изменения/исполнения</a:t>
            </a:r>
          </a:p>
          <a:p>
            <a:pPr lvl="1"/>
            <a:r>
              <a:rPr lang="ru-RU" sz="1800" dirty="0"/>
              <a:t>При нарушении запрета ОС принудительно завершает работу программы</a:t>
            </a:r>
          </a:p>
          <a:p>
            <a:endParaRPr lang="ru-RU" sz="2400" dirty="0"/>
          </a:p>
          <a:p>
            <a:r>
              <a:rPr lang="ru-RU" sz="2400" dirty="0"/>
              <a:t>Байт по адресу 0 недоступен для чтения, изменения, исполнения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27959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Время жизни значений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highlight>
                  <a:srgbClr val="00FFFF"/>
                </a:highlight>
              </a:rPr>
              <a:t>Время жизни </a:t>
            </a:r>
            <a:r>
              <a:rPr lang="ru-RU" dirty="0"/>
              <a:t>значения</a:t>
            </a:r>
            <a:r>
              <a:rPr lang="ru-RU" i="1" dirty="0"/>
              <a:t> </a:t>
            </a:r>
            <a:r>
              <a:rPr lang="ru-RU" dirty="0"/>
              <a:t>– интервал времени, в течение которого для хранения значения выделены ячейки памяти</a:t>
            </a:r>
          </a:p>
          <a:p>
            <a:endParaRPr lang="ru-RU" dirty="0"/>
          </a:p>
          <a:p>
            <a:r>
              <a:rPr lang="ru-RU" dirty="0"/>
              <a:t>В течение времени жизни значение </a:t>
            </a:r>
          </a:p>
          <a:p>
            <a:pPr lvl="1"/>
            <a:r>
              <a:rPr lang="ru-RU" dirty="0"/>
              <a:t>Меняется только при присваивании</a:t>
            </a:r>
          </a:p>
          <a:p>
            <a:pPr lvl="1"/>
            <a:r>
              <a:rPr lang="ru-RU" dirty="0"/>
              <a:t>Имеет постоянный адрес</a:t>
            </a:r>
          </a:p>
          <a:p>
            <a:endParaRPr lang="ru-RU" dirty="0"/>
          </a:p>
          <a:p>
            <a:r>
              <a:rPr lang="ru-RU" dirty="0"/>
              <a:t>После окончания времени жизни значения</a:t>
            </a:r>
          </a:p>
          <a:p>
            <a:pPr lvl="1"/>
            <a:r>
              <a:rPr lang="ru-RU" dirty="0"/>
              <a:t>Использование значения является </a:t>
            </a:r>
            <a:r>
              <a:rPr lang="en-US" dirty="0"/>
              <a:t>undefined</a:t>
            </a:r>
          </a:p>
          <a:p>
            <a:pPr lvl="1"/>
            <a:r>
              <a:rPr lang="ru-RU" dirty="0"/>
              <a:t>Адрес значения </a:t>
            </a:r>
            <a:r>
              <a:rPr lang="en-US" dirty="0"/>
              <a:t>undefined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01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FE46-68F4-BA25-31B0-F11165AD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 хранения значений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31CF-A10B-FE94-9CBE-41156B9A22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 времени жизни значения называется </a:t>
            </a:r>
            <a:r>
              <a:rPr lang="ru-RU" dirty="0">
                <a:highlight>
                  <a:srgbClr val="00FFFF"/>
                </a:highlight>
              </a:rPr>
              <a:t>способом хранения </a:t>
            </a:r>
            <a:r>
              <a:rPr lang="ru-RU" dirty="0"/>
              <a:t>значения</a:t>
            </a:r>
          </a:p>
          <a:p>
            <a:pPr lvl="1"/>
            <a:r>
              <a:rPr lang="ru-RU" dirty="0">
                <a:highlight>
                  <a:srgbClr val="FFFF00"/>
                </a:highlight>
              </a:rPr>
              <a:t>Автоматический</a:t>
            </a:r>
          </a:p>
          <a:p>
            <a:pPr lvl="1"/>
            <a:r>
              <a:rPr lang="ru-RU" dirty="0">
                <a:highlight>
                  <a:srgbClr val="00FF00"/>
                </a:highlight>
              </a:rPr>
              <a:t>Динамический</a:t>
            </a:r>
          </a:p>
          <a:p>
            <a:pPr lvl="1"/>
            <a:r>
              <a:rPr lang="ru-RU" dirty="0">
                <a:highlight>
                  <a:srgbClr val="C0C0C0"/>
                </a:highlight>
              </a:rPr>
              <a:t>Статический</a:t>
            </a:r>
          </a:p>
          <a:p>
            <a:pPr lvl="1"/>
            <a:r>
              <a:rPr lang="ru-RU" dirty="0">
                <a:highlight>
                  <a:srgbClr val="FF00FF"/>
                </a:highlight>
              </a:rPr>
              <a:t>Потоковый</a:t>
            </a:r>
            <a:r>
              <a:rPr lang="ru-RU" dirty="0"/>
              <a:t> (</a:t>
            </a:r>
            <a:r>
              <a:rPr lang="en-US" dirty="0"/>
              <a:t>C11)</a:t>
            </a:r>
            <a:endParaRPr lang="ru-RU" dirty="0"/>
          </a:p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D0760-3590-C969-DE2A-6CC002B78A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8A6A87-33E9-7E20-1CB5-A7EC56E5ACAA}"/>
              </a:ext>
            </a:extLst>
          </p:cNvPr>
          <p:cNvSpPr/>
          <p:nvPr/>
        </p:nvSpPr>
        <p:spPr>
          <a:xfrm>
            <a:off x="7680176" y="1589676"/>
            <a:ext cx="3902224" cy="360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Calibri Light" panose="020F0302020204030204" pitchFamily="34" charset="0"/>
              </a:rPr>
              <a:t>Поток 0 локальные переменные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59901-57E4-AAC4-9819-E1D4B364B83B}"/>
              </a:ext>
            </a:extLst>
          </p:cNvPr>
          <p:cNvSpPr/>
          <p:nvPr/>
        </p:nvSpPr>
        <p:spPr>
          <a:xfrm>
            <a:off x="7680176" y="2132278"/>
            <a:ext cx="3902224" cy="360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Calibri Light" panose="020F0302020204030204" pitchFamily="34" charset="0"/>
              </a:rPr>
              <a:t>Поток 1 локальные переменные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1D183F-FD51-C691-B0A7-94DF4033AE54}"/>
              </a:ext>
            </a:extLst>
          </p:cNvPr>
          <p:cNvSpPr/>
          <p:nvPr/>
        </p:nvSpPr>
        <p:spPr>
          <a:xfrm>
            <a:off x="7680176" y="2996952"/>
            <a:ext cx="3902224" cy="360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Calibri Light" panose="020F0302020204030204" pitchFamily="34" charset="0"/>
              </a:rPr>
              <a:t>Поток </a:t>
            </a: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</a:rPr>
              <a:t>t-1</a:t>
            </a:r>
            <a:r>
              <a:rPr lang="ru-RU" dirty="0">
                <a:solidFill>
                  <a:schemeClr val="tx1"/>
                </a:solidFill>
                <a:latin typeface="Calibri Light" panose="020F0302020204030204" pitchFamily="34" charset="0"/>
              </a:rPr>
              <a:t> локальные переменные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A2C969-9D4C-167D-CB99-DA8464684F99}"/>
              </a:ext>
            </a:extLst>
          </p:cNvPr>
          <p:cNvSpPr/>
          <p:nvPr/>
        </p:nvSpPr>
        <p:spPr>
          <a:xfrm>
            <a:off x="6888088" y="1589676"/>
            <a:ext cx="792088" cy="360039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811013-DAEA-13C2-5FAE-E72E0BF18003}"/>
              </a:ext>
            </a:extLst>
          </p:cNvPr>
          <p:cNvSpPr/>
          <p:nvPr/>
        </p:nvSpPr>
        <p:spPr>
          <a:xfrm>
            <a:off x="6888088" y="2132278"/>
            <a:ext cx="792088" cy="360039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CF9E2-5A70-1704-DA4C-D35105EC42CF}"/>
              </a:ext>
            </a:extLst>
          </p:cNvPr>
          <p:cNvSpPr/>
          <p:nvPr/>
        </p:nvSpPr>
        <p:spPr>
          <a:xfrm>
            <a:off x="6888088" y="2996952"/>
            <a:ext cx="792088" cy="360039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4B8DB-4B60-ECDD-ACBA-290B40CA7CB8}"/>
              </a:ext>
            </a:extLst>
          </p:cNvPr>
          <p:cNvSpPr/>
          <p:nvPr/>
        </p:nvSpPr>
        <p:spPr>
          <a:xfrm>
            <a:off x="6197600" y="1600201"/>
            <a:ext cx="618480" cy="45259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Calibri Light" panose="020F0302020204030204" pitchFamily="34" charset="0"/>
              </a:rPr>
              <a:t>Глобальные переменные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3078A7-B7D8-2AA9-A039-02EB80C954D5}"/>
              </a:ext>
            </a:extLst>
          </p:cNvPr>
          <p:cNvSpPr/>
          <p:nvPr/>
        </p:nvSpPr>
        <p:spPr>
          <a:xfrm>
            <a:off x="6888088" y="3717032"/>
            <a:ext cx="4694312" cy="2409132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Calibri Light" panose="020F0302020204030204" pitchFamily="34" charset="0"/>
              </a:rPr>
              <a:t>«Куча»</a:t>
            </a:r>
          </a:p>
        </p:txBody>
      </p:sp>
    </p:spTree>
    <p:extLst>
      <p:ext uri="{BB962C8B-B14F-4D97-AF65-F5344CB8AC3E}">
        <p14:creationId xmlns:p14="http://schemas.microsoft.com/office/powerpoint/2010/main" val="97322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Автоматическое хранение значений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Значение живое только внутри блока </a:t>
            </a:r>
            <a:r>
              <a:rPr lang="en-US" dirty="0"/>
              <a:t>{}</a:t>
            </a:r>
            <a:r>
              <a:rPr lang="ru-RU" dirty="0"/>
              <a:t>, который его создал</a:t>
            </a:r>
            <a:endParaRPr lang="en-US" dirty="0"/>
          </a:p>
          <a:p>
            <a:pPr lvl="1"/>
            <a:r>
              <a:rPr lang="ru-RU" dirty="0"/>
              <a:t>Автоматически создается при входе в блок </a:t>
            </a:r>
            <a:r>
              <a:rPr lang="en-US" dirty="0"/>
              <a:t>{}</a:t>
            </a:r>
            <a:endParaRPr lang="ru-RU" dirty="0"/>
          </a:p>
          <a:p>
            <a:pPr lvl="1"/>
            <a:r>
              <a:rPr lang="ru-RU" dirty="0"/>
              <a:t>Автоматически уничтожается при выходе из этого блока </a:t>
            </a:r>
            <a:r>
              <a:rPr lang="en-US" dirty="0"/>
              <a:t>{}</a:t>
            </a:r>
            <a:endParaRPr lang="ru-RU" dirty="0"/>
          </a:p>
          <a:p>
            <a:pPr lvl="1"/>
            <a:r>
              <a:rPr lang="ru-RU" dirty="0"/>
              <a:t>Исполнение вложенного блока </a:t>
            </a:r>
            <a:r>
              <a:rPr lang="en-US" dirty="0"/>
              <a:t>{} </a:t>
            </a:r>
            <a:r>
              <a:rPr lang="ru-RU" dirty="0"/>
              <a:t>или вызов функции приостанавливает </a:t>
            </a:r>
            <a:r>
              <a:rPr lang="ru-RU" sz="2500" dirty="0"/>
              <a:t>исполнение блока</a:t>
            </a:r>
          </a:p>
          <a:p>
            <a:pPr lvl="1"/>
            <a:r>
              <a:rPr lang="ru-RU" dirty="0"/>
              <a:t>Для доступа используем локальную переменную или аргумент функции</a:t>
            </a:r>
          </a:p>
          <a:p>
            <a:pPr lvl="1"/>
            <a:endParaRPr lang="en-US" dirty="0"/>
          </a:p>
          <a:p>
            <a:r>
              <a:rPr lang="ru-RU" dirty="0"/>
              <a:t>Инициализация памяти</a:t>
            </a:r>
          </a:p>
          <a:p>
            <a:pPr lvl="1"/>
            <a:r>
              <a:rPr lang="ru-RU" dirty="0"/>
              <a:t>Каждый раз, когда управление проходит через описание переменной</a:t>
            </a:r>
          </a:p>
          <a:p>
            <a:pPr lvl="1"/>
            <a:r>
              <a:rPr lang="ru-RU" dirty="0"/>
              <a:t>Значение из описания или </a:t>
            </a:r>
            <a:r>
              <a:rPr lang="en-US" dirty="0"/>
              <a:t>undefined</a:t>
            </a:r>
          </a:p>
          <a:p>
            <a:pPr lvl="1"/>
            <a:endParaRPr lang="ru-RU" dirty="0"/>
          </a:p>
          <a:p>
            <a:r>
              <a:rPr lang="ru-RU" dirty="0"/>
              <a:t>Когда использовать</a:t>
            </a:r>
          </a:p>
          <a:p>
            <a:pPr lvl="1"/>
            <a:r>
              <a:rPr lang="ru-RU" dirty="0"/>
              <a:t>Для работы с данными размером не более нескольких килобайт</a:t>
            </a:r>
          </a:p>
        </p:txBody>
      </p:sp>
    </p:spTree>
    <p:extLst>
      <p:ext uri="{BB962C8B-B14F-4D97-AF65-F5344CB8AC3E}">
        <p14:creationId xmlns:p14="http://schemas.microsoft.com/office/powerpoint/2010/main" val="398528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Граф вызовов</a:t>
            </a:r>
            <a:r>
              <a:rPr lang="en-US" dirty="0"/>
              <a:t>, call graph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Функция А </a:t>
            </a:r>
            <a:r>
              <a:rPr lang="ru-RU" dirty="0">
                <a:highlight>
                  <a:srgbClr val="00FFFF"/>
                </a:highlight>
              </a:rPr>
              <a:t>вызывает</a:t>
            </a:r>
            <a:r>
              <a:rPr lang="ru-RU" dirty="0"/>
              <a:t> функцию Б, если А передает управление Б</a:t>
            </a:r>
          </a:p>
          <a:p>
            <a:endParaRPr lang="en-US" dirty="0"/>
          </a:p>
          <a:p>
            <a:r>
              <a:rPr lang="ru-RU" dirty="0">
                <a:highlight>
                  <a:srgbClr val="00FFFF"/>
                </a:highlight>
              </a:rPr>
              <a:t>Граф вызовов</a:t>
            </a:r>
            <a:r>
              <a:rPr lang="ru-RU" dirty="0"/>
              <a:t>, </a:t>
            </a:r>
            <a:r>
              <a:rPr lang="en-US" dirty="0"/>
              <a:t>call graph</a:t>
            </a:r>
          </a:p>
          <a:p>
            <a:pPr lvl="1"/>
            <a:r>
              <a:rPr lang="ru-RU" dirty="0"/>
              <a:t>Вершины – функции</a:t>
            </a:r>
          </a:p>
          <a:p>
            <a:pPr lvl="1"/>
            <a:r>
              <a:rPr lang="ru-RU" dirty="0"/>
              <a:t>Дуга из вершины А в вершину Б тогда только тогда, когда функция А вызывает функцию Б</a:t>
            </a:r>
          </a:p>
          <a:p>
            <a:endParaRPr lang="ru-RU" dirty="0"/>
          </a:p>
          <a:p>
            <a:r>
              <a:rPr lang="ru-RU" dirty="0"/>
              <a:t>Движение по дугам графа вызовов</a:t>
            </a:r>
          </a:p>
          <a:p>
            <a:pPr lvl="1"/>
            <a:r>
              <a:rPr lang="ru-RU" dirty="0"/>
              <a:t>В направлении дуги – вызов функции</a:t>
            </a:r>
          </a:p>
          <a:p>
            <a:pPr lvl="1"/>
            <a:r>
              <a:rPr lang="ru-RU" dirty="0"/>
              <a:t>Против направления дуги – возврат из функции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g(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0)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g(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g(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2);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g(5);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grpSp>
        <p:nvGrpSpPr>
          <p:cNvPr id="25" name="Группа 24"/>
          <p:cNvGrpSpPr/>
          <p:nvPr/>
        </p:nvGrpSpPr>
        <p:grpSpPr>
          <a:xfrm>
            <a:off x="8616280" y="1988840"/>
            <a:ext cx="2661532" cy="3161482"/>
            <a:chOff x="8700227" y="1539382"/>
            <a:chExt cx="2661532" cy="3161482"/>
          </a:xfrm>
        </p:grpSpPr>
        <p:sp>
          <p:nvSpPr>
            <p:cNvPr id="5" name="TextBox 4"/>
            <p:cNvSpPr txBox="1"/>
            <p:nvPr/>
          </p:nvSpPr>
          <p:spPr>
            <a:xfrm>
              <a:off x="9048328" y="4331532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84083" y="2721566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g(</a:t>
              </a:r>
              <a:r>
                <a:rPr lang="en-US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700227" y="1539382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f(</a:t>
              </a:r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cxnSp>
          <p:nvCxnSpPr>
            <p:cNvPr id="9" name="Прямая со стрелкой 8"/>
            <p:cNvCxnSpPr>
              <a:stCxn id="5" idx="0"/>
              <a:endCxn id="7" idx="2"/>
            </p:cNvCxnSpPr>
            <p:nvPr/>
          </p:nvCxnSpPr>
          <p:spPr>
            <a:xfrm flipH="1" flipV="1">
              <a:off x="9552384" y="1908714"/>
              <a:ext cx="221463" cy="2422818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>
              <a:stCxn id="5" idx="0"/>
              <a:endCxn id="6" idx="2"/>
            </p:cNvCxnSpPr>
            <p:nvPr/>
          </p:nvCxnSpPr>
          <p:spPr>
            <a:xfrm flipV="1">
              <a:off x="9773847" y="3090898"/>
              <a:ext cx="799074" cy="1240634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>
              <a:stCxn id="6" idx="0"/>
              <a:endCxn id="7" idx="2"/>
            </p:cNvCxnSpPr>
            <p:nvPr/>
          </p:nvCxnSpPr>
          <p:spPr>
            <a:xfrm flipH="1" flipV="1">
              <a:off x="9552384" y="1908714"/>
              <a:ext cx="1020537" cy="812852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Соединительная линия уступом 17"/>
            <p:cNvCxnSpPr>
              <a:stCxn id="6" idx="0"/>
              <a:endCxn id="6" idx="3"/>
            </p:cNvCxnSpPr>
            <p:nvPr/>
          </p:nvCxnSpPr>
          <p:spPr>
            <a:xfrm rot="16200000" flipH="1">
              <a:off x="10875007" y="2419480"/>
              <a:ext cx="184666" cy="788838"/>
            </a:xfrm>
            <a:prstGeom prst="curvedConnector4">
              <a:avLst>
                <a:gd name="adj1" fmla="val -308352"/>
                <a:gd name="adj2" fmla="val 128979"/>
              </a:avLst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984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Дерево вызовов</a:t>
            </a:r>
            <a:r>
              <a:rPr lang="en-US" dirty="0"/>
              <a:t>, call tree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81895" y="1825625"/>
            <a:ext cx="547190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g(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0)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g(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g(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2);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g(5);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grpSp>
        <p:nvGrpSpPr>
          <p:cNvPr id="25" name="Группа 24"/>
          <p:cNvGrpSpPr/>
          <p:nvPr/>
        </p:nvGrpSpPr>
        <p:grpSpPr>
          <a:xfrm>
            <a:off x="8101207" y="2043518"/>
            <a:ext cx="2661532" cy="3161482"/>
            <a:chOff x="8700227" y="1539382"/>
            <a:chExt cx="2661532" cy="3161482"/>
          </a:xfrm>
        </p:grpSpPr>
        <p:sp>
          <p:nvSpPr>
            <p:cNvPr id="5" name="TextBox 4"/>
            <p:cNvSpPr txBox="1"/>
            <p:nvPr/>
          </p:nvSpPr>
          <p:spPr>
            <a:xfrm>
              <a:off x="9048328" y="4331532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84083" y="2721566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g(</a:t>
              </a:r>
              <a:r>
                <a:rPr lang="en-US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700227" y="1539382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f(</a:t>
              </a:r>
              <a:r>
                <a:rPr lang="en-US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ru-RU" dirty="0">
                <a:latin typeface="Calibri Light" panose="020F0302020204030204" pitchFamily="34" charset="0"/>
              </a:endParaRPr>
            </a:p>
          </p:txBody>
        </p:sp>
        <p:cxnSp>
          <p:nvCxnSpPr>
            <p:cNvPr id="9" name="Прямая со стрелкой 8"/>
            <p:cNvCxnSpPr>
              <a:stCxn id="5" idx="0"/>
              <a:endCxn id="7" idx="2"/>
            </p:cNvCxnSpPr>
            <p:nvPr/>
          </p:nvCxnSpPr>
          <p:spPr>
            <a:xfrm flipH="1" flipV="1">
              <a:off x="9552384" y="1908714"/>
              <a:ext cx="221463" cy="2422818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>
              <a:stCxn id="5" idx="0"/>
              <a:endCxn id="6" idx="2"/>
            </p:cNvCxnSpPr>
            <p:nvPr/>
          </p:nvCxnSpPr>
          <p:spPr>
            <a:xfrm flipV="1">
              <a:off x="9773847" y="3090898"/>
              <a:ext cx="799074" cy="1240634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>
              <a:stCxn id="6" idx="0"/>
              <a:endCxn id="7" idx="2"/>
            </p:cNvCxnSpPr>
            <p:nvPr/>
          </p:nvCxnSpPr>
          <p:spPr>
            <a:xfrm flipH="1" flipV="1">
              <a:off x="9552384" y="1908714"/>
              <a:ext cx="1020537" cy="812852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Соединительная линия уступом 17"/>
            <p:cNvCxnSpPr>
              <a:stCxn id="6" idx="0"/>
              <a:endCxn id="6" idx="3"/>
            </p:cNvCxnSpPr>
            <p:nvPr/>
          </p:nvCxnSpPr>
          <p:spPr>
            <a:xfrm rot="16200000" flipH="1">
              <a:off x="10875007" y="2419480"/>
              <a:ext cx="184666" cy="788838"/>
            </a:xfrm>
            <a:prstGeom prst="curvedConnector4">
              <a:avLst>
                <a:gd name="adj1" fmla="val -308352"/>
                <a:gd name="adj2" fmla="val 128979"/>
              </a:avLst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544EA0-B292-AFB0-5231-98746712D7E3}"/>
              </a:ext>
            </a:extLst>
          </p:cNvPr>
          <p:cNvSpPr txBox="1"/>
          <p:nvPr/>
        </p:nvSpPr>
        <p:spPr>
          <a:xfrm>
            <a:off x="2463975" y="530806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8A648B-B083-3A08-85CA-81F20A9E2988}"/>
              </a:ext>
            </a:extLst>
          </p:cNvPr>
          <p:cNvSpPr txBox="1"/>
          <p:nvPr/>
        </p:nvSpPr>
        <p:spPr>
          <a:xfrm>
            <a:off x="1010918" y="452059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406E9D-358C-FC9C-B4BD-7CB7DE759894}"/>
              </a:ext>
            </a:extLst>
          </p:cNvPr>
          <p:cNvSpPr txBox="1"/>
          <p:nvPr/>
        </p:nvSpPr>
        <p:spPr>
          <a:xfrm>
            <a:off x="1316593" y="394620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E5B41D-AE75-FB5B-99E4-C4B06066F6F8}"/>
              </a:ext>
            </a:extLst>
          </p:cNvPr>
          <p:cNvSpPr txBox="1"/>
          <p:nvPr/>
        </p:nvSpPr>
        <p:spPr>
          <a:xfrm>
            <a:off x="2590611" y="462713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cxnSp>
        <p:nvCxnSpPr>
          <p:cNvPr id="29" name="Прямая со стрелкой 9">
            <a:extLst>
              <a:ext uri="{FF2B5EF4-FFF2-40B4-BE49-F238E27FC236}">
                <a16:creationId xmlns:a16="http://schemas.microsoft.com/office/drawing/2014/main" id="{F3CBC4CA-049A-C4F8-2D49-FC0687F7EAC9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H="1" flipV="1">
            <a:off x="1293207" y="4889928"/>
            <a:ext cx="1643013" cy="41813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9">
            <a:extLst>
              <a:ext uri="{FF2B5EF4-FFF2-40B4-BE49-F238E27FC236}">
                <a16:creationId xmlns:a16="http://schemas.microsoft.com/office/drawing/2014/main" id="{420235D7-04F3-E615-CD8F-56C8B5FAC301}"/>
              </a:ext>
            </a:extLst>
          </p:cNvPr>
          <p:cNvCxnSpPr>
            <a:cxnSpLocks/>
            <a:stCxn id="11" idx="0"/>
            <a:endCxn id="26" idx="2"/>
          </p:cNvCxnSpPr>
          <p:nvPr/>
        </p:nvCxnSpPr>
        <p:spPr>
          <a:xfrm flipH="1" flipV="1">
            <a:off x="2936219" y="4996463"/>
            <a:ext cx="1" cy="31159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9">
            <a:extLst>
              <a:ext uri="{FF2B5EF4-FFF2-40B4-BE49-F238E27FC236}">
                <a16:creationId xmlns:a16="http://schemas.microsoft.com/office/drawing/2014/main" id="{C77E0329-276E-268E-BEB0-96C95642F368}"/>
              </a:ext>
            </a:extLst>
          </p:cNvPr>
          <p:cNvCxnSpPr>
            <a:cxnSpLocks/>
            <a:stCxn id="26" idx="0"/>
            <a:endCxn id="24" idx="2"/>
          </p:cNvCxnSpPr>
          <p:nvPr/>
        </p:nvCxnSpPr>
        <p:spPr>
          <a:xfrm flipH="1" flipV="1">
            <a:off x="1662201" y="4315533"/>
            <a:ext cx="1274018" cy="31159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9">
            <a:extLst>
              <a:ext uri="{FF2B5EF4-FFF2-40B4-BE49-F238E27FC236}">
                <a16:creationId xmlns:a16="http://schemas.microsoft.com/office/drawing/2014/main" id="{68054446-B51A-6E78-B6A9-118C580BBE44}"/>
              </a:ext>
            </a:extLst>
          </p:cNvPr>
          <p:cNvCxnSpPr>
            <a:cxnSpLocks/>
            <a:stCxn id="83" idx="0"/>
            <a:endCxn id="87" idx="2"/>
          </p:cNvCxnSpPr>
          <p:nvPr/>
        </p:nvCxnSpPr>
        <p:spPr>
          <a:xfrm flipH="1" flipV="1">
            <a:off x="1931681" y="3118310"/>
            <a:ext cx="306282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F9C7804-912B-3918-4EF1-BEAC43E2EEDA}"/>
              </a:ext>
            </a:extLst>
          </p:cNvPr>
          <p:cNvSpPr txBox="1"/>
          <p:nvPr/>
        </p:nvSpPr>
        <p:spPr>
          <a:xfrm>
            <a:off x="3738349" y="394620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cxnSp>
        <p:nvCxnSpPr>
          <p:cNvPr id="64" name="Прямая со стрелкой 9">
            <a:extLst>
              <a:ext uri="{FF2B5EF4-FFF2-40B4-BE49-F238E27FC236}">
                <a16:creationId xmlns:a16="http://schemas.microsoft.com/office/drawing/2014/main" id="{8988DE7A-AEFC-E4AB-2E7A-08E69BEE64E4}"/>
              </a:ext>
            </a:extLst>
          </p:cNvPr>
          <p:cNvCxnSpPr>
            <a:cxnSpLocks/>
            <a:stCxn id="26" idx="0"/>
            <a:endCxn id="61" idx="2"/>
          </p:cNvCxnSpPr>
          <p:nvPr/>
        </p:nvCxnSpPr>
        <p:spPr>
          <a:xfrm flipV="1">
            <a:off x="2936219" y="4315533"/>
            <a:ext cx="1147738" cy="31159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3B48999-CD46-7EAF-9004-4E180BFE23BB}"/>
              </a:ext>
            </a:extLst>
          </p:cNvPr>
          <p:cNvSpPr txBox="1"/>
          <p:nvPr/>
        </p:nvSpPr>
        <p:spPr>
          <a:xfrm>
            <a:off x="4361469" y="33718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FFD20C-10A4-26D6-F0CF-25012A283D21}"/>
              </a:ext>
            </a:extLst>
          </p:cNvPr>
          <p:cNvSpPr txBox="1"/>
          <p:nvPr/>
        </p:nvSpPr>
        <p:spPr>
          <a:xfrm>
            <a:off x="3102718" y="33718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AA12A6-9787-1229-FC25-FA7F918BA2C8}"/>
              </a:ext>
            </a:extLst>
          </p:cNvPr>
          <p:cNvSpPr txBox="1"/>
          <p:nvPr/>
        </p:nvSpPr>
        <p:spPr>
          <a:xfrm>
            <a:off x="2837097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8516D0-337C-0D60-184D-8706126D828E}"/>
              </a:ext>
            </a:extLst>
          </p:cNvPr>
          <p:cNvSpPr txBox="1"/>
          <p:nvPr/>
        </p:nvSpPr>
        <p:spPr>
          <a:xfrm>
            <a:off x="3446142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DB734A-8921-DB12-57B7-1FA2FEED6A8D}"/>
              </a:ext>
            </a:extLst>
          </p:cNvPr>
          <p:cNvSpPr txBox="1"/>
          <p:nvPr/>
        </p:nvSpPr>
        <p:spPr>
          <a:xfrm>
            <a:off x="4055187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4103C4-C8DF-566F-FDEE-D8DA6CF7D50E}"/>
              </a:ext>
            </a:extLst>
          </p:cNvPr>
          <p:cNvSpPr txBox="1"/>
          <p:nvPr/>
        </p:nvSpPr>
        <p:spPr>
          <a:xfrm>
            <a:off x="4664232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7C67BD-5F52-0B22-95BE-71DEF76C7434}"/>
              </a:ext>
            </a:extLst>
          </p:cNvPr>
          <p:cNvSpPr txBox="1"/>
          <p:nvPr/>
        </p:nvSpPr>
        <p:spPr>
          <a:xfrm>
            <a:off x="2891978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ED7293-A4DD-F928-F4F3-D394FBF54D65}"/>
              </a:ext>
            </a:extLst>
          </p:cNvPr>
          <p:cNvSpPr txBox="1"/>
          <p:nvPr/>
        </p:nvSpPr>
        <p:spPr>
          <a:xfrm>
            <a:off x="3511379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8DF09F-71E5-E906-50A6-B7C35FB000E3}"/>
              </a:ext>
            </a:extLst>
          </p:cNvPr>
          <p:cNvSpPr txBox="1"/>
          <p:nvPr/>
        </p:nvSpPr>
        <p:spPr>
          <a:xfrm>
            <a:off x="4130780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02381D-99E3-F26B-F70A-816BBAB02511}"/>
              </a:ext>
            </a:extLst>
          </p:cNvPr>
          <p:cNvSpPr txBox="1"/>
          <p:nvPr/>
        </p:nvSpPr>
        <p:spPr>
          <a:xfrm>
            <a:off x="4750182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3BD685-2B9A-457A-EA16-E722544E74E2}"/>
              </a:ext>
            </a:extLst>
          </p:cNvPr>
          <p:cNvSpPr txBox="1"/>
          <p:nvPr/>
        </p:nvSpPr>
        <p:spPr>
          <a:xfrm>
            <a:off x="1892355" y="33718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37C9F6-D989-3D49-E61C-A2DF163FE294}"/>
              </a:ext>
            </a:extLst>
          </p:cNvPr>
          <p:cNvSpPr txBox="1"/>
          <p:nvPr/>
        </p:nvSpPr>
        <p:spPr>
          <a:xfrm>
            <a:off x="633604" y="33718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035614-BB87-D0E2-1C22-ADD47EB92AF6}"/>
              </a:ext>
            </a:extLst>
          </p:cNvPr>
          <p:cNvSpPr txBox="1"/>
          <p:nvPr/>
        </p:nvSpPr>
        <p:spPr>
          <a:xfrm>
            <a:off x="367983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90415D-A553-C543-D796-99576695CC45}"/>
              </a:ext>
            </a:extLst>
          </p:cNvPr>
          <p:cNvSpPr txBox="1"/>
          <p:nvPr/>
        </p:nvSpPr>
        <p:spPr>
          <a:xfrm>
            <a:off x="977028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200094-DFDC-E912-5E93-95AF367781B9}"/>
              </a:ext>
            </a:extLst>
          </p:cNvPr>
          <p:cNvSpPr txBox="1"/>
          <p:nvPr/>
        </p:nvSpPr>
        <p:spPr>
          <a:xfrm>
            <a:off x="1586073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E1A37AA-281D-8939-4FD3-03BD11E52B8E}"/>
              </a:ext>
            </a:extLst>
          </p:cNvPr>
          <p:cNvSpPr txBox="1"/>
          <p:nvPr/>
        </p:nvSpPr>
        <p:spPr>
          <a:xfrm>
            <a:off x="2195118" y="27489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240C993-DDAA-5282-A5DF-A06B63C13CFD}"/>
              </a:ext>
            </a:extLst>
          </p:cNvPr>
          <p:cNvSpPr txBox="1"/>
          <p:nvPr/>
        </p:nvSpPr>
        <p:spPr>
          <a:xfrm>
            <a:off x="422864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204C80-8438-AB58-1B3C-B1581E645973}"/>
              </a:ext>
            </a:extLst>
          </p:cNvPr>
          <p:cNvSpPr txBox="1"/>
          <p:nvPr/>
        </p:nvSpPr>
        <p:spPr>
          <a:xfrm>
            <a:off x="1042265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6ED044-FC58-BCAB-908B-7C771479EE64}"/>
              </a:ext>
            </a:extLst>
          </p:cNvPr>
          <p:cNvSpPr txBox="1"/>
          <p:nvPr/>
        </p:nvSpPr>
        <p:spPr>
          <a:xfrm>
            <a:off x="1661666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C48D3BF-6D15-FFA7-4B2B-D45B5CDE8FF8}"/>
              </a:ext>
            </a:extLst>
          </p:cNvPr>
          <p:cNvSpPr txBox="1"/>
          <p:nvPr/>
        </p:nvSpPr>
        <p:spPr>
          <a:xfrm>
            <a:off x="2281068" y="20203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  <a:endParaRPr lang="ru-RU" dirty="0">
              <a:latin typeface="Calibri Light" panose="020F0302020204030204" pitchFamily="34" charset="0"/>
            </a:endParaRPr>
          </a:p>
        </p:txBody>
      </p:sp>
      <p:cxnSp>
        <p:nvCxnSpPr>
          <p:cNvPr id="95" name="Прямая со стрелкой 9">
            <a:extLst>
              <a:ext uri="{FF2B5EF4-FFF2-40B4-BE49-F238E27FC236}">
                <a16:creationId xmlns:a16="http://schemas.microsoft.com/office/drawing/2014/main" id="{926BA03E-0DDC-D1E8-1F82-A95415D56163}"/>
              </a:ext>
            </a:extLst>
          </p:cNvPr>
          <p:cNvCxnSpPr>
            <a:cxnSpLocks/>
            <a:stCxn id="83" idx="0"/>
            <a:endCxn id="88" idx="2"/>
          </p:cNvCxnSpPr>
          <p:nvPr/>
        </p:nvCxnSpPr>
        <p:spPr>
          <a:xfrm flipV="1">
            <a:off x="2237963" y="3118310"/>
            <a:ext cx="302763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">
            <a:extLst>
              <a:ext uri="{FF2B5EF4-FFF2-40B4-BE49-F238E27FC236}">
                <a16:creationId xmlns:a16="http://schemas.microsoft.com/office/drawing/2014/main" id="{BEE3A987-B5C1-C279-2CF3-C5ED241436BF}"/>
              </a:ext>
            </a:extLst>
          </p:cNvPr>
          <p:cNvCxnSpPr>
            <a:cxnSpLocks/>
            <a:stCxn id="68" idx="0"/>
            <a:endCxn id="70" idx="2"/>
          </p:cNvCxnSpPr>
          <p:nvPr/>
        </p:nvCxnSpPr>
        <p:spPr>
          <a:xfrm flipH="1" flipV="1">
            <a:off x="3182705" y="3118310"/>
            <a:ext cx="265621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">
            <a:extLst>
              <a:ext uri="{FF2B5EF4-FFF2-40B4-BE49-F238E27FC236}">
                <a16:creationId xmlns:a16="http://schemas.microsoft.com/office/drawing/2014/main" id="{7D5A3889-2A3D-5FF0-4EB4-3E1A95DE759C}"/>
              </a:ext>
            </a:extLst>
          </p:cNvPr>
          <p:cNvCxnSpPr>
            <a:cxnSpLocks/>
            <a:stCxn id="68" idx="0"/>
            <a:endCxn id="71" idx="2"/>
          </p:cNvCxnSpPr>
          <p:nvPr/>
        </p:nvCxnSpPr>
        <p:spPr>
          <a:xfrm flipV="1">
            <a:off x="3448326" y="3118310"/>
            <a:ext cx="343424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9">
            <a:extLst>
              <a:ext uri="{FF2B5EF4-FFF2-40B4-BE49-F238E27FC236}">
                <a16:creationId xmlns:a16="http://schemas.microsoft.com/office/drawing/2014/main" id="{DC16C2FA-5762-E7FB-037F-13F24E97E891}"/>
              </a:ext>
            </a:extLst>
          </p:cNvPr>
          <p:cNvCxnSpPr>
            <a:cxnSpLocks/>
            <a:stCxn id="70" idx="0"/>
            <a:endCxn id="74" idx="2"/>
          </p:cNvCxnSpPr>
          <p:nvPr/>
        </p:nvCxnSpPr>
        <p:spPr>
          <a:xfrm flipH="1" flipV="1">
            <a:off x="3174267" y="2389716"/>
            <a:ext cx="8438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9">
            <a:extLst>
              <a:ext uri="{FF2B5EF4-FFF2-40B4-BE49-F238E27FC236}">
                <a16:creationId xmlns:a16="http://schemas.microsoft.com/office/drawing/2014/main" id="{09524438-0EE4-5739-70DE-73EBE5DA17F4}"/>
              </a:ext>
            </a:extLst>
          </p:cNvPr>
          <p:cNvCxnSpPr>
            <a:cxnSpLocks/>
            <a:stCxn id="71" idx="0"/>
            <a:endCxn id="75" idx="2"/>
          </p:cNvCxnSpPr>
          <p:nvPr/>
        </p:nvCxnSpPr>
        <p:spPr>
          <a:xfrm flipV="1">
            <a:off x="3791750" y="2389716"/>
            <a:ext cx="1918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9">
            <a:extLst>
              <a:ext uri="{FF2B5EF4-FFF2-40B4-BE49-F238E27FC236}">
                <a16:creationId xmlns:a16="http://schemas.microsoft.com/office/drawing/2014/main" id="{DD66F042-183A-68D2-8C22-E8B9DFC1EED6}"/>
              </a:ext>
            </a:extLst>
          </p:cNvPr>
          <p:cNvCxnSpPr>
            <a:cxnSpLocks/>
            <a:stCxn id="72" idx="0"/>
            <a:endCxn id="76" idx="2"/>
          </p:cNvCxnSpPr>
          <p:nvPr/>
        </p:nvCxnSpPr>
        <p:spPr>
          <a:xfrm flipV="1">
            <a:off x="4400795" y="2389716"/>
            <a:ext cx="12274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9">
            <a:extLst>
              <a:ext uri="{FF2B5EF4-FFF2-40B4-BE49-F238E27FC236}">
                <a16:creationId xmlns:a16="http://schemas.microsoft.com/office/drawing/2014/main" id="{7BADC4F3-A99C-D2BC-2B72-7A4295FFDEBE}"/>
              </a:ext>
            </a:extLst>
          </p:cNvPr>
          <p:cNvCxnSpPr>
            <a:cxnSpLocks/>
            <a:stCxn id="73" idx="0"/>
            <a:endCxn id="77" idx="2"/>
          </p:cNvCxnSpPr>
          <p:nvPr/>
        </p:nvCxnSpPr>
        <p:spPr>
          <a:xfrm flipV="1">
            <a:off x="5009840" y="2389716"/>
            <a:ext cx="22631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9">
            <a:extLst>
              <a:ext uri="{FF2B5EF4-FFF2-40B4-BE49-F238E27FC236}">
                <a16:creationId xmlns:a16="http://schemas.microsoft.com/office/drawing/2014/main" id="{A44E08FF-9D4A-3CE9-47ED-1FC825AAADDB}"/>
              </a:ext>
            </a:extLst>
          </p:cNvPr>
          <p:cNvCxnSpPr>
            <a:cxnSpLocks/>
            <a:stCxn id="61" idx="0"/>
            <a:endCxn id="68" idx="2"/>
          </p:cNvCxnSpPr>
          <p:nvPr/>
        </p:nvCxnSpPr>
        <p:spPr>
          <a:xfrm flipH="1" flipV="1">
            <a:off x="3448326" y="3741138"/>
            <a:ext cx="635631" cy="205063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9">
            <a:extLst>
              <a:ext uri="{FF2B5EF4-FFF2-40B4-BE49-F238E27FC236}">
                <a16:creationId xmlns:a16="http://schemas.microsoft.com/office/drawing/2014/main" id="{D9295FEC-EAC1-56D1-593B-F86D3562ADFB}"/>
              </a:ext>
            </a:extLst>
          </p:cNvPr>
          <p:cNvCxnSpPr>
            <a:cxnSpLocks/>
            <a:stCxn id="61" idx="0"/>
            <a:endCxn id="67" idx="2"/>
          </p:cNvCxnSpPr>
          <p:nvPr/>
        </p:nvCxnSpPr>
        <p:spPr>
          <a:xfrm flipV="1">
            <a:off x="4083957" y="3741138"/>
            <a:ext cx="623120" cy="205063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9">
            <a:extLst>
              <a:ext uri="{FF2B5EF4-FFF2-40B4-BE49-F238E27FC236}">
                <a16:creationId xmlns:a16="http://schemas.microsoft.com/office/drawing/2014/main" id="{BF698D80-1224-238B-5742-2CFFD5A4D76D}"/>
              </a:ext>
            </a:extLst>
          </p:cNvPr>
          <p:cNvCxnSpPr>
            <a:cxnSpLocks/>
            <a:stCxn id="67" idx="0"/>
            <a:endCxn id="72" idx="2"/>
          </p:cNvCxnSpPr>
          <p:nvPr/>
        </p:nvCxnSpPr>
        <p:spPr>
          <a:xfrm flipH="1" flipV="1">
            <a:off x="4400795" y="3118310"/>
            <a:ext cx="306282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9">
            <a:extLst>
              <a:ext uri="{FF2B5EF4-FFF2-40B4-BE49-F238E27FC236}">
                <a16:creationId xmlns:a16="http://schemas.microsoft.com/office/drawing/2014/main" id="{F42BE692-6EE4-87AD-D3A4-73B725401FFE}"/>
              </a:ext>
            </a:extLst>
          </p:cNvPr>
          <p:cNvCxnSpPr>
            <a:cxnSpLocks/>
            <a:stCxn id="67" idx="0"/>
            <a:endCxn id="73" idx="2"/>
          </p:cNvCxnSpPr>
          <p:nvPr/>
        </p:nvCxnSpPr>
        <p:spPr>
          <a:xfrm flipV="1">
            <a:off x="4707077" y="3118310"/>
            <a:ext cx="302763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9">
            <a:extLst>
              <a:ext uri="{FF2B5EF4-FFF2-40B4-BE49-F238E27FC236}">
                <a16:creationId xmlns:a16="http://schemas.microsoft.com/office/drawing/2014/main" id="{8F3C260C-1552-F5EC-FFE9-D8556384D961}"/>
              </a:ext>
            </a:extLst>
          </p:cNvPr>
          <p:cNvCxnSpPr>
            <a:cxnSpLocks/>
            <a:stCxn id="88" idx="0"/>
            <a:endCxn id="92" idx="2"/>
          </p:cNvCxnSpPr>
          <p:nvPr/>
        </p:nvCxnSpPr>
        <p:spPr>
          <a:xfrm flipV="1">
            <a:off x="2540726" y="2389716"/>
            <a:ext cx="22631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9">
            <a:extLst>
              <a:ext uri="{FF2B5EF4-FFF2-40B4-BE49-F238E27FC236}">
                <a16:creationId xmlns:a16="http://schemas.microsoft.com/office/drawing/2014/main" id="{FDBB4A31-4E88-40AF-FBF9-11A042BCF572}"/>
              </a:ext>
            </a:extLst>
          </p:cNvPr>
          <p:cNvCxnSpPr>
            <a:cxnSpLocks/>
            <a:stCxn id="87" idx="0"/>
            <a:endCxn id="91" idx="2"/>
          </p:cNvCxnSpPr>
          <p:nvPr/>
        </p:nvCxnSpPr>
        <p:spPr>
          <a:xfrm flipV="1">
            <a:off x="1931681" y="2389716"/>
            <a:ext cx="12274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9">
            <a:extLst>
              <a:ext uri="{FF2B5EF4-FFF2-40B4-BE49-F238E27FC236}">
                <a16:creationId xmlns:a16="http://schemas.microsoft.com/office/drawing/2014/main" id="{4280F2E6-B409-4A2B-BE0D-F39DA0194074}"/>
              </a:ext>
            </a:extLst>
          </p:cNvPr>
          <p:cNvCxnSpPr>
            <a:cxnSpLocks/>
            <a:stCxn id="86" idx="0"/>
            <a:endCxn id="90" idx="2"/>
          </p:cNvCxnSpPr>
          <p:nvPr/>
        </p:nvCxnSpPr>
        <p:spPr>
          <a:xfrm flipV="1">
            <a:off x="1322636" y="2389716"/>
            <a:ext cx="1918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9">
            <a:extLst>
              <a:ext uri="{FF2B5EF4-FFF2-40B4-BE49-F238E27FC236}">
                <a16:creationId xmlns:a16="http://schemas.microsoft.com/office/drawing/2014/main" id="{40941FB9-4800-540A-F2CB-8867BB0C0EFF}"/>
              </a:ext>
            </a:extLst>
          </p:cNvPr>
          <p:cNvCxnSpPr>
            <a:cxnSpLocks/>
            <a:stCxn id="85" idx="0"/>
            <a:endCxn id="89" idx="2"/>
          </p:cNvCxnSpPr>
          <p:nvPr/>
        </p:nvCxnSpPr>
        <p:spPr>
          <a:xfrm flipH="1" flipV="1">
            <a:off x="705153" y="2389716"/>
            <a:ext cx="8438" cy="35926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9">
            <a:extLst>
              <a:ext uri="{FF2B5EF4-FFF2-40B4-BE49-F238E27FC236}">
                <a16:creationId xmlns:a16="http://schemas.microsoft.com/office/drawing/2014/main" id="{9991C385-CCBD-0172-EC70-D35D5415BD64}"/>
              </a:ext>
            </a:extLst>
          </p:cNvPr>
          <p:cNvCxnSpPr>
            <a:cxnSpLocks/>
            <a:stCxn id="24" idx="0"/>
            <a:endCxn id="84" idx="2"/>
          </p:cNvCxnSpPr>
          <p:nvPr/>
        </p:nvCxnSpPr>
        <p:spPr>
          <a:xfrm flipH="1" flipV="1">
            <a:off x="979212" y="3741138"/>
            <a:ext cx="682989" cy="205063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9">
            <a:extLst>
              <a:ext uri="{FF2B5EF4-FFF2-40B4-BE49-F238E27FC236}">
                <a16:creationId xmlns:a16="http://schemas.microsoft.com/office/drawing/2014/main" id="{97E9EE4C-7CDB-51DC-2EB4-F83EA00B37F1}"/>
              </a:ext>
            </a:extLst>
          </p:cNvPr>
          <p:cNvCxnSpPr>
            <a:cxnSpLocks/>
            <a:stCxn id="24" idx="0"/>
            <a:endCxn id="83" idx="2"/>
          </p:cNvCxnSpPr>
          <p:nvPr/>
        </p:nvCxnSpPr>
        <p:spPr>
          <a:xfrm flipV="1">
            <a:off x="1662201" y="3741138"/>
            <a:ext cx="575762" cy="205063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9">
            <a:extLst>
              <a:ext uri="{FF2B5EF4-FFF2-40B4-BE49-F238E27FC236}">
                <a16:creationId xmlns:a16="http://schemas.microsoft.com/office/drawing/2014/main" id="{BBB279FC-009B-F17E-A4A5-5D104E43DAA8}"/>
              </a:ext>
            </a:extLst>
          </p:cNvPr>
          <p:cNvCxnSpPr>
            <a:cxnSpLocks/>
            <a:stCxn id="84" idx="0"/>
            <a:endCxn id="85" idx="2"/>
          </p:cNvCxnSpPr>
          <p:nvPr/>
        </p:nvCxnSpPr>
        <p:spPr>
          <a:xfrm flipH="1" flipV="1">
            <a:off x="713591" y="3118310"/>
            <a:ext cx="265621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9">
            <a:extLst>
              <a:ext uri="{FF2B5EF4-FFF2-40B4-BE49-F238E27FC236}">
                <a16:creationId xmlns:a16="http://schemas.microsoft.com/office/drawing/2014/main" id="{165968CA-BDC5-70CD-52FB-575B2C18F440}"/>
              </a:ext>
            </a:extLst>
          </p:cNvPr>
          <p:cNvCxnSpPr>
            <a:cxnSpLocks/>
            <a:stCxn id="84" idx="0"/>
            <a:endCxn id="86" idx="2"/>
          </p:cNvCxnSpPr>
          <p:nvPr/>
        </p:nvCxnSpPr>
        <p:spPr>
          <a:xfrm flipV="1">
            <a:off x="979212" y="3118310"/>
            <a:ext cx="343424" cy="2534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39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Стековый кадр, </a:t>
            </a:r>
            <a:r>
              <a:rPr lang="en-US" dirty="0"/>
              <a:t>stack frame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highlight>
                  <a:srgbClr val="00FFFF"/>
                </a:highlight>
              </a:rPr>
              <a:t>Стековый кадр </a:t>
            </a:r>
            <a:r>
              <a:rPr lang="ru-RU" dirty="0"/>
              <a:t>– это область памяти, хранящая данные, необходимые для исполнения одного вызова функции</a:t>
            </a:r>
          </a:p>
          <a:p>
            <a:pPr lvl="1"/>
            <a:r>
              <a:rPr lang="ru-RU" dirty="0"/>
              <a:t>Адрес инструкции, которая получит управление после завершения работы функции</a:t>
            </a:r>
          </a:p>
          <a:p>
            <a:pPr lvl="1"/>
            <a:r>
              <a:rPr lang="ru-RU" dirty="0"/>
              <a:t>Значения фактических параметров и локальных переменных функции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29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Стек вызовов, </a:t>
            </a:r>
            <a:r>
              <a:rPr lang="en-US" dirty="0"/>
              <a:t>call stack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Стек – это тип данных для работы с последовательностями, над которыми определены операции:</a:t>
            </a:r>
          </a:p>
          <a:p>
            <a:pPr lvl="1"/>
            <a:r>
              <a:rPr lang="ru-RU" dirty="0"/>
              <a:t>Добавить значение х в начало </a:t>
            </a:r>
            <a:r>
              <a:rPr lang="en-US" dirty="0"/>
              <a:t>[e0, e1, …]</a:t>
            </a:r>
            <a:r>
              <a:rPr lang="ru-RU" dirty="0"/>
              <a:t> --</a:t>
            </a:r>
            <a:r>
              <a:rPr lang="en-US" dirty="0"/>
              <a:t>&gt; [x, e0, e1, …]</a:t>
            </a:r>
            <a:endParaRPr lang="ru-RU" dirty="0"/>
          </a:p>
          <a:p>
            <a:pPr lvl="1"/>
            <a:r>
              <a:rPr lang="ru-RU" dirty="0"/>
              <a:t>Удалить первое значение </a:t>
            </a:r>
            <a:r>
              <a:rPr lang="en-US" dirty="0"/>
              <a:t>[x, e0, e1, …] --&gt; [e0, e1, …]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>
                <a:highlight>
                  <a:srgbClr val="00FFFF"/>
                </a:highlight>
              </a:rPr>
              <a:t>Стек вызовов </a:t>
            </a:r>
            <a:r>
              <a:rPr lang="ru-RU" dirty="0"/>
              <a:t>– это стек стековых кадров</a:t>
            </a:r>
          </a:p>
          <a:p>
            <a:endParaRPr lang="ru-RU" dirty="0"/>
          </a:p>
          <a:p>
            <a:r>
              <a:rPr lang="ru-RU" dirty="0"/>
              <a:t>Содержимое стека вызовов – это</a:t>
            </a:r>
            <a:r>
              <a:rPr lang="en-US" dirty="0"/>
              <a:t> </a:t>
            </a:r>
            <a:r>
              <a:rPr lang="ru-RU" dirty="0"/>
              <a:t>стековые кадры вдоль какого-л. пути в графе вызовов == вдоль какого-л. пути в дереве вызовов, начинающегося с функции </a:t>
            </a:r>
            <a:r>
              <a:rPr lang="en-US" dirty="0"/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613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Порядок стековых кадров в памяти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Адрес нового кадра больше адреса предыдущего</a:t>
            </a:r>
          </a:p>
          <a:p>
            <a:pPr lvl="1"/>
            <a:r>
              <a:rPr lang="en-US" sz="2200" dirty="0"/>
              <a:t>&amp;(</a:t>
            </a:r>
            <a:r>
              <a:rPr lang="ru-RU" sz="2200" dirty="0"/>
              <a:t>значений фактических параметров) </a:t>
            </a:r>
            <a:r>
              <a:rPr lang="en-US" sz="2200" dirty="0"/>
              <a:t>&lt; </a:t>
            </a:r>
            <a:br>
              <a:rPr lang="ru-RU" dirty="0"/>
            </a:br>
            <a:r>
              <a:rPr lang="en-US" dirty="0"/>
              <a:t>&amp;(</a:t>
            </a:r>
            <a:r>
              <a:rPr lang="ru-RU" dirty="0"/>
              <a:t>значения адреса возврата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&lt; </a:t>
            </a:r>
            <a:br>
              <a:rPr lang="ru-RU" dirty="0"/>
            </a:br>
            <a:r>
              <a:rPr lang="en-US" dirty="0"/>
              <a:t>&amp;(</a:t>
            </a:r>
            <a:r>
              <a:rPr lang="ru-RU" dirty="0"/>
              <a:t>значений локальных переменных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Процессоры </a:t>
            </a:r>
            <a:r>
              <a:rPr lang="en-US" dirty="0"/>
              <a:t>x86_64</a:t>
            </a:r>
          </a:p>
          <a:p>
            <a:pPr lvl="1"/>
            <a:endParaRPr lang="ru-RU" dirty="0"/>
          </a:p>
          <a:p>
            <a:r>
              <a:rPr lang="ru-RU" dirty="0"/>
              <a:t>Адрес нового кадра меньше адреса предыдущего</a:t>
            </a:r>
          </a:p>
          <a:p>
            <a:pPr lvl="1"/>
            <a:r>
              <a:rPr lang="ru-RU" dirty="0"/>
              <a:t>Знаки неравенства в обратную сторону</a:t>
            </a:r>
            <a:endParaRPr lang="en-US" dirty="0"/>
          </a:p>
          <a:p>
            <a:pPr lvl="1"/>
            <a:r>
              <a:rPr lang="ru-RU" dirty="0"/>
              <a:t>Процессоры </a:t>
            </a:r>
            <a:r>
              <a:rPr lang="en-US" dirty="0"/>
              <a:t>x86, arm, …</a:t>
            </a:r>
          </a:p>
          <a:p>
            <a:pPr lvl="1"/>
            <a:endParaRPr lang="ru-RU" dirty="0"/>
          </a:p>
          <a:p>
            <a:endParaRPr lang="ru-RU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10046429" y="1772816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x86, arm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3362" y="177281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x86_64</a:t>
            </a:r>
            <a:endParaRPr lang="ru-RU" dirty="0">
              <a:latin typeface="Calibri Light" panose="020F030202020403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272329" y="2284860"/>
            <a:ext cx="2411239" cy="3441091"/>
            <a:chOff x="6272329" y="2284860"/>
            <a:chExt cx="2411239" cy="3441091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6272329" y="2284860"/>
              <a:ext cx="2411239" cy="3441091"/>
              <a:chOff x="6196270" y="1801662"/>
              <a:chExt cx="2606164" cy="4353002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721584" y="3696001"/>
                <a:ext cx="2080848" cy="50880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N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722230" y="4435744"/>
                <a:ext cx="2080203" cy="48067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N-1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721586" y="5280179"/>
                <a:ext cx="2080848" cy="428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0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  <p:grpSp>
            <p:nvGrpSpPr>
              <p:cNvPr id="15" name="Группа 14"/>
              <p:cNvGrpSpPr/>
              <p:nvPr/>
            </p:nvGrpSpPr>
            <p:grpSpPr>
              <a:xfrm>
                <a:off x="6196270" y="1801662"/>
                <a:ext cx="433513" cy="4353002"/>
                <a:chOff x="6310559" y="2006011"/>
                <a:chExt cx="433513" cy="4353002"/>
              </a:xfrm>
            </p:grpSpPr>
            <p:cxnSp>
              <p:nvCxnSpPr>
                <p:cNvPr id="11" name="Прямая со стрелкой 10"/>
                <p:cNvCxnSpPr/>
                <p:nvPr/>
              </p:nvCxnSpPr>
              <p:spPr>
                <a:xfrm flipV="1">
                  <a:off x="6744072" y="2093160"/>
                  <a:ext cx="0" cy="421556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/>
                <p:cNvSpPr txBox="1"/>
                <p:nvPr/>
              </p:nvSpPr>
              <p:spPr>
                <a:xfrm rot="16200000">
                  <a:off x="6310815" y="5993346"/>
                  <a:ext cx="365412" cy="3659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>
                      <a:latin typeface="Calibri Light" panose="020F0302020204030204" pitchFamily="34" charset="0"/>
                    </a:rPr>
                    <a:t>0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 rot="16200000">
                  <a:off x="5847581" y="2468989"/>
                  <a:ext cx="1291878" cy="3659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libri Light" panose="020F0302020204030204" pitchFamily="34" charset="0"/>
                    </a:rPr>
                    <a:t>0xFFF..FFF</a:t>
                  </a:r>
                  <a:endParaRPr lang="ru-RU" sz="1600" dirty="0">
                    <a:latin typeface="Calibri Light" panose="020F0302020204030204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 rot="16200000">
                  <a:off x="5985351" y="4438128"/>
                  <a:ext cx="1016338" cy="3659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>
                      <a:latin typeface="Calibri Light" panose="020F0302020204030204" pitchFamily="34" charset="0"/>
                    </a:rPr>
                    <a:t>Адреса</a:t>
                  </a:r>
                </a:p>
              </p:txBody>
            </p:sp>
          </p:grpSp>
        </p:grpSp>
        <p:sp>
          <p:nvSpPr>
            <p:cNvPr id="4" name="Up Arrow 3"/>
            <p:cNvSpPr/>
            <p:nvPr/>
          </p:nvSpPr>
          <p:spPr>
            <a:xfrm>
              <a:off x="7478645" y="2568640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506884" y="2353752"/>
            <a:ext cx="1977762" cy="2779993"/>
            <a:chOff x="9506884" y="2353752"/>
            <a:chExt cx="1977762" cy="2779993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9506884" y="2353752"/>
              <a:ext cx="1977762" cy="1599122"/>
              <a:chOff x="9437669" y="1864412"/>
              <a:chExt cx="1997916" cy="2036966"/>
            </a:xfrm>
          </p:grpSpPr>
          <p:sp>
            <p:nvSpPr>
              <p:cNvPr id="16" name="TextBox 15"/>
              <p:cNvSpPr txBox="1"/>
              <p:nvPr/>
            </p:nvSpPr>
            <p:spPr>
              <a:xfrm rot="10800000">
                <a:off x="9437670" y="3470127"/>
                <a:ext cx="1997915" cy="43125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N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 rot="10800000">
                <a:off x="9437669" y="2833124"/>
                <a:ext cx="1997915" cy="4311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N-1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 rot="10800000">
                <a:off x="9437670" y="1864412"/>
                <a:ext cx="1997915" cy="43125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ru-RU" sz="1600" dirty="0">
                    <a:latin typeface="Calibri Light" panose="020F0302020204030204" pitchFamily="34" charset="0"/>
                  </a:rPr>
                  <a:t>Стековый кадр</a:t>
                </a:r>
                <a:r>
                  <a:rPr lang="en-US" sz="1600" dirty="0">
                    <a:latin typeface="Calibri Light" panose="020F0302020204030204" pitchFamily="34" charset="0"/>
                  </a:rPr>
                  <a:t> 0</a:t>
                </a:r>
                <a:endParaRPr lang="ru-RU" sz="1600" dirty="0">
                  <a:latin typeface="Calibri Light" panose="020F0302020204030204" pitchFamily="34" charset="0"/>
                </a:endParaRPr>
              </a:p>
            </p:txBody>
          </p:sp>
        </p:grpSp>
        <p:sp>
          <p:nvSpPr>
            <p:cNvPr id="10" name="Down Arrow 9"/>
            <p:cNvSpPr/>
            <p:nvPr/>
          </p:nvSpPr>
          <p:spPr>
            <a:xfrm>
              <a:off x="10253447" y="4155337"/>
              <a:ext cx="484632" cy="97840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410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Вызов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Вызывающая функция (</a:t>
            </a:r>
            <a:r>
              <a:rPr lang="en-US" dirty="0">
                <a:highlight>
                  <a:srgbClr val="00FFFF"/>
                </a:highlight>
              </a:rPr>
              <a:t>caller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Создает начало стекового кадра и размещает там значения аргументов</a:t>
            </a:r>
          </a:p>
          <a:p>
            <a:pPr lvl="1"/>
            <a:r>
              <a:rPr lang="ru-RU" dirty="0"/>
              <a:t>Передает управление вызываемой функции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Вызываемая функция</a:t>
            </a:r>
            <a:r>
              <a:rPr lang="en-US" dirty="0"/>
              <a:t> (</a:t>
            </a:r>
            <a:r>
              <a:rPr lang="en-US" dirty="0">
                <a:highlight>
                  <a:srgbClr val="00FFFF"/>
                </a:highlight>
              </a:rPr>
              <a:t>callee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en-US" dirty="0"/>
              <a:t>Implementation specific </a:t>
            </a:r>
            <a:r>
              <a:rPr lang="ru-RU" dirty="0">
                <a:highlight>
                  <a:srgbClr val="00FFFF"/>
                </a:highlight>
              </a:rPr>
              <a:t>пролог</a:t>
            </a:r>
          </a:p>
          <a:p>
            <a:pPr lvl="2"/>
            <a:r>
              <a:rPr lang="ru-RU" dirty="0"/>
              <a:t>Записывает в стековый кадр </a:t>
            </a:r>
            <a:r>
              <a:rPr lang="ru-RU" dirty="0">
                <a:highlight>
                  <a:srgbClr val="00FFFF"/>
                </a:highlight>
              </a:rPr>
              <a:t>адрес возврата </a:t>
            </a:r>
            <a:r>
              <a:rPr lang="ru-RU" dirty="0"/>
              <a:t>из специального регистра</a:t>
            </a:r>
          </a:p>
          <a:p>
            <a:pPr lvl="2"/>
            <a:r>
              <a:rPr lang="ru-RU" dirty="0"/>
              <a:t>Резервирует место для хранения локальных переменных</a:t>
            </a:r>
          </a:p>
          <a:p>
            <a:pPr lvl="2"/>
            <a:r>
              <a:rPr lang="ru-RU" dirty="0"/>
              <a:t>Возможно, что-то делает для защиты адреса возврата от выхода за границу стекового кадра и т.п.</a:t>
            </a:r>
          </a:p>
          <a:p>
            <a:pPr lvl="1"/>
            <a:r>
              <a:rPr lang="ru-RU" dirty="0"/>
              <a:t>Исполнение тела функции</a:t>
            </a:r>
          </a:p>
          <a:p>
            <a:pPr lvl="1"/>
            <a:r>
              <a:rPr lang="en-US" dirty="0"/>
              <a:t>Implementation specific </a:t>
            </a:r>
            <a:r>
              <a:rPr lang="ru-RU" dirty="0">
                <a:highlight>
                  <a:srgbClr val="00FFFF"/>
                </a:highlight>
              </a:rPr>
              <a:t>эпилог</a:t>
            </a:r>
            <a:r>
              <a:rPr lang="ru-RU" dirty="0"/>
              <a:t> – действия, обратные к действиям пролога</a:t>
            </a:r>
          </a:p>
          <a:p>
            <a:pPr lvl="1"/>
            <a:r>
              <a:rPr lang="ru-RU" dirty="0"/>
              <a:t>Передает управление вызывающей функции по сохраненному адресу возврата</a:t>
            </a:r>
            <a:endParaRPr lang="en-US" dirty="0"/>
          </a:p>
          <a:p>
            <a:pPr lvl="1"/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Вызывающая функция</a:t>
            </a:r>
          </a:p>
          <a:p>
            <a:pPr marL="857250" lvl="1" indent="-457200"/>
            <a:r>
              <a:rPr lang="ru-RU" dirty="0"/>
              <a:t>Уничтожает начало стекового кадра, которое создала в п. 1</a:t>
            </a:r>
          </a:p>
        </p:txBody>
      </p:sp>
    </p:spTree>
    <p:extLst>
      <p:ext uri="{BB962C8B-B14F-4D97-AF65-F5344CB8AC3E}">
        <p14:creationId xmlns:p14="http://schemas.microsoft.com/office/powerpoint/2010/main" val="63903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Пример в картинках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3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g()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f(&amp;x);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g();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00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Пример в картинках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3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g()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f(&amp;x);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g();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5003892"/>
              </p:ext>
            </p:extLst>
          </p:nvPr>
        </p:nvGraphicFramePr>
        <p:xfrm>
          <a:off x="9376913" y="836712"/>
          <a:ext cx="2504747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Функция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Инструкции</a:t>
                      </a:r>
                      <a:endParaRPr lang="ru-RU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 Light" panose="020F0302020204030204" pitchFamily="34" charset="0"/>
                        </a:rPr>
                        <a:t>f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g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 f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ru-RU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main</a:t>
                      </a:r>
                      <a:endParaRPr lang="ru-RU" sz="1600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g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Calibri Light" panose="020F0302020204030204" pitchFamily="34" charset="0"/>
                        </a:rPr>
                        <a:t>Загрузчик</a:t>
                      </a:r>
                      <a:r>
                        <a:rPr lang="ru-RU" sz="1400" baseline="0" dirty="0"/>
                        <a:t> исп. файлов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main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89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Пример в картинках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3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g()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f(&amp;x);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g();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77883"/>
              </p:ext>
            </p:extLst>
          </p:nvPr>
        </p:nvGraphicFramePr>
        <p:xfrm>
          <a:off x="3863752" y="2534355"/>
          <a:ext cx="165618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/>
                        <a:t>T=</a:t>
                      </a:r>
                      <a:r>
                        <a:rPr lang="ru-RU" b="1" baseline="0" dirty="0"/>
                        <a:t>1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Объект 7">
            <a:extLst>
              <a:ext uri="{FF2B5EF4-FFF2-40B4-BE49-F238E27FC236}">
                <a16:creationId xmlns:a16="http://schemas.microsoft.com/office/drawing/2014/main" id="{C353034A-D3AE-1FCA-E536-4B98057B11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059291"/>
              </p:ext>
            </p:extLst>
          </p:nvPr>
        </p:nvGraphicFramePr>
        <p:xfrm>
          <a:off x="9376913" y="836712"/>
          <a:ext cx="2504747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Функция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Инструкции</a:t>
                      </a:r>
                      <a:endParaRPr lang="ru-RU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 Light" panose="020F0302020204030204" pitchFamily="34" charset="0"/>
                        </a:rPr>
                        <a:t>f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g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 f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ru-RU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main</a:t>
                      </a:r>
                      <a:endParaRPr lang="ru-RU" sz="1600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g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Calibri Light" panose="020F0302020204030204" pitchFamily="34" charset="0"/>
                        </a:rPr>
                        <a:t>Загрузчик</a:t>
                      </a:r>
                      <a:r>
                        <a:rPr lang="ru-RU" sz="1400" baseline="0" dirty="0"/>
                        <a:t> исп. файлов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main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10" name="Прямая со стрелкой 9"/>
          <p:cNvCxnSpPr/>
          <p:nvPr/>
        </p:nvCxnSpPr>
        <p:spPr>
          <a:xfrm>
            <a:off x="4646040" y="4926400"/>
            <a:ext cx="5857159" cy="1194792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24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7">
            <a:extLst>
              <a:ext uri="{FF2B5EF4-FFF2-40B4-BE49-F238E27FC236}">
                <a16:creationId xmlns:a16="http://schemas.microsoft.com/office/drawing/2014/main" id="{499F43AE-299A-9FC3-762D-B08265EE4B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059291"/>
              </p:ext>
            </p:extLst>
          </p:nvPr>
        </p:nvGraphicFramePr>
        <p:xfrm>
          <a:off x="9376913" y="836712"/>
          <a:ext cx="2504747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Функция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Инструкции</a:t>
                      </a:r>
                      <a:endParaRPr lang="ru-RU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 Light" panose="020F0302020204030204" pitchFamily="34" charset="0"/>
                        </a:rPr>
                        <a:t>f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g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 f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ru-RU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main</a:t>
                      </a:r>
                      <a:endParaRPr lang="ru-RU" sz="1600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g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Calibri Light" panose="020F0302020204030204" pitchFamily="34" charset="0"/>
                        </a:rPr>
                        <a:t>Загрузчик</a:t>
                      </a:r>
                      <a:r>
                        <a:rPr lang="ru-RU" sz="1400" baseline="0" dirty="0"/>
                        <a:t> исп. файлов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main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Пример в картинках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3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g()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f(&amp;x);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g();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734748"/>
              </p:ext>
            </p:extLst>
          </p:nvPr>
        </p:nvGraphicFramePr>
        <p:xfrm>
          <a:off x="3863752" y="2534355"/>
          <a:ext cx="165618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/>
                        <a:t>T=</a:t>
                      </a:r>
                      <a:r>
                        <a:rPr lang="ru-RU" b="1" baseline="0" dirty="0"/>
                        <a:t>1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608584"/>
              </p:ext>
            </p:extLst>
          </p:nvPr>
        </p:nvGraphicFramePr>
        <p:xfrm>
          <a:off x="5663952" y="2534355"/>
          <a:ext cx="1584176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T=</a:t>
                      </a:r>
                      <a:r>
                        <a:rPr lang="ru-RU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6" name="Прямая со стрелкой 15"/>
          <p:cNvCxnSpPr/>
          <p:nvPr/>
        </p:nvCxnSpPr>
        <p:spPr>
          <a:xfrm>
            <a:off x="6488656" y="4926400"/>
            <a:ext cx="4014543" cy="1194792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6395573" y="4215360"/>
            <a:ext cx="4107626" cy="169619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01B11D2-8513-2794-5CFF-C926BC5F39C3}"/>
              </a:ext>
            </a:extLst>
          </p:cNvPr>
          <p:cNvSpPr/>
          <p:nvPr/>
        </p:nvSpPr>
        <p:spPr>
          <a:xfrm>
            <a:off x="3863752" y="2534355"/>
            <a:ext cx="1681220" cy="256032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847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21683"/>
              </p:ext>
            </p:extLst>
          </p:nvPr>
        </p:nvGraphicFramePr>
        <p:xfrm>
          <a:off x="5631790" y="2534355"/>
          <a:ext cx="16485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T=</a:t>
                      </a:r>
                      <a:r>
                        <a:rPr lang="ru-RU" b="1" dirty="0"/>
                        <a:t>2</a:t>
                      </a:r>
                    </a:p>
                  </a:txBody>
                  <a:tcPr marL="95153" marR="951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 marL="95153" marR="951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 marL="95153" marR="951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marL="95153" marR="95153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 marL="95153" marR="95153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marL="95153" marR="95153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 marL="95153" marR="95153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Объект 7">
            <a:extLst>
              <a:ext uri="{FF2B5EF4-FFF2-40B4-BE49-F238E27FC236}">
                <a16:creationId xmlns:a16="http://schemas.microsoft.com/office/drawing/2014/main" id="{F32E24D0-BC6A-6128-4C38-229D2969DB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9674971"/>
              </p:ext>
            </p:extLst>
          </p:nvPr>
        </p:nvGraphicFramePr>
        <p:xfrm>
          <a:off x="9376913" y="836712"/>
          <a:ext cx="2504747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Функция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 Light" panose="020F0302020204030204" pitchFamily="34" charset="0"/>
                        </a:rPr>
                        <a:t>Инструкции</a:t>
                      </a:r>
                      <a:endParaRPr lang="ru-RU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 Light" panose="020F0302020204030204" pitchFamily="34" charset="0"/>
                        </a:rPr>
                        <a:t>f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g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 f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ru-RU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 Light" panose="020F0302020204030204" pitchFamily="34" charset="0"/>
                        </a:rPr>
                        <a:t>main</a:t>
                      </a:r>
                      <a:endParaRPr lang="ru-RU" sz="1600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g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…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ret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Calibri Light" panose="020F0302020204030204" pitchFamily="34" charset="0"/>
                        </a:rPr>
                        <a:t>Загрузчик</a:t>
                      </a:r>
                      <a:r>
                        <a:rPr lang="ru-RU" sz="1400" baseline="0" dirty="0"/>
                        <a:t> исп. файлов</a:t>
                      </a:r>
                      <a:endParaRPr lang="ru-RU" sz="16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call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 main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Пример в картинках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3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g()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f(&amp;x);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 {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T 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= g();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753021"/>
              </p:ext>
            </p:extLst>
          </p:nvPr>
        </p:nvGraphicFramePr>
        <p:xfrm>
          <a:off x="3863752" y="2534355"/>
          <a:ext cx="165618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/>
                        <a:t>T=</a:t>
                      </a:r>
                      <a:r>
                        <a:rPr lang="ru-RU" b="1" baseline="0" dirty="0"/>
                        <a:t>1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88817"/>
              </p:ext>
            </p:extLst>
          </p:nvPr>
        </p:nvGraphicFramePr>
        <p:xfrm>
          <a:off x="7388660" y="2534355"/>
          <a:ext cx="1584176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T=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px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</a:rPr>
                        <a:t>x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Дуга 18"/>
          <p:cNvSpPr/>
          <p:nvPr/>
        </p:nvSpPr>
        <p:spPr>
          <a:xfrm>
            <a:off x="8475677" y="3388887"/>
            <a:ext cx="864096" cy="432048"/>
          </a:xfrm>
          <a:prstGeom prst="arc">
            <a:avLst>
              <a:gd name="adj1" fmla="val 13575007"/>
              <a:gd name="adj2" fmla="val 4526494"/>
            </a:avLst>
          </a:prstGeom>
          <a:ln w="44450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Calibri Light" panose="020F0302020204030204" pitchFamily="34" charset="0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8072832" y="4926400"/>
            <a:ext cx="2430367" cy="1194792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8159407" y="4186110"/>
            <a:ext cx="2343792" cy="175478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V="1">
            <a:off x="8177590" y="2662053"/>
            <a:ext cx="2325609" cy="454750"/>
          </a:xfrm>
          <a:prstGeom prst="straightConnector1">
            <a:avLst/>
          </a:prstGeom>
          <a:ln w="41275">
            <a:solidFill>
              <a:schemeClr val="accent1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714237A-C957-6131-E73D-8DC02C91DA45}"/>
              </a:ext>
            </a:extLst>
          </p:cNvPr>
          <p:cNvSpPr/>
          <p:nvPr/>
        </p:nvSpPr>
        <p:spPr>
          <a:xfrm>
            <a:off x="3863752" y="2534355"/>
            <a:ext cx="1681220" cy="256032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76C1D8-D571-D299-3C5D-3A627DDFA815}"/>
              </a:ext>
            </a:extLst>
          </p:cNvPr>
          <p:cNvSpPr/>
          <p:nvPr/>
        </p:nvSpPr>
        <p:spPr>
          <a:xfrm>
            <a:off x="5619007" y="2534355"/>
            <a:ext cx="1681220" cy="256032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03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Выход за границу буфера в стеке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a[10],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&lt;= 10;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i)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a[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68580" indent="0">
              <a:buNone/>
            </a:pPr>
            <a:endParaRPr lang="ru-RU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68345"/>
              </p:ext>
            </p:extLst>
          </p:nvPr>
        </p:nvGraphicFramePr>
        <p:xfrm>
          <a:off x="8414048" y="1578506"/>
          <a:ext cx="31683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libri Light" panose="020F0302020204030204" pitchFamily="34" charset="0"/>
                        </a:rPr>
                        <a:t>i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9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8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7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6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5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4</a:t>
                      </a:r>
                      <a:r>
                        <a:rPr lang="en-US" dirty="0"/>
                        <a:t>]</a:t>
                      </a:r>
                      <a:endParaRPr lang="ru-RU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3</a:t>
                      </a:r>
                      <a:r>
                        <a:rPr lang="en-US" dirty="0"/>
                        <a:t>]</a:t>
                      </a:r>
                      <a:endParaRPr lang="ru-RU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2</a:t>
                      </a:r>
                      <a:r>
                        <a:rPr lang="en-US" dirty="0"/>
                        <a:t>]</a:t>
                      </a:r>
                      <a:endParaRPr lang="ru-RU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1</a:t>
                      </a:r>
                      <a:r>
                        <a:rPr lang="en-US" dirty="0"/>
                        <a:t>]</a:t>
                      </a:r>
                      <a:endParaRPr lang="ru-RU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dirty="0"/>
                        <a:t>0</a:t>
                      </a:r>
                      <a:r>
                        <a:rPr lang="en-US" dirty="0"/>
                        <a:t>]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85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Calibri Light" panose="020F0302020204030204" pitchFamily="34" charset="0"/>
                        </a:rPr>
                        <a:t>Адрес возврата </a:t>
                      </a:r>
                      <a:r>
                        <a:rPr lang="ru-RU" dirty="0"/>
                        <a:t>из </a:t>
                      </a:r>
                      <a:r>
                        <a:rPr lang="en-US" dirty="0"/>
                        <a:t>main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7929993" y="2081553"/>
            <a:ext cx="348544" cy="3383027"/>
            <a:chOff x="7895618" y="2403647"/>
            <a:chExt cx="348544" cy="3383027"/>
          </a:xfrm>
        </p:grpSpPr>
        <p:cxnSp>
          <p:nvCxnSpPr>
            <p:cNvPr id="9" name="Прямая со стрелкой 8"/>
            <p:cNvCxnSpPr/>
            <p:nvPr/>
          </p:nvCxnSpPr>
          <p:spPr>
            <a:xfrm flipV="1">
              <a:off x="8244162" y="2420888"/>
              <a:ext cx="0" cy="33324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6200000">
              <a:off x="7911489" y="549476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latin typeface="Calibri Light" panose="020F0302020204030204" pitchFamily="34" charset="0"/>
                </a:rP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16200000">
              <a:off x="7590535" y="2708730"/>
              <a:ext cx="9179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 Light" panose="020F0302020204030204" pitchFamily="34" charset="0"/>
                </a:rPr>
                <a:t>0xFFF..FFF</a:t>
              </a:r>
              <a:endParaRPr lang="ru-RU" sz="1400" dirty="0">
                <a:latin typeface="Calibri Light" panose="020F0302020204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6200000">
              <a:off x="7681458" y="4265354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latin typeface="Calibri Light" panose="020F0302020204030204" pitchFamily="34" charset="0"/>
                </a:rPr>
                <a:t>Адреса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3E4101-3676-6129-DE57-AA402C07D942}"/>
              </a:ext>
            </a:extLst>
          </p:cNvPr>
          <p:cNvSpPr txBox="1"/>
          <p:nvPr/>
        </p:nvSpPr>
        <p:spPr>
          <a:xfrm rot="16200000">
            <a:off x="6526377" y="3588400"/>
            <a:ext cx="216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libri Light" panose="020F0302020204030204" pitchFamily="34" charset="0"/>
              </a:rPr>
              <a:t>Стековый кадр </a:t>
            </a:r>
            <a:r>
              <a:rPr lang="en-US" dirty="0">
                <a:latin typeface="Calibri Light" panose="020F0302020204030204" pitchFamily="34" charset="0"/>
              </a:rPr>
              <a:t>main</a:t>
            </a:r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3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Выход за границу буфера в стеке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a[10],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(i = 9; i &gt;= -1; --i)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a[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0;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68580" lvl="0" indent="0">
              <a:buNone/>
            </a:pPr>
            <a:endParaRPr lang="ru-RU" sz="2400" dirty="0">
              <a:solidFill>
                <a:prstClr val="black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8181"/>
              </p:ext>
            </p:extLst>
          </p:nvPr>
        </p:nvGraphicFramePr>
        <p:xfrm>
          <a:off x="8414048" y="1581904"/>
          <a:ext cx="31683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 Light" panose="020F0302020204030204" pitchFamily="34" charset="0"/>
                        </a:rPr>
                        <a:t>i</a:t>
                      </a:r>
                      <a:endParaRPr lang="ru-RU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9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8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7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6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5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4</a:t>
                      </a:r>
                      <a:r>
                        <a:rPr lang="en-US" sz="1800" dirty="0"/>
                        <a:t>]</a:t>
                      </a:r>
                      <a:endParaRPr lang="ru-RU" sz="1800" b="1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3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2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1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 Light" panose="020F0302020204030204" pitchFamily="34" charset="0"/>
                        </a:rPr>
                        <a:t>a[</a:t>
                      </a:r>
                      <a:r>
                        <a:rPr lang="ru-RU" sz="1800" dirty="0"/>
                        <a:t>0</a:t>
                      </a:r>
                      <a:r>
                        <a:rPr lang="en-US" sz="1800" dirty="0"/>
                        <a:t>]</a:t>
                      </a:r>
                      <a:endParaRPr lang="ru-RU" sz="1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Calibri Light" panose="020F0302020204030204" pitchFamily="34" charset="0"/>
                        </a:rPr>
                        <a:t>Адрес возврата из </a:t>
                      </a:r>
                      <a:r>
                        <a:rPr lang="en-US" sz="1800" dirty="0"/>
                        <a:t>main</a:t>
                      </a:r>
                      <a:endParaRPr lang="ru-RU" sz="1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7929993" y="2084951"/>
            <a:ext cx="348544" cy="3383027"/>
            <a:chOff x="7895618" y="2403647"/>
            <a:chExt cx="348544" cy="3383027"/>
          </a:xfrm>
        </p:grpSpPr>
        <p:cxnSp>
          <p:nvCxnSpPr>
            <p:cNvPr id="9" name="Прямая со стрелкой 8"/>
            <p:cNvCxnSpPr/>
            <p:nvPr/>
          </p:nvCxnSpPr>
          <p:spPr>
            <a:xfrm flipV="1">
              <a:off x="8244162" y="2420888"/>
              <a:ext cx="0" cy="33324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6200000">
              <a:off x="7911489" y="549476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latin typeface="Calibri Light" panose="020F0302020204030204" pitchFamily="34" charset="0"/>
                </a:rP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16200000">
              <a:off x="7590535" y="2708730"/>
              <a:ext cx="9179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 Light" panose="020F0302020204030204" pitchFamily="34" charset="0"/>
                </a:rPr>
                <a:t>0xFFF..FFF</a:t>
              </a:r>
              <a:endParaRPr lang="ru-RU" sz="1400" dirty="0">
                <a:latin typeface="Calibri Light" panose="020F0302020204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6200000">
              <a:off x="7681458" y="4265354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latin typeface="Calibri Light" panose="020F0302020204030204" pitchFamily="34" charset="0"/>
                </a:rPr>
                <a:t>Адреса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CB84594-0BC9-3218-775A-3231CCABA91A}"/>
              </a:ext>
            </a:extLst>
          </p:cNvPr>
          <p:cNvSpPr txBox="1"/>
          <p:nvPr/>
        </p:nvSpPr>
        <p:spPr>
          <a:xfrm rot="16200000">
            <a:off x="6526377" y="3591798"/>
            <a:ext cx="216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libri Light" panose="020F0302020204030204" pitchFamily="34" charset="0"/>
              </a:rPr>
              <a:t>Стековый кадр </a:t>
            </a:r>
            <a:r>
              <a:rPr lang="en-US" dirty="0">
                <a:latin typeface="Calibri Light" panose="020F0302020204030204" pitchFamily="34" charset="0"/>
              </a:rPr>
              <a:t>main</a:t>
            </a:r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35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5BDC-E1D0-911B-4147-4275976C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хранение значений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6F0E-6DD7-1A62-37E8-07A105194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Значение живое после завершения блока </a:t>
            </a:r>
            <a:r>
              <a:rPr lang="en-US" dirty="0"/>
              <a:t>{}</a:t>
            </a:r>
            <a:r>
              <a:rPr lang="ru-RU" dirty="0"/>
              <a:t>, который его создал</a:t>
            </a:r>
          </a:p>
          <a:p>
            <a:pPr lvl="1"/>
            <a:r>
              <a:rPr lang="ru-RU" dirty="0"/>
              <a:t>Сами создаем с помощью </a:t>
            </a:r>
            <a:r>
              <a:rPr lang="en-US" dirty="0"/>
              <a:t>malloc/</a:t>
            </a:r>
            <a:r>
              <a:rPr lang="en-US" dirty="0" err="1"/>
              <a:t>calloc</a:t>
            </a:r>
            <a:r>
              <a:rPr lang="en-US" dirty="0"/>
              <a:t>/</a:t>
            </a:r>
            <a:r>
              <a:rPr lang="en-US" dirty="0" err="1"/>
              <a:t>realloc</a:t>
            </a:r>
            <a:r>
              <a:rPr lang="ru-RU" dirty="0"/>
              <a:t> – получаем указатель на значение</a:t>
            </a:r>
          </a:p>
          <a:p>
            <a:pPr lvl="1"/>
            <a:r>
              <a:rPr lang="ru-RU" dirty="0"/>
              <a:t>Сами уничтожаем с помощью </a:t>
            </a:r>
            <a:r>
              <a:rPr lang="en-US" dirty="0"/>
              <a:t>free/</a:t>
            </a:r>
            <a:r>
              <a:rPr lang="en-US" dirty="0" err="1"/>
              <a:t>realloc</a:t>
            </a:r>
            <a:endParaRPr lang="ru-RU" dirty="0"/>
          </a:p>
          <a:p>
            <a:pPr lvl="1"/>
            <a:r>
              <a:rPr lang="ru-RU" dirty="0"/>
              <a:t>Для доступа используем указатель, полученный от </a:t>
            </a:r>
            <a:r>
              <a:rPr lang="en-US" dirty="0"/>
              <a:t>malloc/</a:t>
            </a:r>
            <a:r>
              <a:rPr lang="en-US" dirty="0" err="1"/>
              <a:t>calloc</a:t>
            </a:r>
            <a:r>
              <a:rPr lang="en-US" dirty="0"/>
              <a:t>/</a:t>
            </a:r>
            <a:r>
              <a:rPr lang="en-US" dirty="0" err="1"/>
              <a:t>realloc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Инициализация:</a:t>
            </a:r>
          </a:p>
          <a:p>
            <a:pPr lvl="1"/>
            <a:r>
              <a:rPr lang="en-US" dirty="0"/>
              <a:t>malloc – undefined</a:t>
            </a:r>
            <a:endParaRPr lang="ru-RU" dirty="0"/>
          </a:p>
          <a:p>
            <a:pPr lvl="1"/>
            <a:r>
              <a:rPr lang="en-US" dirty="0" err="1"/>
              <a:t>calloc</a:t>
            </a:r>
            <a:r>
              <a:rPr lang="en-US" dirty="0"/>
              <a:t> – </a:t>
            </a:r>
            <a:r>
              <a:rPr lang="ru-RU" dirty="0"/>
              <a:t>нули</a:t>
            </a:r>
          </a:p>
          <a:p>
            <a:pPr lvl="1"/>
            <a:r>
              <a:rPr lang="en-US" dirty="0" err="1"/>
              <a:t>realloc</a:t>
            </a:r>
            <a:r>
              <a:rPr lang="en-US" dirty="0"/>
              <a:t> – </a:t>
            </a:r>
            <a:r>
              <a:rPr lang="ru-RU" dirty="0"/>
              <a:t>копия предыдущего значения</a:t>
            </a:r>
            <a:r>
              <a:rPr lang="en-US" dirty="0"/>
              <a:t> </a:t>
            </a:r>
            <a:r>
              <a:rPr lang="ru-RU" dirty="0"/>
              <a:t>или копия предыдущего значения</a:t>
            </a:r>
            <a:r>
              <a:rPr lang="en-US" dirty="0"/>
              <a:t> </a:t>
            </a:r>
            <a:r>
              <a:rPr lang="ru-RU" dirty="0"/>
              <a:t>+ </a:t>
            </a:r>
            <a:r>
              <a:rPr lang="en-US" dirty="0"/>
              <a:t>undefined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Когда использовать</a:t>
            </a:r>
          </a:p>
          <a:p>
            <a:pPr lvl="1"/>
            <a:r>
              <a:rPr lang="ru-RU" dirty="0">
                <a:highlight>
                  <a:srgbClr val="FFFF00"/>
                </a:highlight>
              </a:rPr>
              <a:t>Создаем/уничтожаем в разных блоках </a:t>
            </a:r>
            <a:r>
              <a:rPr lang="en-US" dirty="0">
                <a:highlight>
                  <a:srgbClr val="FFFF00"/>
                </a:highlight>
              </a:rPr>
              <a:t>{}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/>
              <a:t>и/или </a:t>
            </a:r>
            <a:r>
              <a:rPr lang="ru-RU" dirty="0">
                <a:highlight>
                  <a:srgbClr val="00FF00"/>
                </a:highlight>
              </a:rPr>
              <a:t>не знаем размер во время компиляции</a:t>
            </a:r>
            <a:r>
              <a:rPr lang="ru-RU" dirty="0"/>
              <a:t> и/или </a:t>
            </a:r>
            <a:r>
              <a:rPr lang="ru-RU" dirty="0">
                <a:highlight>
                  <a:srgbClr val="FF00FF"/>
                </a:highlight>
              </a:rPr>
              <a:t>не хватает места для автоматического хранения</a:t>
            </a:r>
          </a:p>
        </p:txBody>
      </p:sp>
    </p:spTree>
    <p:extLst>
      <p:ext uri="{BB962C8B-B14F-4D97-AF65-F5344CB8AC3E}">
        <p14:creationId xmlns:p14="http://schemas.microsoft.com/office/powerpoint/2010/main" val="63213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Стандартные функции </a:t>
            </a:r>
            <a:r>
              <a:rPr lang="en-US" dirty="0" err="1"/>
              <a:t>malloc</a:t>
            </a:r>
            <a:r>
              <a:rPr lang="en-US" dirty="0"/>
              <a:t>, free </a:t>
            </a:r>
            <a:r>
              <a:rPr lang="ru-RU" dirty="0"/>
              <a:t>и др.</a:t>
            </a:r>
            <a:br>
              <a:rPr lang="ru-RU" dirty="0"/>
            </a:b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void* 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 size)</a:t>
            </a:r>
          </a:p>
          <a:p>
            <a:pPr lvl="1"/>
            <a:r>
              <a:rPr lang="ru-RU" dirty="0"/>
              <a:t>резервирует непрерывный блок из </a:t>
            </a:r>
            <a:r>
              <a:rPr lang="en-US" dirty="0"/>
              <a:t>size </a:t>
            </a:r>
            <a:r>
              <a:rPr lang="ru-RU" dirty="0"/>
              <a:t>байтов и возвращает указатель на него</a:t>
            </a:r>
            <a:endParaRPr lang="en-US" dirty="0"/>
          </a:p>
          <a:p>
            <a:pPr lvl="1"/>
            <a:r>
              <a:rPr lang="ru-RU" dirty="0"/>
              <a:t>возвращает </a:t>
            </a:r>
            <a:r>
              <a:rPr lang="en-US" dirty="0"/>
              <a:t>NULL</a:t>
            </a:r>
            <a:r>
              <a:rPr lang="ru-RU" dirty="0"/>
              <a:t>, если резервирование невозможно</a:t>
            </a:r>
            <a:endParaRPr lang="en-US" dirty="0"/>
          </a:p>
          <a:p>
            <a:endParaRPr lang="en-US" dirty="0"/>
          </a:p>
          <a:p>
            <a:r>
              <a:rPr lang="en-US" dirty="0"/>
              <a:t>void* </a:t>
            </a:r>
            <a:r>
              <a:rPr lang="en-US" dirty="0" err="1"/>
              <a:t>calloc</a:t>
            </a: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 count, </a:t>
            </a:r>
            <a:r>
              <a:rPr lang="en-US" dirty="0" err="1"/>
              <a:t>size_t</a:t>
            </a:r>
            <a:r>
              <a:rPr lang="en-US" dirty="0"/>
              <a:t> size)</a:t>
            </a:r>
          </a:p>
          <a:p>
            <a:pPr lvl="1"/>
            <a:r>
              <a:rPr lang="ru-RU" dirty="0"/>
              <a:t>резервирует непрерывный блок из </a:t>
            </a:r>
            <a:r>
              <a:rPr lang="en-US" dirty="0"/>
              <a:t>count ∙ size </a:t>
            </a:r>
            <a:r>
              <a:rPr lang="ru-RU" dirty="0"/>
              <a:t>байтов, </a:t>
            </a:r>
            <a:r>
              <a:rPr lang="ru-RU" u="dash" dirty="0">
                <a:uFill>
                  <a:solidFill>
                    <a:schemeClr val="tx2"/>
                  </a:solidFill>
                </a:uFill>
              </a:rPr>
              <a:t>заполняет нулями</a:t>
            </a:r>
            <a:r>
              <a:rPr lang="ru-RU" dirty="0"/>
              <a:t> и возвращает указатель на него</a:t>
            </a:r>
            <a:endParaRPr lang="en-US" dirty="0"/>
          </a:p>
          <a:p>
            <a:pPr lvl="1"/>
            <a:r>
              <a:rPr lang="ru-RU" dirty="0"/>
              <a:t>возвращает </a:t>
            </a:r>
            <a:r>
              <a:rPr lang="en-US" dirty="0"/>
              <a:t>NULL</a:t>
            </a:r>
            <a:r>
              <a:rPr lang="ru-RU" dirty="0"/>
              <a:t>, если резервирование невозможно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void* </a:t>
            </a:r>
            <a:r>
              <a:rPr lang="en-US" dirty="0" err="1"/>
              <a:t>realloc</a:t>
            </a:r>
            <a:r>
              <a:rPr lang="en-US" dirty="0"/>
              <a:t>(void* </a:t>
            </a:r>
            <a:r>
              <a:rPr lang="en-US" dirty="0" err="1"/>
              <a:t>ptr</a:t>
            </a:r>
            <a:r>
              <a:rPr lang="en-US" dirty="0"/>
              <a:t> , </a:t>
            </a:r>
            <a:r>
              <a:rPr lang="en-US" dirty="0" err="1"/>
              <a:t>size_t</a:t>
            </a:r>
            <a:r>
              <a:rPr lang="en-US" dirty="0"/>
              <a:t> size)</a:t>
            </a:r>
            <a:endParaRPr lang="ru-RU" dirty="0"/>
          </a:p>
          <a:p>
            <a:pPr lvl="1"/>
            <a:r>
              <a:rPr lang="ru-RU" dirty="0"/>
              <a:t>резервирует непрерывный блок из </a:t>
            </a:r>
            <a:r>
              <a:rPr lang="en-US" dirty="0"/>
              <a:t>size </a:t>
            </a:r>
            <a:r>
              <a:rPr lang="ru-RU" dirty="0"/>
              <a:t>байтов и возвращает указатель на него</a:t>
            </a:r>
            <a:endParaRPr lang="en-US" dirty="0"/>
          </a:p>
          <a:p>
            <a:pPr lvl="1"/>
            <a:r>
              <a:rPr lang="ru-RU" dirty="0"/>
              <a:t>переносит в новый блок </a:t>
            </a:r>
            <a:r>
              <a:rPr lang="en-US" dirty="0"/>
              <a:t>min(size, </a:t>
            </a:r>
            <a:r>
              <a:rPr lang="ru-RU" dirty="0"/>
              <a:t>размер</a:t>
            </a:r>
            <a:r>
              <a:rPr lang="en-US" dirty="0"/>
              <a:t> </a:t>
            </a:r>
            <a:r>
              <a:rPr lang="ru-RU" dirty="0"/>
              <a:t>блока по адресу </a:t>
            </a:r>
            <a:r>
              <a:rPr lang="en-US" dirty="0" err="1"/>
              <a:t>ptr</a:t>
            </a:r>
            <a:r>
              <a:rPr lang="en-US" dirty="0"/>
              <a:t>) </a:t>
            </a:r>
            <a:r>
              <a:rPr lang="ru-RU" dirty="0"/>
              <a:t>байтов из блока по адресу </a:t>
            </a:r>
            <a:r>
              <a:rPr lang="en-US" dirty="0" err="1"/>
              <a:t>ptr</a:t>
            </a:r>
            <a:r>
              <a:rPr lang="ru-RU" dirty="0"/>
              <a:t> и освобождает его</a:t>
            </a:r>
          </a:p>
          <a:p>
            <a:pPr lvl="1"/>
            <a:r>
              <a:rPr lang="ru-RU" dirty="0"/>
              <a:t>возвращает </a:t>
            </a:r>
            <a:r>
              <a:rPr lang="en-US" dirty="0"/>
              <a:t>NULL, </a:t>
            </a:r>
            <a:r>
              <a:rPr lang="ru-RU" dirty="0"/>
              <a:t>если изменение размера невозможно</a:t>
            </a:r>
          </a:p>
          <a:p>
            <a:pPr lvl="2"/>
            <a:r>
              <a:rPr lang="ru-RU" u="dash" dirty="0">
                <a:uFill>
                  <a:solidFill>
                    <a:schemeClr val="tx2"/>
                  </a:solidFill>
                </a:uFill>
              </a:rPr>
              <a:t>при этом блок по адресу </a:t>
            </a:r>
            <a:r>
              <a:rPr lang="en-US" u="dash" dirty="0" err="1">
                <a:uFill>
                  <a:solidFill>
                    <a:schemeClr val="tx2"/>
                  </a:solidFill>
                </a:uFill>
              </a:rPr>
              <a:t>ptr</a:t>
            </a:r>
            <a:r>
              <a:rPr lang="en-US" u="dash" dirty="0">
                <a:uFill>
                  <a:solidFill>
                    <a:schemeClr val="tx2"/>
                  </a:solidFill>
                </a:uFill>
              </a:rPr>
              <a:t> </a:t>
            </a:r>
            <a:r>
              <a:rPr lang="ru-RU" u="dash" dirty="0">
                <a:uFill>
                  <a:solidFill>
                    <a:schemeClr val="tx2"/>
                  </a:solidFill>
                </a:uFill>
              </a:rPr>
              <a:t>не освобождается</a:t>
            </a:r>
            <a:r>
              <a:rPr lang="ru-RU" dirty="0"/>
              <a:t>, данные в нем сохраняются</a:t>
            </a:r>
          </a:p>
          <a:p>
            <a:pPr lvl="1"/>
            <a:endParaRPr lang="en-US" dirty="0"/>
          </a:p>
          <a:p>
            <a:r>
              <a:rPr lang="en-US" dirty="0"/>
              <a:t>void free(void* </a:t>
            </a:r>
            <a:r>
              <a:rPr lang="en-US" dirty="0" err="1"/>
              <a:t>ptr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освобождает ранее зарезервированный блок по адресу </a:t>
            </a:r>
            <a:r>
              <a:rPr lang="en-US" dirty="0" err="1"/>
              <a:t>ptr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07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Doug Lea’s </a:t>
            </a:r>
            <a:r>
              <a:rPr lang="en-US" dirty="0" err="1"/>
              <a:t>malloc</a:t>
            </a:r>
            <a:r>
              <a:rPr lang="en-US" dirty="0"/>
              <a:t> (</a:t>
            </a:r>
            <a:r>
              <a:rPr lang="en-US" dirty="0" err="1"/>
              <a:t>dlmalloc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Основа </a:t>
            </a:r>
            <a:r>
              <a:rPr lang="en-US" dirty="0" err="1"/>
              <a:t>malloc</a:t>
            </a:r>
            <a:r>
              <a:rPr lang="en-US" dirty="0"/>
              <a:t> </a:t>
            </a:r>
            <a:r>
              <a:rPr lang="ru-RU" dirty="0"/>
              <a:t>в библиотеке </a:t>
            </a:r>
            <a:r>
              <a:rPr lang="en-US" dirty="0"/>
              <a:t>GNU C </a:t>
            </a:r>
            <a:r>
              <a:rPr lang="ru-RU" dirty="0"/>
              <a:t>(</a:t>
            </a:r>
            <a:r>
              <a:rPr lang="en-US" dirty="0" err="1"/>
              <a:t>libc</a:t>
            </a:r>
            <a:r>
              <a:rPr lang="ru-RU" dirty="0"/>
              <a:t>) для большинства версий </a:t>
            </a:r>
            <a:r>
              <a:rPr lang="en-US" dirty="0"/>
              <a:t>Linux</a:t>
            </a:r>
            <a:endParaRPr lang="ru-RU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http://gee.cs.oswego.edu/dl/html/malloc.html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4"/>
          <a:stretch/>
        </p:blipFill>
        <p:spPr>
          <a:xfrm>
            <a:off x="6164088" y="1806709"/>
            <a:ext cx="4867072" cy="4389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6200000">
            <a:off x="9297547" y="3847405"/>
            <a:ext cx="382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Douglas (Doug) Lea, JVM Language Summit, 2010</a:t>
            </a:r>
            <a:endParaRPr lang="ru-R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25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«</a:t>
            </a:r>
            <a:r>
              <a:rPr lang="ru-RU" dirty="0">
                <a:highlight>
                  <a:srgbClr val="00FFFF"/>
                </a:highlight>
              </a:rPr>
              <a:t>кучи</a:t>
            </a:r>
            <a:r>
              <a:rPr lang="ru-RU" dirty="0"/>
              <a:t>»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33"/>
          <a:stretch/>
        </p:blipFill>
        <p:spPr>
          <a:xfrm>
            <a:off x="1669575" y="1690688"/>
            <a:ext cx="8852850" cy="440968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D5100-3F99-3EB1-1111-1ED8609E8DD8}"/>
              </a:ext>
            </a:extLst>
          </p:cNvPr>
          <p:cNvSpPr txBox="1"/>
          <p:nvPr/>
        </p:nvSpPr>
        <p:spPr>
          <a:xfrm>
            <a:off x="6137115" y="5423178"/>
            <a:ext cx="353943" cy="23500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+1</a:t>
            </a:r>
            <a:endParaRPr lang="ru-RU" sz="11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1ABE0-5484-C752-3C77-9DAADFD9B34A}"/>
              </a:ext>
            </a:extLst>
          </p:cNvPr>
          <p:cNvSpPr txBox="1"/>
          <p:nvPr/>
        </p:nvSpPr>
        <p:spPr>
          <a:xfrm>
            <a:off x="8480930" y="5439729"/>
            <a:ext cx="353943" cy="23500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+1</a:t>
            </a:r>
            <a:endParaRPr lang="ru-RU" sz="11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9EE62-3A66-A18E-2A5D-F9DF8A490568}"/>
              </a:ext>
            </a:extLst>
          </p:cNvPr>
          <p:cNvSpPr txBox="1"/>
          <p:nvPr/>
        </p:nvSpPr>
        <p:spPr>
          <a:xfrm>
            <a:off x="8547565" y="1027906"/>
            <a:ext cx="30014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Признак свободности блока </a:t>
            </a:r>
          </a:p>
          <a:p>
            <a:r>
              <a:rPr lang="ru-RU" dirty="0"/>
              <a:t>хранят в </a:t>
            </a:r>
            <a:r>
              <a:rPr lang="ru-RU" b="1" dirty="0">
                <a:solidFill>
                  <a:srgbClr val="FF0000"/>
                </a:solidFill>
              </a:rPr>
              <a:t>младшем бите</a:t>
            </a:r>
            <a:r>
              <a:rPr lang="ru-RU" dirty="0"/>
              <a:t> </a:t>
            </a:r>
          </a:p>
          <a:p>
            <a:r>
              <a:rPr lang="ru-RU" dirty="0"/>
              <a:t>размера блока</a:t>
            </a:r>
          </a:p>
          <a:p>
            <a:endParaRPr lang="ru-RU" dirty="0"/>
          </a:p>
          <a:p>
            <a:r>
              <a:rPr lang="ru-RU" dirty="0"/>
              <a:t>Это работает, т.к. </a:t>
            </a:r>
            <a:r>
              <a:rPr lang="en-US" dirty="0"/>
              <a:t>malloc</a:t>
            </a:r>
            <a:endParaRPr lang="ru-RU" dirty="0"/>
          </a:p>
          <a:p>
            <a:r>
              <a:rPr lang="ru-RU" dirty="0"/>
              <a:t>резервирует только блоки</a:t>
            </a:r>
          </a:p>
          <a:p>
            <a:r>
              <a:rPr lang="ru-RU" dirty="0"/>
              <a:t>размера</a:t>
            </a:r>
            <a:r>
              <a:rPr lang="ru-RU"/>
              <a:t>, кратного 16</a:t>
            </a:r>
            <a:endParaRPr lang="ru-R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00167B-5A67-EDC5-FE49-E4214BD99C19}"/>
              </a:ext>
            </a:extLst>
          </p:cNvPr>
          <p:cNvCxnSpPr>
            <a:endCxn id="5" idx="0"/>
          </p:cNvCxnSpPr>
          <p:nvPr/>
        </p:nvCxnSpPr>
        <p:spPr>
          <a:xfrm>
            <a:off x="6314086" y="5014091"/>
            <a:ext cx="1" cy="4090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29E29E-C37A-48D1-1386-E8CBDF48130E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657901" y="5014091"/>
            <a:ext cx="1" cy="4256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05B8D80B-14EE-CB70-72E6-B7195F5AA376}"/>
              </a:ext>
            </a:extLst>
          </p:cNvPr>
          <p:cNvSpPr/>
          <p:nvPr/>
        </p:nvSpPr>
        <p:spPr>
          <a:xfrm>
            <a:off x="2049936" y="2153484"/>
            <a:ext cx="330739" cy="2860607"/>
          </a:xfrm>
          <a:prstGeom prst="leftBrace">
            <a:avLst>
              <a:gd name="adj1" fmla="val 81862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679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Резервирование </a:t>
            </a:r>
            <a:r>
              <a:rPr lang="en-US" dirty="0" err="1"/>
              <a:t>malloc</a:t>
            </a:r>
            <a:r>
              <a:rPr lang="ru-RU" dirty="0"/>
              <a:t>(</a:t>
            </a:r>
            <a:r>
              <a:rPr lang="en-US" dirty="0"/>
              <a:t>size</a:t>
            </a:r>
            <a:r>
              <a:rPr lang="ru-RU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AutoNum type="arabicPeriod"/>
            </a:pPr>
            <a:r>
              <a:rPr lang="en-US" dirty="0"/>
              <a:t>block</a:t>
            </a:r>
            <a:r>
              <a:rPr lang="ru-RU" dirty="0"/>
              <a:t> </a:t>
            </a:r>
            <a:r>
              <a:rPr lang="en-US" dirty="0"/>
              <a:t>= </a:t>
            </a:r>
            <a:r>
              <a:rPr lang="ru-RU" dirty="0"/>
              <a:t>свободный блок </a:t>
            </a:r>
            <a:r>
              <a:rPr lang="en-US" dirty="0"/>
              <a:t>min </a:t>
            </a:r>
            <a:r>
              <a:rPr lang="ru-RU" dirty="0"/>
              <a:t>размера ≥</a:t>
            </a:r>
            <a:r>
              <a:rPr lang="en-US" dirty="0"/>
              <a:t> size</a:t>
            </a:r>
          </a:p>
          <a:p>
            <a:pPr marL="342900" indent="-342900">
              <a:buAutoNum type="arabicPeriod"/>
            </a:pPr>
            <a:r>
              <a:rPr lang="ru-RU" dirty="0"/>
              <a:t>Если </a:t>
            </a:r>
            <a:r>
              <a:rPr lang="en-US" dirty="0"/>
              <a:t>block </a:t>
            </a:r>
            <a:r>
              <a:rPr lang="ru-RU" dirty="0"/>
              <a:t>не найден, то возвращаем </a:t>
            </a:r>
            <a:r>
              <a:rPr lang="en-US" dirty="0"/>
              <a:t>NULL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ru-RU" dirty="0"/>
              <a:t>Если размер(</a:t>
            </a:r>
            <a:r>
              <a:rPr lang="en-US" dirty="0"/>
              <a:t>block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>
                <a:sym typeface="Symbol" panose="05050102010706020507" pitchFamily="18" charset="2"/>
              </a:rPr>
              <a:t> </a:t>
            </a:r>
            <a:r>
              <a:rPr lang="en-US" dirty="0"/>
              <a:t>size, </a:t>
            </a:r>
            <a:r>
              <a:rPr lang="ru-RU" dirty="0"/>
              <a:t>то возвращаем </a:t>
            </a:r>
            <a:r>
              <a:rPr lang="en-US" dirty="0"/>
              <a:t>block +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ru-RU" dirty="0"/>
              <a:t>Иначе режем </a:t>
            </a:r>
            <a:r>
              <a:rPr lang="en-US" dirty="0"/>
              <a:t>block </a:t>
            </a:r>
            <a:r>
              <a:rPr lang="ru-RU" dirty="0"/>
              <a:t>на </a:t>
            </a:r>
            <a:r>
              <a:rPr lang="en-US" dirty="0" err="1"/>
              <a:t>userBlock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freeBlock</a:t>
            </a:r>
            <a:r>
              <a:rPr lang="ru-RU" dirty="0"/>
              <a:t>, чтобы размер(</a:t>
            </a:r>
            <a:r>
              <a:rPr lang="en-US" dirty="0" err="1"/>
              <a:t>userBlock</a:t>
            </a:r>
            <a:r>
              <a:rPr lang="en-US" dirty="0"/>
              <a:t> </a:t>
            </a:r>
            <a:r>
              <a:rPr lang="ru-RU" dirty="0"/>
              <a:t>) </a:t>
            </a:r>
            <a:r>
              <a:rPr lang="ru-RU" dirty="0">
                <a:sym typeface="Symbol" panose="05050102010706020507" pitchFamily="18" charset="2"/>
              </a:rPr>
              <a:t></a:t>
            </a:r>
            <a:r>
              <a:rPr lang="en-US" dirty="0"/>
              <a:t> size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Добавляем </a:t>
            </a:r>
            <a:r>
              <a:rPr lang="en-US" dirty="0" err="1"/>
              <a:t>freeBlock</a:t>
            </a:r>
            <a:r>
              <a:rPr lang="en-US" dirty="0"/>
              <a:t> </a:t>
            </a:r>
            <a:r>
              <a:rPr lang="ru-RU" dirty="0"/>
              <a:t>в список свободных блоков размера размер(</a:t>
            </a:r>
            <a:r>
              <a:rPr lang="en-US" dirty="0" err="1"/>
              <a:t>freeBlock</a:t>
            </a:r>
            <a:r>
              <a:rPr lang="ru-RU" dirty="0"/>
              <a:t>)</a:t>
            </a:r>
          </a:p>
          <a:p>
            <a:pPr marL="342900" indent="-342900">
              <a:buAutoNum type="arabicPeriod"/>
            </a:pPr>
            <a:r>
              <a:rPr lang="ru-RU" dirty="0"/>
              <a:t>Возвращаем </a:t>
            </a:r>
            <a:r>
              <a:rPr lang="en-US" dirty="0" err="1"/>
              <a:t>userBlock</a:t>
            </a:r>
            <a:r>
              <a:rPr lang="en-US" dirty="0"/>
              <a:t> +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)</a:t>
            </a:r>
            <a:endParaRPr lang="ru-RU" dirty="0"/>
          </a:p>
          <a:p>
            <a:endParaRPr lang="ru-RU" dirty="0"/>
          </a:p>
        </p:txBody>
      </p:sp>
      <p:sp>
        <p:nvSpPr>
          <p:cNvPr id="20" name="Rectangle 19"/>
          <p:cNvSpPr/>
          <p:nvPr/>
        </p:nvSpPr>
        <p:spPr>
          <a:xfrm>
            <a:off x="7841774" y="3751382"/>
            <a:ext cx="1842448" cy="508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malloc</a:t>
            </a:r>
            <a:r>
              <a:rPr lang="en-US" dirty="0"/>
              <a:t>(size)</a:t>
            </a:r>
            <a:endParaRPr lang="ru-RU" dirty="0"/>
          </a:p>
        </p:txBody>
      </p:sp>
      <p:cxnSp>
        <p:nvCxnSpPr>
          <p:cNvPr id="23" name="Straight Arrow Connector 22"/>
          <p:cNvCxnSpPr>
            <a:stCxn id="5" idx="2"/>
            <a:endCxn id="20" idx="0"/>
          </p:cNvCxnSpPr>
          <p:nvPr/>
        </p:nvCxnSpPr>
        <p:spPr>
          <a:xfrm flipH="1">
            <a:off x="8762998" y="3160127"/>
            <a:ext cx="1" cy="59125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2"/>
          </p:cNvCxnSpPr>
          <p:nvPr/>
        </p:nvCxnSpPr>
        <p:spPr>
          <a:xfrm>
            <a:off x="8762998" y="4259713"/>
            <a:ext cx="0" cy="59233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6172199" y="1804918"/>
            <a:ext cx="5181600" cy="1715660"/>
            <a:chOff x="6172199" y="1804918"/>
            <a:chExt cx="5181600" cy="1715660"/>
          </a:xfrm>
        </p:grpSpPr>
        <p:sp>
          <p:nvSpPr>
            <p:cNvPr id="5" name="Rectangle 4"/>
            <p:cNvSpPr/>
            <p:nvPr/>
          </p:nvSpPr>
          <p:spPr>
            <a:xfrm>
              <a:off x="6426389" y="1804918"/>
              <a:ext cx="4673219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след. свободного блока размера </a:t>
              </a:r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пред. свободного блока размера </a:t>
              </a:r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172199" y="1804918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099609" y="1804918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426655" y="3274357"/>
              <a:ext cx="5151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600" dirty="0"/>
                <a:t>block</a:t>
              </a:r>
              <a:endParaRPr lang="ru-RU" sz="16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72200" y="4555881"/>
            <a:ext cx="5181600" cy="1651377"/>
            <a:chOff x="6172200" y="4555881"/>
            <a:chExt cx="5181600" cy="1651377"/>
          </a:xfrm>
        </p:grpSpPr>
        <p:sp>
          <p:nvSpPr>
            <p:cNvPr id="11" name="Rectangle 10"/>
            <p:cNvSpPr/>
            <p:nvPr/>
          </p:nvSpPr>
          <p:spPr>
            <a:xfrm>
              <a:off x="6426390" y="4852049"/>
              <a:ext cx="1071917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172200" y="4852049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099610" y="4852049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SIZE-size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98307" y="4852049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752497" y="4852049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SIZE-size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6688" y="4852049"/>
              <a:ext cx="3092922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след. свободного блока размера </a:t>
              </a:r>
              <a:r>
                <a:rPr lang="en-US" dirty="0">
                  <a:solidFill>
                    <a:schemeClr val="tx1"/>
                  </a:solidFill>
                </a:rPr>
                <a:t>SIZE-size</a:t>
              </a:r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пред. свободного блока размера </a:t>
              </a:r>
              <a:r>
                <a:rPr lang="en-US" dirty="0">
                  <a:solidFill>
                    <a:schemeClr val="tx1"/>
                  </a:solidFill>
                </a:rPr>
                <a:t>SIZE-size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89191" y="4555881"/>
              <a:ext cx="8822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600" dirty="0" err="1"/>
                <a:t>userBlock</a:t>
              </a:r>
              <a:endParaRPr lang="ru-RU" sz="16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255679" y="4555881"/>
              <a:ext cx="85708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600" dirty="0" err="1"/>
                <a:t>freeBlock</a:t>
              </a:r>
              <a:endParaRPr lang="ru-RU" sz="1600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00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Освобождение </a:t>
            </a:r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dirty="0"/>
              <a:t>Объединяем с блоком по адресу </a:t>
            </a:r>
            <a:r>
              <a:rPr lang="en-US" dirty="0" err="1"/>
              <a:t>ptr</a:t>
            </a:r>
            <a:r>
              <a:rPr lang="en-US" dirty="0"/>
              <a:t> </a:t>
            </a:r>
            <a:r>
              <a:rPr lang="ru-RU" dirty="0"/>
              <a:t>блок слева (если свободен) и блок справа (если свободен)</a:t>
            </a:r>
          </a:p>
          <a:p>
            <a:pPr marL="800100" lvl="1" indent="-342900"/>
            <a:r>
              <a:rPr lang="ru-RU" dirty="0"/>
              <a:t>«слева» и «справа» по адресу в памяти, а не по связям в списке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Добавляем получившийся блок в список свободных блоков соотв. размера</a:t>
            </a:r>
          </a:p>
          <a:p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172199" y="4821754"/>
            <a:ext cx="5184843" cy="1355209"/>
            <a:chOff x="6172199" y="4821754"/>
            <a:chExt cx="5184843" cy="1355209"/>
          </a:xfrm>
        </p:grpSpPr>
        <p:sp>
          <p:nvSpPr>
            <p:cNvPr id="18" name="Rectangle 17"/>
            <p:cNvSpPr/>
            <p:nvPr/>
          </p:nvSpPr>
          <p:spPr>
            <a:xfrm>
              <a:off x="6699115" y="4821754"/>
              <a:ext cx="412777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след. свободного блока размера </a:t>
              </a:r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r>
                <a:rPr lang="en-US" dirty="0">
                  <a:solidFill>
                    <a:schemeClr val="tx1"/>
                  </a:solidFill>
                </a:rPr>
                <a:t> + </a:t>
              </a:r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r>
                <a:rPr lang="en-US" dirty="0">
                  <a:solidFill>
                    <a:schemeClr val="tx1"/>
                  </a:solidFill>
                </a:rPr>
                <a:t> + size</a:t>
              </a:r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адрес пред. свободного блока размера </a:t>
              </a:r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r>
                <a:rPr lang="en-US" dirty="0">
                  <a:solidFill>
                    <a:schemeClr val="tx1"/>
                  </a:solidFill>
                </a:rPr>
                <a:t> + </a:t>
              </a:r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r>
                <a:rPr lang="en-US" dirty="0">
                  <a:solidFill>
                    <a:schemeClr val="tx1"/>
                  </a:solidFill>
                </a:rPr>
                <a:t> + 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172199" y="4821754"/>
              <a:ext cx="526916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r>
                <a:rPr lang="en-US" dirty="0">
                  <a:solidFill>
                    <a:schemeClr val="tx1"/>
                  </a:solidFill>
                </a:rPr>
                <a:t> + </a:t>
              </a:r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r>
                <a:rPr lang="en-US" dirty="0">
                  <a:solidFill>
                    <a:schemeClr val="tx1"/>
                  </a:solidFill>
                </a:rPr>
                <a:t> + 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830126" y="4821754"/>
              <a:ext cx="526916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r>
                <a:rPr lang="en-US" dirty="0">
                  <a:solidFill>
                    <a:schemeClr val="tx1"/>
                  </a:solidFill>
                </a:rPr>
                <a:t> + </a:t>
              </a:r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r>
                <a:rPr lang="en-US" dirty="0">
                  <a:solidFill>
                    <a:schemeClr val="tx1"/>
                  </a:solidFill>
                </a:rPr>
                <a:t> + 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65951" y="1811754"/>
            <a:ext cx="5187849" cy="1355209"/>
            <a:chOff x="6165951" y="1986856"/>
            <a:chExt cx="5187849" cy="1355209"/>
          </a:xfrm>
        </p:grpSpPr>
        <p:sp>
          <p:nvSpPr>
            <p:cNvPr id="9" name="Rectangle 8"/>
            <p:cNvSpPr/>
            <p:nvPr/>
          </p:nvSpPr>
          <p:spPr>
            <a:xfrm>
              <a:off x="8323632" y="1986856"/>
              <a:ext cx="77173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 err="1">
                  <a:solidFill>
                    <a:schemeClr val="tx1"/>
                  </a:solidFill>
                </a:rPr>
                <a:t>ptr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069442" y="1986856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99610" y="1986856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094697" y="1986856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size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352129" y="1986856"/>
              <a:ext cx="254190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609561" y="1986856"/>
              <a:ext cx="1490048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адрес след. свободного блока размера </a:t>
              </a:r>
              <a:r>
                <a:rPr lang="en-US" sz="1600" dirty="0" err="1">
                  <a:solidFill>
                    <a:schemeClr val="tx1"/>
                  </a:solidFill>
                </a:rPr>
                <a:t>sizeR</a:t>
              </a:r>
              <a:endParaRPr lang="ru-RU" sz="16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адрес пред. свободного блока размера </a:t>
              </a:r>
              <a:r>
                <a:rPr lang="en-US" sz="1600" dirty="0" err="1">
                  <a:solidFill>
                    <a:schemeClr val="tx1"/>
                  </a:solidFill>
                </a:rPr>
                <a:t>sizeR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826489" y="1986856"/>
              <a:ext cx="242954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165951" y="1986856"/>
              <a:ext cx="242954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sizeL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410526" y="1986856"/>
              <a:ext cx="1424182" cy="13552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адрес след. свободного блока размера </a:t>
              </a:r>
              <a:r>
                <a:rPr lang="en-US" sz="1600" dirty="0" err="1">
                  <a:solidFill>
                    <a:schemeClr val="tx1"/>
                  </a:solidFill>
                </a:rPr>
                <a:t>sizeL</a:t>
              </a:r>
              <a:endParaRPr lang="ru-RU" sz="16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адрес пред. свободного блока размера </a:t>
              </a:r>
              <a:r>
                <a:rPr lang="en-US" sz="1600" dirty="0" err="1">
                  <a:solidFill>
                    <a:schemeClr val="tx1"/>
                  </a:solidFill>
                </a:rPr>
                <a:t>sizeL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7841774" y="3751382"/>
            <a:ext cx="1842448" cy="508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38" name="Straight Arrow Connector 37"/>
          <p:cNvCxnSpPr>
            <a:endCxn id="37" idx="0"/>
          </p:cNvCxnSpPr>
          <p:nvPr/>
        </p:nvCxnSpPr>
        <p:spPr>
          <a:xfrm flipH="1">
            <a:off x="8762998" y="3160127"/>
            <a:ext cx="1" cy="59125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2"/>
          </p:cNvCxnSpPr>
          <p:nvPr/>
        </p:nvCxnSpPr>
        <p:spPr>
          <a:xfrm>
            <a:off x="8762998" y="4259713"/>
            <a:ext cx="0" cy="59233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528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</a:t>
            </a:r>
            <a:r>
              <a:rPr lang="en-US" dirty="0"/>
              <a:t> </a:t>
            </a:r>
            <a:r>
              <a:rPr lang="ru-RU" dirty="0"/>
              <a:t>при работе с кучей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Поиск</a:t>
            </a:r>
            <a:r>
              <a:rPr lang="en-US" dirty="0"/>
              <a:t> min </a:t>
            </a:r>
            <a:r>
              <a:rPr lang="ru-RU" dirty="0"/>
              <a:t>свободного блока в </a:t>
            </a:r>
            <a:r>
              <a:rPr lang="en-US" dirty="0" err="1"/>
              <a:t>malloc</a:t>
            </a:r>
            <a:endParaRPr lang="en-US" dirty="0"/>
          </a:p>
          <a:p>
            <a:pPr lvl="1"/>
            <a:r>
              <a:rPr lang="en-US" dirty="0" err="1"/>
              <a:t>malloc</a:t>
            </a:r>
            <a:r>
              <a:rPr lang="ru-RU" dirty="0"/>
              <a:t> размера </a:t>
            </a:r>
            <a:r>
              <a:rPr lang="en-US" dirty="0"/>
              <a:t>&gt; 512 </a:t>
            </a:r>
            <a:r>
              <a:rPr lang="ru-RU" dirty="0"/>
              <a:t>байтов и много свободных блоков в соотв. списке</a:t>
            </a:r>
            <a:r>
              <a:rPr lang="en-US" dirty="0"/>
              <a:t> – </a:t>
            </a:r>
            <a:r>
              <a:rPr lang="ru-RU" dirty="0"/>
              <a:t>большой накладной расход времени на просмотр списка свободных блоков</a:t>
            </a:r>
          </a:p>
          <a:p>
            <a:pPr lvl="1"/>
            <a:endParaRPr lang="ru-RU" dirty="0"/>
          </a:p>
          <a:p>
            <a:r>
              <a:rPr lang="ru-RU" dirty="0"/>
              <a:t>Дополнительные 2 ∙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size_t</a:t>
            </a:r>
            <a:r>
              <a:rPr lang="en-US" dirty="0"/>
              <a:t>) </a:t>
            </a:r>
            <a:r>
              <a:rPr lang="ru-RU" dirty="0"/>
              <a:t>байтов на каждый блок</a:t>
            </a:r>
          </a:p>
          <a:p>
            <a:pPr lvl="1"/>
            <a:r>
              <a:rPr lang="ru-RU" dirty="0"/>
              <a:t>Много </a:t>
            </a:r>
            <a:r>
              <a:rPr lang="en-US" dirty="0" err="1"/>
              <a:t>malloc</a:t>
            </a:r>
            <a:r>
              <a:rPr lang="en-US" dirty="0"/>
              <a:t> </a:t>
            </a:r>
            <a:r>
              <a:rPr lang="ru-RU" dirty="0"/>
              <a:t>небольшого размера – большой накладной расход памяти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21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Фрагментация кучи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Резервирование и освобождение блоков разного размера приводит к фрагментации</a:t>
            </a:r>
            <a:endParaRPr lang="en-US" dirty="0"/>
          </a:p>
          <a:p>
            <a:endParaRPr lang="en-US" dirty="0"/>
          </a:p>
          <a:p>
            <a:r>
              <a:rPr lang="ru-RU" dirty="0"/>
              <a:t>Свободная память разбита на большое число мелких блоков и нет возможности зарезервировать блоки большего размера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count; ++i) 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 small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bigger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(small);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6618861" y="4426298"/>
            <a:ext cx="4288278" cy="1624204"/>
            <a:chOff x="6478620" y="4455268"/>
            <a:chExt cx="4288278" cy="1624204"/>
          </a:xfrm>
        </p:grpSpPr>
        <p:grpSp>
          <p:nvGrpSpPr>
            <p:cNvPr id="18" name="Group 17"/>
            <p:cNvGrpSpPr/>
            <p:nvPr/>
          </p:nvGrpSpPr>
          <p:grpSpPr>
            <a:xfrm>
              <a:off x="6478620" y="4455268"/>
              <a:ext cx="4288278" cy="914400"/>
              <a:chOff x="7217922" y="4756826"/>
              <a:chExt cx="4288278" cy="9144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7217922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7441660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801582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8025320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8390915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8614653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8994031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9217769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9597146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9820884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10903084" y="4756826"/>
                <a:ext cx="223737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1126822" y="4756826"/>
                <a:ext cx="379378" cy="914400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0360979" y="5029200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∙∙∙</a:t>
                </a:r>
              </a:p>
            </p:txBody>
          </p:sp>
        </p:grpSp>
        <p:sp>
          <p:nvSpPr>
            <p:cNvPr id="19" name="Right Brace 18"/>
            <p:cNvSpPr/>
            <p:nvPr/>
          </p:nvSpPr>
          <p:spPr>
            <a:xfrm rot="5400000">
              <a:off x="8519992" y="3463234"/>
              <a:ext cx="205533" cy="4288278"/>
            </a:xfrm>
            <a:prstGeom prst="rightBrace">
              <a:avLst>
                <a:gd name="adj1" fmla="val 31862"/>
                <a:gd name="adj2" fmla="val 50000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70779" y="5710140"/>
              <a:ext cx="11039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count </a:t>
              </a:r>
              <a:r>
                <a:rPr lang="ru-RU" dirty="0">
                  <a:solidFill>
                    <a:schemeClr val="bg1"/>
                  </a:solidFill>
                </a:rPr>
                <a:t>раз</a:t>
              </a:r>
            </a:p>
          </p:txBody>
        </p: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125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ошибок при работе с кучей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missing NULL pointer check 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&lt;--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// use after free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// double free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freeing invalid pointer 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// &lt;--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 &lt;--</a:t>
            </a:r>
            <a:endParaRPr lang="ru-RU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memory leak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&lt;--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memory leak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 &lt;-- if OOM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heap corruption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++i) 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 -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&lt;-- if i = 0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368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sanitizer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Константин Серебряный</a:t>
            </a:r>
            <a:r>
              <a:rPr lang="ru-RU" baseline="30000" dirty="0"/>
              <a:t>1</a:t>
            </a:r>
          </a:p>
          <a:p>
            <a:r>
              <a:rPr lang="en-US" dirty="0"/>
              <a:t>Derek </a:t>
            </a:r>
            <a:r>
              <a:rPr lang="en-US" dirty="0" err="1"/>
              <a:t>Bruening</a:t>
            </a:r>
            <a:r>
              <a:rPr lang="ru-RU" baseline="30000" dirty="0"/>
              <a:t>2</a:t>
            </a:r>
          </a:p>
          <a:p>
            <a:r>
              <a:rPr lang="ru-RU" dirty="0"/>
              <a:t>Александр Потапенко</a:t>
            </a:r>
            <a:r>
              <a:rPr lang="ru-RU" baseline="30000" dirty="0"/>
              <a:t>3</a:t>
            </a:r>
          </a:p>
          <a:p>
            <a:r>
              <a:rPr lang="ru-RU" dirty="0"/>
              <a:t>Дмитрий Вьюков</a:t>
            </a:r>
            <a:r>
              <a:rPr lang="ru-RU" baseline="30000" dirty="0"/>
              <a:t>4</a:t>
            </a:r>
            <a:endParaRPr lang="en-US" baseline="30000" dirty="0"/>
          </a:p>
          <a:p>
            <a:r>
              <a:rPr lang="en-US" dirty="0" err="1"/>
              <a:t>AddressSanitizer</a:t>
            </a:r>
            <a:r>
              <a:rPr lang="en-US" dirty="0"/>
              <a:t>: A Fast Address Sanity Checker</a:t>
            </a:r>
            <a:r>
              <a:rPr lang="ru-RU" dirty="0"/>
              <a:t>, 2012</a:t>
            </a:r>
          </a:p>
          <a:p>
            <a:pPr lvl="1"/>
            <a:r>
              <a:rPr lang="en-US" dirty="0">
                <a:hlinkClick r:id="rId2"/>
              </a:rPr>
              <a:t>https://static.googleusercontent.com/media/research.google.com/en//pubs/archive/37752.pdf</a:t>
            </a:r>
            <a:r>
              <a:rPr lang="ru-RU" dirty="0"/>
              <a:t>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176" y="1825625"/>
            <a:ext cx="2093068" cy="2093068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821" y="1770093"/>
            <a:ext cx="2211470" cy="2211470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176" y="4083896"/>
            <a:ext cx="2093067" cy="20930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821" y="4083896"/>
            <a:ext cx="2211470" cy="2093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6875" y="198444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5923" y="198444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086" y="40726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2134" y="40726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754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after free</a:t>
            </a:r>
            <a:endParaRPr lang="ru-R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2500617"/>
            <a:ext cx="9953625" cy="280035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702381" y="3900792"/>
            <a:ext cx="2714321" cy="90477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057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(heap corruption)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667000"/>
            <a:ext cx="10687050" cy="15240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96" y="3716337"/>
            <a:ext cx="3105150" cy="12192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030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Статическое хранение значений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Значение живое в любом блоке </a:t>
            </a:r>
            <a:r>
              <a:rPr lang="en-US" dirty="0"/>
              <a:t>{}</a:t>
            </a:r>
            <a:endParaRPr lang="ru-RU" dirty="0"/>
          </a:p>
          <a:p>
            <a:pPr lvl="1"/>
            <a:r>
              <a:rPr lang="ru-RU" dirty="0"/>
              <a:t>Создается до вызова </a:t>
            </a:r>
            <a:r>
              <a:rPr lang="en-US" dirty="0"/>
              <a:t>main()</a:t>
            </a:r>
            <a:endParaRPr lang="ru-RU" dirty="0"/>
          </a:p>
          <a:p>
            <a:pPr lvl="1"/>
            <a:r>
              <a:rPr lang="ru-RU" dirty="0"/>
              <a:t>Уничтожается после возврата из</a:t>
            </a:r>
            <a:r>
              <a:rPr lang="en-US" dirty="0"/>
              <a:t> main()</a:t>
            </a:r>
            <a:endParaRPr lang="ru-RU" dirty="0"/>
          </a:p>
          <a:p>
            <a:pPr lvl="1"/>
            <a:r>
              <a:rPr lang="ru-RU" dirty="0"/>
              <a:t>Для доступа используем </a:t>
            </a:r>
            <a:r>
              <a:rPr lang="en-US" dirty="0"/>
              <a:t>[</a:t>
            </a:r>
            <a:r>
              <a:rPr lang="ru-RU" dirty="0"/>
              <a:t>глобальную</a:t>
            </a:r>
            <a:r>
              <a:rPr lang="en-US" dirty="0"/>
              <a:t>]</a:t>
            </a:r>
            <a:r>
              <a:rPr lang="ru-RU" dirty="0"/>
              <a:t> переменную</a:t>
            </a:r>
          </a:p>
          <a:p>
            <a:pPr lvl="1"/>
            <a:endParaRPr lang="ru-RU" dirty="0"/>
          </a:p>
          <a:p>
            <a:r>
              <a:rPr lang="ru-RU" dirty="0"/>
              <a:t>Инициализация:</a:t>
            </a:r>
          </a:p>
          <a:p>
            <a:pPr lvl="1"/>
            <a:r>
              <a:rPr lang="ru-RU" dirty="0"/>
              <a:t>Однократно до вызова </a:t>
            </a:r>
            <a:r>
              <a:rPr lang="en-US" dirty="0"/>
              <a:t>main()</a:t>
            </a:r>
            <a:endParaRPr lang="ru-RU" dirty="0"/>
          </a:p>
          <a:p>
            <a:pPr lvl="1"/>
            <a:r>
              <a:rPr lang="ru-RU" dirty="0"/>
              <a:t>Если в описании переменной нет начального значения, то двоичное представление начального значения состоит из нулей</a:t>
            </a:r>
          </a:p>
          <a:p>
            <a:pPr lvl="1"/>
            <a:endParaRPr lang="ru-RU" dirty="0"/>
          </a:p>
          <a:p>
            <a:r>
              <a:rPr lang="ru-RU" dirty="0"/>
              <a:t>Когда использовать</a:t>
            </a:r>
          </a:p>
          <a:p>
            <a:pPr lvl="1"/>
            <a:r>
              <a:rPr lang="ru-RU" dirty="0"/>
              <a:t>Не рекомендуется использовать, т.к. скрывает зависимости между вызовами функций</a:t>
            </a:r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742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9A12-0906-9542-B760-989A2CB1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статического хранения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48585-D67C-835B-CE06-E640A9FBF4F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count_calls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counter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Инициализируется один раз при старте программы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D6FF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Function called</a:t>
            </a:r>
            <a:r>
              <a:rPr lang="ru-R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times</a:t>
            </a:r>
            <a:r>
              <a:rPr lang="ru-RU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counter);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count_calls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Выведет: 1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count_calls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Выведет: 2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count_calls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Выведет: 3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658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Потоковое хранение значений (С11)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Значение живое в любом блоке </a:t>
            </a:r>
            <a:r>
              <a:rPr lang="en-US" dirty="0"/>
              <a:t>{}</a:t>
            </a:r>
            <a:r>
              <a:rPr lang="ru-RU" dirty="0"/>
              <a:t> данного потока управления</a:t>
            </a:r>
          </a:p>
          <a:p>
            <a:pPr lvl="1"/>
            <a:r>
              <a:rPr lang="ru-RU" dirty="0"/>
              <a:t>Создается до вызова создания потока</a:t>
            </a:r>
          </a:p>
          <a:p>
            <a:pPr lvl="1"/>
            <a:r>
              <a:rPr lang="ru-RU" dirty="0"/>
              <a:t>Уничтожается после завершения потока</a:t>
            </a:r>
          </a:p>
          <a:p>
            <a:pPr lvl="1"/>
            <a:r>
              <a:rPr lang="ru-RU" dirty="0"/>
              <a:t>Для доступа используем </a:t>
            </a:r>
            <a:r>
              <a:rPr lang="en-US" dirty="0" err="1"/>
              <a:t>thread_local</a:t>
            </a:r>
            <a:r>
              <a:rPr lang="en-US" dirty="0"/>
              <a:t> [</a:t>
            </a:r>
            <a:r>
              <a:rPr lang="ru-RU" dirty="0"/>
              <a:t>глобальную</a:t>
            </a:r>
            <a:r>
              <a:rPr lang="en-US" dirty="0"/>
              <a:t>]</a:t>
            </a:r>
            <a:r>
              <a:rPr lang="ru-RU" dirty="0"/>
              <a:t> переменную</a:t>
            </a:r>
          </a:p>
          <a:p>
            <a:pPr lvl="1"/>
            <a:endParaRPr lang="ru-RU" dirty="0"/>
          </a:p>
          <a:p>
            <a:r>
              <a:rPr lang="ru-RU" dirty="0"/>
              <a:t>Инициализация:</a:t>
            </a:r>
          </a:p>
          <a:p>
            <a:pPr lvl="1"/>
            <a:r>
              <a:rPr lang="ru-RU" dirty="0"/>
              <a:t>Однократно до создания потока</a:t>
            </a:r>
          </a:p>
          <a:p>
            <a:pPr lvl="1"/>
            <a:r>
              <a:rPr lang="ru-RU" dirty="0"/>
              <a:t>Если в описании переменной нет начального значения, то двоичное представление начального значения состоит из нулей</a:t>
            </a:r>
          </a:p>
          <a:p>
            <a:pPr lvl="1"/>
            <a:endParaRPr lang="ru-RU" dirty="0"/>
          </a:p>
          <a:p>
            <a:r>
              <a:rPr lang="ru-RU" dirty="0"/>
              <a:t>Когда использовать</a:t>
            </a:r>
          </a:p>
          <a:p>
            <a:pPr lvl="1"/>
            <a:r>
              <a:rPr lang="ru-RU" dirty="0"/>
              <a:t>Не рекомендуется использовать, т.к. скрывает зависимости между вызовами функций</a:t>
            </a:r>
          </a:p>
          <a:p>
            <a:pPr lvl="1"/>
            <a:r>
              <a:rPr lang="ru-RU" dirty="0"/>
              <a:t>Размер значения не превосходит нескольких килобайтов</a:t>
            </a:r>
          </a:p>
          <a:p>
            <a:pPr marL="457200" lvl="1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0812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ABB6-EE8E-443A-246F-C1519049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 err="1"/>
              <a:t>thread_local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4C04A-1D37-8915-4534-283ADE0CE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threads.h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thread_local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counter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b="0" dirty="0">
              <a:solidFill>
                <a:srgbClr val="FF7B7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thread_num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counter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thread_num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8B949E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Thread 10: counter = 10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Thread 20: counter = 20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C9D1D9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A5D6FF"/>
                </a:solidFill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ru-RU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counter =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C9D1D9"/>
                </a:solidFill>
                <a:latin typeface="Consolas" panose="020B0609020204030204" pitchFamily="49" charset="0"/>
              </a:rPr>
              <a:t>  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thread_num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counter);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F6A5B-868D-931B-D3F8-32378A234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thrd_t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thrd_create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 run,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thrd_join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Main thread: counter = 0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C9D1D9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A5D6FF"/>
                </a:solidFill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Main thread</a:t>
            </a:r>
            <a:r>
              <a:rPr lang="ru-RU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counter =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C9D1D9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counter);</a:t>
            </a:r>
            <a:endParaRPr lang="ru-RU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44411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975D-8672-DF57-9D69-3D172D10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B42F-E015-AB0F-EE39-12FE8A60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Понятие времени жизни значения, связь со способом хранения</a:t>
            </a:r>
          </a:p>
          <a:p>
            <a:pPr lvl="1"/>
            <a:r>
              <a:rPr lang="ru-RU" dirty="0"/>
              <a:t>В течение времени жизни для значения зарезервирована память по фиксированному адресу одним из 4 способов</a:t>
            </a:r>
          </a:p>
          <a:p>
            <a:r>
              <a:rPr lang="ru-RU" dirty="0"/>
              <a:t>Способы хранения:</a:t>
            </a:r>
          </a:p>
          <a:p>
            <a:pPr lvl="1"/>
            <a:r>
              <a:rPr lang="ru-RU" dirty="0"/>
              <a:t>Автоматическое</a:t>
            </a:r>
          </a:p>
          <a:p>
            <a:pPr lvl="2"/>
            <a:r>
              <a:rPr lang="ru-RU" dirty="0"/>
              <a:t>На стеке вызовов, на время исполнения блока</a:t>
            </a:r>
          </a:p>
          <a:p>
            <a:pPr lvl="1"/>
            <a:r>
              <a:rPr lang="ru-RU" dirty="0"/>
              <a:t>Динамическое</a:t>
            </a:r>
          </a:p>
          <a:p>
            <a:pPr lvl="2"/>
            <a:r>
              <a:rPr lang="ru-RU" dirty="0"/>
              <a:t>В «куче», пока не позовем </a:t>
            </a:r>
            <a:r>
              <a:rPr lang="en-US" dirty="0"/>
              <a:t>free</a:t>
            </a:r>
            <a:endParaRPr lang="ru-RU" dirty="0"/>
          </a:p>
          <a:p>
            <a:pPr lvl="1"/>
            <a:r>
              <a:rPr lang="ru-RU" dirty="0"/>
              <a:t>Статическое</a:t>
            </a:r>
          </a:p>
          <a:p>
            <a:pPr lvl="2"/>
            <a:r>
              <a:rPr lang="ru-RU" dirty="0"/>
              <a:t>Память глобальных переменных, навсегда</a:t>
            </a:r>
          </a:p>
          <a:p>
            <a:pPr lvl="1"/>
            <a:r>
              <a:rPr lang="ru-RU" dirty="0"/>
              <a:t>Потоковое</a:t>
            </a:r>
          </a:p>
          <a:p>
            <a:pPr lvl="2"/>
            <a:r>
              <a:rPr lang="ru-RU" dirty="0"/>
              <a:t>В начале стека вызовов потока, пока работает поток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504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9357</TotalTime>
  <Words>2915</Words>
  <Application>Microsoft Office PowerPoint</Application>
  <PresentationFormat>Widescreen</PresentationFormat>
  <Paragraphs>617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Consolas</vt:lpstr>
      <vt:lpstr>Symbol</vt:lpstr>
      <vt:lpstr>Office Theme</vt:lpstr>
      <vt:lpstr>Виды хранения значений</vt:lpstr>
      <vt:lpstr>План лекции</vt:lpstr>
      <vt:lpstr>Понятие памяти программы</vt:lpstr>
      <vt:lpstr>Время жизни значений</vt:lpstr>
      <vt:lpstr>Способ хранения значений</vt:lpstr>
      <vt:lpstr>Автоматическое хранение значений</vt:lpstr>
      <vt:lpstr>Граф вызовов, call graph</vt:lpstr>
      <vt:lpstr>Дерево вызовов, call tree</vt:lpstr>
      <vt:lpstr>Стековый кадр, stack frame</vt:lpstr>
      <vt:lpstr>Стек вызовов, call stack</vt:lpstr>
      <vt:lpstr>Порядок стековых кадров в памяти</vt:lpstr>
      <vt:lpstr>Вызов функции</vt:lpstr>
      <vt:lpstr>Пример в картинках</vt:lpstr>
      <vt:lpstr>Пример в картинках</vt:lpstr>
      <vt:lpstr>Пример в картинках</vt:lpstr>
      <vt:lpstr>Пример в картинках</vt:lpstr>
      <vt:lpstr>Пример в картинках</vt:lpstr>
      <vt:lpstr>Выход за границу буфера в стеке 1/2</vt:lpstr>
      <vt:lpstr>Выход за границу буфера в стеке 2/2</vt:lpstr>
      <vt:lpstr>Динамическое хранение значений</vt:lpstr>
      <vt:lpstr>Стандартные функции malloc, free и др. </vt:lpstr>
      <vt:lpstr>Doug Lea’s malloc (dlmalloc)</vt:lpstr>
      <vt:lpstr>Устройство «кучи»</vt:lpstr>
      <vt:lpstr>Резервирование malloc(size)</vt:lpstr>
      <vt:lpstr>Освобождение free(ptr)</vt:lpstr>
      <vt:lpstr>Накладные расходы при работе с кучей</vt:lpstr>
      <vt:lpstr>Фрагментация кучи</vt:lpstr>
      <vt:lpstr>Виды ошибок при работе с кучей</vt:lpstr>
      <vt:lpstr>Address sanitizer</vt:lpstr>
      <vt:lpstr>Use after free</vt:lpstr>
      <vt:lpstr>Buffer overflow (heap corruption)</vt:lpstr>
      <vt:lpstr>Статическое хранение значений</vt:lpstr>
      <vt:lpstr>Пример использования статического хранения</vt:lpstr>
      <vt:lpstr>Потоковое хранение значений (С11)</vt:lpstr>
      <vt:lpstr>Пример использования thread_local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61</cp:revision>
  <dcterms:created xsi:type="dcterms:W3CDTF">2026-10-02T07:06:57Z</dcterms:created>
  <dcterms:modified xsi:type="dcterms:W3CDTF">2026-10-12T14:09:16Z</dcterms:modified>
</cp:coreProperties>
</file>