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86" r:id="rId5"/>
    <p:sldId id="290" r:id="rId6"/>
    <p:sldId id="295" r:id="rId7"/>
    <p:sldId id="298" r:id="rId8"/>
    <p:sldId id="297" r:id="rId9"/>
    <p:sldId id="296" r:id="rId10"/>
    <p:sldId id="359" r:id="rId11"/>
    <p:sldId id="322" r:id="rId12"/>
    <p:sldId id="410" r:id="rId13"/>
    <p:sldId id="412" r:id="rId14"/>
    <p:sldId id="411" r:id="rId15"/>
    <p:sldId id="425" r:id="rId16"/>
    <p:sldId id="426" r:id="rId17"/>
    <p:sldId id="427" r:id="rId18"/>
    <p:sldId id="428" r:id="rId19"/>
    <p:sldId id="429" r:id="rId20"/>
    <p:sldId id="430" r:id="rId21"/>
    <p:sldId id="431" r:id="rId22"/>
    <p:sldId id="433" r:id="rId23"/>
    <p:sldId id="434" r:id="rId24"/>
    <p:sldId id="347" r:id="rId25"/>
    <p:sldId id="339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41" r:id="rId36"/>
    <p:sldId id="342" r:id="rId37"/>
    <p:sldId id="343" r:id="rId38"/>
    <p:sldId id="344" r:id="rId39"/>
    <p:sldId id="345" r:id="rId40"/>
    <p:sldId id="358" r:id="rId41"/>
  </p:sldIdLst>
  <p:sldSz cx="12192000" cy="6858000"/>
  <p:notesSz cx="6858000" cy="9144000"/>
  <p:embeddedFontLst>
    <p:embeddedFont>
      <p:font typeface="Consolas" panose="020B0609020204030204" pitchFamily="49" charset="0"/>
      <p:regular r:id="rId42"/>
      <p:bold r:id="rId43"/>
      <p:italic r:id="rId44"/>
      <p:boldItalic r:id="rId4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0E30-3E1B-7A10-6FAE-261C68717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BB92E-D42F-606A-BF71-A49CFDF92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BEEC8-1650-5AAE-A9C1-3CD4CE815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77860-6333-0F1B-0EFF-B740E09C1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9B04A-B458-A623-F0E4-947D37BE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6369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E9DF-C784-956B-DC9A-2A3A3B0C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003275-33A5-A215-C457-DFD95C560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DE42C-75ED-449F-2587-92410B999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EA692-FA68-7DA2-5448-A0BF3F6E9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1C07E-F700-C0D3-59DF-D48266D8A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933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D6E9A-14DF-1728-EAB2-11DE09A93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5862B-64A9-03A2-2F42-E8966A5C7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6DB04-9B44-7342-2BC8-AEF1CF54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D1E2C-B55D-60AB-7EE5-F466D5C9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911B1-147C-AB34-5911-AC0DEA9A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34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B6F7-14F1-7187-7E38-6CB25586B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18439-C497-D9C7-31E8-D7A763A5C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137D1-A7CB-AD06-C3CA-8CBB0A89F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38B5F-B344-9A00-8BC4-A7AAC6D4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2138E-0BBD-EC7B-CE41-43F38CA0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CCECE-DAD6-1569-CFBC-8E64546C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0350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17E73-68FF-8153-5FD8-54FD1168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677A3-9B1D-7260-14F1-356A51DA8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A8D6C8-DC9D-B2B5-A77F-E7BD9AF1B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A7B10-17D0-4EF9-5F7C-94CE4667AB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13582B-4884-9AEA-BF9C-42E89D55C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88B8D-6B9D-60DF-7C29-85BED86D2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5C44EE-0CB0-52BB-2D16-4E88F9964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DA8415-4B14-A63B-ED4D-4A4A4263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41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6C7E-8B89-B8D3-E206-6CEBF8C2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57DE62-281C-5353-941D-29BBB5363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EDC25-1436-B180-A6A1-A8ED0B127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BA83CD-0A8F-310F-2B17-5AD21BAD0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7605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5356F4-5840-8830-C66C-8559F5DA6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DF7FEE-C008-CEC9-FE56-F62F3B8B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78F08-CAC4-E5B3-DCDD-A6D968CD7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909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1F7FC-78BF-1027-61E2-C9E86FA9D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59495-EBB9-E117-73ED-D754C04A2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7E063-1527-C7AB-DE86-DCEB73713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9D29B-27AA-5F65-B7C8-6F14D01D7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05757-8641-761A-4771-5CB6E4E31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1E9993-FE04-0436-B97F-60982737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204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2C507-6153-D97D-A76E-24435F633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872315-FA39-7410-11FB-67C23AD04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102BB0-47F9-9EB3-78F2-409B423C3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22B264-BF68-5043-8EED-DEA9C082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84585-9E6D-4B34-E0E2-434AE8C21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D2B8A5-BC3D-FB6F-72BB-EF90F2607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5815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D890-01C6-EDD5-E115-A2CD5DE6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68529-A457-1885-1345-E1D78A510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DD7C9-4B7F-72DC-80E0-8FA4F598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800B0-4D34-4C3F-BE08-06E5CF31A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8CCCE-D695-FDED-22DE-B8DA15E5C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68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BA17D0-344B-C9AF-2AAE-0A44C5F137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4C66A-633A-DAF1-EB07-75481AFC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A517D-44E3-1028-6922-53D7541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8B0C-B0CB-6E35-5BBB-41D0D288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17E2A-DDDA-2C8C-6DD1-B3BAF3354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9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04ED95-0B97-349C-2E89-5B004F50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5B2E9-378E-950E-E984-8E494858A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56701-0324-7F27-D954-8F564E679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2C88B4-52BA-4239-80F8-5769EBA6FFEB}" type="datetimeFigureOut">
              <a:rPr lang="ru-RU" smtClean="0"/>
              <a:t>16.09.2026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2E20A4-1C3C-21FE-6A27-57DE6EA95E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7E046-1E37-BA98-8C32-B6A6AA264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BD8E0-B405-4520-BCF4-85BD8589E1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774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yntha.ai/converters/python-to-c" TargetMode="External"/><Relationship Id="rId2" Type="http://schemas.openxmlformats.org/officeDocument/2006/relationships/hyperlink" Target="https://www.codeconvert.ai/python-to-c-converter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hyperlink" Target="https://git-scm.com/download/gui/windows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gui/windows" TargetMode="Externa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План-капкан до лета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лекции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Информация об этом курсе</a:t>
            </a:r>
          </a:p>
          <a:p>
            <a:r>
              <a:rPr lang="ru-RU" dirty="0"/>
              <a:t>Темы со звездочкой</a:t>
            </a:r>
          </a:p>
          <a:p>
            <a:r>
              <a:rPr lang="ru-RU" dirty="0"/>
              <a:t>Темы по </a:t>
            </a:r>
            <a:r>
              <a:rPr lang="ru-RU" dirty="0" err="1"/>
              <a:t>алгосам</a:t>
            </a:r>
            <a:endParaRPr lang="ru-RU" dirty="0"/>
          </a:p>
          <a:p>
            <a:r>
              <a:rPr lang="ru-RU" dirty="0"/>
              <a:t>Темы по языку Си</a:t>
            </a:r>
          </a:p>
          <a:p>
            <a:r>
              <a:rPr lang="ru-RU" dirty="0"/>
              <a:t>Как делать лабы на </a:t>
            </a:r>
            <a:r>
              <a:rPr lang="en-US" dirty="0"/>
              <a:t>gitlab.ccfit.nsu.ru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об этом курсе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8" name="Content Placeholder 7" descr="Two men sitting in chairs&#10;&#10;Description automatically generated">
            <a:extLst>
              <a:ext uri="{FF2B5EF4-FFF2-40B4-BE49-F238E27FC236}">
                <a16:creationId xmlns:a16="http://schemas.microsoft.com/office/drawing/2014/main" id="{DA2CD5C0-1A5F-577A-99B3-A6D2747DEE2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52" r="22183"/>
          <a:stretch/>
        </p:blipFill>
        <p:spPr>
          <a:xfrm>
            <a:off x="1055439" y="1600201"/>
            <a:ext cx="4520525" cy="4525963"/>
          </a:xfrm>
          <a:ln>
            <a:solidFill>
              <a:schemeClr val="accent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об этом курсе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Петров Евгений Сергеевич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383B3D-6268-E665-A588-300021D5E9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0EBB20-50EC-7702-8ED0-A23E3F393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312" y="2274851"/>
            <a:ext cx="9172575" cy="4171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1098F5-82D7-0EFD-F53E-8C0110C7FFC7}"/>
              </a:ext>
            </a:extLst>
          </p:cNvPr>
          <p:cNvSpPr txBox="1"/>
          <p:nvPr/>
        </p:nvSpPr>
        <p:spPr>
          <a:xfrm rot="18865674">
            <a:off x="9209329" y="3584772"/>
            <a:ext cx="88440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CatBoost</a:t>
            </a:r>
            <a:endParaRPr lang="ru-RU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D843D6-BC20-7547-F64A-059642AD7FAF}"/>
              </a:ext>
            </a:extLst>
          </p:cNvPr>
          <p:cNvSpPr txBox="1"/>
          <p:nvPr/>
        </p:nvSpPr>
        <p:spPr>
          <a:xfrm rot="18768004">
            <a:off x="9756452" y="3558516"/>
            <a:ext cx="83516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ML Infra</a:t>
            </a:r>
            <a:endParaRPr lang="ru-RU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F0EDB-11AA-562B-3D0F-B6C8C4282EA9}"/>
              </a:ext>
            </a:extLst>
          </p:cNvPr>
          <p:cNvSpPr txBox="1"/>
          <p:nvPr/>
        </p:nvSpPr>
        <p:spPr>
          <a:xfrm rot="16200000">
            <a:off x="9363941" y="5090162"/>
            <a:ext cx="16201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500" dirty="0"/>
              <a:t>Индустриальный </a:t>
            </a:r>
          </a:p>
          <a:p>
            <a:r>
              <a:rPr lang="ru-RU" sz="1500" dirty="0"/>
              <a:t>доцент</a:t>
            </a:r>
          </a:p>
        </p:txBody>
      </p:sp>
    </p:spTree>
    <p:extLst>
      <p:ext uri="{BB962C8B-B14F-4D97-AF65-F5344CB8AC3E}">
        <p14:creationId xmlns:p14="http://schemas.microsoft.com/office/powerpoint/2010/main" val="199897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 об этом курсе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Петров Евгений Сергеевич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Программа курса</a:t>
            </a:r>
            <a:endParaRPr lang="en-US" sz="2400" dirty="0"/>
          </a:p>
          <a:p>
            <a:pPr lvl="1"/>
            <a:r>
              <a:rPr lang="en-US" sz="2000" dirty="0"/>
              <a:t>https://www.nsu.ru/n/information-technologies-department/education_fit/programs/OOP/09-03-01/piikn/rabochie-programmy/09.03.01_PIiKN_B1.B.4.pdf</a:t>
            </a:r>
            <a:endParaRPr lang="ru-RU" sz="2000" dirty="0"/>
          </a:p>
          <a:p>
            <a:endParaRPr lang="en-US" sz="2400" dirty="0"/>
          </a:p>
          <a:p>
            <a:r>
              <a:rPr lang="ru-RU" sz="2400" dirty="0"/>
              <a:t>Лекция + семинар + практика каждую учебную неделю</a:t>
            </a:r>
          </a:p>
          <a:p>
            <a:endParaRPr lang="ru-RU" sz="24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1й семестр</a:t>
            </a:r>
          </a:p>
          <a:p>
            <a:pPr lvl="1"/>
            <a:r>
              <a:rPr lang="ru-RU" dirty="0"/>
              <a:t>16 учебных недель</a:t>
            </a:r>
            <a:endParaRPr lang="en-US" dirty="0"/>
          </a:p>
          <a:p>
            <a:pPr lvl="1"/>
            <a:r>
              <a:rPr lang="ru-RU" dirty="0"/>
              <a:t>Дифференцированный зачёт</a:t>
            </a:r>
          </a:p>
          <a:p>
            <a:endParaRPr lang="ru-RU" dirty="0"/>
          </a:p>
          <a:p>
            <a:r>
              <a:rPr lang="ru-RU" dirty="0"/>
              <a:t>2й семестр</a:t>
            </a:r>
          </a:p>
          <a:p>
            <a:pPr lvl="1"/>
            <a:r>
              <a:rPr lang="ru-RU" dirty="0"/>
              <a:t>16 учебных недель</a:t>
            </a:r>
          </a:p>
          <a:p>
            <a:pPr lvl="1"/>
            <a:r>
              <a:rPr lang="ru-RU" dirty="0"/>
              <a:t>Экзамен</a:t>
            </a:r>
          </a:p>
          <a:p>
            <a:endParaRPr lang="ru-RU" dirty="0"/>
          </a:p>
        </p:txBody>
      </p:sp>
      <p:pic>
        <p:nvPicPr>
          <p:cNvPr id="8" name="Picture 7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1C1807-F6AD-ADCB-D378-4CCDD149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5736" y="4481736"/>
            <a:ext cx="2376264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83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Учебная литература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800" dirty="0"/>
              <a:t>Денис, </a:t>
            </a:r>
            <a:r>
              <a:rPr lang="ru-RU" sz="2800" dirty="0" err="1"/>
              <a:t>Ритчи</a:t>
            </a:r>
            <a:r>
              <a:rPr lang="ru-RU" sz="2800" dirty="0"/>
              <a:t> «Язык программирования Си», 3-е издание</a:t>
            </a:r>
          </a:p>
          <a:p>
            <a:endParaRPr lang="ru-RU" sz="2800" dirty="0"/>
          </a:p>
          <a:p>
            <a:r>
              <a:rPr lang="ru-RU" sz="2800" dirty="0" err="1"/>
              <a:t>Кормен</a:t>
            </a:r>
            <a:r>
              <a:rPr lang="ru-RU" sz="2800" dirty="0"/>
              <a:t> и ещё три автора «Алгоритмы: построение и анализ», любое издание</a:t>
            </a:r>
            <a:endParaRPr lang="en-US" sz="2800" dirty="0"/>
          </a:p>
          <a:p>
            <a:endParaRPr lang="en-US" sz="2800" dirty="0"/>
          </a:p>
          <a:p>
            <a:r>
              <a:rPr lang="ru-RU" sz="2800" dirty="0" err="1"/>
              <a:t>Макконелл</a:t>
            </a:r>
            <a:r>
              <a:rPr lang="ru-RU" sz="2800" dirty="0"/>
              <a:t> «Совершенный код», любое издание</a:t>
            </a:r>
          </a:p>
          <a:p>
            <a:endParaRPr lang="ru-RU" sz="2800" dirty="0"/>
          </a:p>
          <a:p>
            <a:r>
              <a:rPr lang="ru-RU" sz="2800" dirty="0"/>
              <a:t>Чурина, </a:t>
            </a:r>
            <a:r>
              <a:rPr lang="ru-RU" sz="2800" dirty="0" err="1"/>
              <a:t>Цикоза</a:t>
            </a:r>
            <a:r>
              <a:rPr lang="ru-RU" sz="2800" dirty="0"/>
              <a:t> методическое пособие в 3-х частях к курсу «Методы программирования»</a:t>
            </a:r>
          </a:p>
          <a:p>
            <a:endParaRPr lang="ru-RU" sz="2800" dirty="0"/>
          </a:p>
          <a:p>
            <a:r>
              <a:rPr lang="ru-RU" sz="2800" dirty="0"/>
              <a:t>Полный список литературы см. в программе курса</a:t>
            </a:r>
          </a:p>
        </p:txBody>
      </p:sp>
    </p:spTree>
    <p:extLst>
      <p:ext uri="{BB962C8B-B14F-4D97-AF65-F5344CB8AC3E}">
        <p14:creationId xmlns:p14="http://schemas.microsoft.com/office/powerpoint/2010/main" val="126855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AEE5-AC1D-A674-912A-EF42127F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со звездочкой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D8C9E-1D6C-7A22-F62F-64E3430CC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До конца мая</a:t>
            </a:r>
          </a:p>
          <a:p>
            <a:pPr lvl="1"/>
            <a:r>
              <a:rPr lang="ru-RU" sz="2800" dirty="0"/>
              <a:t>Сложность вычислений</a:t>
            </a:r>
          </a:p>
          <a:p>
            <a:pPr lvl="1"/>
            <a:r>
              <a:rPr lang="ru-RU" sz="2800" dirty="0"/>
              <a:t>Формальные грамматики</a:t>
            </a:r>
          </a:p>
          <a:p>
            <a:pPr lvl="1"/>
            <a:r>
              <a:rPr lang="ru-RU" sz="2800" dirty="0"/>
              <a:t>Совершенный код</a:t>
            </a:r>
          </a:p>
          <a:p>
            <a:pPr lvl="1"/>
            <a:r>
              <a:rPr lang="ru-RU" sz="2800" dirty="0"/>
              <a:t>Оптимальный код</a:t>
            </a:r>
          </a:p>
          <a:p>
            <a:pPr lvl="1"/>
            <a:r>
              <a:rPr lang="ru-RU" sz="2800" dirty="0"/>
              <a:t>Параллельный код</a:t>
            </a:r>
          </a:p>
          <a:p>
            <a:pPr lvl="1"/>
            <a:r>
              <a:rPr lang="ru-RU" sz="2800" dirty="0"/>
              <a:t>Машинка</a:t>
            </a:r>
          </a:p>
        </p:txBody>
      </p:sp>
    </p:spTree>
    <p:extLst>
      <p:ext uri="{BB962C8B-B14F-4D97-AF65-F5344CB8AC3E}">
        <p14:creationId xmlns:p14="http://schemas.microsoft.com/office/powerpoint/2010/main" val="195862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1BBC-A142-EB64-6431-E0D49108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по </a:t>
            </a:r>
            <a:r>
              <a:rPr lang="ru-RU" dirty="0" err="1"/>
              <a:t>алгосам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E7D3A-E6F0-95F0-23FE-E33C59214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3200" dirty="0"/>
              <a:t>До ½ апреля</a:t>
            </a:r>
          </a:p>
          <a:p>
            <a:pPr lvl="1"/>
            <a:r>
              <a:rPr lang="ru-RU" sz="2800" dirty="0"/>
              <a:t>Кодирование</a:t>
            </a:r>
          </a:p>
          <a:p>
            <a:pPr lvl="1"/>
            <a:r>
              <a:rPr lang="ru-RU" sz="2800" dirty="0"/>
              <a:t>Графы</a:t>
            </a:r>
          </a:p>
          <a:p>
            <a:pPr lvl="1"/>
            <a:r>
              <a:rPr lang="ru-RU" sz="2800" dirty="0"/>
              <a:t>Перебор</a:t>
            </a:r>
          </a:p>
          <a:p>
            <a:pPr lvl="1"/>
            <a:r>
              <a:rPr lang="ru-RU" sz="2800" dirty="0"/>
              <a:t>Динамика</a:t>
            </a:r>
          </a:p>
          <a:p>
            <a:endParaRPr lang="ru-RU" sz="3200" dirty="0"/>
          </a:p>
          <a:p>
            <a:r>
              <a:rPr lang="ru-RU" sz="3200" dirty="0"/>
              <a:t>До конца декабря</a:t>
            </a:r>
          </a:p>
          <a:p>
            <a:pPr lvl="1"/>
            <a:r>
              <a:rPr lang="ru-RU" sz="2800" dirty="0"/>
              <a:t>Поиск</a:t>
            </a:r>
          </a:p>
          <a:p>
            <a:pPr lvl="1"/>
            <a:r>
              <a:rPr lang="ru-RU" sz="2800" dirty="0"/>
              <a:t>Сортировки</a:t>
            </a:r>
          </a:p>
          <a:p>
            <a:pPr lvl="1"/>
            <a:r>
              <a:rPr lang="ru-RU" sz="2800" dirty="0"/>
              <a:t>Контейнеры – стек, очередь, список, хэш таблицы, деревья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133772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01BBC-A142-EB64-6431-E0D49108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по языку 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E7D3A-E6F0-95F0-23FE-E33C59214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До ½ октября</a:t>
            </a:r>
          </a:p>
          <a:p>
            <a:pPr lvl="1"/>
            <a:r>
              <a:rPr lang="ru-RU" sz="3200" dirty="0"/>
              <a:t>Си = Питон, но</a:t>
            </a:r>
          </a:p>
          <a:p>
            <a:pPr lvl="2"/>
            <a:r>
              <a:rPr lang="ru-RU" sz="2800" dirty="0"/>
              <a:t>Другая типизация – большая тема</a:t>
            </a:r>
          </a:p>
          <a:p>
            <a:pPr lvl="3"/>
            <a:r>
              <a:rPr lang="ru-RU" sz="2400" dirty="0"/>
              <a:t>Система типов, размещение в памяти, приколы с выражениями</a:t>
            </a:r>
          </a:p>
          <a:p>
            <a:pPr lvl="2"/>
            <a:r>
              <a:rPr lang="ru-RU" sz="2800" dirty="0"/>
              <a:t>Другая модульность – большая тема</a:t>
            </a:r>
          </a:p>
          <a:p>
            <a:pPr lvl="3"/>
            <a:r>
              <a:rPr lang="ru-RU" sz="2400" dirty="0"/>
              <a:t>Раздельная компиляция, связывание имен</a:t>
            </a:r>
          </a:p>
          <a:p>
            <a:pPr lvl="2"/>
            <a:r>
              <a:rPr lang="ru-RU" sz="2800" dirty="0"/>
              <a:t>Есть препроцессор – пара лекций</a:t>
            </a:r>
          </a:p>
          <a:p>
            <a:pPr lvl="1"/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686820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Метаинформация о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Dennis Ritchie (1941-2011)</a:t>
            </a:r>
          </a:p>
          <a:p>
            <a:pPr lvl="1"/>
            <a:r>
              <a:rPr lang="ru-RU" dirty="0"/>
              <a:t>Язык для разработки ОС </a:t>
            </a:r>
            <a:r>
              <a:rPr lang="en-US" dirty="0"/>
              <a:t>UNIX</a:t>
            </a:r>
          </a:p>
          <a:p>
            <a:pPr lvl="1"/>
            <a:r>
              <a:rPr lang="en-US" dirty="0"/>
              <a:t>1969-1973, Bell Laboratories</a:t>
            </a:r>
            <a:r>
              <a:rPr lang="ru-RU" dirty="0"/>
              <a:t>, США</a:t>
            </a:r>
            <a:endParaRPr lang="en-US" dirty="0"/>
          </a:p>
          <a:p>
            <a:r>
              <a:rPr lang="ru-RU" dirty="0"/>
              <a:t>Стандарты</a:t>
            </a:r>
          </a:p>
          <a:p>
            <a:pPr lvl="1"/>
            <a:r>
              <a:rPr lang="en-US" dirty="0"/>
              <a:t>ANSI</a:t>
            </a:r>
            <a:r>
              <a:rPr lang="ru-RU" dirty="0"/>
              <a:t> (С89)</a:t>
            </a:r>
          </a:p>
          <a:p>
            <a:pPr lvl="1"/>
            <a:r>
              <a:rPr lang="ru-RU" dirty="0"/>
              <a:t>С99</a:t>
            </a:r>
          </a:p>
          <a:p>
            <a:pPr lvl="1"/>
            <a:r>
              <a:rPr lang="ru-RU" dirty="0"/>
              <a:t>С11</a:t>
            </a:r>
            <a:endParaRPr lang="en-US" dirty="0"/>
          </a:p>
          <a:p>
            <a:endParaRPr lang="ru-R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515A08-33B5-71C2-C09C-63A2183A5E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CA261E-8D93-55C8-F769-87D03BCBBF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476"/>
          <a:stretch/>
        </p:blipFill>
        <p:spPr>
          <a:xfrm>
            <a:off x="686793" y="1825626"/>
            <a:ext cx="53251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654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Метаинформация о языке Си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Dennis Ritchie (1941-2011)</a:t>
            </a:r>
          </a:p>
          <a:p>
            <a:pPr lvl="1"/>
            <a:r>
              <a:rPr lang="ru-RU" dirty="0"/>
              <a:t>Язык для разработки ОС </a:t>
            </a:r>
            <a:r>
              <a:rPr lang="en-US" dirty="0"/>
              <a:t>UNIX</a:t>
            </a:r>
          </a:p>
          <a:p>
            <a:pPr lvl="1"/>
            <a:r>
              <a:rPr lang="en-US" dirty="0"/>
              <a:t>1969-1973, Bell Laboratories</a:t>
            </a:r>
            <a:r>
              <a:rPr lang="ru-RU" dirty="0"/>
              <a:t>, США</a:t>
            </a:r>
            <a:endParaRPr lang="en-US" dirty="0"/>
          </a:p>
          <a:p>
            <a:r>
              <a:rPr lang="ru-RU" dirty="0"/>
              <a:t>Стандарты</a:t>
            </a:r>
          </a:p>
          <a:p>
            <a:pPr lvl="1"/>
            <a:r>
              <a:rPr lang="en-US" dirty="0"/>
              <a:t>ANSI</a:t>
            </a:r>
            <a:r>
              <a:rPr lang="ru-RU" dirty="0"/>
              <a:t> (С89), С99 С11</a:t>
            </a:r>
            <a:endParaRPr lang="en-US" dirty="0"/>
          </a:p>
          <a:p>
            <a:endParaRPr lang="ru-RU" dirty="0"/>
          </a:p>
        </p:txBody>
      </p:sp>
      <p:sp>
        <p:nvSpPr>
          <p:cNvPr id="3" name="Flowchart: Process 2"/>
          <p:cNvSpPr/>
          <p:nvPr/>
        </p:nvSpPr>
        <p:spPr>
          <a:xfrm>
            <a:off x="6197600" y="1825624"/>
            <a:ext cx="5384800" cy="4351338"/>
          </a:xfrm>
          <a:prstGeom prst="flowChartProcess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000" dirty="0"/>
              <a:t>“Pretty much everything on the web uses those two things: C and UNIX,” </a:t>
            </a:r>
            <a:r>
              <a:rPr lang="en-US" sz="2000" b="1" i="1" dirty="0">
                <a:solidFill>
                  <a:srgbClr val="FFC000"/>
                </a:solidFill>
              </a:rPr>
              <a:t>Rob Pike</a:t>
            </a:r>
            <a:r>
              <a:rPr lang="en-US" sz="2000" i="1" dirty="0"/>
              <a:t> tells Wired</a:t>
            </a:r>
            <a:r>
              <a:rPr lang="en-US" sz="2000" dirty="0"/>
              <a:t>. “The browsers are written in C. The UNIX kernel — that pretty much the entire Internet runs on — is written in C. Web servers are written in C, and if they’re not, they’re written in Java or C++, which are C derivatives, or Python or Ruby, which are implemented in C. And all of the network hardware running these programs I can almost guarantee were written in C.”</a:t>
            </a:r>
            <a:endParaRPr lang="ru-RU" sz="20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B81854-05B6-9589-40C2-25DBC0E96A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44F0F09E-C86C-CF20-736D-63F8F23BBD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476"/>
          <a:stretch/>
        </p:blipFill>
        <p:spPr>
          <a:xfrm>
            <a:off x="686793" y="1825626"/>
            <a:ext cx="53251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80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fish&#10;&#10;Description automatically generated">
            <a:extLst>
              <a:ext uri="{FF2B5EF4-FFF2-40B4-BE49-F238E27FC236}">
                <a16:creationId xmlns:a16="http://schemas.microsoft.com/office/drawing/2014/main" id="{88FB2161-62B8-02E1-AA99-C92E13F26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45" y="0"/>
            <a:ext cx="4011709" cy="225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CB517-C138-3AD9-8086-3D65B0E0D1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-3" y="0"/>
            <a:ext cx="4011709" cy="2256586"/>
          </a:xfrm>
          <a:prstGeom prst="rect">
            <a:avLst/>
          </a:prstGeom>
        </p:spPr>
      </p:pic>
      <p:pic>
        <p:nvPicPr>
          <p:cNvPr id="6" name="Picture 5" descr="A puffer fish with spikes&#10;&#10;Description automatically generated">
            <a:extLst>
              <a:ext uri="{FF2B5EF4-FFF2-40B4-BE49-F238E27FC236}">
                <a16:creationId xmlns:a16="http://schemas.microsoft.com/office/drawing/2014/main" id="{B88FD488-4DAD-2D0E-3F17-ADB497ACE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93" y="0"/>
            <a:ext cx="4011709" cy="2256586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8AA4CB7-48AE-FCD5-56D3-141E2C419B51}"/>
              </a:ext>
            </a:extLst>
          </p:cNvPr>
          <p:cNvGraphicFramePr>
            <a:graphicFrameLocks noGrp="1"/>
          </p:cNvGraphicFramePr>
          <p:nvPr/>
        </p:nvGraphicFramePr>
        <p:xfrm>
          <a:off x="848" y="2315204"/>
          <a:ext cx="12191151" cy="11887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717">
                  <a:extLst>
                    <a:ext uri="{9D8B030D-6E8A-4147-A177-3AD203B41FA5}">
                      <a16:colId xmlns:a16="http://schemas.microsoft.com/office/drawing/2014/main" val="2674660060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1892836262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2113297172"/>
                    </a:ext>
                  </a:extLst>
                </a:gridCol>
              </a:tblGrid>
              <a:tr h="393716"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Consolas" panose="020B0609020204030204" pitchFamily="49" charset="0"/>
                        </a:rPr>
                        <a:t>Си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7200" dirty="0">
                          <a:latin typeface="Consolas" panose="020B0609020204030204" pitchFamily="49" charset="0"/>
                        </a:rPr>
                        <a:t>Питон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7200" dirty="0">
                          <a:latin typeface="Consolas" panose="020B0609020204030204" pitchFamily="49" charset="0"/>
                        </a:rPr>
                        <a:t>Паскаль</a:t>
                      </a:r>
                      <a:endParaRPr lang="en-US" sz="7200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9092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5951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fish&#10;&#10;Description automatically generated">
            <a:extLst>
              <a:ext uri="{FF2B5EF4-FFF2-40B4-BE49-F238E27FC236}">
                <a16:creationId xmlns:a16="http://schemas.microsoft.com/office/drawing/2014/main" id="{88FB2161-62B8-02E1-AA99-C92E13F26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45" y="0"/>
            <a:ext cx="4011709" cy="225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CB517-C138-3AD9-8086-3D65B0E0D1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-3" y="0"/>
            <a:ext cx="4011709" cy="2256586"/>
          </a:xfrm>
          <a:prstGeom prst="rect">
            <a:avLst/>
          </a:prstGeom>
        </p:spPr>
      </p:pic>
      <p:pic>
        <p:nvPicPr>
          <p:cNvPr id="6" name="Picture 5" descr="A puffer fish with spikes&#10;&#10;Description automatically generated">
            <a:extLst>
              <a:ext uri="{FF2B5EF4-FFF2-40B4-BE49-F238E27FC236}">
                <a16:creationId xmlns:a16="http://schemas.microsoft.com/office/drawing/2014/main" id="{B88FD488-4DAD-2D0E-3F17-ADB497ACE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93" y="0"/>
            <a:ext cx="4011709" cy="2256586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8AA4CB7-48AE-FCD5-56D3-141E2C419B51}"/>
              </a:ext>
            </a:extLst>
          </p:cNvPr>
          <p:cNvGraphicFramePr>
            <a:graphicFrameLocks noGrp="1"/>
          </p:cNvGraphicFramePr>
          <p:nvPr/>
        </p:nvGraphicFramePr>
        <p:xfrm>
          <a:off x="848" y="2315204"/>
          <a:ext cx="12191151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717">
                  <a:extLst>
                    <a:ext uri="{9D8B030D-6E8A-4147-A177-3AD203B41FA5}">
                      <a16:colId xmlns:a16="http://schemas.microsoft.com/office/drawing/2014/main" val="2674660060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1892836262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2113297172"/>
                    </a:ext>
                  </a:extLst>
                </a:gridCol>
              </a:tblGrid>
              <a:tr h="39371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строка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символ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ошибка</a:t>
                      </a:r>
                    </a:p>
                    <a:p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 </a:t>
                      </a: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спецэффекты</a:t>
                      </a:r>
                      <a:endParaRPr lang="ru-RU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{  </a:t>
                      </a: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swap a &lt;-&gt; b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t = a;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a = b;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b = t;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b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(x &lt;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-x;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 </a:t>
                      </a: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синтаксически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ok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строка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строка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строка</a:t>
                      </a:r>
                    </a:p>
                    <a:p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{ 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 </a:t>
                      </a: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синтаксическая ошибка</a:t>
                      </a:r>
                      <a:endParaRPr lang="ru-RU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  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t 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a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  a 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b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  b 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 t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b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 &lt;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= -x  </a:t>
                      </a:r>
                      <a:r>
                        <a:rPr lang="en-US" sz="1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# </a:t>
                      </a:r>
                      <a:r>
                        <a:rPr lang="ru-RU" sz="1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синтаксическая ошибка</a:t>
                      </a: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en-US" b="0" dirty="0" err="1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"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ошибка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символ</a:t>
                      </a:r>
                    </a:p>
                    <a:p>
                      <a:r>
                        <a:rPr lang="ru-RU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-- </a:t>
                      </a:r>
                      <a: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строка</a:t>
                      </a:r>
                    </a:p>
                    <a:p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x: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:=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:= 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 err="1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abc</a:t>
                      </a:r>
                      <a:r>
                        <a:rPr lang="en-US" b="0" dirty="0">
                          <a:solidFill>
                            <a:srgbClr val="CE9178"/>
                          </a:solidFill>
                          <a:effectLst/>
                          <a:latin typeface="Consolas" panose="020B0609020204030204" pitchFamily="49" charset="0"/>
                        </a:rPr>
                        <a:t>'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 </a:t>
                      </a:r>
                      <a:r>
                        <a:rPr lang="ru-RU" sz="1600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ошибка компиляции</a:t>
                      </a:r>
                      <a:endParaRPr lang="ru-RU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ru-RU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{  многострочный комментарий</a:t>
                      </a:r>
                      <a:endParaRPr lang="ru-RU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 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t := a;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  a := b;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   b := t;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 &lt;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then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x := -x;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// </a:t>
                      </a:r>
                      <a:r>
                        <a:rPr lang="ru-RU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синтаксически </a:t>
                      </a:r>
                      <a:r>
                        <a:rPr lang="en-US" b="0" dirty="0">
                          <a:solidFill>
                            <a:srgbClr val="6A9955"/>
                          </a:solidFill>
                          <a:effectLst/>
                          <a:latin typeface="Consolas" panose="020B0609020204030204" pitchFamily="49" charset="0"/>
                        </a:rPr>
                        <a:t>ok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092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23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fish&#10;&#10;Description automatically generated">
            <a:extLst>
              <a:ext uri="{FF2B5EF4-FFF2-40B4-BE49-F238E27FC236}">
                <a16:creationId xmlns:a16="http://schemas.microsoft.com/office/drawing/2014/main" id="{88FB2161-62B8-02E1-AA99-C92E13F26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45" y="0"/>
            <a:ext cx="4011709" cy="22565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FCB517-C138-3AD9-8086-3D65B0E0D13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b="12500"/>
          <a:stretch/>
        </p:blipFill>
        <p:spPr>
          <a:xfrm>
            <a:off x="-3" y="0"/>
            <a:ext cx="4011709" cy="2256586"/>
          </a:xfrm>
          <a:prstGeom prst="rect">
            <a:avLst/>
          </a:prstGeom>
        </p:spPr>
      </p:pic>
      <p:pic>
        <p:nvPicPr>
          <p:cNvPr id="6" name="Picture 5" descr="A puffer fish with spikes&#10;&#10;Description automatically generated">
            <a:extLst>
              <a:ext uri="{FF2B5EF4-FFF2-40B4-BE49-F238E27FC236}">
                <a16:creationId xmlns:a16="http://schemas.microsoft.com/office/drawing/2014/main" id="{B88FD488-4DAD-2D0E-3F17-ADB497ACE3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0293" y="0"/>
            <a:ext cx="4011709" cy="2256586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38AA4CB7-48AE-FCD5-56D3-141E2C419B51}"/>
              </a:ext>
            </a:extLst>
          </p:cNvPr>
          <p:cNvGraphicFramePr>
            <a:graphicFrameLocks noGrp="1"/>
          </p:cNvGraphicFramePr>
          <p:nvPr/>
        </p:nvGraphicFramePr>
        <p:xfrm>
          <a:off x="848" y="2315204"/>
          <a:ext cx="12191151" cy="448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63717">
                  <a:extLst>
                    <a:ext uri="{9D8B030D-6E8A-4147-A177-3AD203B41FA5}">
                      <a16:colId xmlns:a16="http://schemas.microsoft.com/office/drawing/2014/main" val="2674660060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1892836262"/>
                    </a:ext>
                  </a:extLst>
                </a:gridCol>
                <a:gridCol w="4063717">
                  <a:extLst>
                    <a:ext uri="{9D8B030D-6E8A-4147-A177-3AD203B41FA5}">
                      <a16:colId xmlns:a16="http://schemas.microsoft.com/office/drawing/2014/main" val="2113297172"/>
                    </a:ext>
                  </a:extLst>
                </a:gridCol>
              </a:tblGrid>
              <a:tr h="39371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void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* 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* </a:t>
                      </a:r>
                      <a:r>
                        <a:rPr lang="en-U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 {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t = *a;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*a = *b;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*b = t;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b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main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() {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 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y 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500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(&amp;x, &amp;y);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b="0" dirty="0" err="1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def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s-E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s-ES" b="0" dirty="0" err="1">
                          <a:solidFill>
                            <a:srgbClr val="C586C0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endParaRPr lang="es-E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s-E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100</a:t>
                      </a:r>
                      <a:endParaRPr lang="es-E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s-E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500</a:t>
                      </a:r>
                      <a:endParaRPr lang="es-E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b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s-E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x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es-ES" b="0" dirty="0">
                          <a:solidFill>
                            <a:srgbClr val="9CDCFE"/>
                          </a:solidFill>
                          <a:effectLst/>
                          <a:latin typeface="Consolas" panose="020B0609020204030204" pitchFamily="49" charset="0"/>
                        </a:rPr>
                        <a:t>y</a:t>
                      </a:r>
                      <a: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br>
                        <a:rPr lang="es-E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endParaRPr lang="es-E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program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s;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procedure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DCDCAA"/>
                          </a:solidFill>
                          <a:effectLst/>
                          <a:latin typeface="Consolas" panose="020B0609020204030204" pitchFamily="49" charset="0"/>
                        </a:rPr>
                        <a:t>swap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a, b: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t: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begin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t := a;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a := b;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  b := t;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end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x, y: </a:t>
                      </a:r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begin</a:t>
                      </a:r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x :=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100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y := </a:t>
                      </a:r>
                      <a:r>
                        <a:rPr lang="en-US" b="0" dirty="0">
                          <a:solidFill>
                            <a:srgbClr val="B5CEA8"/>
                          </a:solidFill>
                          <a:effectLst/>
                          <a:latin typeface="Consolas" panose="020B0609020204030204" pitchFamily="49" charset="0"/>
                        </a:rPr>
                        <a:t>500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  swap(x, y);</a:t>
                      </a:r>
                    </a:p>
                    <a:p>
                      <a:r>
                        <a:rPr lang="en-US" b="0" dirty="0">
                          <a:solidFill>
                            <a:srgbClr val="569CD6"/>
                          </a:solidFill>
                          <a:effectLst/>
                          <a:latin typeface="Consolas" panose="020B0609020204030204" pitchFamily="49" charset="0"/>
                        </a:rPr>
                        <a:t>end</a:t>
                      </a:r>
                      <a:r>
                        <a:rPr lang="en-US" b="0" dirty="0">
                          <a:solidFill>
                            <a:srgbClr val="D4D4D4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endParaRPr lang="ru-RU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US" b="0" dirty="0">
                        <a:solidFill>
                          <a:srgbClr val="D4D4D4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092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418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8842-B7A9-6016-85CF-0A64C9D29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CE27D-2DF7-247B-390C-422D3233D4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Императивный</a:t>
            </a:r>
          </a:p>
          <a:p>
            <a:pPr lvl="1"/>
            <a:r>
              <a:rPr lang="ru-RU" dirty="0"/>
              <a:t>Описание действий над данными</a:t>
            </a:r>
          </a:p>
          <a:p>
            <a:endParaRPr lang="ru-RU" dirty="0"/>
          </a:p>
          <a:p>
            <a:r>
              <a:rPr lang="ru-RU" dirty="0"/>
              <a:t>Интерпретируемый</a:t>
            </a:r>
          </a:p>
          <a:p>
            <a:pPr lvl="1"/>
            <a:r>
              <a:rPr lang="ru-RU" dirty="0"/>
              <a:t>Программу исполняет интерпретатор</a:t>
            </a:r>
          </a:p>
          <a:p>
            <a:endParaRPr lang="ru-RU" dirty="0"/>
          </a:p>
          <a:p>
            <a:r>
              <a:rPr lang="ru-RU" dirty="0"/>
              <a:t>Неявная типизация</a:t>
            </a:r>
          </a:p>
          <a:p>
            <a:pPr lvl="1"/>
            <a:r>
              <a:rPr lang="ru-RU" dirty="0"/>
              <a:t>Типы переменных назначает интерпретатор</a:t>
            </a:r>
          </a:p>
          <a:p>
            <a:endParaRPr lang="ru-RU" dirty="0"/>
          </a:p>
          <a:p>
            <a:r>
              <a:rPr lang="en-US" dirty="0">
                <a:hlinkClick r:id="rId2"/>
              </a:rPr>
              <a:t>https://www.codeconvert.ai/python-to-c-converter</a:t>
            </a:r>
            <a:r>
              <a:rPr lang="ru-RU" dirty="0"/>
              <a:t> </a:t>
            </a:r>
          </a:p>
          <a:p>
            <a:r>
              <a:rPr lang="en-US" dirty="0">
                <a:hlinkClick r:id="rId3"/>
              </a:rPr>
              <a:t>https://syntha.ai/converters/python-to-c</a:t>
            </a:r>
            <a:endParaRPr lang="ru-RU" dirty="0"/>
          </a:p>
          <a:p>
            <a:endParaRPr lang="ru-R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85319-49DA-69D0-88B7-2B26D003CD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Императивный</a:t>
            </a:r>
          </a:p>
          <a:p>
            <a:pPr lvl="1"/>
            <a:endParaRPr lang="ru-RU" dirty="0"/>
          </a:p>
          <a:p>
            <a:endParaRPr lang="ru-RU" dirty="0"/>
          </a:p>
          <a:p>
            <a:r>
              <a:rPr lang="ru-RU" dirty="0"/>
              <a:t>Компилируемый</a:t>
            </a:r>
          </a:p>
          <a:p>
            <a:pPr lvl="1"/>
            <a:r>
              <a:rPr lang="ru-RU" dirty="0"/>
              <a:t>Программу исполняет процессор</a:t>
            </a:r>
          </a:p>
          <a:p>
            <a:endParaRPr lang="ru-RU" dirty="0"/>
          </a:p>
          <a:p>
            <a:r>
              <a:rPr lang="ru-RU" dirty="0"/>
              <a:t>Явная типизация</a:t>
            </a:r>
          </a:p>
          <a:p>
            <a:pPr lvl="1"/>
            <a:r>
              <a:rPr lang="ru-RU" dirty="0"/>
              <a:t>Типы переменных назначает программист</a:t>
            </a:r>
          </a:p>
        </p:txBody>
      </p:sp>
    </p:spTree>
    <p:extLst>
      <p:ext uri="{BB962C8B-B14F-4D97-AF65-F5344CB8AC3E}">
        <p14:creationId xmlns:p14="http://schemas.microsoft.com/office/powerpoint/2010/main" val="1187727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126B15-044D-4129-57F2-80A717A6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C0BB974D-DEE9-2BB8-5FB0-6EF1D51F6C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0"/>
          <a:ext cx="10972797" cy="447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040">
                  <a:extLst>
                    <a:ext uri="{9D8B030D-6E8A-4147-A177-3AD203B41FA5}">
                      <a16:colId xmlns:a16="http://schemas.microsoft.com/office/drawing/2014/main" val="1423839423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909636678"/>
                    </a:ext>
                  </a:extLst>
                </a:gridCol>
                <a:gridCol w="5702421">
                  <a:extLst>
                    <a:ext uri="{9D8B030D-6E8A-4147-A177-3AD203B41FA5}">
                      <a16:colId xmlns:a16="http://schemas.microsoft.com/office/drawing/2014/main" val="5049276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Особенности в языке Си</a:t>
                      </a:r>
                      <a:endParaRPr lang="ru-RU" sz="20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203210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1.5</a:t>
                      </a:r>
                      <a:endParaRPr lang="en-US" sz="20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+= 1</a:t>
                      </a:r>
                      <a:endParaRPr lang="en-US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double x = 1.5;</a:t>
                      </a:r>
                      <a:endParaRPr lang="fr-FR" sz="20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+= 1;</a:t>
                      </a:r>
                      <a:endParaRPr lang="fr-FR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для более быстрых и менее точных вычислений есть тип </a:t>
                      </a:r>
                      <a:r>
                        <a:rPr lang="ru-RU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float</a:t>
                      </a:r>
                      <a:endParaRPr lang="ru-RU" sz="20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2000" dirty="0">
                          <a:effectLst/>
                        </a:rPr>
                      </a:b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для более медленных и точных вычислений –  тип </a:t>
                      </a:r>
                      <a:r>
                        <a:rPr lang="ru-RU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long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RU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double</a:t>
                      </a: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  <a:endParaRPr lang="ru-RU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137735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1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int x = 1;</a:t>
                      </a:r>
                      <a:endParaRPr lang="en-US" sz="2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имеют фиксированную разрядность</a:t>
                      </a:r>
                      <a:endParaRPr lang="ru-RU" sz="20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2000">
                          <a:effectLst/>
                        </a:rPr>
                      </a:b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обычно тип </a:t>
                      </a:r>
                      <a:r>
                        <a:rPr lang="ru-RU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имеет 32 двоичных разряда, </a:t>
                      </a:r>
                      <a:r>
                        <a:rPr lang="ru-RU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</a:t>
                      </a: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– 8, </a:t>
                      </a:r>
                      <a:r>
                        <a:rPr lang="ru-RU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short</a:t>
                      </a: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– 16, </a:t>
                      </a:r>
                      <a:r>
                        <a:rPr lang="ru-RU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long</a:t>
                      </a: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ru-RU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long</a:t>
                      </a: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– 64 </a:t>
                      </a:r>
                      <a:endParaRPr lang="ru-RU" sz="20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4021304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'a'</a:t>
                      </a:r>
                      <a:endParaRPr lang="es-ES" sz="20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 = "b"</a:t>
                      </a:r>
                      <a:endParaRPr lang="es-ES" sz="20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y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 x = 'a';</a:t>
                      </a:r>
                      <a:endParaRPr lang="es-ES" sz="20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 y = 'b';</a:t>
                      </a:r>
                      <a:endParaRPr lang="es-ES" sz="20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y;</a:t>
                      </a:r>
                      <a:endParaRPr lang="es-ES" sz="20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одиночные символы всегда записываются в одинарных кавычках</a:t>
                      </a:r>
                      <a:endParaRPr lang="ru-RU" sz="20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36998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798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Массивы в Си</a:t>
            </a:r>
          </a:p>
          <a:p>
            <a:pPr lvl="1"/>
            <a:r>
              <a:rPr lang="ru-RU" sz="2000" dirty="0"/>
              <a:t>имитация работы со строками, кортежами и списками в </a:t>
            </a:r>
            <a:r>
              <a:rPr lang="en-US" sz="2000" dirty="0"/>
              <a:t>Python</a:t>
            </a:r>
            <a:endParaRPr lang="ru-RU" sz="2000" dirty="0"/>
          </a:p>
          <a:p>
            <a:pPr lvl="1"/>
            <a:r>
              <a:rPr lang="ru-RU" sz="2000" dirty="0"/>
              <a:t>максимальный размер известен во время компиляции исходного кода, все элементы имеют один и тот же тип</a:t>
            </a:r>
          </a:p>
          <a:p>
            <a:pPr lvl="1"/>
            <a:r>
              <a:rPr lang="ru-RU" sz="2000" dirty="0"/>
              <a:t>определена только одна операция – доступ к элементу по целочисленному индексу</a:t>
            </a:r>
          </a:p>
          <a:p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22E4C4-F9DA-8E9D-7AD0-EE6366ACCD19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911071"/>
          <a:ext cx="10972800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8168">
                  <a:extLst>
                    <a:ext uri="{9D8B030D-6E8A-4147-A177-3AD203B41FA5}">
                      <a16:colId xmlns:a16="http://schemas.microsoft.com/office/drawing/2014/main" val="101477914"/>
                    </a:ext>
                  </a:extLst>
                </a:gridCol>
                <a:gridCol w="3917032">
                  <a:extLst>
                    <a:ext uri="{9D8B030D-6E8A-4147-A177-3AD203B41FA5}">
                      <a16:colId xmlns:a16="http://schemas.microsoft.com/office/drawing/2014/main" val="4036464899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722860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Особенности в языке 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115434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[5, 6, 7]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x[1] = x[2] + 2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int x[3] = {5, 6, 7};</a:t>
                      </a:r>
                      <a:endParaRPr lang="en-U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x[1] = x[2] + 2;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начальные значения элементов пишутся в { }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49448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x = '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abc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y = '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abc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 x[4] = {'a','b','c',0};</a:t>
                      </a:r>
                      <a:endParaRPr lang="es-E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 y[4] = "abc";</a:t>
                      </a:r>
                      <a:endParaRPr lang="es-ES" sz="3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длина строки задается индексом символа с ASCII кодом 0</a:t>
                      </a:r>
                      <a:endParaRPr lang="ru-RU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71892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498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Структуры в Си</a:t>
            </a:r>
          </a:p>
          <a:p>
            <a:pPr lvl="1"/>
            <a:r>
              <a:rPr lang="ru-RU" sz="2000" dirty="0"/>
              <a:t>имитация работы со словарями</a:t>
            </a:r>
          </a:p>
          <a:p>
            <a:pPr lvl="1"/>
            <a:r>
              <a:rPr lang="ru-RU" sz="2000" dirty="0"/>
              <a:t>набор ключей и типы хранимых значений известны во время компиляции</a:t>
            </a:r>
          </a:p>
          <a:p>
            <a:pPr lvl="1"/>
            <a:r>
              <a:rPr lang="ru-RU" sz="2000" dirty="0"/>
              <a:t>определены только две операции: доступ к элементу по ключу и присваивание структур</a:t>
            </a:r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05F7A-0EB9-9AB4-DFEF-A3FA10CA5E7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435900"/>
          <a:ext cx="1097280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9844090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037035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243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# в 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не требуется 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# описывать ключи,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# используемые в словарях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ru-RU" sz="2000" dirty="0">
                          <a:effectLst/>
                        </a:rPr>
                      </a:b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{'month': '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jan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', 'day': 1}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old_ny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old_ny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['day'] = 13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typedef struct { // </a:t>
                      </a: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описание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char month[4]; // </a:t>
                      </a: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элементов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int day;       // </a:t>
                      </a: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структуры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 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date;          // </a:t>
                      </a:r>
                      <a:r>
                        <a:rPr lang="ru-RU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имя структуры</a:t>
                      </a:r>
                      <a:endParaRPr lang="ru-RU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date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{"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jan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", 1};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date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old_ny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ny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old_ny.day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= 13;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8394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529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Блоки операторов в Си</a:t>
            </a:r>
          </a:p>
          <a:p>
            <a:pPr lvl="1"/>
            <a:r>
              <a:rPr lang="ru-RU" sz="2400" dirty="0"/>
              <a:t>любое число пробелов эквивалентно одному пробелу</a:t>
            </a:r>
          </a:p>
          <a:p>
            <a:pPr lvl="1"/>
            <a:r>
              <a:rPr lang="ru-RU" sz="2400" dirty="0"/>
              <a:t>для объединения операторов в блоки используются фигурные скобки {} </a:t>
            </a:r>
          </a:p>
          <a:p>
            <a:pPr lvl="1"/>
            <a:r>
              <a:rPr lang="ru-RU" sz="2400" dirty="0"/>
              <a:t>отступ без {} не приводит к возникновению блока операторов</a:t>
            </a:r>
          </a:p>
          <a:p>
            <a:pPr lvl="1"/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05F7A-0EB9-9AB4-DFEF-A3FA10CA5E7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435900"/>
          <a:ext cx="109728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9844090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037035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243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 x[i] &gt; 0: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y[i] = log(x[i])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m[i] = True</a:t>
                      </a:r>
                      <a:endParaRPr lang="nn-NO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 (x[i] &gt; 0) {</a:t>
                      </a:r>
                      <a:endParaRPr lang="nn-NO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y[i] = log(x[i]);</a:t>
                      </a:r>
                      <a:endParaRPr lang="nn-NO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m[i] = true;</a:t>
                      </a:r>
                      <a:endParaRPr lang="nn-NO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endParaRPr lang="nn-NO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8394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 x[i] &gt; 0: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y[i] = log(x[i])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m[i] = True</a:t>
                      </a:r>
                      <a:endParaRPr lang="nn-NO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 (x[i] &gt; 0)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y[i] = log(x[i]);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m[i] = true;</a:t>
                      </a:r>
                      <a:endParaRPr lang="nn-NO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19899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7829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Оформление управляющих операторов в Си</a:t>
            </a:r>
          </a:p>
          <a:p>
            <a:pPr lvl="1"/>
            <a:r>
              <a:rPr lang="ru-RU" sz="2400" dirty="0"/>
              <a:t>обязательные круглые скобки</a:t>
            </a:r>
          </a:p>
          <a:p>
            <a:pPr lvl="1"/>
            <a:r>
              <a:rPr lang="ru-RU" sz="2400" dirty="0"/>
              <a:t>не используется двоеточие</a:t>
            </a:r>
          </a:p>
          <a:p>
            <a:pPr lvl="1"/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05F7A-0EB9-9AB4-DFEF-A3FA10CA5E7B}"/>
              </a:ext>
            </a:extLst>
          </p:cNvPr>
          <p:cNvGraphicFramePr>
            <a:graphicFrameLocks noGrp="1"/>
          </p:cNvGraphicFramePr>
          <p:nvPr/>
        </p:nvGraphicFramePr>
        <p:xfrm>
          <a:off x="612886" y="3004100"/>
          <a:ext cx="109728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9844090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037035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243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x &gt; y:</a:t>
                      </a:r>
                      <a:endParaRPr lang="es-E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x = y</a:t>
                      </a:r>
                      <a:endParaRPr lang="es-E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:</a:t>
                      </a:r>
                      <a:endParaRPr lang="es-E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y = x</a:t>
                      </a:r>
                      <a:endParaRPr lang="es-E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if (x &gt; y)</a:t>
                      </a:r>
                      <a:endParaRPr lang="es-E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x = y;</a:t>
                      </a:r>
                      <a:endParaRPr lang="es-E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else</a:t>
                      </a:r>
                      <a:endParaRPr lang="es-ES" sz="360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2000" b="1" i="0" u="none" strike="noStrike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y = x;</a:t>
                      </a:r>
                      <a:endParaRPr lang="es-ES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839425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while x &gt; 0: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x = x &amp; (x - 1)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c += 1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while (x &gt; 0) {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x = x &amp; (x - 1);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c += 1;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419899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0937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Цикл </a:t>
            </a:r>
            <a:r>
              <a:rPr lang="en-US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400" dirty="0"/>
              <a:t> в Си</a:t>
            </a:r>
          </a:p>
          <a:p>
            <a:pPr lvl="1"/>
            <a:r>
              <a:rPr lang="ru-RU" sz="2400" dirty="0"/>
              <a:t>другая форма записи цикла </a:t>
            </a:r>
            <a:r>
              <a:rPr lang="ru-RU" sz="24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endParaRPr lang="ru-RU" sz="2400" b="1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ru-RU" sz="2400" dirty="0"/>
              <a:t>не предназначен для перебора элементов массивов и структур</a:t>
            </a:r>
          </a:p>
          <a:p>
            <a:pPr lvl="1"/>
            <a:r>
              <a:rPr lang="ru-RU" sz="2400" dirty="0"/>
              <a:t>имеет вид </a:t>
            </a:r>
            <a:r>
              <a:rPr lang="ru-RU" sz="24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s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c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n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b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/>
              <a:t>и смысл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s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b="1" dirty="0" err="1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c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b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ru-RU" sz="2400" dirty="0">
                <a:highlight>
                  <a:srgbClr val="C0C0C0"/>
                </a:highlight>
                <a:cs typeface="Courier New" panose="02070309020205020404" pitchFamily="49" charset="0"/>
              </a:rPr>
              <a:t>n</a:t>
            </a:r>
            <a:r>
              <a:rPr lang="ru-RU" sz="2400" b="1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lvl="2"/>
            <a:r>
              <a:rPr lang="ru-RU" sz="2000" dirty="0"/>
              <a:t>s, c, n -- выражения</a:t>
            </a:r>
          </a:p>
          <a:p>
            <a:pPr lvl="2"/>
            <a:r>
              <a:rPr lang="ru-RU" sz="2000" dirty="0"/>
              <a:t>b -- оператор</a:t>
            </a:r>
          </a:p>
          <a:p>
            <a:pPr lvl="1"/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05F7A-0EB9-9AB4-DFEF-A3FA10CA5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687862"/>
              </p:ext>
            </p:extLst>
          </p:nvPr>
        </p:nvGraphicFramePr>
        <p:xfrm>
          <a:off x="609600" y="4652964"/>
          <a:ext cx="10972800" cy="147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9844090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037035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243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 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in range(count):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print(f"{</a:t>
                      </a:r>
                      <a:r>
                        <a:rPr lang="en-US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i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}")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for (i = 0; i &lt; count; i += 1) {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printf("%d\n", i);</a:t>
                      </a:r>
                      <a:endParaRPr lang="nn-NO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n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endParaRPr lang="nn-NO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8394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8384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435A-99EE-0BE5-41B8-67B992CD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ru-RU" dirty="0"/>
              <a:t>		</a:t>
            </a:r>
            <a:r>
              <a:rPr lang="en-US" dirty="0"/>
              <a:t>Python </a:t>
            </a:r>
            <a:r>
              <a:rPr lang="ru-RU" dirty="0"/>
              <a:t>		</a:t>
            </a:r>
            <a:r>
              <a:rPr lang="en-US" dirty="0"/>
              <a:t>⚔️</a:t>
            </a:r>
            <a:r>
              <a:rPr lang="ru-RU" dirty="0"/>
              <a:t>			Си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C97FC-6200-6490-A9C0-6D5C3E193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Описание функций в Си</a:t>
            </a:r>
          </a:p>
          <a:p>
            <a:pPr lvl="1"/>
            <a:r>
              <a:rPr lang="ru-RU" sz="2400" dirty="0"/>
              <a:t>требуется указать </a:t>
            </a:r>
            <a:r>
              <a:rPr lang="ru-RU" sz="2400" dirty="0">
                <a:highlight>
                  <a:srgbClr val="00FFFF"/>
                </a:highlight>
              </a:rPr>
              <a:t>типы принимаемых параметров </a:t>
            </a:r>
            <a:r>
              <a:rPr lang="ru-RU" sz="2400" dirty="0"/>
              <a:t>и </a:t>
            </a:r>
            <a:r>
              <a:rPr lang="ru-RU" sz="2400" dirty="0">
                <a:highlight>
                  <a:srgbClr val="FF00FF"/>
                </a:highlight>
              </a:rPr>
              <a:t>тип возвращаемого значения</a:t>
            </a:r>
            <a:endParaRPr lang="ru-RU" sz="2400" b="1" dirty="0">
              <a:highlight>
                <a:srgbClr val="FF00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ru-RU" sz="2000" dirty="0"/>
          </a:p>
          <a:p>
            <a:pPr lvl="1"/>
            <a:endParaRPr lang="ru-RU" sz="2400" dirty="0"/>
          </a:p>
          <a:p>
            <a:endParaRPr lang="ru-RU" sz="2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05F7A-0EB9-9AB4-DFEF-A3FA10CA5E7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924944"/>
          <a:ext cx="109728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169844090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0370353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Python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</a:t>
                      </a:r>
                      <a:endParaRPr lang="ru-RU" sz="360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722434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def pow(a, n):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if n == 0: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1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p = pow(a, n // 2)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if n % 2 == 0: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p * p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else: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p * p * a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00FF"/>
                          </a:highlight>
                          <a:latin typeface="Courier New" panose="02070309020205020404" pitchFamily="49" charset="0"/>
                        </a:rPr>
                        <a:t>int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 pow(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00FFFF"/>
                          </a:highlight>
                          <a:latin typeface="Courier New" panose="02070309020205020404" pitchFamily="49" charset="0"/>
                        </a:rPr>
                        <a:t>int a, int n</a:t>
                      </a: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) {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if (n == 0)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1;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int p = pow(a, n / 2);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if (n % 2 == 0)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p * p;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else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        return p * p * a;</a:t>
                      </a:r>
                      <a:endParaRPr lang="en-US" sz="3600" dirty="0">
                        <a:effectLst/>
                      </a:endParaRP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}</a:t>
                      </a:r>
                      <a:endParaRPr lang="en-US" sz="3600" dirty="0">
                        <a:effectLst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783942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601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33499-403F-6CFF-FBC7-13A4C99B4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Поведение кода на языке Си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06F1E9-4D64-8195-1219-4367F6AF19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833826"/>
              </p:ext>
            </p:extLst>
          </p:nvPr>
        </p:nvGraphicFramePr>
        <p:xfrm>
          <a:off x="838200" y="1825625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9088">
                  <a:extLst>
                    <a:ext uri="{9D8B030D-6E8A-4147-A177-3AD203B41FA5}">
                      <a16:colId xmlns:a16="http://schemas.microsoft.com/office/drawing/2014/main" val="3188385980"/>
                    </a:ext>
                  </a:extLst>
                </a:gridCol>
                <a:gridCol w="8123712">
                  <a:extLst>
                    <a:ext uri="{9D8B030D-6E8A-4147-A177-3AD203B41FA5}">
                      <a16:colId xmlns:a16="http://schemas.microsoft.com/office/drawing/2014/main" val="3397388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ru-RU" sz="2800" baseline="0" dirty="0"/>
                        <a:t>Термин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800" dirty="0"/>
                        <a:t>Поведение кода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54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baseline="0" dirty="0"/>
                        <a:t>Well</a:t>
                      </a:r>
                      <a:r>
                        <a:rPr lang="ru-RU" sz="2800" baseline="0" dirty="0"/>
                        <a:t>-</a:t>
                      </a:r>
                      <a:r>
                        <a:rPr lang="en-US" sz="2800" baseline="0" dirty="0"/>
                        <a:t>defined</a:t>
                      </a:r>
                      <a:r>
                        <a:rPr lang="ru-RU" sz="2800" baseline="0" dirty="0"/>
                        <a:t> (</a:t>
                      </a:r>
                      <a:r>
                        <a:rPr lang="en-US" sz="2800" baseline="0" dirty="0"/>
                        <a:t>standard</a:t>
                      </a:r>
                      <a:r>
                        <a:rPr lang="ru-RU" sz="2800" baseline="0" dirty="0"/>
                        <a:t>)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dirty="0"/>
                        <a:t>Стандарт допускает только один вариант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8012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/>
                        <a:t>Implementation-defined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baseline="0" dirty="0"/>
                        <a:t>Стандарт допускает </a:t>
                      </a:r>
                      <a:r>
                        <a:rPr lang="ru-RU" sz="2800" baseline="0" dirty="0" err="1"/>
                        <a:t>неск</a:t>
                      </a:r>
                      <a:r>
                        <a:rPr lang="ru-RU" sz="2800" baseline="0" dirty="0"/>
                        <a:t> вариантов, выбор </a:t>
                      </a:r>
                      <a:r>
                        <a:rPr lang="ru-RU" sz="2800" dirty="0"/>
                        <a:t>о</a:t>
                      </a:r>
                      <a:r>
                        <a:rPr lang="ru-RU" sz="2800" baseline="0" dirty="0"/>
                        <a:t>писан в доке компилятора</a:t>
                      </a:r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74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Unspecified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baseline="0" dirty="0"/>
                        <a:t>Стандарт допускает </a:t>
                      </a:r>
                      <a:r>
                        <a:rPr lang="ru-RU" sz="2800" baseline="0" dirty="0" err="1"/>
                        <a:t>неск</a:t>
                      </a:r>
                      <a:r>
                        <a:rPr lang="ru-RU" sz="2800" baseline="0" dirty="0"/>
                        <a:t> вариантов, выбор НЕ описан в доке компилятора</a:t>
                      </a:r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98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aseline="0" dirty="0"/>
                        <a:t>Undefined</a:t>
                      </a:r>
                      <a:endParaRPr lang="ru-RU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2800" baseline="0" dirty="0"/>
                        <a:t>Отсутствует в стандарте и доке компилятора («зависит от фазы Луны»)</a:t>
                      </a:r>
                      <a:endParaRPr lang="ru-RU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678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70000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9ACAD83-EC9F-BA64-C9A5-029944997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80" y="1600201"/>
            <a:ext cx="10056440" cy="452463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95EE7-DFB1-2982-89FF-B793D0252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работы с </a:t>
            </a:r>
            <a:r>
              <a:rPr lang="en-US" dirty="0"/>
              <a:t>gitlab.ccfit.nsu.ru</a:t>
            </a:r>
            <a:endParaRPr lang="ru-RU" dirty="0"/>
          </a:p>
        </p:txBody>
      </p:sp>
      <p:pic>
        <p:nvPicPr>
          <p:cNvPr id="10" name="Content Placeholder 9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D8A00FA6-6AFD-F1DE-E340-E6DD3C711F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780" y="4362711"/>
            <a:ext cx="1762125" cy="17621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5A641-8567-DC88-8CCB-EDA6925001A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722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/>
              <a:t>Система контроля версий/</a:t>
            </a:r>
            <a:r>
              <a:rPr lang="en-US" sz="3600" dirty="0"/>
              <a:t>version control system</a:t>
            </a:r>
            <a:r>
              <a:rPr lang="ru-RU" sz="3600" dirty="0"/>
              <a:t>/</a:t>
            </a:r>
            <a:r>
              <a:rPr lang="en-US" sz="3600" dirty="0" err="1"/>
              <a:t>vcs</a:t>
            </a:r>
            <a:endParaRPr lang="ru-RU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СУБД</a:t>
            </a:r>
          </a:p>
          <a:p>
            <a:pPr lvl="1"/>
            <a:r>
              <a:rPr lang="ru-RU" sz="2800" dirty="0"/>
              <a:t>Данные – граф правок</a:t>
            </a:r>
          </a:p>
          <a:p>
            <a:pPr lvl="2"/>
            <a:r>
              <a:rPr lang="ru-RU" sz="2400" dirty="0"/>
              <a:t>Вершины – правки в исходном коде</a:t>
            </a:r>
          </a:p>
          <a:p>
            <a:pPr lvl="2"/>
            <a:r>
              <a:rPr lang="ru-RU" sz="2400" dirty="0"/>
              <a:t>Дуги – порядок правок</a:t>
            </a:r>
          </a:p>
          <a:p>
            <a:pPr lvl="1"/>
            <a:r>
              <a:rPr lang="ru-RU" sz="2800" dirty="0"/>
              <a:t>Язык запросов </a:t>
            </a:r>
          </a:p>
          <a:p>
            <a:pPr lvl="2"/>
            <a:r>
              <a:rPr lang="ru-RU" sz="2400" dirty="0"/>
              <a:t>Восстановление исходного кода по графу правок</a:t>
            </a:r>
          </a:p>
          <a:p>
            <a:pPr lvl="2"/>
            <a:r>
              <a:rPr lang="ru-RU" sz="2400" dirty="0"/>
              <a:t>Редактирование графа правок</a:t>
            </a:r>
            <a:r>
              <a:rPr lang="ru-RU" sz="2200" dirty="0"/>
              <a:t> (правка графа правок)</a:t>
            </a:r>
            <a:endParaRPr lang="ru-RU" sz="24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40567" y="3238389"/>
            <a:ext cx="1934939" cy="1934939"/>
          </a:xfr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138" y="1239516"/>
            <a:ext cx="2083837" cy="25006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64520" y="2604714"/>
            <a:ext cx="2144048" cy="92333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dirty="0"/>
              <a:t>Сервер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База данных с</a:t>
            </a:r>
            <a:br>
              <a:rPr lang="ru-RU" dirty="0"/>
            </a:br>
            <a:r>
              <a:rPr lang="ru-RU" dirty="0"/>
              <a:t>исходным кодом</a:t>
            </a:r>
          </a:p>
        </p:txBody>
      </p:sp>
      <p:pic>
        <p:nvPicPr>
          <p:cNvPr id="9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15835" y="3315682"/>
            <a:ext cx="1934939" cy="193493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0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83144" y="3863103"/>
            <a:ext cx="1934939" cy="193493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cxnSp>
        <p:nvCxnSpPr>
          <p:cNvPr id="12" name="Elbow Connector 11"/>
          <p:cNvCxnSpPr>
            <a:stCxn id="6" idx="1"/>
            <a:endCxn id="5" idx="0"/>
          </p:cNvCxnSpPr>
          <p:nvPr/>
        </p:nvCxnSpPr>
        <p:spPr>
          <a:xfrm rot="10800000" flipV="1">
            <a:off x="7708036" y="2489817"/>
            <a:ext cx="1996102" cy="748571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3"/>
            <a:endCxn id="10" idx="2"/>
          </p:cNvCxnSpPr>
          <p:nvPr/>
        </p:nvCxnSpPr>
        <p:spPr>
          <a:xfrm rot="10800000" flipH="1" flipV="1">
            <a:off x="6740567" y="4205858"/>
            <a:ext cx="1810046" cy="1592183"/>
          </a:xfrm>
          <a:prstGeom prst="bentConnector4">
            <a:avLst>
              <a:gd name="adj1" fmla="val -35082"/>
              <a:gd name="adj2" fmla="val 148584"/>
            </a:avLst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0" idx="1"/>
            <a:endCxn id="6" idx="2"/>
          </p:cNvCxnSpPr>
          <p:nvPr/>
        </p:nvCxnSpPr>
        <p:spPr>
          <a:xfrm flipV="1">
            <a:off x="9518083" y="3740120"/>
            <a:ext cx="1227974" cy="1090453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240016" y="4369084"/>
            <a:ext cx="2194575" cy="20313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dirty="0"/>
              <a:t>Разработчики</a:t>
            </a:r>
          </a:p>
          <a:p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локальные копии</a:t>
            </a:r>
            <a:br>
              <a:rPr lang="ru-RU" dirty="0"/>
            </a:br>
            <a:r>
              <a:rPr lang="ru-RU" dirty="0"/>
              <a:t>исходного кода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написание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отладка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оптимизация</a:t>
            </a:r>
          </a:p>
        </p:txBody>
      </p:sp>
    </p:spTree>
    <p:extLst>
      <p:ext uri="{BB962C8B-B14F-4D97-AF65-F5344CB8AC3E}">
        <p14:creationId xmlns:p14="http://schemas.microsoft.com/office/powerpoint/2010/main" val="3071977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728B-C80F-322C-9124-C3493832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A3124-6638-91A6-52A8-2C0F42E56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A5B295-2F1C-1B2E-9F4F-2FCF538E1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067"/>
            <a:ext cx="12192000" cy="661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129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7403-97BA-D9FE-E580-2E84EB24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9F6E7-082D-5A80-6032-0C0F0BF9D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BEF26F-1C56-A82A-DA34-7C3E93DEB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725"/>
            <a:ext cx="12192000" cy="660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52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F973-BAF0-088A-B00D-D168EB94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6DB7-58C1-D687-120F-3B1FB76AC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22572-AAB3-6DC2-9B4A-F2D1B9472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672"/>
            <a:ext cx="12192000" cy="6578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2205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5C16-CAF1-022F-7F07-E8A308ADA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E57D2-41E3-9DAB-2E71-84A799EE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FBCCA-4E38-5288-3E3F-9E39F8698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449"/>
            <a:ext cx="12192000" cy="660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00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7EEE-CB63-E26C-E056-C2F9EA0B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FC48-8A09-9807-F3D3-3F513E458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34317-1FB1-3177-92B3-414E731F9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865"/>
            <a:ext cx="12192000" cy="659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51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E32A-0519-0EDD-4F4B-D7036F34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0F027-43EC-3D9C-5204-08E1EEB83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5D397-8D56-CCDE-7501-5A957CE6E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151"/>
            <a:ext cx="12192000" cy="65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924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F006-2110-CC09-D77E-6430E145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52E3D-9176-95A9-8E66-7E244F16B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CD791A-BCEE-1061-8A0C-9CD72D779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531"/>
            <a:ext cx="12192000" cy="662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736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F6DC-442C-9DA5-6F27-DF69C13D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890D-F8E4-35FC-186F-533F96013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E74FC0-C724-351A-FA67-0D58C4D7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37"/>
            <a:ext cx="12192000" cy="661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67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EF582-5A45-4C64-D772-ED4A84B4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945CB-40B6-CF8E-6BE7-FA73ABC52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DA28E-ECC4-459D-C6C1-67BAA8BF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80"/>
            <a:ext cx="12192000" cy="658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4279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B36A-C5CC-424D-B095-C6FA40CF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 работы с </a:t>
            </a:r>
            <a:r>
              <a:rPr lang="en-US" dirty="0"/>
              <a:t>gitlab.ccfit.nsu.ru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BBCA4-01F4-4D60-8CE7-2C2EECEDC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4B3D51-D255-4A98-83AC-D8AB68D5FA88}"/>
              </a:ext>
            </a:extLst>
          </p:cNvPr>
          <p:cNvSpPr txBox="1"/>
          <p:nvPr/>
        </p:nvSpPr>
        <p:spPr>
          <a:xfrm rot="16200000">
            <a:off x="9430820" y="3817235"/>
            <a:ext cx="393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 Архипов И.А. ФИТ НГУ гр. </a:t>
            </a:r>
            <a:r>
              <a:rPr lang="ru-RU"/>
              <a:t>20205</a:t>
            </a:r>
            <a:endParaRPr lang="ru-RU" dirty="0"/>
          </a:p>
        </p:txBody>
      </p:sp>
      <p:sp>
        <p:nvSpPr>
          <p:cNvPr id="5" name="Google Shape;63;p14">
            <a:extLst>
              <a:ext uri="{FF2B5EF4-FFF2-40B4-BE49-F238E27FC236}">
                <a16:creationId xmlns:a16="http://schemas.microsoft.com/office/drawing/2014/main" id="{FDA9D164-0E8F-473E-B3E1-4271E3C11156}"/>
              </a:ext>
            </a:extLst>
          </p:cNvPr>
          <p:cNvSpPr/>
          <p:nvPr/>
        </p:nvSpPr>
        <p:spPr>
          <a:xfrm>
            <a:off x="623393" y="4745618"/>
            <a:ext cx="1214125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создать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ветку </a:t>
            </a:r>
            <a:r>
              <a:rPr lang="en-US" sz="1800" dirty="0"/>
              <a:t>lab0</a:t>
            </a:r>
          </a:p>
        </p:txBody>
      </p:sp>
      <p:sp>
        <p:nvSpPr>
          <p:cNvPr id="7" name="Google Shape;65;p14">
            <a:extLst>
              <a:ext uri="{FF2B5EF4-FFF2-40B4-BE49-F238E27FC236}">
                <a16:creationId xmlns:a16="http://schemas.microsoft.com/office/drawing/2014/main" id="{1F1DD1DA-F6AD-42E5-9BD9-D7753F8549D8}"/>
              </a:ext>
            </a:extLst>
          </p:cNvPr>
          <p:cNvSpPr/>
          <p:nvPr/>
        </p:nvSpPr>
        <p:spPr>
          <a:xfrm>
            <a:off x="2235391" y="4745618"/>
            <a:ext cx="1433126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/>
              <a:t>скачать репозиторий</a:t>
            </a:r>
            <a:endParaRPr lang="ru-RU" sz="1800" dirty="0"/>
          </a:p>
        </p:txBody>
      </p:sp>
      <p:sp>
        <p:nvSpPr>
          <p:cNvPr id="9" name="Google Shape;67;p14">
            <a:extLst>
              <a:ext uri="{FF2B5EF4-FFF2-40B4-BE49-F238E27FC236}">
                <a16:creationId xmlns:a16="http://schemas.microsoft.com/office/drawing/2014/main" id="{F94EC95B-D5A2-411D-905E-65EDFC7C1BE8}"/>
              </a:ext>
            </a:extLst>
          </p:cNvPr>
          <p:cNvSpPr/>
          <p:nvPr/>
        </p:nvSpPr>
        <p:spPr>
          <a:xfrm>
            <a:off x="4066390" y="4745618"/>
            <a:ext cx="1214125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написать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код</a:t>
            </a:r>
          </a:p>
        </p:txBody>
      </p:sp>
      <p:sp>
        <p:nvSpPr>
          <p:cNvPr id="11" name="Google Shape;69;p14">
            <a:extLst>
              <a:ext uri="{FF2B5EF4-FFF2-40B4-BE49-F238E27FC236}">
                <a16:creationId xmlns:a16="http://schemas.microsoft.com/office/drawing/2014/main" id="{BDD1A40A-2607-48AA-AD39-0AF6E4BF7FD8}"/>
              </a:ext>
            </a:extLst>
          </p:cNvPr>
          <p:cNvSpPr/>
          <p:nvPr/>
        </p:nvSpPr>
        <p:spPr>
          <a:xfrm>
            <a:off x="5678388" y="4745618"/>
            <a:ext cx="1433126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отправить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код на </a:t>
            </a:r>
            <a:r>
              <a:rPr lang="en-US" sz="1800" dirty="0"/>
              <a:t>GitLab</a:t>
            </a:r>
          </a:p>
        </p:txBody>
      </p:sp>
      <p:sp>
        <p:nvSpPr>
          <p:cNvPr id="13" name="Google Shape;71;p14">
            <a:extLst>
              <a:ext uri="{FF2B5EF4-FFF2-40B4-BE49-F238E27FC236}">
                <a16:creationId xmlns:a16="http://schemas.microsoft.com/office/drawing/2014/main" id="{080EA994-2F36-489B-91BF-937805BF5033}"/>
              </a:ext>
            </a:extLst>
          </p:cNvPr>
          <p:cNvSpPr/>
          <p:nvPr/>
        </p:nvSpPr>
        <p:spPr>
          <a:xfrm>
            <a:off x="9469398" y="4745618"/>
            <a:ext cx="1792605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получить замечания от преподавателя</a:t>
            </a:r>
          </a:p>
        </p:txBody>
      </p:sp>
      <p:cxnSp>
        <p:nvCxnSpPr>
          <p:cNvPr id="15" name="Google Shape;73;p14">
            <a:extLst>
              <a:ext uri="{FF2B5EF4-FFF2-40B4-BE49-F238E27FC236}">
                <a16:creationId xmlns:a16="http://schemas.microsoft.com/office/drawing/2014/main" id="{021ABB5F-E310-4054-84E3-DBEEC4A983B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1837518" y="5203433"/>
            <a:ext cx="39787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" name="Google Shape;74;p14">
            <a:extLst>
              <a:ext uri="{FF2B5EF4-FFF2-40B4-BE49-F238E27FC236}">
                <a16:creationId xmlns:a16="http://schemas.microsoft.com/office/drawing/2014/main" id="{6ECBDD77-50B2-42CB-963B-94958246282D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3668517" y="5203433"/>
            <a:ext cx="397873" cy="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" name="Google Shape;75;p14">
            <a:extLst>
              <a:ext uri="{FF2B5EF4-FFF2-40B4-BE49-F238E27FC236}">
                <a16:creationId xmlns:a16="http://schemas.microsoft.com/office/drawing/2014/main" id="{EBA18844-7D33-4193-BC5C-7E9CF46F40D1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5280515" y="5203433"/>
            <a:ext cx="397873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" name="Google Shape;76;p14">
            <a:extLst>
              <a:ext uri="{FF2B5EF4-FFF2-40B4-BE49-F238E27FC236}">
                <a16:creationId xmlns:a16="http://schemas.microsoft.com/office/drawing/2014/main" id="{83665FCF-9886-4584-A324-98A81FD41255}"/>
              </a:ext>
            </a:extLst>
          </p:cNvPr>
          <p:cNvCxnSpPr>
            <a:cxnSpLocks/>
            <a:stCxn id="13" idx="2"/>
            <a:endCxn id="9" idx="2"/>
          </p:cNvCxnSpPr>
          <p:nvPr/>
        </p:nvCxnSpPr>
        <p:spPr>
          <a:xfrm rot="5400000">
            <a:off x="7519577" y="2815124"/>
            <a:ext cx="12700" cy="5692248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Google Shape;77;p14">
            <a:extLst>
              <a:ext uri="{FF2B5EF4-FFF2-40B4-BE49-F238E27FC236}">
                <a16:creationId xmlns:a16="http://schemas.microsoft.com/office/drawing/2014/main" id="{AA869FBC-6079-454A-8795-6A72F0B31343}"/>
              </a:ext>
            </a:extLst>
          </p:cNvPr>
          <p:cNvSpPr/>
          <p:nvPr/>
        </p:nvSpPr>
        <p:spPr>
          <a:xfrm>
            <a:off x="7392144" y="3403233"/>
            <a:ext cx="1853635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получить</a:t>
            </a:r>
            <a:br>
              <a:rPr lang="ru-RU" sz="1800" dirty="0"/>
            </a:br>
            <a:r>
              <a:rPr lang="ru-RU" sz="1800" dirty="0"/>
              <a:t>подтверждение от преподавателя</a:t>
            </a:r>
          </a:p>
        </p:txBody>
      </p:sp>
      <p:sp>
        <p:nvSpPr>
          <p:cNvPr id="21" name="Google Shape;79;p14">
            <a:extLst>
              <a:ext uri="{FF2B5EF4-FFF2-40B4-BE49-F238E27FC236}">
                <a16:creationId xmlns:a16="http://schemas.microsoft.com/office/drawing/2014/main" id="{2B9BA921-148C-48CE-AE8D-5BAA6432A8D3}"/>
              </a:ext>
            </a:extLst>
          </p:cNvPr>
          <p:cNvSpPr/>
          <p:nvPr/>
        </p:nvSpPr>
        <p:spPr>
          <a:xfrm>
            <a:off x="7537892" y="4745618"/>
            <a:ext cx="1562139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сделать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Merge Request</a:t>
            </a:r>
          </a:p>
        </p:txBody>
      </p:sp>
      <p:cxnSp>
        <p:nvCxnSpPr>
          <p:cNvPr id="23" name="Google Shape;81;p14">
            <a:extLst>
              <a:ext uri="{FF2B5EF4-FFF2-40B4-BE49-F238E27FC236}">
                <a16:creationId xmlns:a16="http://schemas.microsoft.com/office/drawing/2014/main" id="{BE3FE66A-9076-4CE9-9584-77ABC5EDBB0A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111514" y="5203433"/>
            <a:ext cx="426378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4" name="Google Shape;82;p14">
            <a:extLst>
              <a:ext uri="{FF2B5EF4-FFF2-40B4-BE49-F238E27FC236}">
                <a16:creationId xmlns:a16="http://schemas.microsoft.com/office/drawing/2014/main" id="{FD7D9905-A826-438C-B7BB-104055C7D74D}"/>
              </a:ext>
            </a:extLst>
          </p:cNvPr>
          <p:cNvCxnSpPr>
            <a:cxnSpLocks/>
          </p:cNvCxnSpPr>
          <p:nvPr/>
        </p:nvCxnSpPr>
        <p:spPr>
          <a:xfrm>
            <a:off x="8648684" y="2778978"/>
            <a:ext cx="176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" name="Google Shape;83;p14">
            <a:extLst>
              <a:ext uri="{FF2B5EF4-FFF2-40B4-BE49-F238E27FC236}">
                <a16:creationId xmlns:a16="http://schemas.microsoft.com/office/drawing/2014/main" id="{8E1EA5F1-8474-4B03-9ABC-6779B59A445D}"/>
              </a:ext>
            </a:extLst>
          </p:cNvPr>
          <p:cNvCxnSpPr>
            <a:cxnSpLocks/>
            <a:stCxn id="21" idx="0"/>
            <a:endCxn id="19" idx="2"/>
          </p:cNvCxnSpPr>
          <p:nvPr/>
        </p:nvCxnSpPr>
        <p:spPr>
          <a:xfrm flipV="1">
            <a:off x="8318962" y="4318863"/>
            <a:ext cx="0" cy="4267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6" name="Google Shape;84;p14">
            <a:extLst>
              <a:ext uri="{FF2B5EF4-FFF2-40B4-BE49-F238E27FC236}">
                <a16:creationId xmlns:a16="http://schemas.microsoft.com/office/drawing/2014/main" id="{E1646F2A-0B2F-491B-810E-EB89A2A9B6C5}"/>
              </a:ext>
            </a:extLst>
          </p:cNvPr>
          <p:cNvSpPr/>
          <p:nvPr/>
        </p:nvSpPr>
        <p:spPr>
          <a:xfrm>
            <a:off x="7422659" y="2060848"/>
            <a:ext cx="1792605" cy="91563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/>
              <a:t>вы прекрасны!</a:t>
            </a:r>
          </a:p>
        </p:txBody>
      </p:sp>
      <p:cxnSp>
        <p:nvCxnSpPr>
          <p:cNvPr id="28" name="Google Shape;86;p14">
            <a:extLst>
              <a:ext uri="{FF2B5EF4-FFF2-40B4-BE49-F238E27FC236}">
                <a16:creationId xmlns:a16="http://schemas.microsoft.com/office/drawing/2014/main" id="{8725544A-C939-418B-806B-86A3FFE72909}"/>
              </a:ext>
            </a:extLst>
          </p:cNvPr>
          <p:cNvCxnSpPr>
            <a:cxnSpLocks/>
            <a:stCxn id="19" idx="0"/>
            <a:endCxn id="26" idx="2"/>
          </p:cNvCxnSpPr>
          <p:nvPr/>
        </p:nvCxnSpPr>
        <p:spPr>
          <a:xfrm flipV="1">
            <a:off x="8318962" y="2976478"/>
            <a:ext cx="0" cy="4267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" name="Google Shape;81;p14">
            <a:extLst>
              <a:ext uri="{FF2B5EF4-FFF2-40B4-BE49-F238E27FC236}">
                <a16:creationId xmlns:a16="http://schemas.microsoft.com/office/drawing/2014/main" id="{905EE4F6-B9E6-465D-8E48-0041255E6EE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9100032" y="5203433"/>
            <a:ext cx="36936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8573200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969E-9DFC-40A2-9103-76FB240F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ветки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420A-0E98-4304-ADE3-9302E6ED8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ru-RU" dirty="0"/>
              <a:t>На странице репозитория находим кнопку “+”</a:t>
            </a:r>
          </a:p>
          <a:p>
            <a:pPr>
              <a:spcBef>
                <a:spcPts val="1600"/>
              </a:spcBef>
            </a:pPr>
            <a:r>
              <a:rPr lang="ru-RU" dirty="0"/>
              <a:t>Выбираем </a:t>
            </a:r>
            <a:r>
              <a:rPr lang="ru-RU" dirty="0" err="1"/>
              <a:t>New</a:t>
            </a:r>
            <a:r>
              <a:rPr lang="ru-RU" dirty="0"/>
              <a:t> </a:t>
            </a:r>
            <a:r>
              <a:rPr lang="ru-RU" dirty="0" err="1"/>
              <a:t>branch</a:t>
            </a:r>
            <a:endParaRPr lang="ru-RU" dirty="0"/>
          </a:p>
          <a:p>
            <a:pPr>
              <a:spcBef>
                <a:spcPts val="1600"/>
              </a:spcBef>
            </a:pPr>
            <a:r>
              <a:rPr lang="ru-RU" dirty="0"/>
              <a:t>Набираем название ветки </a:t>
            </a:r>
            <a:r>
              <a:rPr lang="ru-RU" dirty="0" err="1"/>
              <a:t>lab</a:t>
            </a:r>
            <a:r>
              <a:rPr lang="ru-RU" dirty="0"/>
              <a:t>&lt;номер&gt;</a:t>
            </a:r>
          </a:p>
          <a:p>
            <a:pPr lvl="1">
              <a:spcBef>
                <a:spcPts val="1600"/>
              </a:spcBef>
            </a:pPr>
            <a:r>
              <a:rPr lang="ru-RU" dirty="0"/>
              <a:t>например lab0, lab1, ...</a:t>
            </a:r>
          </a:p>
          <a:p>
            <a:pPr>
              <a:spcBef>
                <a:spcPts val="1600"/>
              </a:spcBef>
              <a:spcAft>
                <a:spcPts val="1600"/>
              </a:spcAft>
            </a:pPr>
            <a:endParaRPr lang="ru-RU" dirty="0"/>
          </a:p>
          <a:p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8874F-EA55-4D30-9B08-E996454CF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Google Shape;93;p15">
            <a:extLst>
              <a:ext uri="{FF2B5EF4-FFF2-40B4-BE49-F238E27FC236}">
                <a16:creationId xmlns:a16="http://schemas.microsoft.com/office/drawing/2014/main" id="{75773BE0-14D6-424D-A8D5-6EEF3D242E1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2407"/>
          <a:stretch/>
        </p:blipFill>
        <p:spPr>
          <a:xfrm>
            <a:off x="6213895" y="2351080"/>
            <a:ext cx="5138689" cy="3024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1E9BBC-67B1-413D-B199-6849BF7BC478}"/>
              </a:ext>
            </a:extLst>
          </p:cNvPr>
          <p:cNvSpPr txBox="1"/>
          <p:nvPr/>
        </p:nvSpPr>
        <p:spPr>
          <a:xfrm rot="16200000">
            <a:off x="9430820" y="3817235"/>
            <a:ext cx="393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 Архипов И.А. ФИТ НГУ гр. 20205</a:t>
            </a:r>
          </a:p>
        </p:txBody>
      </p:sp>
    </p:spTree>
    <p:extLst>
      <p:ext uri="{BB962C8B-B14F-4D97-AF65-F5344CB8AC3E}">
        <p14:creationId xmlns:p14="http://schemas.microsoft.com/office/powerpoint/2010/main" val="3241971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969E-9DFC-40A2-9103-76FB240F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Скачивание репозитория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420A-0E98-4304-ADE3-9302E6ED8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800" dirty="0"/>
              <a:t>Просто скачать как файл</a:t>
            </a:r>
          </a:p>
          <a:p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8874F-EA55-4D30-9B08-E996454CF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" sz="2800" dirty="0"/>
              <a:t>Использовать git client</a:t>
            </a:r>
            <a:r>
              <a:rPr lang="ru" dirty="0"/>
              <a:t>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E9BBC-67B1-413D-B199-6849BF7BC478}"/>
              </a:ext>
            </a:extLst>
          </p:cNvPr>
          <p:cNvSpPr txBox="1"/>
          <p:nvPr/>
        </p:nvSpPr>
        <p:spPr>
          <a:xfrm rot="16200000">
            <a:off x="9430820" y="3817235"/>
            <a:ext cx="393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 Архипов И.А. ФИТ НГУ гр. 20205</a:t>
            </a:r>
          </a:p>
        </p:txBody>
      </p:sp>
      <p:pic>
        <p:nvPicPr>
          <p:cNvPr id="8" name="Google Shape;100;p16">
            <a:extLst>
              <a:ext uri="{FF2B5EF4-FFF2-40B4-BE49-F238E27FC236}">
                <a16:creationId xmlns:a16="http://schemas.microsoft.com/office/drawing/2014/main" id="{7C3C67EC-F694-4624-880C-D89604D557A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1424" y="2492896"/>
            <a:ext cx="4229100" cy="1038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101;p16">
            <a:extLst>
              <a:ext uri="{FF2B5EF4-FFF2-40B4-BE49-F238E27FC236}">
                <a16:creationId xmlns:a16="http://schemas.microsoft.com/office/drawing/2014/main" id="{A9527251-3F6C-4FF9-9407-D51FEAF5E45E}"/>
              </a:ext>
            </a:extLst>
          </p:cNvPr>
          <p:cNvCxnSpPr>
            <a:cxnSpLocks/>
            <a:stCxn id="10" idx="0"/>
          </p:cNvCxnSpPr>
          <p:nvPr/>
        </p:nvCxnSpPr>
        <p:spPr>
          <a:xfrm flipV="1">
            <a:off x="2743749" y="3325484"/>
            <a:ext cx="1060975" cy="94557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" name="Google Shape;102;p16">
            <a:extLst>
              <a:ext uri="{FF2B5EF4-FFF2-40B4-BE49-F238E27FC236}">
                <a16:creationId xmlns:a16="http://schemas.microsoft.com/office/drawing/2014/main" id="{21ED9690-D8DE-4954-AF1B-86C5D4C81222}"/>
              </a:ext>
            </a:extLst>
          </p:cNvPr>
          <p:cNvSpPr txBox="1"/>
          <p:nvPr/>
        </p:nvSpPr>
        <p:spPr>
          <a:xfrm>
            <a:off x="2423592" y="4271058"/>
            <a:ext cx="640314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тык</a:t>
            </a:r>
            <a:endParaRPr dirty="0"/>
          </a:p>
        </p:txBody>
      </p:sp>
      <p:sp>
        <p:nvSpPr>
          <p:cNvPr id="11" name="Google Shape;106;p16">
            <a:extLst>
              <a:ext uri="{FF2B5EF4-FFF2-40B4-BE49-F238E27FC236}">
                <a16:creationId xmlns:a16="http://schemas.microsoft.com/office/drawing/2014/main" id="{AD4238A4-1880-4082-AAD5-4B6290B52314}"/>
              </a:ext>
            </a:extLst>
          </p:cNvPr>
          <p:cNvSpPr txBox="1"/>
          <p:nvPr/>
        </p:nvSpPr>
        <p:spPr>
          <a:xfrm>
            <a:off x="581834" y="5087940"/>
            <a:ext cx="5384803" cy="103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E06666"/>
                </a:solidFill>
              </a:rPr>
              <a:t>Не рекомендуется делать так постоянно. Имеет смысл использовать это для первой лабы, чтобы быстрее разобраться.</a:t>
            </a:r>
            <a:endParaRPr dirty="0">
              <a:solidFill>
                <a:srgbClr val="E06666"/>
              </a:solidFill>
            </a:endParaRPr>
          </a:p>
        </p:txBody>
      </p:sp>
      <p:pic>
        <p:nvPicPr>
          <p:cNvPr id="12" name="Google Shape;104;p16">
            <a:extLst>
              <a:ext uri="{FF2B5EF4-FFF2-40B4-BE49-F238E27FC236}">
                <a16:creationId xmlns:a16="http://schemas.microsoft.com/office/drawing/2014/main" id="{73BCFC2C-EBEF-4DA3-8D64-BCF6D62F952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9470"/>
          <a:stretch/>
        </p:blipFill>
        <p:spPr>
          <a:xfrm>
            <a:off x="6493945" y="2132856"/>
            <a:ext cx="4422782" cy="408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3EF76-9BF6-459B-BEF3-C3D0E57016C3}"/>
              </a:ext>
            </a:extLst>
          </p:cNvPr>
          <p:cNvSpPr txBox="1"/>
          <p:nvPr/>
        </p:nvSpPr>
        <p:spPr>
          <a:xfrm rot="18766936">
            <a:off x="5743630" y="3765494"/>
            <a:ext cx="4984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" sz="2000" b="1" dirty="0">
                <a:hlinkClick r:id="rId4"/>
              </a:rPr>
              <a:t>https://git-scm.com/download/gui/windows</a:t>
            </a:r>
            <a:endParaRPr lang="ru-RU" sz="2000" b="1" dirty="0"/>
          </a:p>
        </p:txBody>
      </p:sp>
      <p:pic>
        <p:nvPicPr>
          <p:cNvPr id="5" name="Picture 4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1D22533D-00D2-C13D-19B1-00C047BBB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19472"/>
            <a:ext cx="17621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290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969E-9DFC-40A2-9103-76FB240F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Заливка правок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A420A-0E98-4304-ADE3-9302E6ED88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sz="2800" dirty="0"/>
              <a:t>Использовать </a:t>
            </a:r>
            <a:r>
              <a:rPr lang="en-US" sz="2800" dirty="0"/>
              <a:t>Web IDE</a:t>
            </a:r>
          </a:p>
          <a:p>
            <a:pPr lvl="1"/>
            <a:r>
              <a:rPr lang="ru" dirty="0"/>
              <a:t>В интерфейсе Web IDE найти нужный файл, редактировать, в конце нажать “Commit”</a:t>
            </a:r>
            <a:endParaRPr lang="ru-RU" dirty="0"/>
          </a:p>
          <a:p>
            <a:endParaRPr lang="ru-R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E8874F-EA55-4D30-9B08-E996454CF5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" sz="2800" dirty="0"/>
              <a:t>Использовать git client</a:t>
            </a:r>
            <a:r>
              <a:rPr lang="ru" dirty="0"/>
              <a:t>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E9BBC-67B1-413D-B199-6849BF7BC478}"/>
              </a:ext>
            </a:extLst>
          </p:cNvPr>
          <p:cNvSpPr txBox="1"/>
          <p:nvPr/>
        </p:nvSpPr>
        <p:spPr>
          <a:xfrm rot="16200000">
            <a:off x="9430820" y="3817235"/>
            <a:ext cx="393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 Архипов И.А. ФИТ НГУ гр. 20205</a:t>
            </a:r>
          </a:p>
        </p:txBody>
      </p:sp>
      <p:pic>
        <p:nvPicPr>
          <p:cNvPr id="12" name="Google Shape;104;p16">
            <a:extLst>
              <a:ext uri="{FF2B5EF4-FFF2-40B4-BE49-F238E27FC236}">
                <a16:creationId xmlns:a16="http://schemas.microsoft.com/office/drawing/2014/main" id="{73BCFC2C-EBEF-4DA3-8D64-BCF6D62F952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19470"/>
          <a:stretch/>
        </p:blipFill>
        <p:spPr>
          <a:xfrm>
            <a:off x="6493945" y="2132856"/>
            <a:ext cx="4422782" cy="4085892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3EF76-9BF6-459B-BEF3-C3D0E57016C3}"/>
              </a:ext>
            </a:extLst>
          </p:cNvPr>
          <p:cNvSpPr txBox="1"/>
          <p:nvPr/>
        </p:nvSpPr>
        <p:spPr>
          <a:xfrm rot="18766936">
            <a:off x="5743630" y="3765494"/>
            <a:ext cx="49846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" sz="2000" b="1" dirty="0">
                <a:hlinkClick r:id="rId3"/>
              </a:rPr>
              <a:t>https://git-scm.com/download/gui/windows</a:t>
            </a:r>
            <a:endParaRPr lang="ru-RU" sz="2000" b="1" dirty="0"/>
          </a:p>
        </p:txBody>
      </p:sp>
      <p:pic>
        <p:nvPicPr>
          <p:cNvPr id="14" name="Google Shape;114;p17">
            <a:extLst>
              <a:ext uri="{FF2B5EF4-FFF2-40B4-BE49-F238E27FC236}">
                <a16:creationId xmlns:a16="http://schemas.microsoft.com/office/drawing/2014/main" id="{B80BAF9F-4E75-47E9-AEEA-70019BD7C90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0807"/>
          <a:stretch/>
        </p:blipFill>
        <p:spPr>
          <a:xfrm>
            <a:off x="1029723" y="3354720"/>
            <a:ext cx="4229100" cy="822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" name="Google Shape;115;p17">
            <a:extLst>
              <a:ext uri="{FF2B5EF4-FFF2-40B4-BE49-F238E27FC236}">
                <a16:creationId xmlns:a16="http://schemas.microsoft.com/office/drawing/2014/main" id="{E8BBBB0A-9A80-4C82-A2E8-AEEEDBD850EB}"/>
              </a:ext>
            </a:extLst>
          </p:cNvPr>
          <p:cNvCxnSpPr/>
          <p:nvPr/>
        </p:nvCxnSpPr>
        <p:spPr>
          <a:xfrm rot="10800000" flipH="1">
            <a:off x="3033248" y="4007946"/>
            <a:ext cx="134400" cy="70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116;p17">
            <a:extLst>
              <a:ext uri="{FF2B5EF4-FFF2-40B4-BE49-F238E27FC236}">
                <a16:creationId xmlns:a16="http://schemas.microsoft.com/office/drawing/2014/main" id="{55FDEDBC-4849-4163-BC01-0CF13CB86443}"/>
              </a:ext>
            </a:extLst>
          </p:cNvPr>
          <p:cNvSpPr txBox="1"/>
          <p:nvPr/>
        </p:nvSpPr>
        <p:spPr>
          <a:xfrm>
            <a:off x="2674598" y="4605696"/>
            <a:ext cx="5529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тык</a:t>
            </a:r>
            <a:endParaRPr/>
          </a:p>
        </p:txBody>
      </p:sp>
      <p:sp>
        <p:nvSpPr>
          <p:cNvPr id="19" name="Google Shape;106;p16">
            <a:extLst>
              <a:ext uri="{FF2B5EF4-FFF2-40B4-BE49-F238E27FC236}">
                <a16:creationId xmlns:a16="http://schemas.microsoft.com/office/drawing/2014/main" id="{E902ADC1-D401-4B9A-8BB8-E23A329B1210}"/>
              </a:ext>
            </a:extLst>
          </p:cNvPr>
          <p:cNvSpPr txBox="1"/>
          <p:nvPr/>
        </p:nvSpPr>
        <p:spPr>
          <a:xfrm>
            <a:off x="581834" y="5087940"/>
            <a:ext cx="5384803" cy="1038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E06666"/>
                </a:solidFill>
              </a:rPr>
              <a:t>Не рекомендуется делать так постоянно. Имеет смысл использовать это для первой лабы, чтобы быстрее разобраться.</a:t>
            </a:r>
            <a:endParaRPr dirty="0">
              <a:solidFill>
                <a:srgbClr val="E06666"/>
              </a:solidFill>
            </a:endParaRPr>
          </a:p>
        </p:txBody>
      </p:sp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83642608-D4EC-5EE0-A726-D5CE9C065B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480" y="19472"/>
            <a:ext cx="17621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57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969E-9DFC-40A2-9103-76FB240FD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en-US" dirty="0"/>
              <a:t>merge request</a:t>
            </a:r>
            <a:r>
              <a:rPr lang="ru-RU" dirty="0"/>
              <a:t>-а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E9BBC-67B1-413D-B199-6849BF7BC478}"/>
              </a:ext>
            </a:extLst>
          </p:cNvPr>
          <p:cNvSpPr txBox="1"/>
          <p:nvPr/>
        </p:nvSpPr>
        <p:spPr>
          <a:xfrm rot="16200000">
            <a:off x="9430820" y="3817235"/>
            <a:ext cx="3933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Автор Архипов И.А. ФИТ НГУ гр. 20205</a:t>
            </a:r>
          </a:p>
        </p:txBody>
      </p:sp>
      <p:pic>
        <p:nvPicPr>
          <p:cNvPr id="17" name="Google Shape;128;p18">
            <a:extLst>
              <a:ext uri="{FF2B5EF4-FFF2-40B4-BE49-F238E27FC236}">
                <a16:creationId xmlns:a16="http://schemas.microsoft.com/office/drawing/2014/main" id="{59E10B86-5FB5-4257-8A58-853B1453BA3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3645" y="1283420"/>
            <a:ext cx="1661348" cy="50796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" name="Google Shape;129;p18">
            <a:extLst>
              <a:ext uri="{FF2B5EF4-FFF2-40B4-BE49-F238E27FC236}">
                <a16:creationId xmlns:a16="http://schemas.microsoft.com/office/drawing/2014/main" id="{61F3D513-4DF8-4F63-B11C-0A3F4CFCE738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1772706" y="3178238"/>
            <a:ext cx="560400" cy="6051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0" name="Google Shape;130;p18">
            <a:extLst>
              <a:ext uri="{FF2B5EF4-FFF2-40B4-BE49-F238E27FC236}">
                <a16:creationId xmlns:a16="http://schemas.microsoft.com/office/drawing/2014/main" id="{6E0892B3-2F95-4B5C-A07F-108AF7762B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14792"/>
          <a:stretch/>
        </p:blipFill>
        <p:spPr>
          <a:xfrm>
            <a:off x="2424951" y="1283420"/>
            <a:ext cx="7418580" cy="3556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131;p18">
            <a:extLst>
              <a:ext uri="{FF2B5EF4-FFF2-40B4-BE49-F238E27FC236}">
                <a16:creationId xmlns:a16="http://schemas.microsoft.com/office/drawing/2014/main" id="{59E2408E-157B-48F8-B796-A391075A04E2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9120337" y="1615414"/>
            <a:ext cx="1183864" cy="36803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2" name="Google Shape;132;p18">
            <a:extLst>
              <a:ext uri="{FF2B5EF4-FFF2-40B4-BE49-F238E27FC236}">
                <a16:creationId xmlns:a16="http://schemas.microsoft.com/office/drawing/2014/main" id="{FD499E4F-23F8-41D0-B0B2-A6D2FEEBC3C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b="21651"/>
          <a:stretch/>
        </p:blipFill>
        <p:spPr>
          <a:xfrm>
            <a:off x="3359696" y="4974506"/>
            <a:ext cx="3343101" cy="1388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33;p18">
            <a:extLst>
              <a:ext uri="{FF2B5EF4-FFF2-40B4-BE49-F238E27FC236}">
                <a16:creationId xmlns:a16="http://schemas.microsoft.com/office/drawing/2014/main" id="{1590D9B6-90D7-4F83-8798-950AC8F43D4A}"/>
              </a:ext>
            </a:extLst>
          </p:cNvPr>
          <p:cNvSpPr txBox="1"/>
          <p:nvPr/>
        </p:nvSpPr>
        <p:spPr>
          <a:xfrm>
            <a:off x="2333106" y="3028838"/>
            <a:ext cx="3960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</a:t>
            </a:r>
            <a:endParaRPr/>
          </a:p>
        </p:txBody>
      </p:sp>
      <p:sp>
        <p:nvSpPr>
          <p:cNvPr id="24" name="Google Shape;134;p18">
            <a:extLst>
              <a:ext uri="{FF2B5EF4-FFF2-40B4-BE49-F238E27FC236}">
                <a16:creationId xmlns:a16="http://schemas.microsoft.com/office/drawing/2014/main" id="{CD37292A-1A05-44EE-B32E-20634B5C7267}"/>
              </a:ext>
            </a:extLst>
          </p:cNvPr>
          <p:cNvSpPr txBox="1"/>
          <p:nvPr/>
        </p:nvSpPr>
        <p:spPr>
          <a:xfrm>
            <a:off x="10304201" y="1834044"/>
            <a:ext cx="448200" cy="2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2</a:t>
            </a:r>
            <a:endParaRPr dirty="0"/>
          </a:p>
        </p:txBody>
      </p:sp>
      <p:sp>
        <p:nvSpPr>
          <p:cNvPr id="25" name="Google Shape;135;p18">
            <a:extLst>
              <a:ext uri="{FF2B5EF4-FFF2-40B4-BE49-F238E27FC236}">
                <a16:creationId xmlns:a16="http://schemas.microsoft.com/office/drawing/2014/main" id="{5EF56114-4E76-4991-838E-E8941D028B8A}"/>
              </a:ext>
            </a:extLst>
          </p:cNvPr>
          <p:cNvSpPr txBox="1"/>
          <p:nvPr/>
        </p:nvSpPr>
        <p:spPr>
          <a:xfrm>
            <a:off x="7464796" y="6135056"/>
            <a:ext cx="3960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3</a:t>
            </a:r>
            <a:endParaRPr dirty="0"/>
          </a:p>
        </p:txBody>
      </p:sp>
      <p:cxnSp>
        <p:nvCxnSpPr>
          <p:cNvPr id="26" name="Google Shape;136;p18">
            <a:extLst>
              <a:ext uri="{FF2B5EF4-FFF2-40B4-BE49-F238E27FC236}">
                <a16:creationId xmlns:a16="http://schemas.microsoft.com/office/drawing/2014/main" id="{C344A13B-2B18-4857-966C-9116333C8BA3}"/>
              </a:ext>
            </a:extLst>
          </p:cNvPr>
          <p:cNvCxnSpPr>
            <a:cxnSpLocks/>
            <a:stCxn id="25" idx="1"/>
          </p:cNvCxnSpPr>
          <p:nvPr/>
        </p:nvCxnSpPr>
        <p:spPr>
          <a:xfrm flipH="1" flipV="1">
            <a:off x="6105196" y="5701856"/>
            <a:ext cx="1359600" cy="547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" name="Google Shape;137;p18">
            <a:extLst>
              <a:ext uri="{FF2B5EF4-FFF2-40B4-BE49-F238E27FC236}">
                <a16:creationId xmlns:a16="http://schemas.microsoft.com/office/drawing/2014/main" id="{F6BC213C-F5A0-477C-89B1-5F59D89878A2}"/>
              </a:ext>
            </a:extLst>
          </p:cNvPr>
          <p:cNvCxnSpPr>
            <a:stCxn id="25" idx="1"/>
          </p:cNvCxnSpPr>
          <p:nvPr/>
        </p:nvCxnSpPr>
        <p:spPr>
          <a:xfrm rot="10800000">
            <a:off x="4738096" y="6179756"/>
            <a:ext cx="2726700" cy="69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28" name="Google Shape;144;p19">
            <a:extLst>
              <a:ext uri="{FF2B5EF4-FFF2-40B4-BE49-F238E27FC236}">
                <a16:creationId xmlns:a16="http://schemas.microsoft.com/office/drawing/2014/main" id="{0EB053ED-A170-424B-9240-26FD99526C00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31947" y="2984731"/>
            <a:ext cx="1720925" cy="337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" name="Google Shape;145;p19">
            <a:extLst>
              <a:ext uri="{FF2B5EF4-FFF2-40B4-BE49-F238E27FC236}">
                <a16:creationId xmlns:a16="http://schemas.microsoft.com/office/drawing/2014/main" id="{D644C8DF-C2CE-41E4-AC50-0C24163AE0A0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8524167" y="3327638"/>
            <a:ext cx="956381" cy="114495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0" name="Google Shape;146;p19">
            <a:extLst>
              <a:ext uri="{FF2B5EF4-FFF2-40B4-BE49-F238E27FC236}">
                <a16:creationId xmlns:a16="http://schemas.microsoft.com/office/drawing/2014/main" id="{6F1DBD1E-7B8E-4077-B802-98E5B9972FA6}"/>
              </a:ext>
            </a:extLst>
          </p:cNvPr>
          <p:cNvSpPr txBox="1"/>
          <p:nvPr/>
        </p:nvSpPr>
        <p:spPr>
          <a:xfrm>
            <a:off x="8278590" y="4472594"/>
            <a:ext cx="491154" cy="368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0374144-2C28-473B-815C-055CF7909976}"/>
              </a:ext>
            </a:extLst>
          </p:cNvPr>
          <p:cNvSpPr/>
          <p:nvPr/>
        </p:nvSpPr>
        <p:spPr>
          <a:xfrm>
            <a:off x="9875156" y="3212975"/>
            <a:ext cx="883108" cy="276999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C00000"/>
                </a:solidFill>
              </a:rPr>
              <a:t>Преподаватель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000" dirty="0">
                <a:solidFill>
                  <a:srgbClr val="C00000"/>
                </a:solidFill>
              </a:rPr>
              <a:t>вашей группы</a:t>
            </a:r>
            <a:endParaRPr lang="ru-RU" sz="1000" dirty="0">
              <a:solidFill>
                <a:srgbClr val="C0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0565FD-B95B-45F6-BFF2-6FA3883E372D}"/>
              </a:ext>
            </a:extLst>
          </p:cNvPr>
          <p:cNvSpPr txBox="1"/>
          <p:nvPr/>
        </p:nvSpPr>
        <p:spPr>
          <a:xfrm>
            <a:off x="9599322" y="3212976"/>
            <a:ext cx="275834" cy="276999"/>
          </a:xfrm>
          <a:prstGeom prst="rect">
            <a:avLst/>
          </a:prstGeom>
          <a:solidFill>
            <a:srgbClr val="FFC000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6EA3DA-3B5A-4304-A200-FB62BA3F321C}"/>
              </a:ext>
            </a:extLst>
          </p:cNvPr>
          <p:cNvSpPr txBox="1"/>
          <p:nvPr/>
        </p:nvSpPr>
        <p:spPr>
          <a:xfrm>
            <a:off x="9578003" y="5324369"/>
            <a:ext cx="275834" cy="276999"/>
          </a:xfrm>
          <a:prstGeom prst="rect">
            <a:avLst/>
          </a:prstGeom>
          <a:solidFill>
            <a:srgbClr val="FFC000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ru-RU" dirty="0">
                <a:solidFill>
                  <a:srgbClr val="C00000"/>
                </a:solidFill>
                <a:sym typeface="Wingdings" panose="05000000000000000000" pitchFamily="2" charset="2"/>
              </a:rPr>
              <a:t></a:t>
            </a:r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215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62B0DE-A5A5-8CEA-9D0E-3AE7200FE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0C21CA-FEC4-9243-A0E7-B09A862DC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Информация об этом курсе</a:t>
            </a:r>
          </a:p>
          <a:p>
            <a:pPr lvl="1"/>
            <a:r>
              <a:rPr lang="ru-RU" dirty="0"/>
              <a:t>«сильно повышаем шансы пройти собес на стажировку летом»</a:t>
            </a:r>
          </a:p>
          <a:p>
            <a:r>
              <a:rPr lang="ru-RU" dirty="0"/>
              <a:t>Темы со звездочкой – до конца мая</a:t>
            </a:r>
          </a:p>
          <a:p>
            <a:r>
              <a:rPr lang="ru-RU" dirty="0"/>
              <a:t>Темы по </a:t>
            </a:r>
            <a:r>
              <a:rPr lang="ru-RU" dirty="0" err="1"/>
              <a:t>алгосам</a:t>
            </a:r>
            <a:r>
              <a:rPr lang="ru-RU" dirty="0"/>
              <a:t> – до ½ апреля</a:t>
            </a:r>
          </a:p>
          <a:p>
            <a:r>
              <a:rPr lang="ru-RU" dirty="0"/>
              <a:t>Темы по языку Си – до ½ октября</a:t>
            </a:r>
          </a:p>
          <a:p>
            <a:r>
              <a:rPr lang="ru-RU" dirty="0"/>
              <a:t>Как делать лабы на </a:t>
            </a:r>
            <a:r>
              <a:rPr lang="en-US" dirty="0"/>
              <a:t>gitlab.ccfit.nsu.ru</a:t>
            </a:r>
            <a:r>
              <a:rPr lang="ru-RU" dirty="0"/>
              <a:t> – работаем по-взрослому</a:t>
            </a:r>
          </a:p>
        </p:txBody>
      </p:sp>
    </p:spTree>
    <p:extLst>
      <p:ext uri="{BB962C8B-B14F-4D97-AF65-F5344CB8AC3E}">
        <p14:creationId xmlns:p14="http://schemas.microsoft.com/office/powerpoint/2010/main" val="425019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2094</Words>
  <Application>Microsoft Office PowerPoint</Application>
  <PresentationFormat>Widescreen</PresentationFormat>
  <Paragraphs>389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Consolas</vt:lpstr>
      <vt:lpstr>Aptos Display</vt:lpstr>
      <vt:lpstr>Arial</vt:lpstr>
      <vt:lpstr>Wingdings</vt:lpstr>
      <vt:lpstr>Aptos</vt:lpstr>
      <vt:lpstr>Courier New</vt:lpstr>
      <vt:lpstr>Office Theme</vt:lpstr>
      <vt:lpstr>План-капкан до лета</vt:lpstr>
      <vt:lpstr>План лекции</vt:lpstr>
      <vt:lpstr>Информация об этом курсе</vt:lpstr>
      <vt:lpstr>Информация об этом курсе</vt:lpstr>
      <vt:lpstr>Информация об этом курсе</vt:lpstr>
      <vt:lpstr>Учебная литература</vt:lpstr>
      <vt:lpstr>Темы со звездочкой</vt:lpstr>
      <vt:lpstr>Темы по алгосам</vt:lpstr>
      <vt:lpstr>Темы по языку Си</vt:lpstr>
      <vt:lpstr>Метаинформация о языке Си</vt:lpstr>
      <vt:lpstr>Метаинформация о языке Си</vt:lpstr>
      <vt:lpstr>PowerPoint Presentation</vt:lpstr>
      <vt:lpstr>PowerPoint Presentation</vt:lpstr>
      <vt:lpstr>PowerPoint Presentation</vt:lpstr>
      <vt:lpstr>  Python   ⚔️   Си</vt:lpstr>
      <vt:lpstr>  Python   ⚔️   Си</vt:lpstr>
      <vt:lpstr>  Python   ⚔️   Си</vt:lpstr>
      <vt:lpstr>  Python   ⚔️   Си</vt:lpstr>
      <vt:lpstr>  Python   ⚔️   Си</vt:lpstr>
      <vt:lpstr>  Python   ⚔️   Си</vt:lpstr>
      <vt:lpstr>  Python   ⚔️   Си</vt:lpstr>
      <vt:lpstr>  Python   ⚔️   Си</vt:lpstr>
      <vt:lpstr>Поведение кода на языке Си </vt:lpstr>
      <vt:lpstr>Процесс работы с gitlab.ccfit.nsu.ru</vt:lpstr>
      <vt:lpstr>Система контроля версий/version control system/vcs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Процесс работы с gitlab.ccfit.nsu.ru</vt:lpstr>
      <vt:lpstr>Создание ветки</vt:lpstr>
      <vt:lpstr>Скачивание репозитория</vt:lpstr>
      <vt:lpstr>Заливка правок</vt:lpstr>
      <vt:lpstr>Создание merge request-а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Evgenii Petrov</dc:creator>
  <cp:lastModifiedBy>Evgenii Petrov</cp:lastModifiedBy>
  <cp:revision>26</cp:revision>
  <dcterms:created xsi:type="dcterms:W3CDTF">2026-08-29T16:44:17Z</dcterms:created>
  <dcterms:modified xsi:type="dcterms:W3CDTF">2026-09-15T18:12:43Z</dcterms:modified>
</cp:coreProperties>
</file>