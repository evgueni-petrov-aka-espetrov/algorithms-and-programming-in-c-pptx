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67"/>
  </p:notesMasterIdLst>
  <p:sldIdLst>
    <p:sldId id="256" r:id="rId2"/>
    <p:sldId id="257" r:id="rId3"/>
    <p:sldId id="527" r:id="rId4"/>
    <p:sldId id="375" r:id="rId5"/>
    <p:sldId id="405" r:id="rId6"/>
    <p:sldId id="532" r:id="rId7"/>
    <p:sldId id="533" r:id="rId8"/>
    <p:sldId id="534" r:id="rId9"/>
    <p:sldId id="373" r:id="rId10"/>
    <p:sldId id="376" r:id="rId11"/>
    <p:sldId id="530" r:id="rId12"/>
    <p:sldId id="531" r:id="rId13"/>
    <p:sldId id="372" r:id="rId14"/>
    <p:sldId id="524" r:id="rId15"/>
    <p:sldId id="385" r:id="rId16"/>
    <p:sldId id="379" r:id="rId17"/>
    <p:sldId id="360" r:id="rId18"/>
    <p:sldId id="427" r:id="rId19"/>
    <p:sldId id="428" r:id="rId20"/>
    <p:sldId id="429" r:id="rId21"/>
    <p:sldId id="430" r:id="rId22"/>
    <p:sldId id="381" r:id="rId23"/>
    <p:sldId id="382" r:id="rId24"/>
    <p:sldId id="431" r:id="rId25"/>
    <p:sldId id="432" r:id="rId26"/>
    <p:sldId id="380" r:id="rId27"/>
    <p:sldId id="384" r:id="rId28"/>
    <p:sldId id="433" r:id="rId29"/>
    <p:sldId id="434" r:id="rId30"/>
    <p:sldId id="383" r:id="rId31"/>
    <p:sldId id="388" r:id="rId32"/>
    <p:sldId id="435" r:id="rId33"/>
    <p:sldId id="436" r:id="rId34"/>
    <p:sldId id="437" r:id="rId35"/>
    <p:sldId id="438" r:id="rId36"/>
    <p:sldId id="386" r:id="rId37"/>
    <p:sldId id="389" r:id="rId38"/>
    <p:sldId id="439" r:id="rId39"/>
    <p:sldId id="440" r:id="rId40"/>
    <p:sldId id="441" r:id="rId41"/>
    <p:sldId id="442" r:id="rId42"/>
    <p:sldId id="387" r:id="rId43"/>
    <p:sldId id="393" r:id="rId44"/>
    <p:sldId id="443" r:id="rId45"/>
    <p:sldId id="444" r:id="rId46"/>
    <p:sldId id="390" r:id="rId47"/>
    <p:sldId id="399" r:id="rId48"/>
    <p:sldId id="445" r:id="rId49"/>
    <p:sldId id="446" r:id="rId50"/>
    <p:sldId id="447" r:id="rId51"/>
    <p:sldId id="394" r:id="rId52"/>
    <p:sldId id="355" r:id="rId53"/>
    <p:sldId id="448" r:id="rId54"/>
    <p:sldId id="449" r:id="rId55"/>
    <p:sldId id="450" r:id="rId56"/>
    <p:sldId id="397" r:id="rId57"/>
    <p:sldId id="400" r:id="rId58"/>
    <p:sldId id="451" r:id="rId59"/>
    <p:sldId id="452" r:id="rId60"/>
    <p:sldId id="453" r:id="rId61"/>
    <p:sldId id="454" r:id="rId62"/>
    <p:sldId id="402" r:id="rId63"/>
    <p:sldId id="403" r:id="rId64"/>
    <p:sldId id="455" r:id="rId65"/>
    <p:sldId id="456" r:id="rId66"/>
    <p:sldId id="457" r:id="rId67"/>
    <p:sldId id="458" r:id="rId68"/>
    <p:sldId id="404" r:id="rId69"/>
    <p:sldId id="459" r:id="rId70"/>
    <p:sldId id="460" r:id="rId71"/>
    <p:sldId id="461" r:id="rId72"/>
    <p:sldId id="462" r:id="rId73"/>
    <p:sldId id="401" r:id="rId74"/>
    <p:sldId id="408" r:id="rId75"/>
    <p:sldId id="464" r:id="rId76"/>
    <p:sldId id="465" r:id="rId77"/>
    <p:sldId id="466" r:id="rId78"/>
    <p:sldId id="467" r:id="rId79"/>
    <p:sldId id="395" r:id="rId80"/>
    <p:sldId id="412" r:id="rId81"/>
    <p:sldId id="468" r:id="rId82"/>
    <p:sldId id="469" r:id="rId83"/>
    <p:sldId id="470" r:id="rId84"/>
    <p:sldId id="471" r:id="rId85"/>
    <p:sldId id="409" r:id="rId86"/>
    <p:sldId id="361" r:id="rId87"/>
    <p:sldId id="472" r:id="rId88"/>
    <p:sldId id="473" r:id="rId89"/>
    <p:sldId id="474" r:id="rId90"/>
    <p:sldId id="410" r:id="rId91"/>
    <p:sldId id="415" r:id="rId92"/>
    <p:sldId id="475" r:id="rId93"/>
    <p:sldId id="476" r:id="rId94"/>
    <p:sldId id="477" r:id="rId95"/>
    <p:sldId id="413" r:id="rId96"/>
    <p:sldId id="358" r:id="rId97"/>
    <p:sldId id="478" r:id="rId98"/>
    <p:sldId id="479" r:id="rId99"/>
    <p:sldId id="480" r:id="rId100"/>
    <p:sldId id="414" r:id="rId101"/>
    <p:sldId id="416" r:id="rId102"/>
    <p:sldId id="481" r:id="rId103"/>
    <p:sldId id="482" r:id="rId104"/>
    <p:sldId id="483" r:id="rId105"/>
    <p:sldId id="411" r:id="rId106"/>
    <p:sldId id="420" r:id="rId107"/>
    <p:sldId id="418" r:id="rId108"/>
    <p:sldId id="421" r:id="rId109"/>
    <p:sldId id="484" r:id="rId110"/>
    <p:sldId id="485" r:id="rId111"/>
    <p:sldId id="419" r:id="rId112"/>
    <p:sldId id="354" r:id="rId113"/>
    <p:sldId id="486" r:id="rId114"/>
    <p:sldId id="487" r:id="rId115"/>
    <p:sldId id="488" r:id="rId116"/>
    <p:sldId id="422" r:id="rId117"/>
    <p:sldId id="425" r:id="rId118"/>
    <p:sldId id="489" r:id="rId119"/>
    <p:sldId id="490" r:id="rId120"/>
    <p:sldId id="491" r:id="rId121"/>
    <p:sldId id="423" r:id="rId122"/>
    <p:sldId id="362" r:id="rId123"/>
    <p:sldId id="492" r:id="rId124"/>
    <p:sldId id="493" r:id="rId125"/>
    <p:sldId id="363" r:id="rId126"/>
    <p:sldId id="494" r:id="rId127"/>
    <p:sldId id="495" r:id="rId128"/>
    <p:sldId id="496" r:id="rId129"/>
    <p:sldId id="497" r:id="rId130"/>
    <p:sldId id="365" r:id="rId131"/>
    <p:sldId id="498" r:id="rId132"/>
    <p:sldId id="499" r:id="rId133"/>
    <p:sldId id="500" r:id="rId134"/>
    <p:sldId id="501" r:id="rId135"/>
    <p:sldId id="525" r:id="rId136"/>
    <p:sldId id="366" r:id="rId137"/>
    <p:sldId id="508" r:id="rId138"/>
    <p:sldId id="502" r:id="rId139"/>
    <p:sldId id="503" r:id="rId140"/>
    <p:sldId id="504" r:id="rId141"/>
    <p:sldId id="505" r:id="rId142"/>
    <p:sldId id="506" r:id="rId143"/>
    <p:sldId id="507" r:id="rId144"/>
    <p:sldId id="528" r:id="rId145"/>
    <p:sldId id="526" r:id="rId146"/>
    <p:sldId id="426" r:id="rId147"/>
    <p:sldId id="509" r:id="rId148"/>
    <p:sldId id="510" r:id="rId149"/>
    <p:sldId id="322" r:id="rId150"/>
    <p:sldId id="324" r:id="rId151"/>
    <p:sldId id="529" r:id="rId152"/>
    <p:sldId id="357" r:id="rId153"/>
    <p:sldId id="511" r:id="rId154"/>
    <p:sldId id="512" r:id="rId155"/>
    <p:sldId id="515" r:id="rId156"/>
    <p:sldId id="518" r:id="rId157"/>
    <p:sldId id="519" r:id="rId158"/>
    <p:sldId id="520" r:id="rId159"/>
    <p:sldId id="521" r:id="rId160"/>
    <p:sldId id="517" r:id="rId161"/>
    <p:sldId id="522" r:id="rId162"/>
    <p:sldId id="523" r:id="rId163"/>
    <p:sldId id="258" r:id="rId164"/>
    <p:sldId id="369" r:id="rId165"/>
    <p:sldId id="370" r:id="rId16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235" autoAdjust="0"/>
    <p:restoredTop sz="94660"/>
  </p:normalViewPr>
  <p:slideViewPr>
    <p:cSldViewPr>
      <p:cViewPr varScale="1">
        <p:scale>
          <a:sx n="90" d="100"/>
          <a:sy n="90" d="100"/>
        </p:scale>
        <p:origin x="67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theme" Target="theme/theme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tableStyles" Target="tableStyles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61" Type="http://schemas.openxmlformats.org/officeDocument/2006/relationships/slide" Target="slides/slide160.xml"/><Relationship Id="rId166" Type="http://schemas.openxmlformats.org/officeDocument/2006/relationships/slide" Target="slides/slide16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slide" Target="slides/slide155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167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162" Type="http://schemas.openxmlformats.org/officeDocument/2006/relationships/slide" Target="slides/slide16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9364-41B5-4343-9AE4-547B2BBB7679}" type="datetimeFigureOut">
              <a:rPr lang="ru-RU" smtClean="0"/>
              <a:t>10.11.2025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BC6709-6BC4-4406-A8FB-37D4D1120AA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0955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01772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9056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4700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83967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86047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73822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61554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18979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117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76186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77539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119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91453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5BC6709-6BC4-4406-A8FB-37D4D1120AA9}" type="slidenum">
              <a:rPr lang="ru-RU" smtClean="0"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82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5EC6AE-4335-493E-925E-15FC4EDC4FBD}" type="datetime1">
              <a:rPr lang="ru-RU" smtClean="0"/>
              <a:t>10.11.2025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7578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878C8-7A35-4752-9C17-F0B1956F03A6}" type="datetime1">
              <a:rPr lang="ru-RU" smtClean="0"/>
              <a:t>10.11.2025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7752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F32A10-9080-4786-B265-5C3D016C6D10}" type="datetime1">
              <a:rPr lang="ru-RU" smtClean="0"/>
              <a:t>10.11.2025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25709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8CD91-73A8-4BDF-A733-9C4A1CE616DC}" type="datetime1">
              <a:rPr lang="ru-RU" smtClean="0"/>
              <a:t>10.11.2025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8902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947AA1-1857-4A96-8EE9-2D59E50297E1}" type="datetime1">
              <a:rPr lang="ru-RU" smtClean="0"/>
              <a:t>10.11.2025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3952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3E94F-C085-4A9D-A4F7-9A49894C0BBF}" type="datetime1">
              <a:rPr lang="ru-RU" smtClean="0"/>
              <a:t>10.11.2025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56823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0C213F-DF6A-4520-8E76-57F43B34A5BA}" type="datetime1">
              <a:rPr lang="ru-RU" smtClean="0"/>
              <a:t>10.11.2025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42301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2E9F79-4E97-44E9-9187-928C28BE0EFC}" type="datetime1">
              <a:rPr lang="ru-RU" smtClean="0"/>
              <a:t>10.11.2025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5399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7BD48-6B2C-4E5F-9B92-1CC0FAD0B36B}" type="datetime1">
              <a:rPr lang="ru-RU" smtClean="0"/>
              <a:t>10.11.2025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18745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360C3-E476-4668-BAD1-69805058F807}" type="datetime1">
              <a:rPr lang="ru-RU" smtClean="0"/>
              <a:t>10.11.2025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09930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3AF3A-3232-4D49-9CBA-907B6336E814}" type="datetime1">
              <a:rPr lang="ru-RU" smtClean="0"/>
              <a:t>10.11.2025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1906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3A3C22-C6BE-40D6-87F3-D2130EF26DA7}" type="datetime1">
              <a:rPr lang="ru-RU" smtClean="0"/>
              <a:t>10.11.2025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0E2822-3F92-4355-B47E-F2E8C9595E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4104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Система типов языка Си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Лекция 3</a:t>
            </a:r>
          </a:p>
        </p:txBody>
      </p:sp>
    </p:spTree>
    <p:extLst>
      <p:ext uri="{BB962C8B-B14F-4D97-AF65-F5344CB8AC3E}">
        <p14:creationId xmlns:p14="http://schemas.microsoft.com/office/powerpoint/2010/main" val="36516750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лекции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такое тип и система типов?</a:t>
            </a:r>
          </a:p>
          <a:p>
            <a:r>
              <a:rPr lang="ru-RU" dirty="0"/>
              <a:t>Классификация типов языка Си</a:t>
            </a:r>
          </a:p>
          <a:p>
            <a:pPr lvl="1"/>
            <a:r>
              <a:rPr lang="ru-RU" dirty="0"/>
              <a:t>Функциональные</a:t>
            </a:r>
          </a:p>
          <a:p>
            <a:pPr lvl="1"/>
            <a:r>
              <a:rPr lang="ru-RU" dirty="0"/>
              <a:t>Полные</a:t>
            </a:r>
            <a:endParaRPr lang="en-US" dirty="0"/>
          </a:p>
          <a:p>
            <a:pPr lvl="2"/>
            <a:r>
              <a:rPr lang="ru-RU" dirty="0"/>
              <a:t>Целые, с плавающей точкой, и т.п.</a:t>
            </a:r>
          </a:p>
          <a:p>
            <a:pPr lvl="1"/>
            <a:r>
              <a:rPr lang="ru-RU" dirty="0"/>
              <a:t>Неполные</a:t>
            </a:r>
          </a:p>
          <a:p>
            <a:pPr lvl="2"/>
            <a:r>
              <a:rPr lang="en-US" dirty="0"/>
              <a:t>void</a:t>
            </a:r>
            <a:r>
              <a:rPr lang="ru-RU" dirty="0"/>
              <a:t> и другие</a:t>
            </a:r>
          </a:p>
          <a:p>
            <a:r>
              <a:rPr lang="ru-RU" dirty="0"/>
              <a:t>Представление типов в памяти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454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План лекции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Что такое тип и система типов?</a:t>
            </a:r>
          </a:p>
          <a:p>
            <a:r>
              <a:rPr lang="ru-RU" dirty="0"/>
              <a:t>Классификация типов языка Си</a:t>
            </a:r>
          </a:p>
          <a:p>
            <a:pPr lvl="1"/>
            <a:r>
              <a:rPr lang="ru-RU" dirty="0"/>
              <a:t>Функциональные</a:t>
            </a:r>
          </a:p>
          <a:p>
            <a:pPr lvl="1"/>
            <a:r>
              <a:rPr lang="ru-RU" dirty="0"/>
              <a:t>Полные</a:t>
            </a:r>
            <a:endParaRPr lang="en-US" dirty="0"/>
          </a:p>
          <a:p>
            <a:pPr lvl="2"/>
            <a:r>
              <a:rPr lang="ru-RU" dirty="0"/>
              <a:t>Целые, с плавающей точкой, и т.п.</a:t>
            </a:r>
          </a:p>
          <a:p>
            <a:pPr lvl="1"/>
            <a:r>
              <a:rPr lang="ru-RU" dirty="0"/>
              <a:t>Неполные</a:t>
            </a:r>
          </a:p>
          <a:p>
            <a:pPr lvl="2"/>
            <a:r>
              <a:rPr lang="en-US" dirty="0"/>
              <a:t>void</a:t>
            </a:r>
            <a:r>
              <a:rPr lang="ru-RU" dirty="0"/>
              <a:t> и другие</a:t>
            </a:r>
          </a:p>
          <a:p>
            <a:r>
              <a:rPr lang="ru-RU" dirty="0"/>
              <a:t>Представление типов в памяти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</a:t>
            </a:fld>
            <a:endParaRPr lang="ru-RU"/>
          </a:p>
        </p:txBody>
      </p:sp>
      <p:pic>
        <p:nvPicPr>
          <p:cNvPr id="6" name="Picture 5" descr="A close-up of a mouse&#10;&#10;Description automatically generated with low confidence">
            <a:extLst>
              <a:ext uri="{FF2B5EF4-FFF2-40B4-BE49-F238E27FC236}">
                <a16:creationId xmlns:a16="http://schemas.microsoft.com/office/drawing/2014/main" id="{5ADB035E-C2BF-4DF8-AEC5-1338C5B5DF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2462" y="1825625"/>
            <a:ext cx="4351338" cy="43513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16F6D2C-7039-4CF0-938F-1ABFA6A516B3}"/>
              </a:ext>
            </a:extLst>
          </p:cNvPr>
          <p:cNvSpPr txBox="1"/>
          <p:nvPr/>
        </p:nvSpPr>
        <p:spPr>
          <a:xfrm rot="5400000">
            <a:off x="9013844" y="3647598"/>
            <a:ext cx="506183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solidFill>
                  <a:schemeClr val="bg1">
                    <a:lumMod val="85000"/>
                  </a:schemeClr>
                </a:solidFill>
              </a:rPr>
              <a:t>https://fishki.net/3538965-vpihnuty-nevpihuemoe-25-primerov-zhadnosti-v-prirode.html</a:t>
            </a:r>
            <a:endParaRPr lang="ru-RU" sz="105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05913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тип и система типов?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Тип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данных – это множество значений и набор операций над ними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Система типов языка программирования – это набор правил, который назначает типы переменным, выражениям, функциям и т.п. частям программы на этом языке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25460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тип и система типов?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Тип</a:t>
            </a:r>
            <a:r>
              <a:rPr lang="en-US" dirty="0"/>
              <a:t> </a:t>
            </a:r>
            <a:r>
              <a:rPr lang="ru-RU" dirty="0"/>
              <a:t>данных – это множество значений и набор операций над ними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Результат операции или некоторые аргументы могут принадлежать множеству значений другого типа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Например, результат сравнения чисел принадлежит множеству значений булевского типа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Система типов языка программирования – это множество всех типов, которые можно описать на этом языке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Типизация языка программирования -- это набор правил, которые назначают типы переменным, выражениям, функциям и т.п. частям программы на этом языке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73670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тип и система типов?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Тип</a:t>
            </a:r>
            <a:r>
              <a:rPr lang="en-US" dirty="0"/>
              <a:t> </a:t>
            </a:r>
            <a:r>
              <a:rPr lang="ru-RU" dirty="0"/>
              <a:t>данных – это множество значений и набор операций над ними</a:t>
            </a:r>
          </a:p>
          <a:p>
            <a:pPr lvl="1"/>
            <a:r>
              <a:rPr lang="ru-RU" dirty="0"/>
              <a:t>Результат операции или некоторые аргументы могут принадлежать множеству значений другого типа</a:t>
            </a:r>
          </a:p>
          <a:p>
            <a:pPr lvl="2"/>
            <a:r>
              <a:rPr lang="ru-RU" dirty="0"/>
              <a:t>Например, результат сравнения чисел принадлежит множеству значений булевского типа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Система типов языка программирования – это множество всех типов, которые можно описать на этом языке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Типизация языка программирования -- это набор правил, которые назначают типы переменным, выражениям, функциям и т.п. частям программы на этом языке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670886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тип и система типов?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Тип</a:t>
            </a:r>
            <a:r>
              <a:rPr lang="en-US" dirty="0"/>
              <a:t> </a:t>
            </a:r>
            <a:r>
              <a:rPr lang="ru-RU" dirty="0"/>
              <a:t>данных – это множество значений и набор операций над ними</a:t>
            </a:r>
          </a:p>
          <a:p>
            <a:pPr lvl="1"/>
            <a:r>
              <a:rPr lang="ru-RU" dirty="0"/>
              <a:t>Результат операции или некоторые аргументы могут принадлежать множеству значений другого типа</a:t>
            </a:r>
          </a:p>
          <a:p>
            <a:pPr lvl="2"/>
            <a:r>
              <a:rPr lang="ru-RU" dirty="0"/>
              <a:t>Например, результат сравнения чисел принадлежит множеству значений булевского типа</a:t>
            </a:r>
          </a:p>
          <a:p>
            <a:endParaRPr lang="ru-RU" dirty="0"/>
          </a:p>
          <a:p>
            <a:r>
              <a:rPr lang="ru-RU" dirty="0"/>
              <a:t>Система типов языка программирования – это множество всех типов, которые можно описать на этом языке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Типизация языка программирования -- это набор правил, которые назначают типы переменным, выражениям, функциям и т.п. частям программы на этом языке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8810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такое тип и система типов?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Тип</a:t>
            </a:r>
            <a:r>
              <a:rPr lang="en-US" dirty="0"/>
              <a:t> </a:t>
            </a:r>
            <a:r>
              <a:rPr lang="ru-RU" dirty="0"/>
              <a:t>данных – это множество значений и набор операций над ними</a:t>
            </a:r>
          </a:p>
          <a:p>
            <a:pPr lvl="1"/>
            <a:r>
              <a:rPr lang="ru-RU" dirty="0"/>
              <a:t>Результат операции или некоторые аргументы могут принадлежать множеству значений другого типа</a:t>
            </a:r>
          </a:p>
          <a:p>
            <a:pPr lvl="2"/>
            <a:r>
              <a:rPr lang="ru-RU" dirty="0"/>
              <a:t>Например, результат сравнения чисел принадлежит множеству значений булевского типа</a:t>
            </a:r>
          </a:p>
          <a:p>
            <a:endParaRPr lang="ru-RU" dirty="0"/>
          </a:p>
          <a:p>
            <a:r>
              <a:rPr lang="ru-RU" dirty="0"/>
              <a:t>Система типов языка программирования – это множество всех типов, которые можно описать на этом языке</a:t>
            </a:r>
          </a:p>
          <a:p>
            <a:endParaRPr lang="ru-RU" dirty="0"/>
          </a:p>
          <a:p>
            <a:r>
              <a:rPr lang="ru-RU" dirty="0"/>
              <a:t>Типизация языка программирования -- это набор правил, которые назначают типы переменным, выражениям, функциям и т.п. частям программы на этом языке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46266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типизаций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>
                <a:solidFill>
                  <a:schemeClr val="bg1"/>
                </a:solidFill>
              </a:rPr>
              <a:t>Статические</a:t>
            </a:r>
            <a:r>
              <a:rPr lang="en-US" dirty="0">
                <a:solidFill>
                  <a:schemeClr val="bg1"/>
                </a:solidFill>
              </a:rPr>
              <a:t> 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Все типы и ошибки типизации определяются во время компиляции программы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Например, система типов языка Си и Паскаль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Динамические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Часть типов и/или ошибок типизации определяется только во время исполнения программы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Например, система типов языка С++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Сильные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Системы типов, которые исключают ошибки типизации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Например, система типов языка </a:t>
            </a:r>
            <a:r>
              <a:rPr lang="en-US" dirty="0">
                <a:solidFill>
                  <a:schemeClr val="bg1"/>
                </a:solidFill>
              </a:rPr>
              <a:t>Python</a:t>
            </a:r>
            <a:endParaRPr lang="ru-RU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ru-RU" dirty="0"/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21626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типизаций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Статическая</a:t>
            </a:r>
          </a:p>
          <a:p>
            <a:pPr lvl="1"/>
            <a:r>
              <a:rPr lang="ru-RU" dirty="0"/>
              <a:t>Типы переменных определяются во время компиляции программы</a:t>
            </a:r>
          </a:p>
          <a:p>
            <a:pPr lvl="1"/>
            <a:r>
              <a:rPr lang="ru-RU" dirty="0"/>
              <a:t>Си, Паскаль</a:t>
            </a:r>
          </a:p>
          <a:p>
            <a:r>
              <a:rPr lang="ru-RU" dirty="0">
                <a:solidFill>
                  <a:schemeClr val="bg1"/>
                </a:solidFill>
              </a:rPr>
              <a:t>Сильная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Запрещены неявные преобразования типов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dirty="0">
                <a:solidFill>
                  <a:schemeClr val="bg1"/>
                </a:solidFill>
              </a:rPr>
              <a:t>Python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Java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Явная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Типы переменных указываются в исходном коде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Си, Паскаль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4CC772-204D-3142-8F4C-B340CAD5C5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Динамическая</a:t>
            </a:r>
          </a:p>
          <a:p>
            <a:pPr lvl="1"/>
            <a:r>
              <a:rPr lang="ru-RU" dirty="0"/>
              <a:t>Типы переменных определяется во время исполнения программы</a:t>
            </a:r>
          </a:p>
          <a:p>
            <a:pPr lvl="1"/>
            <a:r>
              <a:rPr lang="en-US" dirty="0"/>
              <a:t>Python, JavaScript</a:t>
            </a:r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Слабая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Запрещены неявные преобразования типов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Си</a:t>
            </a:r>
            <a:r>
              <a:rPr lang="en-US" dirty="0">
                <a:solidFill>
                  <a:schemeClr val="bg1"/>
                </a:solidFill>
              </a:rPr>
              <a:t>, JavaScript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Неявная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Типы переменных назначает компилятор или интерпретатор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Python, JavaScript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98789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типизаций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Статическая</a:t>
            </a:r>
          </a:p>
          <a:p>
            <a:pPr lvl="1"/>
            <a:r>
              <a:rPr lang="ru-RU" dirty="0"/>
              <a:t>Типы переменных определяются во время компиляции программы</a:t>
            </a:r>
          </a:p>
          <a:p>
            <a:pPr lvl="1"/>
            <a:r>
              <a:rPr lang="ru-RU" dirty="0"/>
              <a:t>Си, Паскаль</a:t>
            </a:r>
          </a:p>
          <a:p>
            <a:r>
              <a:rPr lang="ru-RU" dirty="0"/>
              <a:t>Сильная</a:t>
            </a:r>
          </a:p>
          <a:p>
            <a:pPr lvl="1"/>
            <a:r>
              <a:rPr lang="ru-RU" dirty="0"/>
              <a:t>Нет неявных преобразований типов</a:t>
            </a:r>
            <a:br>
              <a:rPr lang="ru-RU" dirty="0"/>
            </a:br>
            <a:endParaRPr lang="en-US" dirty="0"/>
          </a:p>
          <a:p>
            <a:pPr lvl="1"/>
            <a:r>
              <a:rPr lang="en-US" dirty="0"/>
              <a:t>Python</a:t>
            </a:r>
            <a:r>
              <a:rPr lang="ru-RU" dirty="0"/>
              <a:t>, </a:t>
            </a:r>
            <a:r>
              <a:rPr lang="en-US" dirty="0"/>
              <a:t>Java</a:t>
            </a:r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Явная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Типы переменных указываются в исходном коде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Си, Паскаль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4CC772-204D-3142-8F4C-B340CAD5C5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Динамическая</a:t>
            </a:r>
          </a:p>
          <a:p>
            <a:pPr lvl="1"/>
            <a:r>
              <a:rPr lang="ru-RU" dirty="0"/>
              <a:t>Типы переменных определяется во время исполнения программы</a:t>
            </a:r>
          </a:p>
          <a:p>
            <a:pPr lvl="1"/>
            <a:r>
              <a:rPr lang="en-US" dirty="0"/>
              <a:t>Python, JavaScript</a:t>
            </a:r>
            <a:endParaRPr lang="ru-RU" dirty="0"/>
          </a:p>
          <a:p>
            <a:r>
              <a:rPr lang="ru-RU" dirty="0"/>
              <a:t>Слабая</a:t>
            </a:r>
          </a:p>
          <a:p>
            <a:pPr lvl="1"/>
            <a:r>
              <a:rPr lang="ru-RU" dirty="0"/>
              <a:t>Есть неявные преобразования типов</a:t>
            </a:r>
            <a:endParaRPr lang="en-US" dirty="0"/>
          </a:p>
          <a:p>
            <a:pPr lvl="1"/>
            <a:r>
              <a:rPr lang="ru-RU" dirty="0"/>
              <a:t>Си</a:t>
            </a:r>
            <a:r>
              <a:rPr lang="en-US" dirty="0"/>
              <a:t>, JavaScript</a:t>
            </a:r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Неявная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Типы переменных назначает компилятор или интерпретатор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Python, JavaScript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6764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типизаций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Статическая</a:t>
            </a:r>
          </a:p>
          <a:p>
            <a:pPr lvl="1"/>
            <a:r>
              <a:rPr lang="ru-RU" dirty="0"/>
              <a:t>Типы переменных определяются во время компиляции программы</a:t>
            </a:r>
          </a:p>
          <a:p>
            <a:pPr lvl="1"/>
            <a:r>
              <a:rPr lang="ru-RU" dirty="0"/>
              <a:t>Си, Паскаль</a:t>
            </a:r>
          </a:p>
          <a:p>
            <a:r>
              <a:rPr lang="ru-RU" dirty="0"/>
              <a:t>Сильная</a:t>
            </a:r>
          </a:p>
          <a:p>
            <a:pPr lvl="1"/>
            <a:r>
              <a:rPr lang="ru-RU" dirty="0"/>
              <a:t>Нет неявных преобразований типов</a:t>
            </a:r>
            <a:br>
              <a:rPr lang="ru-RU" dirty="0"/>
            </a:br>
            <a:endParaRPr lang="en-US" dirty="0"/>
          </a:p>
          <a:p>
            <a:pPr lvl="1"/>
            <a:r>
              <a:rPr lang="en-US" dirty="0"/>
              <a:t>Python</a:t>
            </a:r>
            <a:r>
              <a:rPr lang="ru-RU" dirty="0"/>
              <a:t>, </a:t>
            </a:r>
            <a:r>
              <a:rPr lang="en-US" dirty="0"/>
              <a:t>Java</a:t>
            </a:r>
            <a:endParaRPr lang="ru-RU" dirty="0"/>
          </a:p>
          <a:p>
            <a:r>
              <a:rPr lang="ru-RU" dirty="0"/>
              <a:t>Явная</a:t>
            </a:r>
          </a:p>
          <a:p>
            <a:pPr lvl="1"/>
            <a:r>
              <a:rPr lang="ru-RU" dirty="0"/>
              <a:t>Типы переменных указываются в исходном коде</a:t>
            </a:r>
            <a:endParaRPr lang="en-US" dirty="0"/>
          </a:p>
          <a:p>
            <a:pPr lvl="1"/>
            <a:r>
              <a:rPr lang="ru-RU" dirty="0"/>
              <a:t>Си, Паскаль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4CC772-204D-3142-8F4C-B340CAD5C5C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Динамическая</a:t>
            </a:r>
          </a:p>
          <a:p>
            <a:pPr lvl="1"/>
            <a:r>
              <a:rPr lang="ru-RU" dirty="0"/>
              <a:t>Типы переменных определяется во время исполнения программы</a:t>
            </a:r>
          </a:p>
          <a:p>
            <a:pPr lvl="1"/>
            <a:r>
              <a:rPr lang="en-US" dirty="0"/>
              <a:t>Python, JavaScript</a:t>
            </a:r>
            <a:endParaRPr lang="ru-RU" dirty="0"/>
          </a:p>
          <a:p>
            <a:r>
              <a:rPr lang="ru-RU" dirty="0"/>
              <a:t>Слабая</a:t>
            </a:r>
          </a:p>
          <a:p>
            <a:pPr lvl="1"/>
            <a:r>
              <a:rPr lang="ru-RU" dirty="0"/>
              <a:t>Есть неявные преобразования типов</a:t>
            </a:r>
            <a:endParaRPr lang="en-US" dirty="0"/>
          </a:p>
          <a:p>
            <a:pPr lvl="1"/>
            <a:r>
              <a:rPr lang="ru-RU" dirty="0"/>
              <a:t>Си</a:t>
            </a:r>
            <a:r>
              <a:rPr lang="en-US" dirty="0"/>
              <a:t>, JavaScript</a:t>
            </a:r>
            <a:endParaRPr lang="ru-RU" dirty="0"/>
          </a:p>
          <a:p>
            <a:r>
              <a:rPr lang="ru-RU" dirty="0"/>
              <a:t>Неявная</a:t>
            </a:r>
          </a:p>
          <a:p>
            <a:pPr lvl="1"/>
            <a:r>
              <a:rPr lang="ru-RU" dirty="0"/>
              <a:t>Типы переменных назначает компилятор или интерпретатор</a:t>
            </a:r>
          </a:p>
          <a:p>
            <a:pPr lvl="1"/>
            <a:r>
              <a:rPr lang="en-US" dirty="0"/>
              <a:t>Python, JavaScript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33201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153" name="Slide Number Placeholder 15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0827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722426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118277"/>
            <a:ext cx="1934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(</a:t>
            </a:r>
            <a:r>
              <a:rPr lang="en-US" dirty="0" err="1"/>
              <a:t>struct</a:t>
            </a:r>
            <a:r>
              <a:rPr lang="ru-RU" dirty="0"/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959" y="5514127"/>
            <a:ext cx="22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(union)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326575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624" y="439707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277193" y="2276343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7193" y="2616631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2814483" y="5095660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8193" y="4701964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8193" y="5097815"/>
            <a:ext cx="1934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(</a:t>
            </a:r>
            <a:r>
              <a:rPr lang="en-US" dirty="0" err="1"/>
              <a:t>struct</a:t>
            </a:r>
            <a:r>
              <a:rPr lang="ru-RU" dirty="0"/>
              <a:t>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8193" y="5493665"/>
            <a:ext cx="22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(union)</a:t>
            </a:r>
            <a:endParaRPr lang="ru-RU" dirty="0"/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3990352" y="2461009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1649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8" idx="3"/>
            <a:endCxn id="9" idx="1"/>
          </p:cNvCxnSpPr>
          <p:nvPr/>
        </p:nvCxnSpPr>
        <p:spPr>
          <a:xfrm flipV="1">
            <a:off x="5392274" y="3645640"/>
            <a:ext cx="759485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8" idx="3"/>
            <a:endCxn id="10" idx="1"/>
          </p:cNvCxnSpPr>
          <p:nvPr/>
        </p:nvCxnSpPr>
        <p:spPr>
          <a:xfrm>
            <a:off x="5392274" y="3790308"/>
            <a:ext cx="759485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511241"/>
            <a:ext cx="1647902" cy="62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 flipV="1">
            <a:off x="7378057" y="4907092"/>
            <a:ext cx="1647902" cy="230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560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3990352" y="2463900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" idx="3"/>
            <a:endCxn id="17" idx="1"/>
          </p:cNvCxnSpPr>
          <p:nvPr/>
        </p:nvCxnSpPr>
        <p:spPr>
          <a:xfrm flipV="1">
            <a:off x="2481174" y="4581744"/>
            <a:ext cx="230450" cy="466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6" idx="3"/>
            <a:endCxn id="22" idx="0"/>
          </p:cNvCxnSpPr>
          <p:nvPr/>
        </p:nvCxnSpPr>
        <p:spPr>
          <a:xfrm>
            <a:off x="2481174" y="5048097"/>
            <a:ext cx="919848" cy="232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stCxn id="22" idx="2"/>
            <a:endCxn id="25" idx="1"/>
          </p:cNvCxnSpPr>
          <p:nvPr/>
        </p:nvCxnSpPr>
        <p:spPr>
          <a:xfrm flipV="1">
            <a:off x="3770354" y="4886630"/>
            <a:ext cx="477839" cy="3936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>
            <a:stCxn id="22" idx="2"/>
            <a:endCxn id="26" idx="1"/>
          </p:cNvCxnSpPr>
          <p:nvPr/>
        </p:nvCxnSpPr>
        <p:spPr>
          <a:xfrm>
            <a:off x="3770354" y="5280326"/>
            <a:ext cx="477839" cy="21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/>
          <p:cNvCxnSpPr>
            <a:stCxn id="22" idx="2"/>
            <a:endCxn id="27" idx="1"/>
          </p:cNvCxnSpPr>
          <p:nvPr/>
        </p:nvCxnSpPr>
        <p:spPr>
          <a:xfrm>
            <a:off x="3770354" y="5280326"/>
            <a:ext cx="477839" cy="398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071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6474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711624" y="6021288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cxnSp>
        <p:nvCxnSpPr>
          <p:cNvPr id="101" name="Straight Arrow Connector 100"/>
          <p:cNvCxnSpPr>
            <a:stCxn id="6" idx="3"/>
            <a:endCxn id="100" idx="1"/>
          </p:cNvCxnSpPr>
          <p:nvPr/>
        </p:nvCxnSpPr>
        <p:spPr>
          <a:xfrm>
            <a:off x="2481174" y="5048097"/>
            <a:ext cx="230450" cy="1157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33888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6607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656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Функциональные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3097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Бесконечное семейство типов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функционального типа – это функции, имеющие одинаковый прототип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Операция – вызов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 зависимости от вида прототипа делятся на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«Функция, возвращающая Т»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T f();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«Функция, возвращающая Т и принимающая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»</a:t>
            </a:r>
            <a:endParaRPr lang="en-US" dirty="0">
              <a:solidFill>
                <a:schemeClr val="bg1"/>
              </a:solidFill>
            </a:endParaRPr>
          </a:p>
          <a:p>
            <a:pPr lvl="2"/>
            <a:r>
              <a:rPr lang="en-US" dirty="0">
                <a:solidFill>
                  <a:schemeClr val="bg1"/>
                </a:solidFill>
              </a:rPr>
              <a:t>T f(T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«</a:t>
            </a:r>
            <a:r>
              <a:rPr lang="ru-RU" dirty="0" err="1">
                <a:solidFill>
                  <a:schemeClr val="bg1"/>
                </a:solidFill>
              </a:rPr>
              <a:t>Вариадическая</a:t>
            </a:r>
            <a:r>
              <a:rPr lang="ru-RU" dirty="0">
                <a:solidFill>
                  <a:schemeClr val="bg1"/>
                </a:solidFill>
              </a:rPr>
              <a:t> функция, возвращающая Т и принимающая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T f(T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en-US" dirty="0">
                <a:solidFill>
                  <a:schemeClr val="bg1"/>
                </a:solidFill>
              </a:rPr>
              <a:t>, …);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63992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Бесконечное семейство типов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функционального типа – это функции, имеющие одинаковый прототип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Операция – вызов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 зависимости от вида прототипа делятся на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«Функция, возвращающая Т»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T f();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«Функция, возвращающая Т и принимающая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»</a:t>
            </a:r>
            <a:endParaRPr lang="en-US" dirty="0">
              <a:solidFill>
                <a:schemeClr val="bg1"/>
              </a:solidFill>
            </a:endParaRPr>
          </a:p>
          <a:p>
            <a:pPr lvl="2"/>
            <a:r>
              <a:rPr lang="en-US" dirty="0">
                <a:solidFill>
                  <a:schemeClr val="bg1"/>
                </a:solidFill>
              </a:rPr>
              <a:t>T f(T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«</a:t>
            </a:r>
            <a:r>
              <a:rPr lang="ru-RU" dirty="0" err="1">
                <a:solidFill>
                  <a:schemeClr val="bg1"/>
                </a:solidFill>
              </a:rPr>
              <a:t>Вариадическая</a:t>
            </a:r>
            <a:r>
              <a:rPr lang="ru-RU" dirty="0">
                <a:solidFill>
                  <a:schemeClr val="bg1"/>
                </a:solidFill>
              </a:rPr>
              <a:t> функция, возвращающая Т и принимающая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T f(T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en-US" dirty="0">
                <a:solidFill>
                  <a:schemeClr val="bg1"/>
                </a:solidFill>
              </a:rPr>
              <a:t>, …);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691621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функционального типа – это функции, имеющие одинаковый прототип</a:t>
            </a:r>
          </a:p>
          <a:p>
            <a:endParaRPr lang="en-US" dirty="0"/>
          </a:p>
          <a:p>
            <a:r>
              <a:rPr lang="ru-RU" dirty="0">
                <a:solidFill>
                  <a:schemeClr val="bg1"/>
                </a:solidFill>
              </a:rPr>
              <a:t>Операция – вызов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 зависимости от вида прототипа делятся на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«Функция, возвращающая Т»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T f();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«Функция, возвращающая Т и принимающая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»</a:t>
            </a:r>
            <a:endParaRPr lang="en-US" dirty="0">
              <a:solidFill>
                <a:schemeClr val="bg1"/>
              </a:solidFill>
            </a:endParaRPr>
          </a:p>
          <a:p>
            <a:pPr lvl="2"/>
            <a:r>
              <a:rPr lang="en-US" dirty="0">
                <a:solidFill>
                  <a:schemeClr val="bg1"/>
                </a:solidFill>
              </a:rPr>
              <a:t>T f(T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«</a:t>
            </a:r>
            <a:r>
              <a:rPr lang="ru-RU" dirty="0" err="1">
                <a:solidFill>
                  <a:schemeClr val="bg1"/>
                </a:solidFill>
              </a:rPr>
              <a:t>Вариадическая</a:t>
            </a:r>
            <a:r>
              <a:rPr lang="ru-RU" dirty="0">
                <a:solidFill>
                  <a:schemeClr val="bg1"/>
                </a:solidFill>
              </a:rPr>
              <a:t> функция, возвращающая Т и принимающая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T f(T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en-US" dirty="0">
                <a:solidFill>
                  <a:schemeClr val="bg1"/>
                </a:solidFill>
              </a:rPr>
              <a:t>, …);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14081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функционального типа – это функции, имеющие одинаковый прототип</a:t>
            </a:r>
          </a:p>
          <a:p>
            <a:endParaRPr lang="en-US" dirty="0"/>
          </a:p>
          <a:p>
            <a:r>
              <a:rPr lang="ru-RU" dirty="0"/>
              <a:t>Операция – вызов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В зависимости от вида прототипа делятся на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«Функция, возвращающая Т»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T f();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«Функция, возвращающая Т и принимающая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»</a:t>
            </a:r>
            <a:endParaRPr lang="en-US" dirty="0">
              <a:solidFill>
                <a:schemeClr val="bg1"/>
              </a:solidFill>
            </a:endParaRPr>
          </a:p>
          <a:p>
            <a:pPr lvl="2"/>
            <a:r>
              <a:rPr lang="en-US" dirty="0">
                <a:solidFill>
                  <a:schemeClr val="bg1"/>
                </a:solidFill>
              </a:rPr>
              <a:t>T f(T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en-US" dirty="0">
                <a:solidFill>
                  <a:schemeClr val="bg1"/>
                </a:solidFill>
              </a:rPr>
              <a:t>);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«</a:t>
            </a:r>
            <a:r>
              <a:rPr lang="ru-RU" dirty="0" err="1">
                <a:solidFill>
                  <a:schemeClr val="bg1"/>
                </a:solidFill>
              </a:rPr>
              <a:t>Вариадическая</a:t>
            </a:r>
            <a:r>
              <a:rPr lang="ru-RU" dirty="0">
                <a:solidFill>
                  <a:schemeClr val="bg1"/>
                </a:solidFill>
              </a:rPr>
              <a:t> функция, возвращающая Т и принимающая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T f(T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,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en-US" dirty="0">
                <a:solidFill>
                  <a:schemeClr val="bg1"/>
                </a:solidFill>
              </a:rPr>
              <a:t>, …);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01546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Функциональные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функционального типа – это функции, имеющие одинаковый прототип</a:t>
            </a:r>
          </a:p>
          <a:p>
            <a:endParaRPr lang="en-US" dirty="0"/>
          </a:p>
          <a:p>
            <a:r>
              <a:rPr lang="ru-RU" dirty="0"/>
              <a:t>Операция – вызов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ru-RU" dirty="0"/>
              <a:t>В зависимости от вида прототипа делятся на</a:t>
            </a:r>
          </a:p>
          <a:p>
            <a:pPr lvl="1"/>
            <a:r>
              <a:rPr lang="ru-RU" dirty="0"/>
              <a:t>«Функция, возвращающая Т»</a:t>
            </a:r>
          </a:p>
          <a:p>
            <a:pPr lvl="2"/>
            <a:r>
              <a:rPr lang="en-US" dirty="0"/>
              <a:t>T f();</a:t>
            </a:r>
          </a:p>
          <a:p>
            <a:pPr lvl="1"/>
            <a:r>
              <a:rPr lang="ru-RU" dirty="0"/>
              <a:t>«Функция, возвращающая Т и принимающая 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»</a:t>
            </a:r>
            <a:endParaRPr lang="en-US" dirty="0"/>
          </a:p>
          <a:p>
            <a:pPr lvl="2"/>
            <a:r>
              <a:rPr lang="en-US" dirty="0"/>
              <a:t>T f(T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);</a:t>
            </a:r>
          </a:p>
          <a:p>
            <a:pPr lvl="1"/>
            <a:r>
              <a:rPr lang="ru-RU" dirty="0"/>
              <a:t>«</a:t>
            </a:r>
            <a:r>
              <a:rPr lang="ru-RU" dirty="0" err="1"/>
              <a:t>Вариадическая</a:t>
            </a:r>
            <a:r>
              <a:rPr lang="ru-RU" dirty="0"/>
              <a:t> функция, возвращающая Т и принимающая </a:t>
            </a:r>
            <a:r>
              <a:rPr lang="en-US" dirty="0"/>
              <a:t>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»</a:t>
            </a:r>
          </a:p>
          <a:p>
            <a:pPr lvl="2"/>
            <a:r>
              <a:rPr lang="en-US" dirty="0"/>
              <a:t>T f(T</a:t>
            </a:r>
            <a:r>
              <a:rPr lang="en-US" baseline="-25000" dirty="0"/>
              <a:t>1</a:t>
            </a:r>
            <a:r>
              <a:rPr lang="en-US" dirty="0"/>
              <a:t>, 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en-US" dirty="0"/>
              <a:t>, …);</a:t>
            </a:r>
            <a:endParaRPr lang="ru-RU" dirty="0"/>
          </a:p>
          <a:p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37135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789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Полные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17320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Бесконечное семейство типов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Элементы множества значений имеют известный размер в байтах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3453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Бесконечное семейство типов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Элементы множества значений имеют известный размер в байтах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81737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Полные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Бесконечное семейство типов</a:t>
            </a:r>
          </a:p>
          <a:p>
            <a:endParaRPr lang="ru-RU" dirty="0"/>
          </a:p>
          <a:p>
            <a:r>
              <a:rPr lang="ru-RU" dirty="0"/>
              <a:t>Элементы множества значений имеют известный размер в байтах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19450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217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Неполные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82168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Бесконечное семейство типов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Используются для конструирования производных типов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см. слайды про указатели, массивы, структуры и объединения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41844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Бесконечное семейство типов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Используются для конструирования производных типов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см. слайды про указатели, массивы, структуры и объединения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45908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Бесконечное семейство типов</a:t>
            </a:r>
          </a:p>
          <a:p>
            <a:endParaRPr lang="ru-RU" dirty="0"/>
          </a:p>
          <a:p>
            <a:r>
              <a:rPr lang="ru-RU" dirty="0"/>
              <a:t>Размер в байтах элемента множества значений не известен при компиляции</a:t>
            </a:r>
          </a:p>
          <a:p>
            <a:endParaRPr lang="ru-RU" dirty="0"/>
          </a:p>
          <a:p>
            <a:r>
              <a:rPr lang="ru-RU" dirty="0"/>
              <a:t>Множество операций пусто</a:t>
            </a:r>
          </a:p>
          <a:p>
            <a:endParaRPr lang="ru-RU" dirty="0"/>
          </a:p>
          <a:p>
            <a:r>
              <a:rPr lang="ru-RU" dirty="0"/>
              <a:t>Используются для конструирования производных типов</a:t>
            </a:r>
          </a:p>
          <a:p>
            <a:pPr lvl="1"/>
            <a:r>
              <a:rPr lang="ru-RU" dirty="0"/>
              <a:t>см. слайды про указатели, массивы, структуры и объединения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84880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49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Целые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783270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Бесконечное семейство типов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«Бесконечное» – это не опечатка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состоит из обычных или комплексных целых чисел (</a:t>
            </a:r>
            <a:r>
              <a:rPr lang="en-US" dirty="0">
                <a:solidFill>
                  <a:schemeClr val="bg1"/>
                </a:solidFill>
              </a:rPr>
              <a:t>C99</a:t>
            </a:r>
            <a:r>
              <a:rPr lang="ru-RU" dirty="0">
                <a:solidFill>
                  <a:schemeClr val="bg1"/>
                </a:solidFill>
              </a:rPr>
              <a:t>)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Для всех целых типов – арифметика и проверка равенства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Дополнительно для обычных целых – побитовые и проверка порядка</a:t>
            </a:r>
          </a:p>
          <a:p>
            <a:pPr lvl="1"/>
            <a:endParaRPr lang="ru-RU" dirty="0">
              <a:solidFill>
                <a:schemeClr val="bg1"/>
              </a:solidFill>
              <a:sym typeface="Symbol" panose="05050102010706020507" pitchFamily="18" charset="2"/>
            </a:endParaRP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Результат арифметических операций над некоторыми значениями может быть не определён или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implementation defined</a:t>
            </a:r>
            <a:endParaRPr lang="ru-RU" dirty="0">
              <a:solidFill>
                <a:schemeClr val="bg1"/>
              </a:solidFill>
              <a:sym typeface="Symbol" panose="05050102010706020507" pitchFamily="18" charset="2"/>
            </a:endParaRP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Результат сравнения всегда определён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38974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Бесконечное семейство типов</a:t>
            </a:r>
          </a:p>
          <a:p>
            <a:pPr lvl="1"/>
            <a:r>
              <a:rPr lang="ru-RU" dirty="0"/>
              <a:t>«Бесконечное» – это не опечатка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состоит из обычных или комплексных целых чисел (</a:t>
            </a:r>
            <a:r>
              <a:rPr lang="en-US" dirty="0">
                <a:solidFill>
                  <a:schemeClr val="bg1"/>
                </a:solidFill>
              </a:rPr>
              <a:t>C99</a:t>
            </a:r>
            <a:r>
              <a:rPr lang="ru-RU" dirty="0">
                <a:solidFill>
                  <a:schemeClr val="bg1"/>
                </a:solidFill>
              </a:rPr>
              <a:t>)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Для всех целых типов – арифметика и проверка равенства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Дополнительно для обычных целых – побитовые и проверка порядка</a:t>
            </a:r>
          </a:p>
          <a:p>
            <a:pPr lvl="1"/>
            <a:endParaRPr lang="ru-RU" dirty="0">
              <a:solidFill>
                <a:schemeClr val="bg1"/>
              </a:solidFill>
              <a:sym typeface="Symbol" panose="05050102010706020507" pitchFamily="18" charset="2"/>
            </a:endParaRP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Результат арифметических операций над некоторыми значениями может быть не определён или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implementation defined</a:t>
            </a:r>
            <a:endParaRPr lang="ru-RU" dirty="0">
              <a:solidFill>
                <a:schemeClr val="bg1"/>
              </a:solidFill>
              <a:sym typeface="Symbol" panose="05050102010706020507" pitchFamily="18" charset="2"/>
            </a:endParaRP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Результат сравнения всегда определён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1105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Бесконечное семейство типов</a:t>
            </a:r>
          </a:p>
          <a:p>
            <a:pPr lvl="1"/>
            <a:r>
              <a:rPr lang="ru-RU" dirty="0"/>
              <a:t>«Бесконечное» – это не опечатка</a:t>
            </a:r>
          </a:p>
          <a:p>
            <a:endParaRPr lang="ru-RU" dirty="0"/>
          </a:p>
          <a:p>
            <a:r>
              <a:rPr lang="ru-RU" dirty="0"/>
              <a:t>Множество значений состоит из целых чисел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Для всех целых типов – арифметика и проверка равенства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Дополнительно для обычных целых – побитовые и проверка порядка</a:t>
            </a:r>
          </a:p>
          <a:p>
            <a:pPr lvl="1"/>
            <a:endParaRPr lang="ru-RU" dirty="0">
              <a:solidFill>
                <a:schemeClr val="bg1"/>
              </a:solidFill>
              <a:sym typeface="Symbol" panose="05050102010706020507" pitchFamily="18" charset="2"/>
            </a:endParaRP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Результат арифметических операций над некоторыми значениями может быть не определён или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implementation defined</a:t>
            </a:r>
            <a:endParaRPr lang="ru-RU" dirty="0">
              <a:solidFill>
                <a:schemeClr val="bg1"/>
              </a:solidFill>
              <a:sym typeface="Symbol" panose="05050102010706020507" pitchFamily="18" charset="2"/>
            </a:endParaRP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Результат сравнения всегда определён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824318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Бесконечное семейство типов</a:t>
            </a:r>
          </a:p>
          <a:p>
            <a:pPr lvl="1"/>
            <a:r>
              <a:rPr lang="ru-RU" dirty="0"/>
              <a:t>«Бесконечное» – это не опечатка</a:t>
            </a:r>
          </a:p>
          <a:p>
            <a:endParaRPr lang="ru-RU" dirty="0"/>
          </a:p>
          <a:p>
            <a:r>
              <a:rPr lang="ru-RU" dirty="0"/>
              <a:t>Множество значений состоит из целых чисел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Для всех целых типов – арифметика и проверка равенства</a:t>
            </a:r>
          </a:p>
          <a:p>
            <a:pPr lvl="1"/>
            <a:r>
              <a:rPr lang="ru-RU" dirty="0"/>
              <a:t>Дополнительно для обычных целых – побитовые и проверка порядка</a:t>
            </a:r>
          </a:p>
          <a:p>
            <a:pPr lvl="1"/>
            <a:endParaRPr lang="ru-RU" dirty="0">
              <a:sym typeface="Symbol" panose="05050102010706020507" pitchFamily="18" charset="2"/>
            </a:endParaRP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Результат арифметических операций над некоторыми значениями может быть не определён или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implementation defined</a:t>
            </a:r>
            <a:endParaRPr lang="ru-RU" dirty="0">
              <a:solidFill>
                <a:schemeClr val="bg1"/>
              </a:solidFill>
              <a:sym typeface="Symbol" panose="05050102010706020507" pitchFamily="18" charset="2"/>
            </a:endParaRP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Результат сравнения всегда определён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556723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Бесконечное семейство типов</a:t>
            </a:r>
          </a:p>
          <a:p>
            <a:pPr lvl="1"/>
            <a:r>
              <a:rPr lang="ru-RU" dirty="0"/>
              <a:t>«Бесконечное» – это не опечатка</a:t>
            </a:r>
          </a:p>
          <a:p>
            <a:endParaRPr lang="ru-RU" dirty="0"/>
          </a:p>
          <a:p>
            <a:r>
              <a:rPr lang="ru-RU" dirty="0"/>
              <a:t>Множество значений состоит из целых чисел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Для всех целых типов – арифметика и проверка равенства</a:t>
            </a:r>
          </a:p>
          <a:p>
            <a:pPr lvl="1"/>
            <a:r>
              <a:rPr lang="ru-RU" dirty="0"/>
              <a:t>Дополнительно для обычных целых – побитовые и проверка порядка</a:t>
            </a:r>
          </a:p>
          <a:p>
            <a:pPr lvl="1"/>
            <a:endParaRPr lang="ru-RU" dirty="0">
              <a:sym typeface="Symbol" panose="05050102010706020507" pitchFamily="18" charset="2"/>
            </a:endParaRPr>
          </a:p>
          <a:p>
            <a:pPr lvl="1"/>
            <a:r>
              <a:rPr lang="ru-RU" dirty="0">
                <a:sym typeface="Symbol" panose="05050102010706020507" pitchFamily="18" charset="2"/>
              </a:rPr>
              <a:t>Результат арифметических операций над некоторыми значениями может быть не определён или </a:t>
            </a:r>
            <a:r>
              <a:rPr lang="en-US" dirty="0">
                <a:sym typeface="Symbol" panose="05050102010706020507" pitchFamily="18" charset="2"/>
              </a:rPr>
              <a:t>implementation defined</a:t>
            </a:r>
            <a:endParaRPr lang="ru-RU" dirty="0">
              <a:sym typeface="Symbol" panose="05050102010706020507" pitchFamily="18" charset="2"/>
            </a:endParaRPr>
          </a:p>
          <a:p>
            <a:pPr lvl="1"/>
            <a:r>
              <a:rPr lang="ru-RU" dirty="0">
                <a:sym typeface="Symbol" panose="05050102010706020507" pitchFamily="18" charset="2"/>
              </a:rPr>
              <a:t>Результат сравнения всегда определён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26951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81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С плавающей точкой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71423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с «плавающей точкой»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Конечное семейство типов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содержит обычные или комплексные нецелые числа (</a:t>
            </a:r>
            <a:r>
              <a:rPr lang="en-US" dirty="0">
                <a:solidFill>
                  <a:schemeClr val="bg1"/>
                </a:solidFill>
              </a:rPr>
              <a:t>C99</a:t>
            </a:r>
            <a:r>
              <a:rPr lang="ru-RU" dirty="0">
                <a:solidFill>
                  <a:schemeClr val="bg1"/>
                </a:solidFill>
              </a:rPr>
              <a:t>)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Как правило, целые числа тоже содержит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Арифметика, проверка равенства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Для обычных чисел с плавающей точкой – проверка порядка</a:t>
            </a:r>
          </a:p>
          <a:p>
            <a:pPr lvl="1"/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Результат арифметических операций всегда определен, но может отличаться от результата соотв. арифметической операции в математике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Результат сравнения всегда определён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43443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с «плавающей точкой»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содержит обычные или комплексные нецелые числа (</a:t>
            </a:r>
            <a:r>
              <a:rPr lang="en-US" dirty="0">
                <a:solidFill>
                  <a:schemeClr val="bg1"/>
                </a:solidFill>
              </a:rPr>
              <a:t>C99</a:t>
            </a:r>
            <a:r>
              <a:rPr lang="ru-RU" dirty="0">
                <a:solidFill>
                  <a:schemeClr val="bg1"/>
                </a:solidFill>
              </a:rPr>
              <a:t>)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Как правило, целые числа тоже содержит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Арифметика, проверка равенства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Для обычных чисел с плавающей точкой – проверка порядка</a:t>
            </a:r>
          </a:p>
          <a:p>
            <a:pPr lvl="1"/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Результат арифметических операций всегда определен, но может отличаться от результата соотв. арифметической операции в математике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Результат сравнения всегда определён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21129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с «плавающей точкой»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содержит обычные или комплексные нецелые числа (</a:t>
            </a:r>
            <a:r>
              <a:rPr lang="en-US" dirty="0"/>
              <a:t>C99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Как правило, целые числа тоже содержит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Арифметика, проверка равенства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Для обычных чисел с плавающей точкой – проверка порядка</a:t>
            </a:r>
          </a:p>
          <a:p>
            <a:pPr lvl="1"/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Результат арифметических операций всегда определен, но может отличаться от результата соотв. арифметической операции в математике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Результат сравнения всегда определён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991734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с «плавающей точкой»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содержит обычные или комплексные нецелые числа (</a:t>
            </a:r>
            <a:r>
              <a:rPr lang="en-US" dirty="0"/>
              <a:t>C99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Как правило, целые числа тоже содержит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Арифметика, проверка равенства</a:t>
            </a:r>
          </a:p>
          <a:p>
            <a:pPr lvl="1"/>
            <a:r>
              <a:rPr lang="ru-RU" dirty="0"/>
              <a:t>Для обычных чисел с плавающей точкой – проверка порядка</a:t>
            </a:r>
          </a:p>
          <a:p>
            <a:pPr lvl="1"/>
            <a:endParaRPr lang="ru-RU" dirty="0"/>
          </a:p>
          <a:p>
            <a:pPr lvl="1"/>
            <a:r>
              <a:rPr lang="ru-RU" dirty="0">
                <a:solidFill>
                  <a:schemeClr val="bg1"/>
                </a:solidFill>
              </a:rPr>
              <a:t>Результат арифметических операций всегда определен, но может отличаться от результата соотв. арифметической операции в математике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Результат сравнения всегда определён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63247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с «плавающей точкой»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содержит обычные или комплексные нецелые числа (</a:t>
            </a:r>
            <a:r>
              <a:rPr lang="en-US" dirty="0"/>
              <a:t>C99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Как правило, целые числа тоже содержит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Арифметика, проверка равенства</a:t>
            </a:r>
          </a:p>
          <a:p>
            <a:pPr lvl="1"/>
            <a:r>
              <a:rPr lang="ru-RU" dirty="0"/>
              <a:t>Для обычных чисел с плавающей точкой – проверка порядка</a:t>
            </a:r>
          </a:p>
          <a:p>
            <a:pPr lvl="1"/>
            <a:endParaRPr lang="ru-RU" dirty="0"/>
          </a:p>
          <a:p>
            <a:pPr lvl="1"/>
            <a:r>
              <a:rPr lang="ru-RU" dirty="0"/>
              <a:t>Результат арифметических операций всегда определен, но может отличаться от результата соотв. арифметической операции в математике</a:t>
            </a:r>
          </a:p>
          <a:p>
            <a:pPr lvl="1"/>
            <a:r>
              <a:rPr lang="ru-RU" dirty="0"/>
              <a:t>Результат сравнения всегда определён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109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05034" y="4953375"/>
            <a:ext cx="15767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975988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Бесконечное семейство типов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и набор операций выражаются через множества значений и наборы операций других типов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482427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Бесконечное семейство типов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и набор операций выражаются через множества значений и наборы операций других типов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590468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и набор операций выражаются через множества значений и наборы операций других типов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63806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64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Перечислимые (</a:t>
            </a:r>
            <a:r>
              <a:rPr lang="en-US" b="1" dirty="0" err="1"/>
              <a:t>enum</a:t>
            </a:r>
            <a:r>
              <a:rPr lang="ru-RU" b="1" dirty="0"/>
              <a:t>)</a:t>
            </a: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Slide Number Placeholder 2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09788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Перечислимые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>
                <a:solidFill>
                  <a:schemeClr val="bg1"/>
                </a:solidFill>
              </a:rPr>
              <a:t>Бесконечное семейство типов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перечислимого типа – это значения именованных констант, описанных внутри </a:t>
            </a:r>
            <a:r>
              <a:rPr lang="en-US" dirty="0">
                <a:solidFill>
                  <a:schemeClr val="bg1"/>
                </a:solidFill>
              </a:rPr>
              <a:t>{} </a:t>
            </a:r>
            <a:r>
              <a:rPr lang="ru-RU" dirty="0">
                <a:solidFill>
                  <a:schemeClr val="bg1"/>
                </a:solidFill>
              </a:rPr>
              <a:t>после соответствующего </a:t>
            </a:r>
            <a:r>
              <a:rPr lang="en-US" dirty="0" err="1">
                <a:solidFill>
                  <a:schemeClr val="bg1"/>
                </a:solidFill>
              </a:rPr>
              <a:t>enum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 см. на слайде про целые типы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550847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Перечислимые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Бесконечное семейство типов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перечислимого типа – это значения именованных констант, описанных внутри </a:t>
            </a:r>
            <a:r>
              <a:rPr lang="en-US" dirty="0">
                <a:solidFill>
                  <a:schemeClr val="bg1"/>
                </a:solidFill>
              </a:rPr>
              <a:t>{} </a:t>
            </a:r>
            <a:r>
              <a:rPr lang="ru-RU" dirty="0">
                <a:solidFill>
                  <a:schemeClr val="bg1"/>
                </a:solidFill>
              </a:rPr>
              <a:t>после соответствующего </a:t>
            </a:r>
            <a:r>
              <a:rPr lang="en-US" dirty="0" err="1">
                <a:solidFill>
                  <a:schemeClr val="bg1"/>
                </a:solidFill>
              </a:rPr>
              <a:t>enum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 см. на слайде про целые типы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685078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Перечислимые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Бесконечное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перечислимого типа – это значения именованных констант, описанных внутри </a:t>
            </a:r>
            <a:r>
              <a:rPr lang="en-US" dirty="0"/>
              <a:t>{} </a:t>
            </a:r>
            <a:r>
              <a:rPr lang="ru-RU" dirty="0"/>
              <a:t>после соответствующего </a:t>
            </a:r>
            <a:r>
              <a:rPr lang="en-US" dirty="0" err="1"/>
              <a:t>enum</a:t>
            </a:r>
            <a:r>
              <a:rPr lang="en-US" dirty="0"/>
              <a:t> 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Операции см. на слайде про целые типы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174677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Перечислимые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Бесконечное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перечислимого типа – это значения именованных констант, описанных внутри </a:t>
            </a:r>
            <a:r>
              <a:rPr lang="en-US" dirty="0"/>
              <a:t>{} </a:t>
            </a:r>
            <a:r>
              <a:rPr lang="ru-RU" dirty="0"/>
              <a:t>после соответствующего </a:t>
            </a:r>
            <a:r>
              <a:rPr lang="en-US" dirty="0" err="1"/>
              <a:t>enum</a:t>
            </a:r>
            <a:r>
              <a:rPr lang="en-US" dirty="0"/>
              <a:t> </a:t>
            </a:r>
          </a:p>
          <a:p>
            <a:endParaRPr lang="ru-RU" dirty="0"/>
          </a:p>
          <a:p>
            <a:r>
              <a:rPr lang="ru-RU" dirty="0"/>
              <a:t>Операции см. на слайде про целые типы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3903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char</a:t>
            </a:r>
            <a:endParaRPr lang="ru-RU" b="1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7244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/>
              <a:t>char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Множество значений является интервалом и содержит не менее 128 неотрицательных элементов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неотрицательные элементы взаимно-однозначно соответствуют символам </a:t>
            </a:r>
            <a:r>
              <a:rPr lang="en-US" dirty="0">
                <a:solidFill>
                  <a:schemeClr val="bg1"/>
                </a:solidFill>
              </a:rPr>
              <a:t>ASCII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наличие отрицательных значений является </a:t>
            </a:r>
            <a:r>
              <a:rPr lang="en-US" dirty="0">
                <a:solidFill>
                  <a:schemeClr val="bg1"/>
                </a:solidFill>
              </a:rPr>
              <a:t>implementation defined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обычно множество значений </a:t>
            </a:r>
            <a:r>
              <a:rPr lang="en-US" dirty="0">
                <a:solidFill>
                  <a:schemeClr val="bg1"/>
                </a:solidFill>
              </a:rPr>
              <a:t>char </a:t>
            </a:r>
            <a:r>
              <a:rPr lang="ru-RU" dirty="0">
                <a:solidFill>
                  <a:schemeClr val="bg1"/>
                </a:solidFill>
              </a:rPr>
              <a:t>содержит 256 элементов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678109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/>
              <a:t>char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Множество значений является интервалом и содержит не менее 128 неотрицательных элементов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неотрицательные элементы взаимно-однозначно соответствуют символам </a:t>
            </a:r>
            <a:r>
              <a:rPr lang="en-US" dirty="0">
                <a:solidFill>
                  <a:schemeClr val="bg1"/>
                </a:solidFill>
              </a:rPr>
              <a:t>ASCII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наличие отрицательных значений является </a:t>
            </a:r>
            <a:r>
              <a:rPr lang="en-US" dirty="0">
                <a:solidFill>
                  <a:schemeClr val="bg1"/>
                </a:solidFill>
              </a:rPr>
              <a:t>implementation defined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обычно множество значений </a:t>
            </a:r>
            <a:r>
              <a:rPr lang="en-US" dirty="0">
                <a:solidFill>
                  <a:schemeClr val="bg1"/>
                </a:solidFill>
              </a:rPr>
              <a:t>char </a:t>
            </a:r>
            <a:r>
              <a:rPr lang="ru-RU" dirty="0">
                <a:solidFill>
                  <a:schemeClr val="bg1"/>
                </a:solidFill>
              </a:rPr>
              <a:t>содержит 256 элементов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17527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/>
              <a:t>char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Множество значений является интервалом и содержит не менее 128 неотрицательных элементов</a:t>
            </a:r>
          </a:p>
          <a:p>
            <a:pPr lvl="1"/>
            <a:r>
              <a:rPr lang="ru-RU" dirty="0"/>
              <a:t>неотрицательные элементы взаимно-однозначно соответствуют символам </a:t>
            </a:r>
            <a:r>
              <a:rPr lang="en-US" dirty="0"/>
              <a:t>ASCII</a:t>
            </a:r>
            <a:endParaRPr lang="ru-RU" dirty="0"/>
          </a:p>
          <a:p>
            <a:pPr lvl="1"/>
            <a:r>
              <a:rPr lang="ru-RU" dirty="0"/>
              <a:t>наличие отрицательных значений является </a:t>
            </a:r>
            <a:r>
              <a:rPr lang="en-US" dirty="0"/>
              <a:t>implementation defined</a:t>
            </a:r>
            <a:endParaRPr lang="ru-RU" dirty="0"/>
          </a:p>
          <a:p>
            <a:pPr lvl="1"/>
            <a:r>
              <a:rPr lang="ru-RU" dirty="0"/>
              <a:t>обычно множество значений </a:t>
            </a:r>
            <a:r>
              <a:rPr lang="en-US" dirty="0"/>
              <a:t>char </a:t>
            </a:r>
            <a:r>
              <a:rPr lang="ru-RU" dirty="0"/>
              <a:t>содержит 256 элементов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988168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/>
              <a:t>char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Множество значений является интервалом и содержит не менее 128 неотрицательных элементов</a:t>
            </a:r>
          </a:p>
          <a:p>
            <a:pPr lvl="1"/>
            <a:r>
              <a:rPr lang="ru-RU" dirty="0"/>
              <a:t>неотрицательные элементы взаимно-однозначно соответствуют символам </a:t>
            </a:r>
            <a:r>
              <a:rPr lang="en-US" dirty="0"/>
              <a:t>ASCII</a:t>
            </a:r>
            <a:endParaRPr lang="ru-RU" dirty="0"/>
          </a:p>
          <a:p>
            <a:pPr lvl="1"/>
            <a:r>
              <a:rPr lang="ru-RU" dirty="0"/>
              <a:t>наличие отрицательных значений является </a:t>
            </a:r>
            <a:r>
              <a:rPr lang="en-US" dirty="0"/>
              <a:t>implementation defined</a:t>
            </a:r>
            <a:endParaRPr lang="ru-RU" dirty="0"/>
          </a:p>
          <a:p>
            <a:pPr lvl="1"/>
            <a:r>
              <a:rPr lang="ru-RU" dirty="0"/>
              <a:t>обычно множество значений </a:t>
            </a:r>
            <a:r>
              <a:rPr lang="en-US" dirty="0"/>
              <a:t>char </a:t>
            </a:r>
            <a:r>
              <a:rPr lang="ru-RU" dirty="0"/>
              <a:t>содержит 256 элементов</a:t>
            </a:r>
          </a:p>
          <a:p>
            <a:endParaRPr lang="ru-RU" dirty="0"/>
          </a:p>
          <a:p>
            <a:r>
              <a:rPr lang="ru-RU" dirty="0"/>
              <a:t>Набор операций см. на слайде про целые типы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002873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193" y="2276343"/>
            <a:ext cx="11633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Знаковые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3990352" y="2461009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071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453740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Знаковые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Конечное семейство типов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знакового типа является интервалом целых чисел и содержит отрицательные и неотрицательные значения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signed char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short  </a:t>
            </a:r>
            <a:r>
              <a:rPr lang="en-US" dirty="0" err="1">
                <a:solidFill>
                  <a:schemeClr val="bg1"/>
                </a:solidFill>
                <a:sym typeface="Symbol" panose="05050102010706020507" pitchFamily="18" charset="2"/>
              </a:rPr>
              <a:t>int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  long  long </a:t>
            </a:r>
            <a:r>
              <a:rPr lang="en-US" dirty="0" err="1">
                <a:solidFill>
                  <a:schemeClr val="bg1"/>
                </a:solidFill>
                <a:sym typeface="Symbol" panose="05050102010706020507" pitchFamily="18" charset="2"/>
              </a:rPr>
              <a:t>long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en-US" dirty="0" err="1">
                <a:solidFill>
                  <a:schemeClr val="bg1"/>
                </a:solidFill>
              </a:rPr>
              <a:t>sizeof</a:t>
            </a:r>
            <a:r>
              <a:rPr lang="en-US" dirty="0">
                <a:solidFill>
                  <a:schemeClr val="bg1"/>
                </a:solidFill>
              </a:rPr>
              <a:t>(char) == </a:t>
            </a:r>
            <a:r>
              <a:rPr lang="en-US" dirty="0" err="1">
                <a:solidFill>
                  <a:schemeClr val="bg1"/>
                </a:solidFill>
              </a:rPr>
              <a:t>sizeof</a:t>
            </a:r>
            <a:r>
              <a:rPr lang="en-US" dirty="0">
                <a:solidFill>
                  <a:schemeClr val="bg1"/>
                </a:solidFill>
              </a:rPr>
              <a:t>(signed char)</a:t>
            </a:r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652986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Знаковые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знакового типа является интервалом целых чисел и содержит отрицательные и неотрицательные значения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signed char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short  </a:t>
            </a:r>
            <a:r>
              <a:rPr lang="en-US" dirty="0" err="1">
                <a:solidFill>
                  <a:schemeClr val="bg1"/>
                </a:solidFill>
                <a:sym typeface="Symbol" panose="05050102010706020507" pitchFamily="18" charset="2"/>
              </a:rPr>
              <a:t>int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  long  long </a:t>
            </a:r>
            <a:r>
              <a:rPr lang="en-US" dirty="0" err="1">
                <a:solidFill>
                  <a:schemeClr val="bg1"/>
                </a:solidFill>
                <a:sym typeface="Symbol" panose="05050102010706020507" pitchFamily="18" charset="2"/>
              </a:rPr>
              <a:t>long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en-US" dirty="0" err="1">
                <a:solidFill>
                  <a:schemeClr val="bg1"/>
                </a:solidFill>
              </a:rPr>
              <a:t>sizeof</a:t>
            </a:r>
            <a:r>
              <a:rPr lang="en-US" dirty="0">
                <a:solidFill>
                  <a:schemeClr val="bg1"/>
                </a:solidFill>
              </a:rPr>
              <a:t>(char) == </a:t>
            </a:r>
            <a:r>
              <a:rPr lang="en-US" dirty="0" err="1">
                <a:solidFill>
                  <a:schemeClr val="bg1"/>
                </a:solidFill>
              </a:rPr>
              <a:t>sizeof</a:t>
            </a:r>
            <a:r>
              <a:rPr lang="en-US" dirty="0">
                <a:solidFill>
                  <a:schemeClr val="bg1"/>
                </a:solidFill>
              </a:rPr>
              <a:t>(signed char)</a:t>
            </a:r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75739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Знаковые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знакового типа является интервалом целых чисел и содержит отрицательные, положительные значения и ноль </a:t>
            </a:r>
            <a:r>
              <a:rPr lang="en-US" dirty="0">
                <a:solidFill>
                  <a:schemeClr val="bg1"/>
                </a:solidFill>
              </a:rPr>
              <a:t>signed char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short  </a:t>
            </a:r>
            <a:r>
              <a:rPr lang="en-US" dirty="0" err="1">
                <a:solidFill>
                  <a:schemeClr val="bg1"/>
                </a:solidFill>
                <a:sym typeface="Symbol" panose="05050102010706020507" pitchFamily="18" charset="2"/>
              </a:rPr>
              <a:t>int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  long  long </a:t>
            </a:r>
            <a:r>
              <a:rPr lang="en-US" dirty="0" err="1">
                <a:solidFill>
                  <a:schemeClr val="bg1"/>
                </a:solidFill>
                <a:sym typeface="Symbol" panose="05050102010706020507" pitchFamily="18" charset="2"/>
              </a:rPr>
              <a:t>long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en-US" dirty="0" err="1">
                <a:solidFill>
                  <a:schemeClr val="bg1"/>
                </a:solidFill>
              </a:rPr>
              <a:t>sizeof</a:t>
            </a:r>
            <a:r>
              <a:rPr lang="en-US" dirty="0">
                <a:solidFill>
                  <a:schemeClr val="bg1"/>
                </a:solidFill>
              </a:rPr>
              <a:t>(char) == </a:t>
            </a:r>
            <a:r>
              <a:rPr lang="en-US" dirty="0" err="1">
                <a:solidFill>
                  <a:schemeClr val="bg1"/>
                </a:solidFill>
              </a:rPr>
              <a:t>sizeof</a:t>
            </a:r>
            <a:r>
              <a:rPr lang="en-US" dirty="0">
                <a:solidFill>
                  <a:schemeClr val="bg1"/>
                </a:solidFill>
              </a:rPr>
              <a:t>(signed char)</a:t>
            </a:r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307780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Знаковые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знакового типа является интервалом целых чисел и содержит отрицательные, положительные значения и ноль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/>
              <a:t>signed char </a:t>
            </a:r>
            <a:r>
              <a:rPr lang="en-US" dirty="0">
                <a:sym typeface="Symbol" panose="05050102010706020507" pitchFamily="18" charset="2"/>
              </a:rPr>
              <a:t> short  </a:t>
            </a:r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 long  long </a:t>
            </a:r>
            <a:r>
              <a:rPr lang="en-US" dirty="0" err="1">
                <a:sym typeface="Symbol" panose="05050102010706020507" pitchFamily="18" charset="2"/>
              </a:rPr>
              <a:t>long</a:t>
            </a:r>
            <a:endParaRPr lang="ru-RU" dirty="0"/>
          </a:p>
          <a:p>
            <a:pPr lvl="1"/>
            <a:r>
              <a:rPr lang="en-US" dirty="0" err="1"/>
              <a:t>sizeof</a:t>
            </a:r>
            <a:r>
              <a:rPr lang="en-US" dirty="0"/>
              <a:t>(char) == </a:t>
            </a:r>
            <a:r>
              <a:rPr lang="en-US" dirty="0" err="1"/>
              <a:t>sizeof</a:t>
            </a:r>
            <a:r>
              <a:rPr lang="en-US" dirty="0"/>
              <a:t>(signed char)</a:t>
            </a:r>
            <a:endParaRPr lang="ru-RU" dirty="0"/>
          </a:p>
          <a:p>
            <a:endParaRPr lang="en-US" dirty="0"/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27381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Знаковые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знакового типа является интервалом целых чисел и содержит отрицательные, положительные значения и ноль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/>
              <a:t>signed char </a:t>
            </a:r>
            <a:r>
              <a:rPr lang="en-US" dirty="0">
                <a:sym typeface="Symbol" panose="05050102010706020507" pitchFamily="18" charset="2"/>
              </a:rPr>
              <a:t> short  </a:t>
            </a:r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 long  long </a:t>
            </a:r>
            <a:r>
              <a:rPr lang="en-US" dirty="0" err="1">
                <a:sym typeface="Symbol" panose="05050102010706020507" pitchFamily="18" charset="2"/>
              </a:rPr>
              <a:t>long</a:t>
            </a:r>
            <a:endParaRPr lang="ru-RU" dirty="0"/>
          </a:p>
          <a:p>
            <a:pPr lvl="1"/>
            <a:r>
              <a:rPr lang="en-US" dirty="0" err="1"/>
              <a:t>sizeof</a:t>
            </a:r>
            <a:r>
              <a:rPr lang="en-US" dirty="0"/>
              <a:t>(char) == </a:t>
            </a:r>
            <a:r>
              <a:rPr lang="en-US" dirty="0" err="1"/>
              <a:t>sizeof</a:t>
            </a:r>
            <a:r>
              <a:rPr lang="en-US" dirty="0"/>
              <a:t>(signed char)</a:t>
            </a:r>
            <a:endParaRPr lang="ru-RU" dirty="0"/>
          </a:p>
          <a:p>
            <a:endParaRPr lang="en-US" dirty="0"/>
          </a:p>
          <a:p>
            <a:r>
              <a:rPr lang="ru-RU" dirty="0"/>
              <a:t>Набор операций см. на слайде про целые типы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11233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193" y="2276343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7193" y="2616631"/>
            <a:ext cx="14919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 err="1"/>
              <a:t>Беззнаковые</a:t>
            </a:r>
            <a:endParaRPr lang="ru-RU" b="1" dirty="0"/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3990352" y="2461009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3990352" y="2463900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071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6474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486455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Беззнаковые</a:t>
            </a:r>
            <a:r>
              <a:rPr lang="ru-RU" dirty="0"/>
              <a:t>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Конечное семейство типов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</a:t>
            </a:r>
            <a:r>
              <a:rPr lang="ru-RU" dirty="0" err="1">
                <a:solidFill>
                  <a:schemeClr val="bg1"/>
                </a:solidFill>
              </a:rPr>
              <a:t>беззнакового</a:t>
            </a:r>
            <a:r>
              <a:rPr lang="ru-RU" dirty="0">
                <a:solidFill>
                  <a:schemeClr val="bg1"/>
                </a:solidFill>
              </a:rPr>
              <a:t> типа является интервалом неотрицательных целых чисел и содержит ноль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0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 </a:t>
            </a:r>
            <a:r>
              <a:rPr lang="en-US" dirty="0">
                <a:solidFill>
                  <a:schemeClr val="bg1"/>
                </a:solidFill>
              </a:rPr>
              <a:t>unsigned char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</a:t>
            </a:r>
            <a:r>
              <a:rPr lang="en-US" dirty="0">
                <a:solidFill>
                  <a:schemeClr val="bg1"/>
                </a:solidFill>
              </a:rPr>
              <a:t>unsigned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short  </a:t>
            </a:r>
            <a:r>
              <a:rPr lang="en-US" dirty="0">
                <a:solidFill>
                  <a:schemeClr val="bg1"/>
                </a:solidFill>
              </a:rPr>
              <a:t>unsigned </a:t>
            </a:r>
            <a:r>
              <a:rPr lang="en-US" dirty="0" err="1">
                <a:solidFill>
                  <a:schemeClr val="bg1"/>
                </a:solidFill>
                <a:sym typeface="Symbol" panose="05050102010706020507" pitchFamily="18" charset="2"/>
              </a:rPr>
              <a:t>int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  </a:t>
            </a:r>
            <a:r>
              <a:rPr lang="en-US" dirty="0">
                <a:solidFill>
                  <a:schemeClr val="bg1"/>
                </a:solidFill>
              </a:rPr>
              <a:t>unsigned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long  </a:t>
            </a:r>
            <a:r>
              <a:rPr lang="en-US" dirty="0">
                <a:solidFill>
                  <a:schemeClr val="bg1"/>
                </a:solidFill>
              </a:rPr>
              <a:t>unsigned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long </a:t>
            </a:r>
            <a:r>
              <a:rPr lang="en-US" dirty="0" err="1">
                <a:solidFill>
                  <a:schemeClr val="bg1"/>
                </a:solidFill>
                <a:sym typeface="Symbol" panose="05050102010706020507" pitchFamily="18" charset="2"/>
              </a:rPr>
              <a:t>long</a:t>
            </a:r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Арифметические операции выполняются по модулю (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1 +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максимальное значение в множестве значений) </a:t>
            </a: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Результат всегда определён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77069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Беззнаковые</a:t>
            </a:r>
            <a:r>
              <a:rPr lang="ru-RU" dirty="0"/>
              <a:t>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</a:t>
            </a:r>
            <a:r>
              <a:rPr lang="ru-RU" dirty="0" err="1">
                <a:solidFill>
                  <a:schemeClr val="bg1"/>
                </a:solidFill>
              </a:rPr>
              <a:t>беззнакового</a:t>
            </a:r>
            <a:r>
              <a:rPr lang="ru-RU" dirty="0">
                <a:solidFill>
                  <a:schemeClr val="bg1"/>
                </a:solidFill>
              </a:rPr>
              <a:t> типа является интервалом неотрицательных целых чисел и содержит ноль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0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 </a:t>
            </a:r>
            <a:r>
              <a:rPr lang="en-US" dirty="0">
                <a:solidFill>
                  <a:schemeClr val="bg1"/>
                </a:solidFill>
              </a:rPr>
              <a:t>unsigned char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</a:t>
            </a:r>
            <a:r>
              <a:rPr lang="en-US" dirty="0">
                <a:solidFill>
                  <a:schemeClr val="bg1"/>
                </a:solidFill>
              </a:rPr>
              <a:t>unsigned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short  </a:t>
            </a:r>
            <a:r>
              <a:rPr lang="en-US" dirty="0">
                <a:solidFill>
                  <a:schemeClr val="bg1"/>
                </a:solidFill>
              </a:rPr>
              <a:t>unsigned </a:t>
            </a:r>
            <a:r>
              <a:rPr lang="en-US" dirty="0" err="1">
                <a:solidFill>
                  <a:schemeClr val="bg1"/>
                </a:solidFill>
                <a:sym typeface="Symbol" panose="05050102010706020507" pitchFamily="18" charset="2"/>
              </a:rPr>
              <a:t>int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  </a:t>
            </a:r>
            <a:r>
              <a:rPr lang="en-US" dirty="0">
                <a:solidFill>
                  <a:schemeClr val="bg1"/>
                </a:solidFill>
              </a:rPr>
              <a:t>unsigned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long  </a:t>
            </a:r>
            <a:r>
              <a:rPr lang="en-US" dirty="0">
                <a:solidFill>
                  <a:schemeClr val="bg1"/>
                </a:solidFill>
              </a:rPr>
              <a:t>unsigned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long </a:t>
            </a:r>
            <a:r>
              <a:rPr lang="en-US" dirty="0" err="1">
                <a:solidFill>
                  <a:schemeClr val="bg1"/>
                </a:solidFill>
                <a:sym typeface="Symbol" panose="05050102010706020507" pitchFamily="18" charset="2"/>
              </a:rPr>
              <a:t>long</a:t>
            </a:r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Арифметические операции выполняются по модулю (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1 +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максимальное значение в множестве значений) </a:t>
            </a: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Результат всегда определён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933932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Беззнаковые</a:t>
            </a:r>
            <a:r>
              <a:rPr lang="ru-RU" dirty="0"/>
              <a:t>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</a:t>
            </a:r>
            <a:r>
              <a:rPr lang="ru-RU" dirty="0" err="1"/>
              <a:t>беззнакового</a:t>
            </a:r>
            <a:r>
              <a:rPr lang="ru-RU" dirty="0"/>
              <a:t> типа является интервалом неотрицательных целых чисел и содержит ноль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0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 </a:t>
            </a:r>
            <a:r>
              <a:rPr lang="en-US" dirty="0">
                <a:solidFill>
                  <a:schemeClr val="bg1"/>
                </a:solidFill>
              </a:rPr>
              <a:t>unsigned char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</a:t>
            </a:r>
            <a:r>
              <a:rPr lang="en-US" dirty="0">
                <a:solidFill>
                  <a:schemeClr val="bg1"/>
                </a:solidFill>
              </a:rPr>
              <a:t>unsigned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short  </a:t>
            </a:r>
            <a:r>
              <a:rPr lang="en-US" dirty="0">
                <a:solidFill>
                  <a:schemeClr val="bg1"/>
                </a:solidFill>
              </a:rPr>
              <a:t>unsigned </a:t>
            </a:r>
            <a:r>
              <a:rPr lang="en-US" dirty="0" err="1">
                <a:solidFill>
                  <a:schemeClr val="bg1"/>
                </a:solidFill>
                <a:sym typeface="Symbol" panose="05050102010706020507" pitchFamily="18" charset="2"/>
              </a:rPr>
              <a:t>int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  </a:t>
            </a:r>
            <a:r>
              <a:rPr lang="en-US" dirty="0">
                <a:solidFill>
                  <a:schemeClr val="bg1"/>
                </a:solidFill>
              </a:rPr>
              <a:t>unsigned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long  </a:t>
            </a:r>
            <a:r>
              <a:rPr lang="en-US" dirty="0">
                <a:solidFill>
                  <a:schemeClr val="bg1"/>
                </a:solidFill>
              </a:rPr>
              <a:t>unsigned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long </a:t>
            </a:r>
            <a:r>
              <a:rPr lang="en-US" dirty="0" err="1">
                <a:solidFill>
                  <a:schemeClr val="bg1"/>
                </a:solidFill>
                <a:sym typeface="Symbol" panose="05050102010706020507" pitchFamily="18" charset="2"/>
              </a:rPr>
              <a:t>long</a:t>
            </a:r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Арифметические операции выполняются по модулю (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1 +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максимальное значение в множестве значений) </a:t>
            </a: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Результат всегда определён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64115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Беззнаковые</a:t>
            </a:r>
            <a:r>
              <a:rPr lang="ru-RU" dirty="0"/>
              <a:t>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</a:t>
            </a:r>
            <a:r>
              <a:rPr lang="ru-RU" dirty="0" err="1"/>
              <a:t>беззнакового</a:t>
            </a:r>
            <a:r>
              <a:rPr lang="ru-RU" dirty="0"/>
              <a:t> типа является интервалом неотрицательных целых чисел и содержит ноль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/>
              <a:t>unsigned char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/>
              <a:t>unsigned </a:t>
            </a:r>
            <a:r>
              <a:rPr lang="en-US" dirty="0">
                <a:sym typeface="Symbol" panose="05050102010706020507" pitchFamily="18" charset="2"/>
              </a:rPr>
              <a:t>short  </a:t>
            </a:r>
            <a:r>
              <a:rPr lang="en-US" dirty="0"/>
              <a:t>unsigned </a:t>
            </a:r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 </a:t>
            </a:r>
            <a:r>
              <a:rPr lang="en-US" dirty="0"/>
              <a:t>unsigned </a:t>
            </a:r>
            <a:r>
              <a:rPr lang="en-US" dirty="0">
                <a:sym typeface="Symbol" panose="05050102010706020507" pitchFamily="18" charset="2"/>
              </a:rPr>
              <a:t>long  </a:t>
            </a:r>
            <a:r>
              <a:rPr lang="en-US" dirty="0"/>
              <a:t>unsigned </a:t>
            </a:r>
            <a:r>
              <a:rPr lang="en-US" dirty="0">
                <a:sym typeface="Symbol" panose="05050102010706020507" pitchFamily="18" charset="2"/>
              </a:rPr>
              <a:t>long </a:t>
            </a:r>
            <a:r>
              <a:rPr lang="en-US" dirty="0" err="1">
                <a:sym typeface="Symbol" panose="05050102010706020507" pitchFamily="18" charset="2"/>
              </a:rPr>
              <a:t>long</a:t>
            </a:r>
            <a:endParaRPr lang="ru-RU" dirty="0"/>
          </a:p>
          <a:p>
            <a:endParaRPr lang="en-US" dirty="0"/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Арифметические операции выполняются по модулю (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1 +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максимальное значение в множестве значений) </a:t>
            </a:r>
          </a:p>
          <a:p>
            <a:pPr lvl="1"/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Результат всегда определён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51773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Беззнаковые</a:t>
            </a:r>
            <a:r>
              <a:rPr lang="ru-RU" dirty="0"/>
              <a:t>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</a:t>
            </a:r>
            <a:r>
              <a:rPr lang="ru-RU" dirty="0" err="1"/>
              <a:t>беззнакового</a:t>
            </a:r>
            <a:r>
              <a:rPr lang="ru-RU" dirty="0"/>
              <a:t> типа является интервалом неотрицательных целых чисел и содержит ноль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/>
              <a:t>unsigned char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/>
              <a:t>unsigned </a:t>
            </a:r>
            <a:r>
              <a:rPr lang="en-US" dirty="0">
                <a:sym typeface="Symbol" panose="05050102010706020507" pitchFamily="18" charset="2"/>
              </a:rPr>
              <a:t>short  </a:t>
            </a:r>
            <a:r>
              <a:rPr lang="en-US" dirty="0"/>
              <a:t>unsigned </a:t>
            </a:r>
            <a:r>
              <a:rPr lang="en-US" dirty="0" err="1">
                <a:sym typeface="Symbol" panose="05050102010706020507" pitchFamily="18" charset="2"/>
              </a:rPr>
              <a:t>int</a:t>
            </a:r>
            <a:r>
              <a:rPr lang="en-US" dirty="0">
                <a:sym typeface="Symbol" panose="05050102010706020507" pitchFamily="18" charset="2"/>
              </a:rPr>
              <a:t>  </a:t>
            </a:r>
            <a:r>
              <a:rPr lang="en-US" dirty="0"/>
              <a:t>unsigned </a:t>
            </a:r>
            <a:r>
              <a:rPr lang="en-US" dirty="0">
                <a:sym typeface="Symbol" panose="05050102010706020507" pitchFamily="18" charset="2"/>
              </a:rPr>
              <a:t>long  </a:t>
            </a:r>
            <a:r>
              <a:rPr lang="en-US" dirty="0"/>
              <a:t>unsigned </a:t>
            </a:r>
            <a:r>
              <a:rPr lang="en-US" dirty="0">
                <a:sym typeface="Symbol" panose="05050102010706020507" pitchFamily="18" charset="2"/>
              </a:rPr>
              <a:t>long </a:t>
            </a:r>
            <a:r>
              <a:rPr lang="en-US" dirty="0" err="1">
                <a:sym typeface="Symbol" panose="05050102010706020507" pitchFamily="18" charset="2"/>
              </a:rPr>
              <a:t>long</a:t>
            </a:r>
            <a:endParaRPr lang="ru-RU" dirty="0"/>
          </a:p>
          <a:p>
            <a:endParaRPr lang="en-US" dirty="0"/>
          </a:p>
          <a:p>
            <a:r>
              <a:rPr lang="ru-RU" dirty="0"/>
              <a:t>Набор операций см. на слайде про целые типы</a:t>
            </a:r>
          </a:p>
          <a:p>
            <a:pPr lvl="1"/>
            <a:r>
              <a:rPr lang="ru-RU" dirty="0">
                <a:sym typeface="Symbol" panose="05050102010706020507" pitchFamily="18" charset="2"/>
              </a:rPr>
              <a:t>Арифметические операции над значениями </a:t>
            </a:r>
            <a:r>
              <a:rPr lang="ru-RU" dirty="0" err="1">
                <a:sym typeface="Symbol" panose="05050102010706020507" pitchFamily="18" charset="2"/>
              </a:rPr>
              <a:t>беззнакового</a:t>
            </a:r>
            <a:r>
              <a:rPr lang="ru-RU" dirty="0">
                <a:sym typeface="Symbol" panose="05050102010706020507" pitchFamily="18" charset="2"/>
              </a:rPr>
              <a:t> типа </a:t>
            </a:r>
            <a:r>
              <a:rPr lang="en-US" dirty="0">
                <a:sym typeface="Symbol" panose="05050102010706020507" pitchFamily="18" charset="2"/>
              </a:rPr>
              <a:t>UT </a:t>
            </a:r>
            <a:r>
              <a:rPr lang="ru-RU" dirty="0">
                <a:sym typeface="Symbol" panose="05050102010706020507" pitchFamily="18" charset="2"/>
              </a:rPr>
              <a:t>выполняются по модулю 2</a:t>
            </a:r>
            <a:r>
              <a:rPr lang="en-US" baseline="30000" dirty="0">
                <a:sym typeface="Symbol" panose="05050102010706020507" pitchFamily="18" charset="2"/>
              </a:rPr>
              <a:t>8∙sizeof(UT)</a:t>
            </a:r>
            <a:r>
              <a:rPr lang="ru-RU" baseline="30000" dirty="0">
                <a:sym typeface="Symbol" panose="05050102010706020507" pitchFamily="18" charset="2"/>
              </a:rPr>
              <a:t> </a:t>
            </a:r>
          </a:p>
          <a:p>
            <a:pPr lvl="1"/>
            <a:r>
              <a:rPr lang="ru-RU" dirty="0">
                <a:sym typeface="Symbol" panose="05050102010706020507" pitchFamily="18" charset="2"/>
              </a:rPr>
              <a:t>Результат всегда определён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389803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 знаковых и </a:t>
            </a:r>
            <a:r>
              <a:rPr lang="ru-RU" dirty="0" err="1"/>
              <a:t>беззнаковых</a:t>
            </a:r>
            <a:r>
              <a:rPr lang="ru-RU" dirty="0"/>
              <a:t>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Если </a:t>
            </a:r>
            <a:r>
              <a:rPr lang="en-US" dirty="0">
                <a:solidFill>
                  <a:schemeClr val="bg1"/>
                </a:solidFill>
              </a:rPr>
              <a:t>T </a:t>
            </a:r>
            <a:r>
              <a:rPr lang="ru-RU" dirty="0">
                <a:solidFill>
                  <a:schemeClr val="bg1"/>
                </a:solidFill>
              </a:rPr>
              <a:t>– знаковый целый тип, </a:t>
            </a:r>
            <a:r>
              <a:rPr lang="en-US" dirty="0">
                <a:solidFill>
                  <a:schemeClr val="bg1"/>
                </a:solidFill>
              </a:rPr>
              <a:t>UT </a:t>
            </a:r>
            <a:r>
              <a:rPr lang="ru-RU" dirty="0">
                <a:solidFill>
                  <a:schemeClr val="bg1"/>
                </a:solidFill>
              </a:rPr>
              <a:t>– соответствующий </a:t>
            </a:r>
            <a:r>
              <a:rPr lang="ru-RU" dirty="0" err="1">
                <a:solidFill>
                  <a:schemeClr val="bg1"/>
                </a:solidFill>
              </a:rPr>
              <a:t>беззнаковый</a:t>
            </a:r>
            <a:r>
              <a:rPr lang="ru-RU" dirty="0">
                <a:solidFill>
                  <a:schemeClr val="bg1"/>
                </a:solidFill>
              </a:rPr>
              <a:t> целый тип, то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en-US" dirty="0" err="1">
                <a:solidFill>
                  <a:schemeClr val="bg1"/>
                </a:solidFill>
              </a:rPr>
              <a:t>sizeof</a:t>
            </a:r>
            <a:r>
              <a:rPr lang="en-US" dirty="0">
                <a:solidFill>
                  <a:schemeClr val="bg1"/>
                </a:solidFill>
              </a:rPr>
              <a:t>(T) == </a:t>
            </a:r>
            <a:r>
              <a:rPr lang="en-US" dirty="0" err="1">
                <a:solidFill>
                  <a:schemeClr val="bg1"/>
                </a:solidFill>
              </a:rPr>
              <a:t>sizeof</a:t>
            </a:r>
            <a:r>
              <a:rPr lang="en-US" dirty="0">
                <a:solidFill>
                  <a:schemeClr val="bg1"/>
                </a:solidFill>
              </a:rPr>
              <a:t>(UT)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Диапазон неотрицательных значений </a:t>
            </a:r>
            <a:r>
              <a:rPr lang="en-US" dirty="0">
                <a:solidFill>
                  <a:schemeClr val="bg1"/>
                </a:solidFill>
              </a:rPr>
              <a:t>T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диапазон значений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UT</a:t>
            </a:r>
            <a:endParaRPr lang="ru-RU" dirty="0">
              <a:solidFill>
                <a:schemeClr val="bg1"/>
              </a:solidFill>
              <a:sym typeface="Symbol" panose="05050102010706020507" pitchFamily="18" charset="2"/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В зависимости от компилятора (</a:t>
            </a:r>
            <a:r>
              <a:rPr lang="en-US" dirty="0">
                <a:solidFill>
                  <a:schemeClr val="bg1"/>
                </a:solidFill>
              </a:rPr>
              <a:t>implementation defined) </a:t>
            </a:r>
            <a:r>
              <a:rPr lang="ru-RU" dirty="0">
                <a:solidFill>
                  <a:schemeClr val="bg1"/>
                </a:solidFill>
              </a:rPr>
              <a:t>диапазон значений </a:t>
            </a:r>
            <a:r>
              <a:rPr lang="en-US" dirty="0">
                <a:solidFill>
                  <a:schemeClr val="bg1"/>
                </a:solidFill>
              </a:rPr>
              <a:t>char </a:t>
            </a:r>
            <a:r>
              <a:rPr lang="ru-RU" dirty="0">
                <a:solidFill>
                  <a:schemeClr val="bg1"/>
                </a:solidFill>
              </a:rPr>
              <a:t>совпадает 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с диапазоном значений </a:t>
            </a:r>
            <a:r>
              <a:rPr lang="en-US" dirty="0">
                <a:solidFill>
                  <a:schemeClr val="bg1"/>
                </a:solidFill>
              </a:rPr>
              <a:t>signed char</a:t>
            </a:r>
            <a:r>
              <a:rPr lang="ru-RU" dirty="0">
                <a:solidFill>
                  <a:schemeClr val="bg1"/>
                </a:solidFill>
              </a:rPr>
              <a:t> или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с диапазоном значений </a:t>
            </a:r>
            <a:r>
              <a:rPr lang="en-US" dirty="0">
                <a:solidFill>
                  <a:schemeClr val="bg1"/>
                </a:solidFill>
              </a:rPr>
              <a:t>unsigned char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949068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 знаковых и </a:t>
            </a:r>
            <a:r>
              <a:rPr lang="ru-RU" dirty="0" err="1"/>
              <a:t>беззнаковых</a:t>
            </a:r>
            <a:r>
              <a:rPr lang="ru-RU" dirty="0"/>
              <a:t>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</a:t>
            </a:r>
            <a:r>
              <a:rPr lang="en-US" dirty="0"/>
              <a:t>T </a:t>
            </a:r>
            <a:r>
              <a:rPr lang="ru-RU" dirty="0"/>
              <a:t>– знаковый целый тип, </a:t>
            </a:r>
            <a:r>
              <a:rPr lang="en-US" dirty="0"/>
              <a:t>UT </a:t>
            </a:r>
            <a:r>
              <a:rPr lang="ru-RU" dirty="0"/>
              <a:t>– соответствующий </a:t>
            </a:r>
            <a:r>
              <a:rPr lang="ru-RU" dirty="0" err="1"/>
              <a:t>беззнаковый</a:t>
            </a:r>
            <a:r>
              <a:rPr lang="ru-RU" dirty="0"/>
              <a:t> целый тип, то</a:t>
            </a:r>
            <a:endParaRPr lang="en-US" dirty="0"/>
          </a:p>
          <a:p>
            <a:pPr lvl="1"/>
            <a:r>
              <a:rPr lang="en-US" dirty="0" err="1">
                <a:solidFill>
                  <a:schemeClr val="bg1"/>
                </a:solidFill>
              </a:rPr>
              <a:t>sizeof</a:t>
            </a:r>
            <a:r>
              <a:rPr lang="en-US" dirty="0">
                <a:solidFill>
                  <a:schemeClr val="bg1"/>
                </a:solidFill>
              </a:rPr>
              <a:t>(T) == </a:t>
            </a:r>
            <a:r>
              <a:rPr lang="en-US" dirty="0" err="1">
                <a:solidFill>
                  <a:schemeClr val="bg1"/>
                </a:solidFill>
              </a:rPr>
              <a:t>sizeof</a:t>
            </a:r>
            <a:r>
              <a:rPr lang="en-US" dirty="0">
                <a:solidFill>
                  <a:schemeClr val="bg1"/>
                </a:solidFill>
              </a:rPr>
              <a:t>(UT)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Диапазон неотрицательных значений </a:t>
            </a:r>
            <a:r>
              <a:rPr lang="en-US" dirty="0">
                <a:solidFill>
                  <a:schemeClr val="bg1"/>
                </a:solidFill>
              </a:rPr>
              <a:t>T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диапазон значений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UT</a:t>
            </a:r>
            <a:endParaRPr lang="ru-RU" dirty="0">
              <a:solidFill>
                <a:schemeClr val="bg1"/>
              </a:solidFill>
              <a:sym typeface="Symbol" panose="05050102010706020507" pitchFamily="18" charset="2"/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В зависимости от компилятора (</a:t>
            </a:r>
            <a:r>
              <a:rPr lang="en-US" dirty="0">
                <a:solidFill>
                  <a:schemeClr val="bg1"/>
                </a:solidFill>
              </a:rPr>
              <a:t>implementation defined) </a:t>
            </a:r>
            <a:r>
              <a:rPr lang="ru-RU" dirty="0">
                <a:solidFill>
                  <a:schemeClr val="bg1"/>
                </a:solidFill>
              </a:rPr>
              <a:t>диапазон значений </a:t>
            </a:r>
            <a:r>
              <a:rPr lang="en-US" dirty="0">
                <a:solidFill>
                  <a:schemeClr val="bg1"/>
                </a:solidFill>
              </a:rPr>
              <a:t>char </a:t>
            </a:r>
            <a:r>
              <a:rPr lang="ru-RU" dirty="0">
                <a:solidFill>
                  <a:schemeClr val="bg1"/>
                </a:solidFill>
              </a:rPr>
              <a:t>совпадает 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с диапазоном значений </a:t>
            </a:r>
            <a:r>
              <a:rPr lang="en-US" dirty="0">
                <a:solidFill>
                  <a:schemeClr val="bg1"/>
                </a:solidFill>
              </a:rPr>
              <a:t>signed char</a:t>
            </a:r>
            <a:r>
              <a:rPr lang="ru-RU" dirty="0">
                <a:solidFill>
                  <a:schemeClr val="bg1"/>
                </a:solidFill>
              </a:rPr>
              <a:t> или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с диапазоном значений </a:t>
            </a:r>
            <a:r>
              <a:rPr lang="en-US" dirty="0">
                <a:solidFill>
                  <a:schemeClr val="bg1"/>
                </a:solidFill>
              </a:rPr>
              <a:t>unsigned char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129112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 знаковых и </a:t>
            </a:r>
            <a:r>
              <a:rPr lang="ru-RU" dirty="0" err="1"/>
              <a:t>беззнаковых</a:t>
            </a:r>
            <a:r>
              <a:rPr lang="ru-RU" dirty="0"/>
              <a:t>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</a:t>
            </a:r>
            <a:r>
              <a:rPr lang="en-US" dirty="0"/>
              <a:t>T </a:t>
            </a:r>
            <a:r>
              <a:rPr lang="ru-RU" dirty="0"/>
              <a:t>– знаковый целый тип, </a:t>
            </a:r>
            <a:r>
              <a:rPr lang="en-US" dirty="0"/>
              <a:t>UT </a:t>
            </a:r>
            <a:r>
              <a:rPr lang="ru-RU" dirty="0"/>
              <a:t>– соответствующий </a:t>
            </a:r>
            <a:r>
              <a:rPr lang="ru-RU" dirty="0" err="1"/>
              <a:t>беззнаковый</a:t>
            </a:r>
            <a:r>
              <a:rPr lang="ru-RU" dirty="0"/>
              <a:t> целый тип, то</a:t>
            </a:r>
            <a:endParaRPr lang="en-US" dirty="0"/>
          </a:p>
          <a:p>
            <a:pPr lvl="1"/>
            <a:r>
              <a:rPr lang="en-US" dirty="0" err="1"/>
              <a:t>sizeof</a:t>
            </a:r>
            <a:r>
              <a:rPr lang="en-US" dirty="0"/>
              <a:t>(T) == </a:t>
            </a:r>
            <a:r>
              <a:rPr lang="en-US" dirty="0" err="1"/>
              <a:t>sizeof</a:t>
            </a:r>
            <a:r>
              <a:rPr lang="en-US" dirty="0"/>
              <a:t>(UT)</a:t>
            </a:r>
          </a:p>
          <a:p>
            <a:pPr lvl="1"/>
            <a:r>
              <a:rPr lang="ru-RU" dirty="0"/>
              <a:t>Диапазон неотрицательных значений </a:t>
            </a:r>
            <a:r>
              <a:rPr lang="en-US" dirty="0"/>
              <a:t>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ru-RU" dirty="0">
                <a:sym typeface="Symbol" panose="05050102010706020507" pitchFamily="18" charset="2"/>
              </a:rPr>
              <a:t>диапазон значений </a:t>
            </a:r>
            <a:r>
              <a:rPr lang="en-US" dirty="0">
                <a:sym typeface="Symbol" panose="05050102010706020507" pitchFamily="18" charset="2"/>
              </a:rPr>
              <a:t>UT</a:t>
            </a:r>
            <a:endParaRPr lang="ru-RU" dirty="0">
              <a:sym typeface="Symbol" panose="05050102010706020507" pitchFamily="18" charset="2"/>
            </a:endParaRPr>
          </a:p>
          <a:p>
            <a:endParaRPr lang="en-US" dirty="0"/>
          </a:p>
          <a:p>
            <a:r>
              <a:rPr lang="ru-RU" dirty="0">
                <a:solidFill>
                  <a:schemeClr val="bg1"/>
                </a:solidFill>
              </a:rPr>
              <a:t>В зависимости от компилятора (</a:t>
            </a:r>
            <a:r>
              <a:rPr lang="en-US" dirty="0">
                <a:solidFill>
                  <a:schemeClr val="bg1"/>
                </a:solidFill>
              </a:rPr>
              <a:t>implementation defined) </a:t>
            </a:r>
            <a:r>
              <a:rPr lang="ru-RU" dirty="0">
                <a:solidFill>
                  <a:schemeClr val="bg1"/>
                </a:solidFill>
              </a:rPr>
              <a:t>диапазон значений </a:t>
            </a:r>
            <a:r>
              <a:rPr lang="en-US" dirty="0">
                <a:solidFill>
                  <a:schemeClr val="bg1"/>
                </a:solidFill>
              </a:rPr>
              <a:t>char </a:t>
            </a:r>
            <a:r>
              <a:rPr lang="ru-RU" dirty="0">
                <a:solidFill>
                  <a:schemeClr val="bg1"/>
                </a:solidFill>
              </a:rPr>
              <a:t>совпадает 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с диапазоном значений </a:t>
            </a:r>
            <a:r>
              <a:rPr lang="en-US" dirty="0">
                <a:solidFill>
                  <a:schemeClr val="bg1"/>
                </a:solidFill>
              </a:rPr>
              <a:t>signed char</a:t>
            </a:r>
            <a:r>
              <a:rPr lang="ru-RU" dirty="0">
                <a:solidFill>
                  <a:schemeClr val="bg1"/>
                </a:solidFill>
              </a:rPr>
              <a:t> или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с диапазоном значений </a:t>
            </a:r>
            <a:r>
              <a:rPr lang="en-US" dirty="0">
                <a:solidFill>
                  <a:schemeClr val="bg1"/>
                </a:solidFill>
              </a:rPr>
              <a:t>unsigned char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41530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 знаковых и </a:t>
            </a:r>
            <a:r>
              <a:rPr lang="ru-RU" dirty="0" err="1"/>
              <a:t>беззнаковых</a:t>
            </a:r>
            <a:r>
              <a:rPr lang="ru-RU" dirty="0"/>
              <a:t>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</a:t>
            </a:r>
            <a:r>
              <a:rPr lang="en-US" dirty="0"/>
              <a:t>T </a:t>
            </a:r>
            <a:r>
              <a:rPr lang="ru-RU" dirty="0"/>
              <a:t>– знаковый целый тип, </a:t>
            </a:r>
            <a:r>
              <a:rPr lang="en-US" dirty="0"/>
              <a:t>UT </a:t>
            </a:r>
            <a:r>
              <a:rPr lang="ru-RU" dirty="0"/>
              <a:t>– соответствующий </a:t>
            </a:r>
            <a:r>
              <a:rPr lang="ru-RU" dirty="0" err="1"/>
              <a:t>беззнаковый</a:t>
            </a:r>
            <a:r>
              <a:rPr lang="ru-RU" dirty="0"/>
              <a:t> целый тип, то</a:t>
            </a:r>
            <a:endParaRPr lang="en-US" dirty="0"/>
          </a:p>
          <a:p>
            <a:pPr lvl="1"/>
            <a:r>
              <a:rPr lang="en-US" dirty="0" err="1"/>
              <a:t>sizeof</a:t>
            </a:r>
            <a:r>
              <a:rPr lang="en-US" dirty="0"/>
              <a:t>(T) == </a:t>
            </a:r>
            <a:r>
              <a:rPr lang="en-US" dirty="0" err="1"/>
              <a:t>sizeof</a:t>
            </a:r>
            <a:r>
              <a:rPr lang="en-US" dirty="0"/>
              <a:t>(UT)</a:t>
            </a:r>
          </a:p>
          <a:p>
            <a:pPr lvl="1"/>
            <a:r>
              <a:rPr lang="ru-RU" dirty="0"/>
              <a:t>Диапазон неотрицательных значений </a:t>
            </a:r>
            <a:r>
              <a:rPr lang="en-US" dirty="0"/>
              <a:t>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ru-RU" dirty="0">
                <a:sym typeface="Symbol" panose="05050102010706020507" pitchFamily="18" charset="2"/>
              </a:rPr>
              <a:t>диапазон значений </a:t>
            </a:r>
            <a:r>
              <a:rPr lang="en-US" dirty="0">
                <a:sym typeface="Symbol" panose="05050102010706020507" pitchFamily="18" charset="2"/>
              </a:rPr>
              <a:t>UT</a:t>
            </a:r>
            <a:endParaRPr lang="ru-RU" dirty="0">
              <a:sym typeface="Symbol" panose="05050102010706020507" pitchFamily="18" charset="2"/>
            </a:endParaRPr>
          </a:p>
          <a:p>
            <a:endParaRPr lang="en-US" dirty="0"/>
          </a:p>
          <a:p>
            <a:r>
              <a:rPr lang="ru-RU" dirty="0"/>
              <a:t>В зависимости от компилятора (</a:t>
            </a:r>
            <a:r>
              <a:rPr lang="en-US" dirty="0"/>
              <a:t>implementation defined) </a:t>
            </a:r>
            <a:r>
              <a:rPr lang="ru-RU" dirty="0"/>
              <a:t>диапазон значений </a:t>
            </a:r>
            <a:r>
              <a:rPr lang="en-US" dirty="0"/>
              <a:t>char </a:t>
            </a:r>
            <a:r>
              <a:rPr lang="ru-RU" dirty="0"/>
              <a:t>совпадает 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с диапазоном значений </a:t>
            </a:r>
            <a:r>
              <a:rPr lang="en-US" dirty="0">
                <a:solidFill>
                  <a:schemeClr val="bg1"/>
                </a:solidFill>
              </a:rPr>
              <a:t>signed char</a:t>
            </a:r>
            <a:r>
              <a:rPr lang="ru-RU" dirty="0">
                <a:solidFill>
                  <a:schemeClr val="bg1"/>
                </a:solidFill>
              </a:rPr>
              <a:t> или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с диапазоном значений </a:t>
            </a:r>
            <a:r>
              <a:rPr lang="en-US" dirty="0">
                <a:solidFill>
                  <a:schemeClr val="bg1"/>
                </a:solidFill>
              </a:rPr>
              <a:t>unsigned char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051038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Связь знаковых и </a:t>
            </a:r>
            <a:r>
              <a:rPr lang="ru-RU" dirty="0" err="1"/>
              <a:t>беззнаковых</a:t>
            </a:r>
            <a:r>
              <a:rPr lang="ru-RU" dirty="0"/>
              <a:t>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Если </a:t>
            </a:r>
            <a:r>
              <a:rPr lang="en-US" dirty="0"/>
              <a:t>T </a:t>
            </a:r>
            <a:r>
              <a:rPr lang="ru-RU" dirty="0"/>
              <a:t>– знаковый целый тип, </a:t>
            </a:r>
            <a:r>
              <a:rPr lang="en-US" dirty="0"/>
              <a:t>UT </a:t>
            </a:r>
            <a:r>
              <a:rPr lang="ru-RU" dirty="0"/>
              <a:t>– соответствующий </a:t>
            </a:r>
            <a:r>
              <a:rPr lang="ru-RU" dirty="0" err="1"/>
              <a:t>беззнаковый</a:t>
            </a:r>
            <a:r>
              <a:rPr lang="ru-RU" dirty="0"/>
              <a:t> целый тип, то</a:t>
            </a:r>
            <a:endParaRPr lang="en-US" dirty="0"/>
          </a:p>
          <a:p>
            <a:pPr lvl="1"/>
            <a:r>
              <a:rPr lang="en-US" dirty="0" err="1"/>
              <a:t>sizeof</a:t>
            </a:r>
            <a:r>
              <a:rPr lang="en-US" dirty="0"/>
              <a:t>(T) == </a:t>
            </a:r>
            <a:r>
              <a:rPr lang="en-US" dirty="0" err="1"/>
              <a:t>sizeof</a:t>
            </a:r>
            <a:r>
              <a:rPr lang="en-US" dirty="0"/>
              <a:t>(UT)</a:t>
            </a:r>
          </a:p>
          <a:p>
            <a:pPr lvl="1"/>
            <a:r>
              <a:rPr lang="ru-RU" dirty="0"/>
              <a:t>Диапазон неотрицательных значений </a:t>
            </a:r>
            <a:r>
              <a:rPr lang="en-US" dirty="0"/>
              <a:t>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ru-RU" dirty="0">
                <a:sym typeface="Symbol" panose="05050102010706020507" pitchFamily="18" charset="2"/>
              </a:rPr>
              <a:t>диапазон значений </a:t>
            </a:r>
            <a:r>
              <a:rPr lang="en-US" dirty="0">
                <a:sym typeface="Symbol" panose="05050102010706020507" pitchFamily="18" charset="2"/>
              </a:rPr>
              <a:t>UT</a:t>
            </a:r>
            <a:endParaRPr lang="ru-RU" dirty="0">
              <a:sym typeface="Symbol" panose="05050102010706020507" pitchFamily="18" charset="2"/>
            </a:endParaRPr>
          </a:p>
          <a:p>
            <a:endParaRPr lang="en-US" dirty="0"/>
          </a:p>
          <a:p>
            <a:r>
              <a:rPr lang="ru-RU" dirty="0"/>
              <a:t>В зависимости от компилятора (</a:t>
            </a:r>
            <a:r>
              <a:rPr lang="en-US" dirty="0"/>
              <a:t>implementation defined) </a:t>
            </a:r>
            <a:r>
              <a:rPr lang="ru-RU" dirty="0"/>
              <a:t>диапазон значений </a:t>
            </a:r>
            <a:r>
              <a:rPr lang="en-US" dirty="0"/>
              <a:t>char </a:t>
            </a:r>
            <a:r>
              <a:rPr lang="ru-RU" dirty="0"/>
              <a:t>совпадает </a:t>
            </a:r>
          </a:p>
          <a:p>
            <a:pPr lvl="1"/>
            <a:r>
              <a:rPr lang="ru-RU" dirty="0"/>
              <a:t>с диапазоном значений </a:t>
            </a:r>
            <a:r>
              <a:rPr lang="en-US" dirty="0"/>
              <a:t>signed char</a:t>
            </a:r>
            <a:r>
              <a:rPr lang="ru-RU" dirty="0"/>
              <a:t> или</a:t>
            </a:r>
            <a:endParaRPr lang="en-US" dirty="0"/>
          </a:p>
          <a:p>
            <a:pPr lvl="1"/>
            <a:r>
              <a:rPr lang="ru-RU" dirty="0"/>
              <a:t>с диапазоном значений </a:t>
            </a:r>
            <a:r>
              <a:rPr lang="en-US" dirty="0"/>
              <a:t>unsigned char</a:t>
            </a:r>
            <a:endParaRPr lang="ru-RU" dirty="0"/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72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457704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751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Вещественные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193" y="2276343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7193" y="2616631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3990352" y="2461009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8" idx="3"/>
            <a:endCxn id="9" idx="1"/>
          </p:cNvCxnSpPr>
          <p:nvPr/>
        </p:nvCxnSpPr>
        <p:spPr>
          <a:xfrm flipV="1">
            <a:off x="5392274" y="3645640"/>
            <a:ext cx="759485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3990352" y="2463900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071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6474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947891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Вещественные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Конечное семейство типов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вещественного типа является интервалом вещественных чисел и содержит ноль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0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 </a:t>
            </a:r>
            <a:r>
              <a:rPr lang="en-US" dirty="0">
                <a:solidFill>
                  <a:schemeClr val="bg1"/>
                </a:solidFill>
              </a:rPr>
              <a:t>float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</a:t>
            </a:r>
            <a:r>
              <a:rPr lang="en-US" dirty="0">
                <a:solidFill>
                  <a:schemeClr val="bg1"/>
                </a:solidFill>
              </a:rPr>
              <a:t>double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long double</a:t>
            </a:r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типы с плавающей точкой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74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430334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Вещественные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вещественного типа является интервалом вещественных чисел и содержит ноль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0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 </a:t>
            </a:r>
            <a:r>
              <a:rPr lang="en-US" dirty="0">
                <a:solidFill>
                  <a:schemeClr val="bg1"/>
                </a:solidFill>
              </a:rPr>
              <a:t>float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</a:t>
            </a:r>
            <a:r>
              <a:rPr lang="en-US" dirty="0">
                <a:solidFill>
                  <a:schemeClr val="bg1"/>
                </a:solidFill>
              </a:rPr>
              <a:t>double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long double</a:t>
            </a:r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типы с плавающей точкой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419125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Вещественные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вещественного типа является интервалом вещественных чисел и содержит ноль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0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 </a:t>
            </a:r>
            <a:r>
              <a:rPr lang="en-US" dirty="0">
                <a:solidFill>
                  <a:schemeClr val="bg1"/>
                </a:solidFill>
              </a:rPr>
              <a:t>float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</a:t>
            </a:r>
            <a:r>
              <a:rPr lang="en-US" dirty="0">
                <a:solidFill>
                  <a:schemeClr val="bg1"/>
                </a:solidFill>
              </a:rPr>
              <a:t>double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long double</a:t>
            </a:r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типы с плавающей точкой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145145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Вещественные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вещественного типа является интервалом вещественных чисел и содержит ноль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/>
              <a:t>float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/>
              <a:t>double </a:t>
            </a:r>
            <a:r>
              <a:rPr lang="en-US" dirty="0">
                <a:sym typeface="Symbol" panose="05050102010706020507" pitchFamily="18" charset="2"/>
              </a:rPr>
              <a:t> long double</a:t>
            </a:r>
            <a:endParaRPr lang="ru-RU" dirty="0"/>
          </a:p>
          <a:p>
            <a:endParaRPr lang="en-US" dirty="0"/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типы с плавающей точкой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049562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Вещественные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Конечное семейство типов</a:t>
            </a:r>
          </a:p>
          <a:p>
            <a:endParaRPr lang="ru-RU" dirty="0"/>
          </a:p>
          <a:p>
            <a:r>
              <a:rPr lang="ru-RU" dirty="0"/>
              <a:t>Множество значений вещественного типа является интервалом вещественных чисел и содержит ноль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/>
              <a:t>float </a:t>
            </a:r>
            <a:r>
              <a:rPr lang="en-US" dirty="0">
                <a:sym typeface="Symbol" panose="05050102010706020507" pitchFamily="18" charset="2"/>
              </a:rPr>
              <a:t> </a:t>
            </a:r>
            <a:r>
              <a:rPr lang="en-US" dirty="0"/>
              <a:t>double </a:t>
            </a:r>
            <a:r>
              <a:rPr lang="en-US" dirty="0">
                <a:sym typeface="Symbol" panose="05050102010706020507" pitchFamily="18" charset="2"/>
              </a:rPr>
              <a:t> long double</a:t>
            </a:r>
            <a:endParaRPr lang="ru-RU" dirty="0"/>
          </a:p>
          <a:p>
            <a:endParaRPr lang="en-US" dirty="0"/>
          </a:p>
          <a:p>
            <a:r>
              <a:rPr lang="ru-RU" dirty="0"/>
              <a:t>Набор операций см. на слайде про типы с плавающей точкой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78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66076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1272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Комплексные (</a:t>
            </a:r>
            <a:r>
              <a:rPr lang="en-US" b="1" dirty="0"/>
              <a:t>C99</a:t>
            </a:r>
            <a:r>
              <a:rPr lang="ru-RU" b="1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193" y="2276343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7193" y="2616631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3990352" y="2461009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8" idx="3"/>
            <a:endCxn id="9" idx="1"/>
          </p:cNvCxnSpPr>
          <p:nvPr/>
        </p:nvCxnSpPr>
        <p:spPr>
          <a:xfrm flipV="1">
            <a:off x="5392274" y="3645640"/>
            <a:ext cx="759485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8" idx="3"/>
            <a:endCxn id="10" idx="1"/>
          </p:cNvCxnSpPr>
          <p:nvPr/>
        </p:nvCxnSpPr>
        <p:spPr>
          <a:xfrm>
            <a:off x="5392274" y="3790308"/>
            <a:ext cx="759485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3990352" y="2463900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071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6474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792229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Комплексные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Конечное семейство типов в </a:t>
            </a:r>
            <a:r>
              <a:rPr lang="en-US" dirty="0">
                <a:solidFill>
                  <a:schemeClr val="bg1"/>
                </a:solidFill>
              </a:rPr>
              <a:t>C99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комплексного типа является подмножеством комплексных чисел, содержащим ноль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0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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complex </a:t>
            </a:r>
            <a:r>
              <a:rPr lang="en-US" dirty="0">
                <a:solidFill>
                  <a:schemeClr val="bg1"/>
                </a:solidFill>
              </a:rPr>
              <a:t>float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complex </a:t>
            </a:r>
            <a:r>
              <a:rPr lang="en-US" dirty="0">
                <a:solidFill>
                  <a:schemeClr val="bg1"/>
                </a:solidFill>
              </a:rPr>
              <a:t>double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complex long double</a:t>
            </a:r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424101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Комплексные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Конечное семейство типов в </a:t>
            </a:r>
            <a:r>
              <a:rPr lang="en-US" dirty="0"/>
              <a:t>C99</a:t>
            </a:r>
            <a:endParaRPr lang="ru-RU" dirty="0"/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комплексного типа является подмножеством комплексных чисел, содержащим ноль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0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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complex </a:t>
            </a:r>
            <a:r>
              <a:rPr lang="en-US" dirty="0">
                <a:solidFill>
                  <a:schemeClr val="bg1"/>
                </a:solidFill>
              </a:rPr>
              <a:t>float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complex </a:t>
            </a:r>
            <a:r>
              <a:rPr lang="en-US" dirty="0">
                <a:solidFill>
                  <a:schemeClr val="bg1"/>
                </a:solidFill>
              </a:rPr>
              <a:t>double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complex long double</a:t>
            </a:r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102769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Комплексные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Конечное семейство типов в </a:t>
            </a:r>
            <a:r>
              <a:rPr lang="en-US" dirty="0"/>
              <a:t>C99</a:t>
            </a:r>
            <a:endParaRPr lang="ru-RU" dirty="0"/>
          </a:p>
          <a:p>
            <a:endParaRPr lang="ru-RU" dirty="0"/>
          </a:p>
          <a:p>
            <a:r>
              <a:rPr lang="ru-RU" dirty="0"/>
              <a:t>Множество значений комплексного типа является подмножеством комплексных чисел, содержащим ноль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0 </a:t>
            </a:r>
            <a:r>
              <a:rPr lang="ru-RU" dirty="0">
                <a:solidFill>
                  <a:schemeClr val="bg1"/>
                </a:solidFill>
                <a:sym typeface="Symbol" panose="05050102010706020507" pitchFamily="18" charset="2"/>
              </a:rPr>
              <a:t>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complex </a:t>
            </a:r>
            <a:r>
              <a:rPr lang="en-US" dirty="0">
                <a:solidFill>
                  <a:schemeClr val="bg1"/>
                </a:solidFill>
              </a:rPr>
              <a:t>float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complex </a:t>
            </a:r>
            <a:r>
              <a:rPr lang="en-US" dirty="0">
                <a:solidFill>
                  <a:schemeClr val="bg1"/>
                </a:solidFill>
              </a:rPr>
              <a:t>double 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 complex long double</a:t>
            </a:r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794991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Комплексные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Конечное семейство типов в </a:t>
            </a:r>
            <a:r>
              <a:rPr lang="en-US" dirty="0"/>
              <a:t>C99</a:t>
            </a:r>
            <a:endParaRPr lang="ru-RU" dirty="0"/>
          </a:p>
          <a:p>
            <a:endParaRPr lang="ru-RU" dirty="0"/>
          </a:p>
          <a:p>
            <a:r>
              <a:rPr lang="ru-RU" dirty="0"/>
              <a:t>Множество значений комплексного типа является подмножеством комплексных чисел, содержащим ноль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>
                <a:sym typeface="Symbol" panose="05050102010706020507" pitchFamily="18" charset="2"/>
              </a:rPr>
              <a:t>complex </a:t>
            </a:r>
            <a:r>
              <a:rPr lang="en-US" dirty="0"/>
              <a:t>float </a:t>
            </a:r>
            <a:r>
              <a:rPr lang="en-US" dirty="0">
                <a:sym typeface="Symbol" panose="05050102010706020507" pitchFamily="18" charset="2"/>
              </a:rPr>
              <a:t> complex </a:t>
            </a:r>
            <a:r>
              <a:rPr lang="en-US" dirty="0"/>
              <a:t>double </a:t>
            </a:r>
            <a:r>
              <a:rPr lang="en-US" dirty="0">
                <a:sym typeface="Symbol" panose="05050102010706020507" pitchFamily="18" charset="2"/>
              </a:rPr>
              <a:t> complex long double</a:t>
            </a:r>
            <a:endParaRPr lang="ru-RU" dirty="0"/>
          </a:p>
          <a:p>
            <a:endParaRPr lang="en-US" dirty="0"/>
          </a:p>
          <a:p>
            <a:r>
              <a:rPr lang="ru-RU" dirty="0">
                <a:solidFill>
                  <a:schemeClr val="bg1"/>
                </a:solidFill>
              </a:rPr>
              <a:t>Набор операций см. на слайде про целые типы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510068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Комплексные типы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Конечное семейство типов в </a:t>
            </a:r>
            <a:r>
              <a:rPr lang="en-US" dirty="0"/>
              <a:t>C99</a:t>
            </a:r>
            <a:endParaRPr lang="ru-RU" dirty="0"/>
          </a:p>
          <a:p>
            <a:endParaRPr lang="ru-RU" dirty="0"/>
          </a:p>
          <a:p>
            <a:r>
              <a:rPr lang="ru-RU" dirty="0"/>
              <a:t>Множество значений комплексного типа является подмножеством комплексных чисел, содержащим ноль</a:t>
            </a:r>
          </a:p>
          <a:p>
            <a:pPr lvl="1"/>
            <a:r>
              <a:rPr lang="ru-RU" dirty="0"/>
              <a:t>0 </a:t>
            </a:r>
            <a:r>
              <a:rPr lang="ru-RU" dirty="0">
                <a:sym typeface="Symbol" panose="05050102010706020507" pitchFamily="18" charset="2"/>
              </a:rPr>
              <a:t> </a:t>
            </a:r>
            <a:r>
              <a:rPr lang="en-US" dirty="0">
                <a:sym typeface="Symbol" panose="05050102010706020507" pitchFamily="18" charset="2"/>
              </a:rPr>
              <a:t>complex </a:t>
            </a:r>
            <a:r>
              <a:rPr lang="en-US" dirty="0"/>
              <a:t>float </a:t>
            </a:r>
            <a:r>
              <a:rPr lang="en-US" dirty="0">
                <a:sym typeface="Symbol" panose="05050102010706020507" pitchFamily="18" charset="2"/>
              </a:rPr>
              <a:t> complex </a:t>
            </a:r>
            <a:r>
              <a:rPr lang="en-US" dirty="0"/>
              <a:t>double </a:t>
            </a:r>
            <a:r>
              <a:rPr lang="en-US" dirty="0">
                <a:sym typeface="Symbol" panose="05050102010706020507" pitchFamily="18" charset="2"/>
              </a:rPr>
              <a:t> complex long double</a:t>
            </a:r>
            <a:endParaRPr lang="ru-RU" dirty="0"/>
          </a:p>
          <a:p>
            <a:endParaRPr lang="en-US" dirty="0"/>
          </a:p>
          <a:p>
            <a:r>
              <a:rPr lang="ru-RU" dirty="0"/>
              <a:t>Набор операций см. на слайде про типы с плавающей точкой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2505907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959" y="4326575"/>
            <a:ext cx="11886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Указатели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193" y="2276343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7193" y="2616631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3990352" y="2461009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8" idx="3"/>
            <a:endCxn id="9" idx="1"/>
          </p:cNvCxnSpPr>
          <p:nvPr/>
        </p:nvCxnSpPr>
        <p:spPr>
          <a:xfrm flipV="1">
            <a:off x="5392274" y="3645640"/>
            <a:ext cx="759485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8" idx="3"/>
            <a:endCxn id="10" idx="1"/>
          </p:cNvCxnSpPr>
          <p:nvPr/>
        </p:nvCxnSpPr>
        <p:spPr>
          <a:xfrm>
            <a:off x="5392274" y="3790308"/>
            <a:ext cx="759485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511241"/>
            <a:ext cx="1647902" cy="62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3990352" y="2463900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071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6474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2910106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Бесконечное семейство типов </a:t>
            </a:r>
            <a:r>
              <a:rPr lang="en-US" dirty="0">
                <a:solidFill>
                  <a:schemeClr val="bg1"/>
                </a:solidFill>
              </a:rPr>
              <a:t>T*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Тип </a:t>
            </a:r>
            <a:r>
              <a:rPr lang="en-US" dirty="0">
                <a:solidFill>
                  <a:schemeClr val="bg1"/>
                </a:solidFill>
              </a:rPr>
              <a:t>T </a:t>
            </a:r>
            <a:r>
              <a:rPr lang="ru-RU" dirty="0">
                <a:solidFill>
                  <a:schemeClr val="bg1"/>
                </a:solidFill>
              </a:rPr>
              <a:t>может быть неполным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типа «указатель на тип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dirty="0">
                <a:solidFill>
                  <a:schemeClr val="bg1"/>
                </a:solidFill>
              </a:rPr>
              <a:t>» совпадает с множеством адресов памяти и содержит нулевой адрес </a:t>
            </a:r>
            <a:r>
              <a:rPr lang="en-US" dirty="0">
                <a:solidFill>
                  <a:schemeClr val="bg1"/>
                </a:solidFill>
              </a:rPr>
              <a:t>NULL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Одно и то же множество значений у всех типов этого семейства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Арифметика указателей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смещение на целое число значений типа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(T*, </a:t>
            </a:r>
            <a:r>
              <a:rPr lang="ru-RU" dirty="0">
                <a:solidFill>
                  <a:schemeClr val="bg1"/>
                </a:solidFill>
              </a:rPr>
              <a:t>целое</a:t>
            </a:r>
            <a:r>
              <a:rPr lang="en-US" dirty="0">
                <a:solidFill>
                  <a:schemeClr val="bg1"/>
                </a:solidFill>
              </a:rPr>
              <a:t>) -&gt; T*</a:t>
            </a:r>
            <a:endParaRPr lang="ru-RU" dirty="0">
              <a:solidFill>
                <a:schemeClr val="bg1"/>
              </a:solidFill>
            </a:endParaRPr>
          </a:p>
          <a:p>
            <a:pPr lvl="2"/>
            <a:r>
              <a:rPr lang="ru-RU" dirty="0">
                <a:solidFill>
                  <a:schemeClr val="bg1"/>
                </a:solidFill>
              </a:rPr>
              <a:t>расстояние между указателями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типа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dirty="0">
                <a:solidFill>
                  <a:schemeClr val="bg1"/>
                </a:solidFill>
              </a:rPr>
              <a:t> (</a:t>
            </a:r>
            <a:r>
              <a:rPr lang="en-US" dirty="0">
                <a:solidFill>
                  <a:schemeClr val="bg1"/>
                </a:solidFill>
              </a:rPr>
              <a:t>T*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T*</a:t>
            </a:r>
            <a:r>
              <a:rPr lang="ru-RU" dirty="0">
                <a:solidFill>
                  <a:schemeClr val="bg1"/>
                </a:solidFill>
              </a:rPr>
              <a:t>) -</a:t>
            </a:r>
            <a:r>
              <a:rPr lang="en-US" dirty="0">
                <a:solidFill>
                  <a:schemeClr val="bg1"/>
                </a:solidFill>
              </a:rPr>
              <a:t>&gt; </a:t>
            </a:r>
            <a:r>
              <a:rPr lang="ru-RU" dirty="0">
                <a:solidFill>
                  <a:schemeClr val="bg1"/>
                </a:solidFill>
              </a:rPr>
              <a:t>целое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Разыменование </a:t>
            </a:r>
            <a:r>
              <a:rPr lang="en-US" dirty="0">
                <a:solidFill>
                  <a:schemeClr val="bg1"/>
                </a:solidFill>
              </a:rPr>
              <a:t>T* -&gt; T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Взятие адреса </a:t>
            </a:r>
            <a:r>
              <a:rPr lang="en-US" dirty="0">
                <a:solidFill>
                  <a:schemeClr val="bg1"/>
                </a:solidFill>
              </a:rPr>
              <a:t>T -&gt; T</a:t>
            </a:r>
            <a:r>
              <a:rPr lang="ru-RU" dirty="0">
                <a:solidFill>
                  <a:schemeClr val="bg1"/>
                </a:solidFill>
              </a:rPr>
              <a:t>*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по индексу – смещение + разыменование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Проверка равенства, проверка порядка (</a:t>
            </a:r>
            <a:r>
              <a:rPr lang="en-US" dirty="0">
                <a:solidFill>
                  <a:schemeClr val="bg1"/>
                </a:solidFill>
              </a:rPr>
              <a:t>T*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T*</a:t>
            </a:r>
            <a:r>
              <a:rPr lang="ru-RU" dirty="0">
                <a:solidFill>
                  <a:schemeClr val="bg1"/>
                </a:solidFill>
              </a:rPr>
              <a:t>) -</a:t>
            </a:r>
            <a:r>
              <a:rPr lang="en-US" dirty="0">
                <a:solidFill>
                  <a:schemeClr val="bg1"/>
                </a:solidFill>
              </a:rPr>
              <a:t>&gt; </a:t>
            </a:r>
            <a:r>
              <a:rPr lang="ru-RU" dirty="0">
                <a:solidFill>
                  <a:schemeClr val="bg1"/>
                </a:solidFill>
              </a:rPr>
              <a:t>булевское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9760753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Бесконечное семейство типов </a:t>
            </a:r>
            <a:r>
              <a:rPr lang="en-US" dirty="0"/>
              <a:t>T*</a:t>
            </a:r>
            <a:endParaRPr lang="ru-RU" dirty="0"/>
          </a:p>
          <a:p>
            <a:pPr lvl="1"/>
            <a:r>
              <a:rPr lang="ru-RU" dirty="0"/>
              <a:t>Тип </a:t>
            </a:r>
            <a:r>
              <a:rPr lang="en-US" dirty="0"/>
              <a:t>T </a:t>
            </a:r>
            <a:r>
              <a:rPr lang="ru-RU" dirty="0"/>
              <a:t>может быть неполным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типа «указатель на тип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dirty="0">
                <a:solidFill>
                  <a:schemeClr val="bg1"/>
                </a:solidFill>
              </a:rPr>
              <a:t>» совпадает с множеством адресов памяти и содержит нулевой адрес </a:t>
            </a:r>
            <a:r>
              <a:rPr lang="en-US" dirty="0">
                <a:solidFill>
                  <a:schemeClr val="bg1"/>
                </a:solidFill>
              </a:rPr>
              <a:t>NULL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Одно и то же множество значений у всех типов этого семейства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Арифметика указателей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смещение на целое число значений типа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(T*, </a:t>
            </a:r>
            <a:r>
              <a:rPr lang="ru-RU" dirty="0">
                <a:solidFill>
                  <a:schemeClr val="bg1"/>
                </a:solidFill>
              </a:rPr>
              <a:t>целое</a:t>
            </a:r>
            <a:r>
              <a:rPr lang="en-US" dirty="0">
                <a:solidFill>
                  <a:schemeClr val="bg1"/>
                </a:solidFill>
              </a:rPr>
              <a:t>) -&gt; T*</a:t>
            </a:r>
            <a:endParaRPr lang="ru-RU" dirty="0">
              <a:solidFill>
                <a:schemeClr val="bg1"/>
              </a:solidFill>
            </a:endParaRPr>
          </a:p>
          <a:p>
            <a:pPr lvl="2"/>
            <a:r>
              <a:rPr lang="ru-RU" dirty="0">
                <a:solidFill>
                  <a:schemeClr val="bg1"/>
                </a:solidFill>
              </a:rPr>
              <a:t>расстояние между указателями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типа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dirty="0">
                <a:solidFill>
                  <a:schemeClr val="bg1"/>
                </a:solidFill>
              </a:rPr>
              <a:t> (</a:t>
            </a:r>
            <a:r>
              <a:rPr lang="en-US" dirty="0">
                <a:solidFill>
                  <a:schemeClr val="bg1"/>
                </a:solidFill>
              </a:rPr>
              <a:t>T*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T*</a:t>
            </a:r>
            <a:r>
              <a:rPr lang="ru-RU" dirty="0">
                <a:solidFill>
                  <a:schemeClr val="bg1"/>
                </a:solidFill>
              </a:rPr>
              <a:t>) -</a:t>
            </a:r>
            <a:r>
              <a:rPr lang="en-US" dirty="0">
                <a:solidFill>
                  <a:schemeClr val="bg1"/>
                </a:solidFill>
              </a:rPr>
              <a:t>&gt; </a:t>
            </a:r>
            <a:r>
              <a:rPr lang="ru-RU" dirty="0">
                <a:solidFill>
                  <a:schemeClr val="bg1"/>
                </a:solidFill>
              </a:rPr>
              <a:t>целое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Разыменование </a:t>
            </a:r>
            <a:r>
              <a:rPr lang="en-US" dirty="0">
                <a:solidFill>
                  <a:schemeClr val="bg1"/>
                </a:solidFill>
              </a:rPr>
              <a:t>T* -&gt; T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Взятие адреса </a:t>
            </a:r>
            <a:r>
              <a:rPr lang="en-US" dirty="0">
                <a:solidFill>
                  <a:schemeClr val="bg1"/>
                </a:solidFill>
              </a:rPr>
              <a:t>T -&gt; T</a:t>
            </a:r>
            <a:r>
              <a:rPr lang="ru-RU" dirty="0">
                <a:solidFill>
                  <a:schemeClr val="bg1"/>
                </a:solidFill>
              </a:rPr>
              <a:t>*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по индексу – смещение + разыменование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Проверка равенства, проверка порядка (</a:t>
            </a:r>
            <a:r>
              <a:rPr lang="en-US" dirty="0">
                <a:solidFill>
                  <a:schemeClr val="bg1"/>
                </a:solidFill>
              </a:rPr>
              <a:t>T*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T*</a:t>
            </a:r>
            <a:r>
              <a:rPr lang="ru-RU" dirty="0">
                <a:solidFill>
                  <a:schemeClr val="bg1"/>
                </a:solidFill>
              </a:rPr>
              <a:t>) -</a:t>
            </a:r>
            <a:r>
              <a:rPr lang="en-US" dirty="0">
                <a:solidFill>
                  <a:schemeClr val="bg1"/>
                </a:solidFill>
              </a:rPr>
              <a:t>&gt; </a:t>
            </a:r>
            <a:r>
              <a:rPr lang="ru-RU" dirty="0">
                <a:solidFill>
                  <a:schemeClr val="bg1"/>
                </a:solidFill>
              </a:rPr>
              <a:t>булевское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821616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Бесконечное семейство типов </a:t>
            </a:r>
            <a:r>
              <a:rPr lang="en-US" dirty="0"/>
              <a:t>T*</a:t>
            </a:r>
            <a:endParaRPr lang="ru-RU" dirty="0"/>
          </a:p>
          <a:p>
            <a:pPr lvl="1"/>
            <a:r>
              <a:rPr lang="ru-RU" dirty="0"/>
              <a:t>Тип </a:t>
            </a:r>
            <a:r>
              <a:rPr lang="en-US" dirty="0"/>
              <a:t>T </a:t>
            </a:r>
            <a:r>
              <a:rPr lang="ru-RU" dirty="0"/>
              <a:t>может быть неполным</a:t>
            </a:r>
          </a:p>
          <a:p>
            <a:endParaRPr lang="ru-RU" dirty="0"/>
          </a:p>
          <a:p>
            <a:r>
              <a:rPr lang="ru-RU" dirty="0"/>
              <a:t>Множество значений типа «указатель на тип </a:t>
            </a:r>
            <a:r>
              <a:rPr lang="en-US" dirty="0"/>
              <a:t>T</a:t>
            </a:r>
            <a:r>
              <a:rPr lang="ru-RU" dirty="0"/>
              <a:t>» совпадает с множеством адресов памяти и содержит нулевой адрес </a:t>
            </a:r>
            <a:r>
              <a:rPr lang="en-US" dirty="0"/>
              <a:t>NULL</a:t>
            </a:r>
            <a:endParaRPr lang="ru-RU" dirty="0"/>
          </a:p>
          <a:p>
            <a:pPr lvl="1"/>
            <a:r>
              <a:rPr lang="ru-RU" dirty="0"/>
              <a:t>Одно и то же множество значений у всех типов этого семейства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Арифметика указателей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смещение на целое число значений типа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(T*, </a:t>
            </a:r>
            <a:r>
              <a:rPr lang="ru-RU" dirty="0">
                <a:solidFill>
                  <a:schemeClr val="bg1"/>
                </a:solidFill>
              </a:rPr>
              <a:t>целое</a:t>
            </a:r>
            <a:r>
              <a:rPr lang="en-US" dirty="0">
                <a:solidFill>
                  <a:schemeClr val="bg1"/>
                </a:solidFill>
              </a:rPr>
              <a:t>) -&gt; T*</a:t>
            </a:r>
            <a:endParaRPr lang="ru-RU" dirty="0">
              <a:solidFill>
                <a:schemeClr val="bg1"/>
              </a:solidFill>
            </a:endParaRPr>
          </a:p>
          <a:p>
            <a:pPr lvl="2"/>
            <a:r>
              <a:rPr lang="ru-RU" dirty="0">
                <a:solidFill>
                  <a:schemeClr val="bg1"/>
                </a:solidFill>
              </a:rPr>
              <a:t>расстояние между указателями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типа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dirty="0">
                <a:solidFill>
                  <a:schemeClr val="bg1"/>
                </a:solidFill>
              </a:rPr>
              <a:t> (</a:t>
            </a:r>
            <a:r>
              <a:rPr lang="en-US" dirty="0">
                <a:solidFill>
                  <a:schemeClr val="bg1"/>
                </a:solidFill>
              </a:rPr>
              <a:t>T*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T*</a:t>
            </a:r>
            <a:r>
              <a:rPr lang="ru-RU" dirty="0">
                <a:solidFill>
                  <a:schemeClr val="bg1"/>
                </a:solidFill>
              </a:rPr>
              <a:t>) -</a:t>
            </a:r>
            <a:r>
              <a:rPr lang="en-US" dirty="0">
                <a:solidFill>
                  <a:schemeClr val="bg1"/>
                </a:solidFill>
              </a:rPr>
              <a:t>&gt; </a:t>
            </a:r>
            <a:r>
              <a:rPr lang="ru-RU" dirty="0">
                <a:solidFill>
                  <a:schemeClr val="bg1"/>
                </a:solidFill>
              </a:rPr>
              <a:t>целое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Разыменование </a:t>
            </a:r>
            <a:r>
              <a:rPr lang="en-US" dirty="0">
                <a:solidFill>
                  <a:schemeClr val="bg1"/>
                </a:solidFill>
              </a:rPr>
              <a:t>T* -&gt; T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Взятие адреса </a:t>
            </a:r>
            <a:r>
              <a:rPr lang="en-US" dirty="0">
                <a:solidFill>
                  <a:schemeClr val="bg1"/>
                </a:solidFill>
              </a:rPr>
              <a:t>T -&gt; T</a:t>
            </a:r>
            <a:r>
              <a:rPr lang="ru-RU" dirty="0">
                <a:solidFill>
                  <a:schemeClr val="bg1"/>
                </a:solidFill>
              </a:rPr>
              <a:t>*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по индексу – смещение + разыменование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Проверка равенства, проверка порядка (</a:t>
            </a:r>
            <a:r>
              <a:rPr lang="en-US" dirty="0">
                <a:solidFill>
                  <a:schemeClr val="bg1"/>
                </a:solidFill>
              </a:rPr>
              <a:t>T*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T*</a:t>
            </a:r>
            <a:r>
              <a:rPr lang="ru-RU" dirty="0">
                <a:solidFill>
                  <a:schemeClr val="bg1"/>
                </a:solidFill>
              </a:rPr>
              <a:t>) -</a:t>
            </a:r>
            <a:r>
              <a:rPr lang="en-US" dirty="0">
                <a:solidFill>
                  <a:schemeClr val="bg1"/>
                </a:solidFill>
              </a:rPr>
              <a:t>&gt; </a:t>
            </a:r>
            <a:r>
              <a:rPr lang="ru-RU" dirty="0">
                <a:solidFill>
                  <a:schemeClr val="bg1"/>
                </a:solidFill>
              </a:rPr>
              <a:t>булевское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662253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Указатели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Бесконечное семейство типов </a:t>
            </a:r>
            <a:r>
              <a:rPr lang="en-US" dirty="0"/>
              <a:t>T*</a:t>
            </a:r>
            <a:endParaRPr lang="ru-RU" dirty="0"/>
          </a:p>
          <a:p>
            <a:pPr lvl="1"/>
            <a:r>
              <a:rPr lang="ru-RU" dirty="0"/>
              <a:t>Тип </a:t>
            </a:r>
            <a:r>
              <a:rPr lang="en-US" dirty="0"/>
              <a:t>T </a:t>
            </a:r>
            <a:r>
              <a:rPr lang="ru-RU" dirty="0"/>
              <a:t>может быть неполным</a:t>
            </a:r>
          </a:p>
          <a:p>
            <a:endParaRPr lang="ru-RU" dirty="0"/>
          </a:p>
          <a:p>
            <a:r>
              <a:rPr lang="ru-RU" dirty="0"/>
              <a:t>Множество значений типа «указатель на тип </a:t>
            </a:r>
            <a:r>
              <a:rPr lang="en-US" dirty="0"/>
              <a:t>T</a:t>
            </a:r>
            <a:r>
              <a:rPr lang="ru-RU" dirty="0"/>
              <a:t>» совпадает с множеством адресов памяти и содержит нулевой адрес </a:t>
            </a:r>
            <a:r>
              <a:rPr lang="en-US" dirty="0"/>
              <a:t>NULL</a:t>
            </a:r>
            <a:endParaRPr lang="ru-RU" dirty="0"/>
          </a:p>
          <a:p>
            <a:pPr lvl="1"/>
            <a:r>
              <a:rPr lang="ru-RU" dirty="0"/>
              <a:t>Одно и то же множество значений у всех типов этого семейства</a:t>
            </a:r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Арифметика указателей</a:t>
            </a:r>
          </a:p>
          <a:p>
            <a:pPr lvl="2"/>
            <a:r>
              <a:rPr lang="ru-RU" dirty="0"/>
              <a:t>смещение на целое число значений типа </a:t>
            </a:r>
            <a:r>
              <a:rPr lang="en-US" dirty="0"/>
              <a:t>T</a:t>
            </a:r>
            <a:r>
              <a:rPr lang="ru-RU" dirty="0"/>
              <a:t> </a:t>
            </a:r>
            <a:r>
              <a:rPr lang="en-US" dirty="0"/>
              <a:t>(T*, </a:t>
            </a:r>
            <a:r>
              <a:rPr lang="ru-RU" dirty="0"/>
              <a:t>целое</a:t>
            </a:r>
            <a:r>
              <a:rPr lang="en-US" dirty="0"/>
              <a:t>) -&gt; T*</a:t>
            </a:r>
            <a:endParaRPr lang="ru-RU" dirty="0"/>
          </a:p>
          <a:p>
            <a:pPr lvl="2"/>
            <a:r>
              <a:rPr lang="ru-RU" dirty="0"/>
              <a:t>расстояние между указателями</a:t>
            </a:r>
            <a:r>
              <a:rPr lang="en-US" dirty="0"/>
              <a:t> </a:t>
            </a:r>
            <a:r>
              <a:rPr lang="ru-RU" dirty="0"/>
              <a:t>типа </a:t>
            </a:r>
            <a:r>
              <a:rPr lang="en-US" dirty="0"/>
              <a:t>T</a:t>
            </a:r>
            <a:r>
              <a:rPr lang="ru-RU" dirty="0"/>
              <a:t> (</a:t>
            </a:r>
            <a:r>
              <a:rPr lang="en-US" dirty="0"/>
              <a:t>T*</a:t>
            </a:r>
            <a:r>
              <a:rPr lang="ru-RU" dirty="0"/>
              <a:t>, </a:t>
            </a:r>
            <a:r>
              <a:rPr lang="en-US" dirty="0"/>
              <a:t>T*</a:t>
            </a:r>
            <a:r>
              <a:rPr lang="ru-RU" dirty="0"/>
              <a:t>) -</a:t>
            </a:r>
            <a:r>
              <a:rPr lang="en-US" dirty="0"/>
              <a:t>&gt; </a:t>
            </a:r>
            <a:r>
              <a:rPr lang="ru-RU" dirty="0"/>
              <a:t>целое</a:t>
            </a:r>
            <a:endParaRPr lang="en-US" dirty="0"/>
          </a:p>
          <a:p>
            <a:pPr lvl="1"/>
            <a:r>
              <a:rPr lang="ru-RU" dirty="0"/>
              <a:t>Разыменование </a:t>
            </a:r>
            <a:r>
              <a:rPr lang="en-US" dirty="0"/>
              <a:t>T* -&gt; T</a:t>
            </a:r>
            <a:endParaRPr lang="ru-RU" dirty="0"/>
          </a:p>
          <a:p>
            <a:pPr lvl="1"/>
            <a:r>
              <a:rPr lang="ru-RU" dirty="0"/>
              <a:t>Взятие адреса </a:t>
            </a:r>
            <a:r>
              <a:rPr lang="en-US" dirty="0"/>
              <a:t>T -&gt; T</a:t>
            </a:r>
            <a:r>
              <a:rPr lang="ru-RU" dirty="0"/>
              <a:t>*</a:t>
            </a:r>
          </a:p>
          <a:p>
            <a:pPr lvl="1"/>
            <a:r>
              <a:rPr lang="ru-RU" dirty="0"/>
              <a:t>Доступ по индексу </a:t>
            </a:r>
            <a:r>
              <a:rPr lang="en-US" dirty="0"/>
              <a:t>(T*, </a:t>
            </a:r>
            <a:r>
              <a:rPr lang="ru-RU" dirty="0"/>
              <a:t>целое</a:t>
            </a:r>
            <a:r>
              <a:rPr lang="en-US" dirty="0"/>
              <a:t>) -&gt; T</a:t>
            </a:r>
            <a:r>
              <a:rPr lang="ru-RU" dirty="0"/>
              <a:t> – смещение + разыменование</a:t>
            </a:r>
            <a:endParaRPr lang="en-US" dirty="0"/>
          </a:p>
          <a:p>
            <a:pPr lvl="1"/>
            <a:r>
              <a:rPr lang="ru-RU" dirty="0"/>
              <a:t>Проверка равенства, проверка порядка (</a:t>
            </a:r>
            <a:r>
              <a:rPr lang="en-US" dirty="0"/>
              <a:t>T*</a:t>
            </a:r>
            <a:r>
              <a:rPr lang="ru-RU" dirty="0"/>
              <a:t>, </a:t>
            </a:r>
            <a:r>
              <a:rPr lang="en-US" dirty="0"/>
              <a:t>T*</a:t>
            </a:r>
            <a:r>
              <a:rPr lang="ru-RU" dirty="0"/>
              <a:t>) -</a:t>
            </a:r>
            <a:r>
              <a:rPr lang="en-US" dirty="0"/>
              <a:t>&gt; </a:t>
            </a:r>
            <a:r>
              <a:rPr lang="ru-RU" dirty="0"/>
              <a:t>булевское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6280912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722426"/>
            <a:ext cx="1098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Массивы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959" y="4326575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193" y="2276343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7193" y="2616631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3990352" y="2461009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8" idx="3"/>
            <a:endCxn id="9" idx="1"/>
          </p:cNvCxnSpPr>
          <p:nvPr/>
        </p:nvCxnSpPr>
        <p:spPr>
          <a:xfrm flipV="1">
            <a:off x="5392274" y="3645640"/>
            <a:ext cx="759485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8" idx="3"/>
            <a:endCxn id="10" idx="1"/>
          </p:cNvCxnSpPr>
          <p:nvPr/>
        </p:nvCxnSpPr>
        <p:spPr>
          <a:xfrm>
            <a:off x="5392274" y="3790308"/>
            <a:ext cx="759485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511241"/>
            <a:ext cx="1647902" cy="62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 flipV="1">
            <a:off x="7378057" y="4907092"/>
            <a:ext cx="1647902" cy="230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3990352" y="2463900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071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6474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282588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Бесконечное семейство типов </a:t>
            </a:r>
            <a:r>
              <a:rPr lang="en-US" dirty="0">
                <a:solidFill>
                  <a:schemeClr val="bg1"/>
                </a:solidFill>
              </a:rPr>
              <a:t>T[N]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Тип </a:t>
            </a:r>
            <a:r>
              <a:rPr lang="en-US" dirty="0">
                <a:solidFill>
                  <a:schemeClr val="bg1"/>
                </a:solidFill>
              </a:rPr>
              <a:t>T </a:t>
            </a:r>
            <a:r>
              <a:rPr lang="ru-RU" dirty="0">
                <a:solidFill>
                  <a:schemeClr val="bg1"/>
                </a:solidFill>
              </a:rPr>
              <a:t>полный, целое </a:t>
            </a:r>
            <a:r>
              <a:rPr lang="en-US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&gt; 0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типа «массив из </a:t>
            </a:r>
            <a:r>
              <a:rPr lang="en-US" dirty="0">
                <a:solidFill>
                  <a:schemeClr val="bg1"/>
                </a:solidFill>
              </a:rPr>
              <a:t>N </a:t>
            </a:r>
            <a:r>
              <a:rPr lang="ru-RU" dirty="0">
                <a:solidFill>
                  <a:schemeClr val="bg1"/>
                </a:solidFill>
              </a:rPr>
              <a:t>элементов типа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dirty="0">
                <a:solidFill>
                  <a:schemeClr val="bg1"/>
                </a:solidFill>
              </a:rPr>
              <a:t>» -- это множество последовательностей длины </a:t>
            </a:r>
            <a:r>
              <a:rPr lang="en-US" dirty="0">
                <a:solidFill>
                  <a:schemeClr val="bg1"/>
                </a:solidFill>
              </a:rPr>
              <a:t>N, </a:t>
            </a:r>
            <a:r>
              <a:rPr lang="ru-RU" dirty="0">
                <a:solidFill>
                  <a:schemeClr val="bg1"/>
                </a:solidFill>
              </a:rPr>
              <a:t>состоящих из значений типа </a:t>
            </a:r>
            <a:r>
              <a:rPr lang="en-US" dirty="0">
                <a:solidFill>
                  <a:schemeClr val="bg1"/>
                </a:solidFill>
              </a:rPr>
              <a:t>T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Декартова степень множества значений типа </a:t>
            </a:r>
            <a:r>
              <a:rPr lang="en-US" dirty="0">
                <a:solidFill>
                  <a:schemeClr val="bg1"/>
                </a:solidFill>
              </a:rPr>
              <a:t>T -- T</a:t>
            </a:r>
            <a:r>
              <a:rPr lang="en-US" baseline="30000" dirty="0">
                <a:solidFill>
                  <a:schemeClr val="bg1"/>
                </a:solidFill>
              </a:rPr>
              <a:t>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Автоматическое преобразование в указатель на нулевой элемент </a:t>
            </a:r>
            <a:r>
              <a:rPr lang="en-US" dirty="0">
                <a:solidFill>
                  <a:schemeClr val="bg1"/>
                </a:solidFill>
              </a:rPr>
              <a:t>T[N] -&gt; T*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После преобразования в указатель – все операции над указателями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В том числе, доступ по индексу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306944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Бесконечное семейство типов </a:t>
            </a:r>
            <a:r>
              <a:rPr lang="en-US" dirty="0"/>
              <a:t>T[N]</a:t>
            </a:r>
            <a:endParaRPr lang="ru-RU" dirty="0"/>
          </a:p>
          <a:p>
            <a:pPr lvl="1"/>
            <a:r>
              <a:rPr lang="ru-RU" dirty="0"/>
              <a:t>Тип </a:t>
            </a:r>
            <a:r>
              <a:rPr lang="en-US" dirty="0"/>
              <a:t>T </a:t>
            </a:r>
            <a:r>
              <a:rPr lang="ru-RU" dirty="0"/>
              <a:t>полный, целое </a:t>
            </a:r>
            <a:r>
              <a:rPr lang="en-US" dirty="0"/>
              <a:t>N</a:t>
            </a:r>
            <a:r>
              <a:rPr lang="ru-RU" dirty="0"/>
              <a:t> </a:t>
            </a:r>
            <a:r>
              <a:rPr lang="en-US" dirty="0"/>
              <a:t>&gt; 0</a:t>
            </a:r>
            <a:endParaRPr lang="ru-RU" dirty="0"/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типа «массив из </a:t>
            </a:r>
            <a:r>
              <a:rPr lang="en-US" dirty="0">
                <a:solidFill>
                  <a:schemeClr val="bg1"/>
                </a:solidFill>
              </a:rPr>
              <a:t>N </a:t>
            </a:r>
            <a:r>
              <a:rPr lang="ru-RU" dirty="0">
                <a:solidFill>
                  <a:schemeClr val="bg1"/>
                </a:solidFill>
              </a:rPr>
              <a:t>элементов типа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dirty="0">
                <a:solidFill>
                  <a:schemeClr val="bg1"/>
                </a:solidFill>
              </a:rPr>
              <a:t>» -- это множество последовательностей длины </a:t>
            </a:r>
            <a:r>
              <a:rPr lang="en-US" dirty="0">
                <a:solidFill>
                  <a:schemeClr val="bg1"/>
                </a:solidFill>
              </a:rPr>
              <a:t>N, </a:t>
            </a:r>
            <a:r>
              <a:rPr lang="ru-RU" dirty="0">
                <a:solidFill>
                  <a:schemeClr val="bg1"/>
                </a:solidFill>
              </a:rPr>
              <a:t>состоящих из значений типа </a:t>
            </a:r>
            <a:r>
              <a:rPr lang="en-US" dirty="0">
                <a:solidFill>
                  <a:schemeClr val="bg1"/>
                </a:solidFill>
              </a:rPr>
              <a:t>T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Декартова степень множества значений типа </a:t>
            </a:r>
            <a:r>
              <a:rPr lang="en-US" dirty="0">
                <a:solidFill>
                  <a:schemeClr val="bg1"/>
                </a:solidFill>
              </a:rPr>
              <a:t>T -- T</a:t>
            </a:r>
            <a:r>
              <a:rPr lang="en-US" baseline="30000" dirty="0">
                <a:solidFill>
                  <a:schemeClr val="bg1"/>
                </a:solidFill>
              </a:rPr>
              <a:t>N</a:t>
            </a: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Автоматическое преобразование в указатель на нулевой элемент </a:t>
            </a:r>
            <a:r>
              <a:rPr lang="en-US" dirty="0">
                <a:solidFill>
                  <a:schemeClr val="bg1"/>
                </a:solidFill>
              </a:rPr>
              <a:t>T[N] -&gt; T*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После преобразования в указатель – все операции над указателями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В том числе, доступ по индексу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8355671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Бесконечное семейство типов </a:t>
            </a:r>
            <a:r>
              <a:rPr lang="en-US" dirty="0"/>
              <a:t>T[N]</a:t>
            </a:r>
            <a:endParaRPr lang="ru-RU" dirty="0"/>
          </a:p>
          <a:p>
            <a:pPr lvl="1"/>
            <a:r>
              <a:rPr lang="ru-RU" dirty="0"/>
              <a:t>Тип </a:t>
            </a:r>
            <a:r>
              <a:rPr lang="en-US" dirty="0"/>
              <a:t>T </a:t>
            </a:r>
            <a:r>
              <a:rPr lang="ru-RU" dirty="0"/>
              <a:t>полный, целое </a:t>
            </a:r>
            <a:r>
              <a:rPr lang="en-US" dirty="0"/>
              <a:t>N</a:t>
            </a:r>
            <a:r>
              <a:rPr lang="ru-RU" dirty="0"/>
              <a:t> </a:t>
            </a:r>
            <a:r>
              <a:rPr lang="en-US" dirty="0"/>
              <a:t>&gt; 0</a:t>
            </a:r>
            <a:endParaRPr lang="ru-RU" dirty="0"/>
          </a:p>
          <a:p>
            <a:endParaRPr lang="ru-RU" dirty="0"/>
          </a:p>
          <a:p>
            <a:r>
              <a:rPr lang="ru-RU" dirty="0"/>
              <a:t>Множество значений типа «массив из </a:t>
            </a:r>
            <a:r>
              <a:rPr lang="en-US" dirty="0"/>
              <a:t>N </a:t>
            </a:r>
            <a:r>
              <a:rPr lang="ru-RU" dirty="0"/>
              <a:t>элементов типа </a:t>
            </a:r>
            <a:r>
              <a:rPr lang="en-US" dirty="0"/>
              <a:t>T</a:t>
            </a:r>
            <a:r>
              <a:rPr lang="ru-RU" dirty="0"/>
              <a:t>» -- это множество последовательностей длины </a:t>
            </a:r>
            <a:r>
              <a:rPr lang="en-US" dirty="0"/>
              <a:t>N, </a:t>
            </a:r>
            <a:r>
              <a:rPr lang="ru-RU" dirty="0"/>
              <a:t>состоящих из значений типа </a:t>
            </a:r>
            <a:r>
              <a:rPr lang="en-US" dirty="0"/>
              <a:t>T</a:t>
            </a:r>
            <a:endParaRPr lang="ru-RU" dirty="0"/>
          </a:p>
          <a:p>
            <a:pPr lvl="1"/>
            <a:r>
              <a:rPr lang="ru-RU" dirty="0"/>
              <a:t>Декартова степень множества значений типа </a:t>
            </a:r>
            <a:r>
              <a:rPr lang="en-US" dirty="0"/>
              <a:t>T -- T</a:t>
            </a:r>
            <a:r>
              <a:rPr lang="en-US" baseline="30000" dirty="0"/>
              <a:t>N</a:t>
            </a:r>
          </a:p>
          <a:p>
            <a:endParaRPr lang="en-US" dirty="0"/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Автоматическое преобразование в указатель на нулевой элемент </a:t>
            </a:r>
            <a:r>
              <a:rPr lang="en-US" dirty="0">
                <a:solidFill>
                  <a:schemeClr val="bg1"/>
                </a:solidFill>
              </a:rPr>
              <a:t>T[N] -&gt; T*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После преобразования в указатель – все операции над указателями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В том числе, доступ по индексу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956528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Массивы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Бесконечное семейство типов </a:t>
            </a:r>
            <a:r>
              <a:rPr lang="en-US" dirty="0"/>
              <a:t>T[N]</a:t>
            </a:r>
            <a:endParaRPr lang="ru-RU" dirty="0"/>
          </a:p>
          <a:p>
            <a:pPr lvl="1"/>
            <a:r>
              <a:rPr lang="ru-RU" dirty="0"/>
              <a:t>Тип </a:t>
            </a:r>
            <a:r>
              <a:rPr lang="en-US" dirty="0"/>
              <a:t>T </a:t>
            </a:r>
            <a:r>
              <a:rPr lang="ru-RU" dirty="0"/>
              <a:t>полный, целое </a:t>
            </a:r>
            <a:r>
              <a:rPr lang="en-US" dirty="0"/>
              <a:t>N</a:t>
            </a:r>
            <a:r>
              <a:rPr lang="ru-RU" dirty="0"/>
              <a:t> </a:t>
            </a:r>
            <a:r>
              <a:rPr lang="en-US" dirty="0"/>
              <a:t>&gt; 0</a:t>
            </a:r>
            <a:endParaRPr lang="ru-RU" dirty="0"/>
          </a:p>
          <a:p>
            <a:endParaRPr lang="ru-RU" dirty="0"/>
          </a:p>
          <a:p>
            <a:r>
              <a:rPr lang="ru-RU" dirty="0"/>
              <a:t>Множество значений типа «массив из </a:t>
            </a:r>
            <a:r>
              <a:rPr lang="en-US" dirty="0"/>
              <a:t>N </a:t>
            </a:r>
            <a:r>
              <a:rPr lang="ru-RU" dirty="0"/>
              <a:t>элементов типа </a:t>
            </a:r>
            <a:r>
              <a:rPr lang="en-US" dirty="0"/>
              <a:t>T</a:t>
            </a:r>
            <a:r>
              <a:rPr lang="ru-RU" dirty="0"/>
              <a:t>» -- это множество последовательностей длины </a:t>
            </a:r>
            <a:r>
              <a:rPr lang="en-US" dirty="0"/>
              <a:t>N, </a:t>
            </a:r>
            <a:r>
              <a:rPr lang="ru-RU" dirty="0"/>
              <a:t>состоящих из значений типа </a:t>
            </a:r>
            <a:r>
              <a:rPr lang="en-US" dirty="0"/>
              <a:t>T</a:t>
            </a:r>
            <a:endParaRPr lang="ru-RU" dirty="0"/>
          </a:p>
          <a:p>
            <a:pPr lvl="1"/>
            <a:r>
              <a:rPr lang="ru-RU" dirty="0"/>
              <a:t>Декартова степень множества значений типа </a:t>
            </a:r>
            <a:r>
              <a:rPr lang="en-US" dirty="0"/>
              <a:t>T -- T</a:t>
            </a:r>
            <a:r>
              <a:rPr lang="en-US" baseline="30000" dirty="0"/>
              <a:t>N</a:t>
            </a:r>
          </a:p>
          <a:p>
            <a:endParaRPr lang="en-US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Автоматическое преобразование в указатель на нулевой элемент </a:t>
            </a:r>
            <a:r>
              <a:rPr lang="en-US" dirty="0"/>
              <a:t>T[N] -&gt; T*</a:t>
            </a:r>
            <a:endParaRPr lang="ru-RU" dirty="0"/>
          </a:p>
          <a:p>
            <a:pPr lvl="1"/>
            <a:r>
              <a:rPr lang="ru-RU" dirty="0"/>
              <a:t>После преобразования в указатель – все операции над указателями</a:t>
            </a:r>
          </a:p>
          <a:p>
            <a:pPr lvl="2"/>
            <a:r>
              <a:rPr lang="ru-RU" dirty="0"/>
              <a:t>В том числе, доступ по индексу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701900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722426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118277"/>
            <a:ext cx="1975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Структуры (</a:t>
            </a:r>
            <a:r>
              <a:rPr lang="en-US" b="1" dirty="0" err="1"/>
              <a:t>struct</a:t>
            </a:r>
            <a:r>
              <a:rPr lang="ru-RU" b="1" dirty="0"/>
              <a:t>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959" y="4326575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193" y="2276343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7193" y="2616631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3990352" y="2461009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1649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8" idx="3"/>
            <a:endCxn id="9" idx="1"/>
          </p:cNvCxnSpPr>
          <p:nvPr/>
        </p:nvCxnSpPr>
        <p:spPr>
          <a:xfrm flipV="1">
            <a:off x="5392274" y="3645640"/>
            <a:ext cx="759485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8" idx="3"/>
            <a:endCxn id="10" idx="1"/>
          </p:cNvCxnSpPr>
          <p:nvPr/>
        </p:nvCxnSpPr>
        <p:spPr>
          <a:xfrm>
            <a:off x="5392274" y="3790308"/>
            <a:ext cx="759485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511241"/>
            <a:ext cx="1647902" cy="62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 flipV="1">
            <a:off x="7378057" y="4907092"/>
            <a:ext cx="1647902" cy="230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3990352" y="2463900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071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6474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5716059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 </a:t>
            </a:r>
            <a:r>
              <a:rPr lang="en-US" dirty="0" err="1"/>
              <a:t>struct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Бесконечное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семейство типов </a:t>
            </a:r>
            <a:r>
              <a:rPr lang="en-US" dirty="0" err="1">
                <a:solidFill>
                  <a:schemeClr val="bg1"/>
                </a:solidFill>
              </a:rPr>
              <a:t>struct</a:t>
            </a:r>
            <a:r>
              <a:rPr lang="en-US" dirty="0">
                <a:solidFill>
                  <a:schemeClr val="bg1"/>
                </a:solidFill>
              </a:rPr>
              <a:t> S {T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 E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;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 E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; …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en-US" dirty="0">
                <a:solidFill>
                  <a:schemeClr val="bg1"/>
                </a:solidFill>
              </a:rPr>
              <a:t> E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en-US" dirty="0">
                <a:solidFill>
                  <a:schemeClr val="bg1"/>
                </a:solidFill>
              </a:rPr>
              <a:t>;}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baseline="-25000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 могут быть разными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baseline="-25000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baseline="-25000" dirty="0">
                <a:solidFill>
                  <a:schemeClr val="bg1"/>
                </a:solidFill>
              </a:rPr>
              <a:t>-1</a:t>
            </a:r>
            <a:r>
              <a:rPr lang="en-US" baseline="-25000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должны быть полными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 может быть неполным типом-массивом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Например, </a:t>
            </a:r>
            <a:r>
              <a:rPr lang="en-US" dirty="0" err="1">
                <a:solidFill>
                  <a:schemeClr val="bg1"/>
                </a:solidFill>
              </a:rPr>
              <a:t>struct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TCharBuffer</a:t>
            </a:r>
            <a:r>
              <a:rPr lang="en-US" dirty="0">
                <a:solidFill>
                  <a:schemeClr val="bg1"/>
                </a:solidFill>
              </a:rPr>
              <a:t> {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int</a:t>
            </a:r>
            <a:r>
              <a:rPr lang="en-US" dirty="0">
                <a:solidFill>
                  <a:schemeClr val="bg1"/>
                </a:solidFill>
              </a:rPr>
              <a:t> Size; char Data[];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};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типа «структура из элементов типов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baseline="-25000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» -- это множество последовательностей длины </a:t>
            </a:r>
            <a:r>
              <a:rPr lang="en-US" dirty="0">
                <a:solidFill>
                  <a:schemeClr val="bg1"/>
                </a:solidFill>
              </a:rPr>
              <a:t>N, </a:t>
            </a:r>
            <a:r>
              <a:rPr lang="ru-RU" dirty="0">
                <a:solidFill>
                  <a:schemeClr val="bg1"/>
                </a:solidFill>
              </a:rPr>
              <a:t>состоящих из значений типов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baseline="-25000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Декартово произведение множеств значений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baseline="-25000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 ×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ru-RU" dirty="0">
                <a:solidFill>
                  <a:schemeClr val="bg1"/>
                </a:solidFill>
              </a:rPr>
              <a:t> ×</a:t>
            </a:r>
            <a:r>
              <a:rPr lang="en-US" dirty="0">
                <a:solidFill>
                  <a:schemeClr val="bg1"/>
                </a:solidFill>
              </a:rPr>
              <a:t> …</a:t>
            </a:r>
            <a:r>
              <a:rPr lang="ru-RU" dirty="0">
                <a:solidFill>
                  <a:schemeClr val="bg1"/>
                </a:solidFill>
              </a:rPr>
              <a:t> ×</a:t>
            </a:r>
            <a:r>
              <a:rPr lang="en-US" dirty="0">
                <a:solidFill>
                  <a:schemeClr val="bg1"/>
                </a:solidFill>
              </a:rPr>
              <a:t>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к элементу структуры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struct</a:t>
            </a:r>
            <a:r>
              <a:rPr lang="en-US" dirty="0">
                <a:solidFill>
                  <a:schemeClr val="bg1"/>
                </a:solidFill>
              </a:rPr>
              <a:t> S -&gt; </a:t>
            </a:r>
            <a:r>
              <a:rPr lang="en-US" dirty="0" err="1">
                <a:solidFill>
                  <a:schemeClr val="bg1"/>
                </a:solidFill>
              </a:rPr>
              <a:t>T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endParaRPr lang="ru-RU" baseline="-25000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к элементу структуры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ru-RU" dirty="0">
                <a:solidFill>
                  <a:schemeClr val="bg1"/>
                </a:solidFill>
              </a:rPr>
              <a:t> по указателю </a:t>
            </a:r>
            <a:r>
              <a:rPr lang="en-US" dirty="0" err="1">
                <a:solidFill>
                  <a:schemeClr val="bg1"/>
                </a:solidFill>
              </a:rPr>
              <a:t>struct</a:t>
            </a:r>
            <a:r>
              <a:rPr lang="en-US" dirty="0">
                <a:solidFill>
                  <a:schemeClr val="bg1"/>
                </a:solidFill>
              </a:rPr>
              <a:t> S</a:t>
            </a:r>
            <a:r>
              <a:rPr lang="ru-RU" dirty="0">
                <a:solidFill>
                  <a:schemeClr val="bg1"/>
                </a:solidFill>
              </a:rPr>
              <a:t>*</a:t>
            </a:r>
            <a:r>
              <a:rPr lang="en-US" dirty="0">
                <a:solidFill>
                  <a:schemeClr val="bg1"/>
                </a:solidFill>
              </a:rPr>
              <a:t> -&gt; </a:t>
            </a:r>
            <a:r>
              <a:rPr lang="en-US" dirty="0" err="1">
                <a:solidFill>
                  <a:schemeClr val="bg1"/>
                </a:solidFill>
              </a:rPr>
              <a:t>T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endParaRPr lang="ru-RU" baseline="-25000" dirty="0">
              <a:solidFill>
                <a:schemeClr val="bg1"/>
              </a:solidFill>
            </a:endParaRPr>
          </a:p>
          <a:p>
            <a:pPr lvl="1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679022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 </a:t>
            </a:r>
            <a:r>
              <a:rPr lang="en-US" dirty="0" err="1"/>
              <a:t>struct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Бесконечное</a:t>
            </a:r>
            <a:r>
              <a:rPr lang="en-US" dirty="0"/>
              <a:t> </a:t>
            </a:r>
            <a:r>
              <a:rPr lang="ru-RU" dirty="0"/>
              <a:t>семейство типов </a:t>
            </a:r>
            <a:r>
              <a:rPr lang="en-US" dirty="0" err="1"/>
              <a:t>struct</a:t>
            </a:r>
            <a:r>
              <a:rPr lang="en-US" dirty="0"/>
              <a:t> S {T</a:t>
            </a:r>
            <a:r>
              <a:rPr lang="en-US" baseline="-25000" dirty="0"/>
              <a:t>1</a:t>
            </a:r>
            <a:r>
              <a:rPr lang="en-US" dirty="0"/>
              <a:t> E</a:t>
            </a:r>
            <a:r>
              <a:rPr lang="en-US" baseline="-25000" dirty="0"/>
              <a:t>1</a:t>
            </a:r>
            <a:r>
              <a:rPr lang="en-US" dirty="0"/>
              <a:t>; T</a:t>
            </a:r>
            <a:r>
              <a:rPr lang="en-US" baseline="-25000" dirty="0"/>
              <a:t>2</a:t>
            </a:r>
            <a:r>
              <a:rPr lang="en-US" dirty="0"/>
              <a:t> E</a:t>
            </a:r>
            <a:r>
              <a:rPr lang="en-US" baseline="-25000" dirty="0"/>
              <a:t>2</a:t>
            </a:r>
            <a:r>
              <a:rPr lang="en-US" dirty="0"/>
              <a:t>; … T</a:t>
            </a:r>
            <a:r>
              <a:rPr lang="en-US" baseline="-25000" dirty="0"/>
              <a:t>N</a:t>
            </a:r>
            <a:r>
              <a:rPr lang="en-US" dirty="0"/>
              <a:t> E</a:t>
            </a:r>
            <a:r>
              <a:rPr lang="en-US" baseline="-25000" dirty="0"/>
              <a:t>N</a:t>
            </a:r>
            <a:r>
              <a:rPr lang="en-US" dirty="0"/>
              <a:t>;}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 могут быть разными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baseline="-25000" dirty="0"/>
              <a:t>-1</a:t>
            </a:r>
            <a:r>
              <a:rPr lang="en-US" baseline="-25000" dirty="0"/>
              <a:t> </a:t>
            </a:r>
            <a:r>
              <a:rPr lang="ru-RU" dirty="0"/>
              <a:t>должны быть полными</a:t>
            </a:r>
          </a:p>
          <a:p>
            <a:pPr lvl="1"/>
            <a:r>
              <a:rPr lang="en-US" dirty="0"/>
              <a:t> T</a:t>
            </a:r>
            <a:r>
              <a:rPr lang="en-US" baseline="-25000" dirty="0"/>
              <a:t>N</a:t>
            </a:r>
            <a:r>
              <a:rPr lang="ru-RU" dirty="0"/>
              <a:t> может быть неполным типом-массивом</a:t>
            </a:r>
          </a:p>
          <a:p>
            <a:pPr lvl="2"/>
            <a:r>
              <a:rPr lang="ru-RU" dirty="0"/>
              <a:t>Например, </a:t>
            </a:r>
            <a:r>
              <a:rPr lang="en-US" dirty="0" err="1"/>
              <a:t>struct</a:t>
            </a:r>
            <a:r>
              <a:rPr lang="en-US" dirty="0"/>
              <a:t> </a:t>
            </a:r>
            <a:r>
              <a:rPr lang="en-US" dirty="0" err="1"/>
              <a:t>TCharBuffer</a:t>
            </a:r>
            <a:r>
              <a:rPr lang="en-US" dirty="0"/>
              <a:t> {</a:t>
            </a:r>
            <a:r>
              <a:rPr lang="ru-RU" dirty="0"/>
              <a:t> </a:t>
            </a:r>
            <a:r>
              <a:rPr lang="en-US" dirty="0" err="1"/>
              <a:t>int</a:t>
            </a:r>
            <a:r>
              <a:rPr lang="en-US" dirty="0"/>
              <a:t> Size; char Data[];</a:t>
            </a:r>
            <a:r>
              <a:rPr lang="ru-RU" dirty="0"/>
              <a:t> </a:t>
            </a:r>
            <a:r>
              <a:rPr lang="en-US" dirty="0"/>
              <a:t>};</a:t>
            </a:r>
            <a:endParaRPr lang="ru-RU" dirty="0"/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типа «структура из элементов типов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baseline="-25000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» -- это множество последовательностей длины </a:t>
            </a:r>
            <a:r>
              <a:rPr lang="en-US" dirty="0">
                <a:solidFill>
                  <a:schemeClr val="bg1"/>
                </a:solidFill>
              </a:rPr>
              <a:t>N, </a:t>
            </a:r>
            <a:r>
              <a:rPr lang="ru-RU" dirty="0">
                <a:solidFill>
                  <a:schemeClr val="bg1"/>
                </a:solidFill>
              </a:rPr>
              <a:t>состоящих из значений типов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baseline="-25000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Декартово произведение множеств значений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baseline="-25000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 ×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ru-RU" dirty="0">
                <a:solidFill>
                  <a:schemeClr val="bg1"/>
                </a:solidFill>
              </a:rPr>
              <a:t> ×</a:t>
            </a:r>
            <a:r>
              <a:rPr lang="en-US" dirty="0">
                <a:solidFill>
                  <a:schemeClr val="bg1"/>
                </a:solidFill>
              </a:rPr>
              <a:t> …</a:t>
            </a:r>
            <a:r>
              <a:rPr lang="ru-RU" dirty="0">
                <a:solidFill>
                  <a:schemeClr val="bg1"/>
                </a:solidFill>
              </a:rPr>
              <a:t> ×</a:t>
            </a:r>
            <a:r>
              <a:rPr lang="en-US" dirty="0">
                <a:solidFill>
                  <a:schemeClr val="bg1"/>
                </a:solidFill>
              </a:rPr>
              <a:t>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к элементу структуры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struct</a:t>
            </a:r>
            <a:r>
              <a:rPr lang="en-US" dirty="0">
                <a:solidFill>
                  <a:schemeClr val="bg1"/>
                </a:solidFill>
              </a:rPr>
              <a:t> S -&gt; </a:t>
            </a:r>
            <a:r>
              <a:rPr lang="en-US" dirty="0" err="1">
                <a:solidFill>
                  <a:schemeClr val="bg1"/>
                </a:solidFill>
              </a:rPr>
              <a:t>T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endParaRPr lang="ru-RU" baseline="-25000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к элементу структуры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ru-RU" dirty="0">
                <a:solidFill>
                  <a:schemeClr val="bg1"/>
                </a:solidFill>
              </a:rPr>
              <a:t> по указателю </a:t>
            </a:r>
            <a:r>
              <a:rPr lang="en-US" dirty="0" err="1">
                <a:solidFill>
                  <a:schemeClr val="bg1"/>
                </a:solidFill>
              </a:rPr>
              <a:t>struct</a:t>
            </a:r>
            <a:r>
              <a:rPr lang="en-US" dirty="0">
                <a:solidFill>
                  <a:schemeClr val="bg1"/>
                </a:solidFill>
              </a:rPr>
              <a:t> S</a:t>
            </a:r>
            <a:r>
              <a:rPr lang="ru-RU" dirty="0">
                <a:solidFill>
                  <a:schemeClr val="bg1"/>
                </a:solidFill>
              </a:rPr>
              <a:t>*</a:t>
            </a:r>
            <a:r>
              <a:rPr lang="en-US" dirty="0">
                <a:solidFill>
                  <a:schemeClr val="bg1"/>
                </a:solidFill>
              </a:rPr>
              <a:t> -&gt; </a:t>
            </a:r>
            <a:r>
              <a:rPr lang="en-US" dirty="0" err="1">
                <a:solidFill>
                  <a:schemeClr val="bg1"/>
                </a:solidFill>
              </a:rPr>
              <a:t>T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endParaRPr lang="ru-RU" baseline="-25000" dirty="0">
              <a:solidFill>
                <a:schemeClr val="bg1"/>
              </a:solidFill>
            </a:endParaRPr>
          </a:p>
          <a:p>
            <a:pPr lvl="1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4823190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 </a:t>
            </a:r>
            <a:r>
              <a:rPr lang="en-US" dirty="0" err="1"/>
              <a:t>struct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Бесконечное</a:t>
            </a:r>
            <a:r>
              <a:rPr lang="en-US" dirty="0"/>
              <a:t> </a:t>
            </a:r>
            <a:r>
              <a:rPr lang="ru-RU" dirty="0"/>
              <a:t>семейство типов </a:t>
            </a:r>
            <a:r>
              <a:rPr lang="en-US" dirty="0" err="1"/>
              <a:t>struct</a:t>
            </a:r>
            <a:r>
              <a:rPr lang="en-US" dirty="0"/>
              <a:t> S {T</a:t>
            </a:r>
            <a:r>
              <a:rPr lang="en-US" baseline="-25000" dirty="0"/>
              <a:t>1</a:t>
            </a:r>
            <a:r>
              <a:rPr lang="en-US" dirty="0"/>
              <a:t> E</a:t>
            </a:r>
            <a:r>
              <a:rPr lang="en-US" baseline="-25000" dirty="0"/>
              <a:t>1</a:t>
            </a:r>
            <a:r>
              <a:rPr lang="en-US" dirty="0"/>
              <a:t>; T</a:t>
            </a:r>
            <a:r>
              <a:rPr lang="en-US" baseline="-25000" dirty="0"/>
              <a:t>2</a:t>
            </a:r>
            <a:r>
              <a:rPr lang="en-US" dirty="0"/>
              <a:t> E</a:t>
            </a:r>
            <a:r>
              <a:rPr lang="en-US" baseline="-25000" dirty="0"/>
              <a:t>2</a:t>
            </a:r>
            <a:r>
              <a:rPr lang="en-US" dirty="0"/>
              <a:t>; … T</a:t>
            </a:r>
            <a:r>
              <a:rPr lang="en-US" baseline="-25000" dirty="0"/>
              <a:t>N</a:t>
            </a:r>
            <a:r>
              <a:rPr lang="en-US" dirty="0"/>
              <a:t> E</a:t>
            </a:r>
            <a:r>
              <a:rPr lang="en-US" baseline="-25000" dirty="0"/>
              <a:t>N</a:t>
            </a:r>
            <a:r>
              <a:rPr lang="en-US" dirty="0"/>
              <a:t>;}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 могут быть разными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baseline="-25000" dirty="0"/>
              <a:t>-1</a:t>
            </a:r>
            <a:r>
              <a:rPr lang="en-US" baseline="-25000" dirty="0"/>
              <a:t> </a:t>
            </a:r>
            <a:r>
              <a:rPr lang="ru-RU" dirty="0"/>
              <a:t>должны быть полными</a:t>
            </a:r>
          </a:p>
          <a:p>
            <a:pPr lvl="1"/>
            <a:r>
              <a:rPr lang="en-US" dirty="0"/>
              <a:t> T</a:t>
            </a:r>
            <a:r>
              <a:rPr lang="en-US" baseline="-25000" dirty="0"/>
              <a:t>N</a:t>
            </a:r>
            <a:r>
              <a:rPr lang="ru-RU" dirty="0"/>
              <a:t> может быть неполным типом-массивом</a:t>
            </a:r>
          </a:p>
          <a:p>
            <a:pPr lvl="2"/>
            <a:r>
              <a:rPr lang="ru-RU" dirty="0"/>
              <a:t>Например, </a:t>
            </a:r>
            <a:r>
              <a:rPr lang="en-US" dirty="0" err="1"/>
              <a:t>struct</a:t>
            </a:r>
            <a:r>
              <a:rPr lang="en-US" dirty="0"/>
              <a:t> </a:t>
            </a:r>
            <a:r>
              <a:rPr lang="en-US" dirty="0" err="1"/>
              <a:t>TCharBuffer</a:t>
            </a:r>
            <a:r>
              <a:rPr lang="en-US" dirty="0"/>
              <a:t> {</a:t>
            </a:r>
            <a:r>
              <a:rPr lang="ru-RU" dirty="0"/>
              <a:t> </a:t>
            </a:r>
            <a:r>
              <a:rPr lang="en-US" dirty="0" err="1"/>
              <a:t>int</a:t>
            </a:r>
            <a:r>
              <a:rPr lang="en-US" dirty="0"/>
              <a:t> Size; char Data[];</a:t>
            </a:r>
            <a:r>
              <a:rPr lang="ru-RU" dirty="0"/>
              <a:t> </a:t>
            </a:r>
            <a:r>
              <a:rPr lang="en-US" dirty="0"/>
              <a:t>};</a:t>
            </a:r>
            <a:endParaRPr lang="ru-RU" dirty="0"/>
          </a:p>
          <a:p>
            <a:endParaRPr lang="ru-RU" dirty="0"/>
          </a:p>
          <a:p>
            <a:r>
              <a:rPr lang="ru-RU" dirty="0"/>
              <a:t>Множество значений типа «структура из элементов типов </a:t>
            </a:r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» -- это множество последовательностей длины </a:t>
            </a:r>
            <a:r>
              <a:rPr lang="en-US" dirty="0"/>
              <a:t>N</a:t>
            </a:r>
            <a:r>
              <a:rPr lang="ru-RU" dirty="0"/>
              <a:t> таких</a:t>
            </a:r>
            <a:r>
              <a:rPr lang="en-US" dirty="0"/>
              <a:t>, </a:t>
            </a:r>
            <a:r>
              <a:rPr lang="ru-RU" dirty="0"/>
              <a:t>что </a:t>
            </a:r>
            <a:r>
              <a:rPr lang="en-US" dirty="0"/>
              <a:t>i-</a:t>
            </a:r>
            <a:r>
              <a:rPr lang="ru-RU" dirty="0"/>
              <a:t>й элемент каждой последовательности принадлежит </a:t>
            </a:r>
            <a:r>
              <a:rPr lang="en-US" dirty="0" err="1"/>
              <a:t>T</a:t>
            </a:r>
            <a:r>
              <a:rPr lang="en-US" baseline="-25000" dirty="0" err="1"/>
              <a:t>i</a:t>
            </a:r>
            <a:r>
              <a:rPr lang="ru-RU" dirty="0"/>
              <a:t> </a:t>
            </a:r>
            <a:r>
              <a:rPr lang="en-US" dirty="0"/>
              <a:t>(i=1, …, N)</a:t>
            </a:r>
            <a:endParaRPr lang="ru-RU" dirty="0"/>
          </a:p>
          <a:p>
            <a:pPr lvl="1"/>
            <a:r>
              <a:rPr lang="ru-RU" dirty="0"/>
              <a:t>Декартово произведение множеств значений </a:t>
            </a:r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 ×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ru-RU" dirty="0"/>
              <a:t> ×</a:t>
            </a:r>
            <a:r>
              <a:rPr lang="en-US" dirty="0"/>
              <a:t> …</a:t>
            </a:r>
            <a:r>
              <a:rPr lang="ru-RU" dirty="0"/>
              <a:t> ×</a:t>
            </a:r>
            <a:r>
              <a:rPr lang="en-US" dirty="0"/>
              <a:t> T</a:t>
            </a:r>
            <a:r>
              <a:rPr lang="en-US" baseline="-25000" dirty="0"/>
              <a:t>N</a:t>
            </a:r>
            <a:endParaRPr lang="ru-RU" dirty="0"/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к элементу структуры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struct</a:t>
            </a:r>
            <a:r>
              <a:rPr lang="en-US" dirty="0">
                <a:solidFill>
                  <a:schemeClr val="bg1"/>
                </a:solidFill>
              </a:rPr>
              <a:t> S -&gt; </a:t>
            </a:r>
            <a:r>
              <a:rPr lang="en-US" dirty="0" err="1">
                <a:solidFill>
                  <a:schemeClr val="bg1"/>
                </a:solidFill>
              </a:rPr>
              <a:t>T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endParaRPr lang="ru-RU" baseline="-25000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к элементу структуры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ru-RU" dirty="0">
                <a:solidFill>
                  <a:schemeClr val="bg1"/>
                </a:solidFill>
              </a:rPr>
              <a:t> по указателю </a:t>
            </a:r>
            <a:r>
              <a:rPr lang="en-US" dirty="0" err="1">
                <a:solidFill>
                  <a:schemeClr val="bg1"/>
                </a:solidFill>
              </a:rPr>
              <a:t>struct</a:t>
            </a:r>
            <a:r>
              <a:rPr lang="en-US" dirty="0">
                <a:solidFill>
                  <a:schemeClr val="bg1"/>
                </a:solidFill>
              </a:rPr>
              <a:t> S</a:t>
            </a:r>
            <a:r>
              <a:rPr lang="ru-RU" dirty="0">
                <a:solidFill>
                  <a:schemeClr val="bg1"/>
                </a:solidFill>
              </a:rPr>
              <a:t>*</a:t>
            </a:r>
            <a:r>
              <a:rPr lang="en-US" dirty="0">
                <a:solidFill>
                  <a:schemeClr val="bg1"/>
                </a:solidFill>
              </a:rPr>
              <a:t> -&gt; </a:t>
            </a:r>
            <a:r>
              <a:rPr lang="en-US" dirty="0" err="1">
                <a:solidFill>
                  <a:schemeClr val="bg1"/>
                </a:solidFill>
              </a:rPr>
              <a:t>T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endParaRPr lang="ru-RU" baseline="-25000" dirty="0">
              <a:solidFill>
                <a:schemeClr val="bg1"/>
              </a:solidFill>
            </a:endParaRPr>
          </a:p>
          <a:p>
            <a:pPr lvl="1"/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8901864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 </a:t>
            </a:r>
            <a:r>
              <a:rPr lang="en-US" dirty="0" err="1"/>
              <a:t>struct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Бесконечное</a:t>
            </a:r>
            <a:r>
              <a:rPr lang="en-US" dirty="0"/>
              <a:t> </a:t>
            </a:r>
            <a:r>
              <a:rPr lang="ru-RU" dirty="0"/>
              <a:t>семейство типов </a:t>
            </a:r>
            <a:r>
              <a:rPr lang="en-US" dirty="0" err="1"/>
              <a:t>struct</a:t>
            </a:r>
            <a:r>
              <a:rPr lang="en-US" dirty="0"/>
              <a:t> S {T</a:t>
            </a:r>
            <a:r>
              <a:rPr lang="en-US" baseline="-25000" dirty="0"/>
              <a:t>1</a:t>
            </a:r>
            <a:r>
              <a:rPr lang="en-US" dirty="0"/>
              <a:t> E</a:t>
            </a:r>
            <a:r>
              <a:rPr lang="en-US" baseline="-25000" dirty="0"/>
              <a:t>1</a:t>
            </a:r>
            <a:r>
              <a:rPr lang="en-US" dirty="0"/>
              <a:t>; T</a:t>
            </a:r>
            <a:r>
              <a:rPr lang="en-US" baseline="-25000" dirty="0"/>
              <a:t>2</a:t>
            </a:r>
            <a:r>
              <a:rPr lang="en-US" dirty="0"/>
              <a:t> E</a:t>
            </a:r>
            <a:r>
              <a:rPr lang="en-US" baseline="-25000" dirty="0"/>
              <a:t>2</a:t>
            </a:r>
            <a:r>
              <a:rPr lang="en-US" dirty="0"/>
              <a:t>; … T</a:t>
            </a:r>
            <a:r>
              <a:rPr lang="en-US" baseline="-25000" dirty="0"/>
              <a:t>N</a:t>
            </a:r>
            <a:r>
              <a:rPr lang="en-US" dirty="0"/>
              <a:t> E</a:t>
            </a:r>
            <a:r>
              <a:rPr lang="en-US" baseline="-25000" dirty="0"/>
              <a:t>N</a:t>
            </a:r>
            <a:r>
              <a:rPr lang="en-US" dirty="0"/>
              <a:t>;}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 могут быть разными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baseline="-25000" dirty="0"/>
              <a:t>-1</a:t>
            </a:r>
            <a:r>
              <a:rPr lang="en-US" baseline="-25000" dirty="0"/>
              <a:t> </a:t>
            </a:r>
            <a:r>
              <a:rPr lang="ru-RU" dirty="0"/>
              <a:t>должны быть полными</a:t>
            </a:r>
          </a:p>
          <a:p>
            <a:pPr lvl="1"/>
            <a:r>
              <a:rPr lang="en-US" dirty="0"/>
              <a:t> T</a:t>
            </a:r>
            <a:r>
              <a:rPr lang="en-US" baseline="-25000" dirty="0"/>
              <a:t>N</a:t>
            </a:r>
            <a:r>
              <a:rPr lang="ru-RU" dirty="0"/>
              <a:t> может быть неполным типом-массивом</a:t>
            </a:r>
          </a:p>
          <a:p>
            <a:pPr lvl="2"/>
            <a:r>
              <a:rPr lang="ru-RU" dirty="0"/>
              <a:t>Например, </a:t>
            </a:r>
            <a:r>
              <a:rPr lang="en-US" dirty="0" err="1"/>
              <a:t>struct</a:t>
            </a:r>
            <a:r>
              <a:rPr lang="en-US" dirty="0"/>
              <a:t> </a:t>
            </a:r>
            <a:r>
              <a:rPr lang="en-US" dirty="0" err="1"/>
              <a:t>TCharBuffer</a:t>
            </a:r>
            <a:r>
              <a:rPr lang="en-US" dirty="0"/>
              <a:t> {</a:t>
            </a:r>
            <a:r>
              <a:rPr lang="ru-RU" dirty="0"/>
              <a:t> </a:t>
            </a:r>
            <a:r>
              <a:rPr lang="en-US" dirty="0" err="1"/>
              <a:t>int</a:t>
            </a:r>
            <a:r>
              <a:rPr lang="en-US" dirty="0"/>
              <a:t> Size; char Data[];</a:t>
            </a:r>
            <a:r>
              <a:rPr lang="ru-RU" dirty="0"/>
              <a:t> </a:t>
            </a:r>
            <a:r>
              <a:rPr lang="en-US" dirty="0"/>
              <a:t>};</a:t>
            </a:r>
            <a:endParaRPr lang="ru-RU" dirty="0"/>
          </a:p>
          <a:p>
            <a:endParaRPr lang="ru-RU" dirty="0"/>
          </a:p>
          <a:p>
            <a:r>
              <a:rPr lang="ru-RU" dirty="0"/>
              <a:t>Множество значений типа «структура из элементов типов </a:t>
            </a:r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» -- это множество последовательностей длины </a:t>
            </a:r>
            <a:r>
              <a:rPr lang="en-US" dirty="0"/>
              <a:t>N</a:t>
            </a:r>
            <a:r>
              <a:rPr lang="ru-RU" dirty="0"/>
              <a:t> таких</a:t>
            </a:r>
            <a:r>
              <a:rPr lang="en-US" dirty="0"/>
              <a:t>, </a:t>
            </a:r>
            <a:r>
              <a:rPr lang="ru-RU" dirty="0"/>
              <a:t>что </a:t>
            </a:r>
            <a:r>
              <a:rPr lang="en-US" dirty="0"/>
              <a:t>i-</a:t>
            </a:r>
            <a:r>
              <a:rPr lang="ru-RU" dirty="0"/>
              <a:t>й элемент каждой последовательности принадлежит </a:t>
            </a:r>
            <a:r>
              <a:rPr lang="en-US" dirty="0" err="1"/>
              <a:t>T</a:t>
            </a:r>
            <a:r>
              <a:rPr lang="en-US" baseline="-25000" dirty="0" err="1"/>
              <a:t>i</a:t>
            </a:r>
            <a:r>
              <a:rPr lang="ru-RU" dirty="0"/>
              <a:t> </a:t>
            </a:r>
            <a:r>
              <a:rPr lang="en-US" dirty="0"/>
              <a:t>(i=1, …, N)</a:t>
            </a:r>
            <a:endParaRPr lang="ru-RU" dirty="0"/>
          </a:p>
          <a:p>
            <a:pPr lvl="1"/>
            <a:r>
              <a:rPr lang="ru-RU" dirty="0"/>
              <a:t>Декартово произведение множеств значений </a:t>
            </a:r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 ×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ru-RU" dirty="0"/>
              <a:t> ×</a:t>
            </a:r>
            <a:r>
              <a:rPr lang="en-US" dirty="0"/>
              <a:t> …</a:t>
            </a:r>
            <a:r>
              <a:rPr lang="ru-RU" dirty="0"/>
              <a:t> ×</a:t>
            </a:r>
            <a:r>
              <a:rPr lang="en-US" dirty="0"/>
              <a:t> T</a:t>
            </a:r>
            <a:r>
              <a:rPr lang="en-US" baseline="-25000" dirty="0"/>
              <a:t>N</a:t>
            </a:r>
            <a:endParaRPr lang="ru-RU" dirty="0"/>
          </a:p>
          <a:p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Доступ к элементу структуры по имени </a:t>
            </a:r>
            <a:r>
              <a:rPr lang="en-US" dirty="0" err="1"/>
              <a:t>E</a:t>
            </a:r>
            <a:r>
              <a:rPr lang="en-US" baseline="-25000" dirty="0" err="1"/>
              <a:t>i</a:t>
            </a:r>
            <a:r>
              <a:rPr lang="en-US" dirty="0"/>
              <a:t> </a:t>
            </a:r>
            <a:r>
              <a:rPr lang="en-US" dirty="0" err="1"/>
              <a:t>struct</a:t>
            </a:r>
            <a:r>
              <a:rPr lang="en-US" dirty="0"/>
              <a:t> S -&gt; </a:t>
            </a:r>
            <a:r>
              <a:rPr lang="en-US" dirty="0" err="1"/>
              <a:t>T</a:t>
            </a:r>
            <a:r>
              <a:rPr lang="en-US" baseline="-25000" dirty="0" err="1"/>
              <a:t>i</a:t>
            </a:r>
            <a:endParaRPr lang="ru-RU" baseline="-25000" dirty="0"/>
          </a:p>
          <a:p>
            <a:pPr lvl="1"/>
            <a:r>
              <a:rPr lang="ru-RU" dirty="0"/>
              <a:t>Доступ к элементу структуры по имени </a:t>
            </a:r>
            <a:r>
              <a:rPr lang="en-US" dirty="0" err="1"/>
              <a:t>E</a:t>
            </a:r>
            <a:r>
              <a:rPr lang="en-US" baseline="-25000" dirty="0" err="1"/>
              <a:t>i</a:t>
            </a:r>
            <a:r>
              <a:rPr lang="ru-RU" dirty="0"/>
              <a:t> по указателю </a:t>
            </a:r>
            <a:r>
              <a:rPr lang="en-US" dirty="0" err="1"/>
              <a:t>struct</a:t>
            </a:r>
            <a:r>
              <a:rPr lang="en-US" dirty="0"/>
              <a:t> S</a:t>
            </a:r>
            <a:r>
              <a:rPr lang="ru-RU" dirty="0"/>
              <a:t>*</a:t>
            </a:r>
            <a:r>
              <a:rPr lang="en-US" dirty="0"/>
              <a:t> -&gt; </a:t>
            </a:r>
            <a:r>
              <a:rPr lang="en-US" dirty="0" err="1"/>
              <a:t>T</a:t>
            </a:r>
            <a:r>
              <a:rPr lang="en-US" baseline="-25000" dirty="0" err="1"/>
              <a:t>i</a:t>
            </a:r>
            <a:endParaRPr lang="ru-RU" baseline="-25000" dirty="0"/>
          </a:p>
          <a:p>
            <a:pPr lvl="1"/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626921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722426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118277"/>
            <a:ext cx="1934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(</a:t>
            </a:r>
            <a:r>
              <a:rPr lang="en-US" dirty="0" err="1"/>
              <a:t>struct</a:t>
            </a:r>
            <a:r>
              <a:rPr lang="ru-RU" dirty="0"/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959" y="5514127"/>
            <a:ext cx="2326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Объединения</a:t>
            </a:r>
            <a:r>
              <a:rPr lang="en-US" b="1" dirty="0"/>
              <a:t> (union)</a:t>
            </a:r>
            <a:endParaRPr lang="ru-RU" b="1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326575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193" y="2276343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7193" y="2616631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3990352" y="2461009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1649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8" idx="3"/>
            <a:endCxn id="9" idx="1"/>
          </p:cNvCxnSpPr>
          <p:nvPr/>
        </p:nvCxnSpPr>
        <p:spPr>
          <a:xfrm flipV="1">
            <a:off x="5392274" y="3645640"/>
            <a:ext cx="759485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8" idx="3"/>
            <a:endCxn id="10" idx="1"/>
          </p:cNvCxnSpPr>
          <p:nvPr/>
        </p:nvCxnSpPr>
        <p:spPr>
          <a:xfrm>
            <a:off x="5392274" y="3790308"/>
            <a:ext cx="759485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511241"/>
            <a:ext cx="1647902" cy="62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 flipV="1">
            <a:off x="7378057" y="4907092"/>
            <a:ext cx="1647902" cy="230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560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3990352" y="2463900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071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6474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6772998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Объединения </a:t>
            </a:r>
            <a:r>
              <a:rPr lang="en-US" dirty="0"/>
              <a:t>union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Бесконечное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семейство типов </a:t>
            </a:r>
            <a:r>
              <a:rPr lang="en-US" dirty="0">
                <a:solidFill>
                  <a:schemeClr val="bg1"/>
                </a:solidFill>
              </a:rPr>
              <a:t>union U {T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 E</a:t>
            </a:r>
            <a:r>
              <a:rPr lang="en-US" baseline="-25000" dirty="0">
                <a:solidFill>
                  <a:schemeClr val="bg1"/>
                </a:solidFill>
              </a:rPr>
              <a:t>1</a:t>
            </a:r>
            <a:r>
              <a:rPr lang="en-US" dirty="0">
                <a:solidFill>
                  <a:schemeClr val="bg1"/>
                </a:solidFill>
              </a:rPr>
              <a:t>; 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 E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; …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en-US" dirty="0">
                <a:solidFill>
                  <a:schemeClr val="bg1"/>
                </a:solidFill>
              </a:rPr>
              <a:t> E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en-US" dirty="0">
                <a:solidFill>
                  <a:schemeClr val="bg1"/>
                </a:solidFill>
              </a:rPr>
              <a:t>;}</a:t>
            </a:r>
          </a:p>
          <a:p>
            <a:pPr lvl="1"/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baseline="-25000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 могут быть разными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и должны быть полными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типа «объединение из элементов типов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baseline="-25000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» – это объединение множеств значений типов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baseline="-25000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endParaRPr lang="ru-RU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к элементу объединения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union U -&gt; </a:t>
            </a:r>
            <a:r>
              <a:rPr lang="en-US" dirty="0" err="1">
                <a:solidFill>
                  <a:schemeClr val="bg1"/>
                </a:solidFill>
              </a:rPr>
              <a:t>T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endParaRPr lang="ru-RU" baseline="-25000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к элементу объединения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ru-RU" dirty="0">
                <a:solidFill>
                  <a:schemeClr val="bg1"/>
                </a:solidFill>
              </a:rPr>
              <a:t> по указателю </a:t>
            </a:r>
            <a:r>
              <a:rPr lang="en-US" dirty="0">
                <a:solidFill>
                  <a:schemeClr val="bg1"/>
                </a:solidFill>
              </a:rPr>
              <a:t>union U</a:t>
            </a:r>
            <a:r>
              <a:rPr lang="ru-RU" dirty="0">
                <a:solidFill>
                  <a:schemeClr val="bg1"/>
                </a:solidFill>
              </a:rPr>
              <a:t>*</a:t>
            </a:r>
            <a:r>
              <a:rPr lang="en-US" dirty="0">
                <a:solidFill>
                  <a:schemeClr val="bg1"/>
                </a:solidFill>
              </a:rPr>
              <a:t> -&gt; </a:t>
            </a:r>
            <a:r>
              <a:rPr lang="en-US" dirty="0" err="1">
                <a:solidFill>
                  <a:schemeClr val="bg1"/>
                </a:solidFill>
              </a:rPr>
              <a:t>T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endParaRPr lang="ru-RU" baseline="-25000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Результат чтения элемента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ru-RU" dirty="0">
                <a:solidFill>
                  <a:schemeClr val="bg1"/>
                </a:solidFill>
              </a:rPr>
              <a:t> не определен, если ему не предшествует запись элемента по этому имени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55663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Объединения </a:t>
            </a:r>
            <a:r>
              <a:rPr lang="en-US" dirty="0"/>
              <a:t>union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Бесконечное</a:t>
            </a:r>
            <a:r>
              <a:rPr lang="en-US" dirty="0"/>
              <a:t> </a:t>
            </a:r>
            <a:r>
              <a:rPr lang="ru-RU" dirty="0"/>
              <a:t>семейство типов </a:t>
            </a:r>
            <a:r>
              <a:rPr lang="en-US" dirty="0"/>
              <a:t>union U {T</a:t>
            </a:r>
            <a:r>
              <a:rPr lang="en-US" baseline="-25000" dirty="0"/>
              <a:t>1</a:t>
            </a:r>
            <a:r>
              <a:rPr lang="en-US" dirty="0"/>
              <a:t> E</a:t>
            </a:r>
            <a:r>
              <a:rPr lang="en-US" baseline="-25000" dirty="0"/>
              <a:t>1</a:t>
            </a:r>
            <a:r>
              <a:rPr lang="en-US" dirty="0"/>
              <a:t>; T</a:t>
            </a:r>
            <a:r>
              <a:rPr lang="en-US" baseline="-25000" dirty="0"/>
              <a:t>2</a:t>
            </a:r>
            <a:r>
              <a:rPr lang="en-US" dirty="0"/>
              <a:t> E</a:t>
            </a:r>
            <a:r>
              <a:rPr lang="en-US" baseline="-25000" dirty="0"/>
              <a:t>2</a:t>
            </a:r>
            <a:r>
              <a:rPr lang="en-US" dirty="0"/>
              <a:t>; … T</a:t>
            </a:r>
            <a:r>
              <a:rPr lang="en-US" baseline="-25000" dirty="0"/>
              <a:t>N</a:t>
            </a:r>
            <a:r>
              <a:rPr lang="en-US" dirty="0"/>
              <a:t> E</a:t>
            </a:r>
            <a:r>
              <a:rPr lang="en-US" baseline="-25000" dirty="0"/>
              <a:t>N</a:t>
            </a:r>
            <a:r>
              <a:rPr lang="en-US" dirty="0"/>
              <a:t>;}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 могут быть разными</a:t>
            </a:r>
            <a:r>
              <a:rPr lang="en-US" dirty="0"/>
              <a:t> </a:t>
            </a:r>
            <a:r>
              <a:rPr lang="ru-RU" dirty="0"/>
              <a:t>и должны быть полными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типа «объединение из элементов типов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baseline="-25000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r>
              <a:rPr lang="ru-RU" dirty="0">
                <a:solidFill>
                  <a:schemeClr val="bg1"/>
                </a:solidFill>
              </a:rPr>
              <a:t>» – это объединение множеств значений типов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baseline="-25000" dirty="0">
                <a:solidFill>
                  <a:schemeClr val="bg1"/>
                </a:solidFill>
              </a:rPr>
              <a:t>1</a:t>
            </a:r>
            <a:r>
              <a:rPr lang="ru-RU" dirty="0">
                <a:solidFill>
                  <a:schemeClr val="bg1"/>
                </a:solidFill>
              </a:rPr>
              <a:t>,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en-US" baseline="-25000" dirty="0">
                <a:solidFill>
                  <a:schemeClr val="bg1"/>
                </a:solidFill>
              </a:rPr>
              <a:t>2</a:t>
            </a:r>
            <a:r>
              <a:rPr lang="en-US" dirty="0">
                <a:solidFill>
                  <a:schemeClr val="bg1"/>
                </a:solidFill>
              </a:rPr>
              <a:t>, …, T</a:t>
            </a:r>
            <a:r>
              <a:rPr lang="en-US" baseline="-25000" dirty="0">
                <a:solidFill>
                  <a:schemeClr val="bg1"/>
                </a:solidFill>
              </a:rPr>
              <a:t>N</a:t>
            </a:r>
            <a:endParaRPr lang="ru-RU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к элементу объединения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union U -&gt; </a:t>
            </a:r>
            <a:r>
              <a:rPr lang="en-US" dirty="0" err="1">
                <a:solidFill>
                  <a:schemeClr val="bg1"/>
                </a:solidFill>
              </a:rPr>
              <a:t>T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endParaRPr lang="ru-RU" baseline="-25000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к элементу объединения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ru-RU" dirty="0">
                <a:solidFill>
                  <a:schemeClr val="bg1"/>
                </a:solidFill>
              </a:rPr>
              <a:t> по указателю </a:t>
            </a:r>
            <a:r>
              <a:rPr lang="en-US" dirty="0">
                <a:solidFill>
                  <a:schemeClr val="bg1"/>
                </a:solidFill>
              </a:rPr>
              <a:t>union U</a:t>
            </a:r>
            <a:r>
              <a:rPr lang="ru-RU" dirty="0">
                <a:solidFill>
                  <a:schemeClr val="bg1"/>
                </a:solidFill>
              </a:rPr>
              <a:t>*</a:t>
            </a:r>
            <a:r>
              <a:rPr lang="en-US" dirty="0">
                <a:solidFill>
                  <a:schemeClr val="bg1"/>
                </a:solidFill>
              </a:rPr>
              <a:t> -&gt; </a:t>
            </a:r>
            <a:r>
              <a:rPr lang="en-US" dirty="0" err="1">
                <a:solidFill>
                  <a:schemeClr val="bg1"/>
                </a:solidFill>
              </a:rPr>
              <a:t>T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endParaRPr lang="ru-RU" baseline="-25000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Результат чтения элемента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ru-RU" dirty="0">
                <a:solidFill>
                  <a:schemeClr val="bg1"/>
                </a:solidFill>
              </a:rPr>
              <a:t> не определен, если ему не предшествует запись элемента по этому имени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438409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Объединения </a:t>
            </a:r>
            <a:r>
              <a:rPr lang="en-US" dirty="0"/>
              <a:t>union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Бесконечное</a:t>
            </a:r>
            <a:r>
              <a:rPr lang="en-US" dirty="0"/>
              <a:t> </a:t>
            </a:r>
            <a:r>
              <a:rPr lang="ru-RU" dirty="0"/>
              <a:t>семейство типов </a:t>
            </a:r>
            <a:r>
              <a:rPr lang="en-US" dirty="0"/>
              <a:t>union U {T</a:t>
            </a:r>
            <a:r>
              <a:rPr lang="en-US" baseline="-25000" dirty="0"/>
              <a:t>1</a:t>
            </a:r>
            <a:r>
              <a:rPr lang="en-US" dirty="0"/>
              <a:t> E</a:t>
            </a:r>
            <a:r>
              <a:rPr lang="en-US" baseline="-25000" dirty="0"/>
              <a:t>1</a:t>
            </a:r>
            <a:r>
              <a:rPr lang="en-US" dirty="0"/>
              <a:t>; T</a:t>
            </a:r>
            <a:r>
              <a:rPr lang="en-US" baseline="-25000" dirty="0"/>
              <a:t>2</a:t>
            </a:r>
            <a:r>
              <a:rPr lang="en-US" dirty="0"/>
              <a:t> E</a:t>
            </a:r>
            <a:r>
              <a:rPr lang="en-US" baseline="-25000" dirty="0"/>
              <a:t>2</a:t>
            </a:r>
            <a:r>
              <a:rPr lang="en-US" dirty="0"/>
              <a:t>; … T</a:t>
            </a:r>
            <a:r>
              <a:rPr lang="en-US" baseline="-25000" dirty="0"/>
              <a:t>N</a:t>
            </a:r>
            <a:r>
              <a:rPr lang="en-US" dirty="0"/>
              <a:t> E</a:t>
            </a:r>
            <a:r>
              <a:rPr lang="en-US" baseline="-25000" dirty="0"/>
              <a:t>N</a:t>
            </a:r>
            <a:r>
              <a:rPr lang="en-US" dirty="0"/>
              <a:t>;}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 могут быть разными</a:t>
            </a:r>
            <a:r>
              <a:rPr lang="en-US" dirty="0"/>
              <a:t> </a:t>
            </a:r>
            <a:r>
              <a:rPr lang="ru-RU" dirty="0"/>
              <a:t>и должны быть полными</a:t>
            </a:r>
          </a:p>
          <a:p>
            <a:endParaRPr lang="ru-RU" dirty="0"/>
          </a:p>
          <a:p>
            <a:r>
              <a:rPr lang="ru-RU" dirty="0"/>
              <a:t>Множество значений типа «объединение из элементов типов </a:t>
            </a:r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» – это объединение множеств значений типов </a:t>
            </a:r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к элементу объединения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en-US" dirty="0">
                <a:solidFill>
                  <a:schemeClr val="bg1"/>
                </a:solidFill>
              </a:rPr>
              <a:t> union U -&gt; </a:t>
            </a:r>
            <a:r>
              <a:rPr lang="en-US" dirty="0" err="1">
                <a:solidFill>
                  <a:schemeClr val="bg1"/>
                </a:solidFill>
              </a:rPr>
              <a:t>T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endParaRPr lang="ru-RU" baseline="-25000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к элементу объединения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ru-RU" dirty="0">
                <a:solidFill>
                  <a:schemeClr val="bg1"/>
                </a:solidFill>
              </a:rPr>
              <a:t> по указателю </a:t>
            </a:r>
            <a:r>
              <a:rPr lang="en-US" dirty="0">
                <a:solidFill>
                  <a:schemeClr val="bg1"/>
                </a:solidFill>
              </a:rPr>
              <a:t>union U</a:t>
            </a:r>
            <a:r>
              <a:rPr lang="ru-RU" dirty="0">
                <a:solidFill>
                  <a:schemeClr val="bg1"/>
                </a:solidFill>
              </a:rPr>
              <a:t>*</a:t>
            </a:r>
            <a:r>
              <a:rPr lang="en-US" dirty="0">
                <a:solidFill>
                  <a:schemeClr val="bg1"/>
                </a:solidFill>
              </a:rPr>
              <a:t> -&gt; </a:t>
            </a:r>
            <a:r>
              <a:rPr lang="en-US" dirty="0" err="1">
                <a:solidFill>
                  <a:schemeClr val="bg1"/>
                </a:solidFill>
              </a:rPr>
              <a:t>T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endParaRPr lang="ru-RU" baseline="-25000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Результат чтения элемента по имени </a:t>
            </a:r>
            <a:r>
              <a:rPr lang="en-US" dirty="0" err="1">
                <a:solidFill>
                  <a:schemeClr val="bg1"/>
                </a:solidFill>
              </a:rPr>
              <a:t>E</a:t>
            </a:r>
            <a:r>
              <a:rPr lang="en-US" baseline="-25000" dirty="0" err="1">
                <a:solidFill>
                  <a:schemeClr val="bg1"/>
                </a:solidFill>
              </a:rPr>
              <a:t>i</a:t>
            </a:r>
            <a:r>
              <a:rPr lang="ru-RU" dirty="0">
                <a:solidFill>
                  <a:schemeClr val="bg1"/>
                </a:solidFill>
              </a:rPr>
              <a:t> не определен, если ему не предшествует запись элемента по этому имени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3658101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Объединения </a:t>
            </a:r>
            <a:r>
              <a:rPr lang="en-US" dirty="0"/>
              <a:t>union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Бесконечное</a:t>
            </a:r>
            <a:r>
              <a:rPr lang="en-US" dirty="0"/>
              <a:t> </a:t>
            </a:r>
            <a:r>
              <a:rPr lang="ru-RU" dirty="0"/>
              <a:t>семейство типов </a:t>
            </a:r>
            <a:r>
              <a:rPr lang="en-US" dirty="0"/>
              <a:t>union U {T</a:t>
            </a:r>
            <a:r>
              <a:rPr lang="en-US" baseline="-25000" dirty="0"/>
              <a:t>1</a:t>
            </a:r>
            <a:r>
              <a:rPr lang="en-US" dirty="0"/>
              <a:t> E</a:t>
            </a:r>
            <a:r>
              <a:rPr lang="en-US" baseline="-25000" dirty="0"/>
              <a:t>1</a:t>
            </a:r>
            <a:r>
              <a:rPr lang="en-US" dirty="0"/>
              <a:t>; T</a:t>
            </a:r>
            <a:r>
              <a:rPr lang="en-US" baseline="-25000" dirty="0"/>
              <a:t>2</a:t>
            </a:r>
            <a:r>
              <a:rPr lang="en-US" dirty="0"/>
              <a:t> E</a:t>
            </a:r>
            <a:r>
              <a:rPr lang="en-US" baseline="-25000" dirty="0"/>
              <a:t>2</a:t>
            </a:r>
            <a:r>
              <a:rPr lang="en-US" dirty="0"/>
              <a:t>; … T</a:t>
            </a:r>
            <a:r>
              <a:rPr lang="en-US" baseline="-25000" dirty="0"/>
              <a:t>N</a:t>
            </a:r>
            <a:r>
              <a:rPr lang="en-US" dirty="0"/>
              <a:t> E</a:t>
            </a:r>
            <a:r>
              <a:rPr lang="en-US" baseline="-25000" dirty="0"/>
              <a:t>N</a:t>
            </a:r>
            <a:r>
              <a:rPr lang="en-US" dirty="0"/>
              <a:t>;}</a:t>
            </a:r>
          </a:p>
          <a:p>
            <a:pPr lvl="1"/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 могут быть разными</a:t>
            </a:r>
            <a:r>
              <a:rPr lang="en-US" dirty="0"/>
              <a:t> </a:t>
            </a:r>
            <a:r>
              <a:rPr lang="ru-RU" dirty="0"/>
              <a:t>и должны быть полными</a:t>
            </a:r>
          </a:p>
          <a:p>
            <a:endParaRPr lang="ru-RU" dirty="0"/>
          </a:p>
          <a:p>
            <a:r>
              <a:rPr lang="ru-RU" dirty="0"/>
              <a:t>Множество значений типа «объединение из элементов типов </a:t>
            </a:r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r>
              <a:rPr lang="ru-RU" dirty="0"/>
              <a:t>» – это объединение множеств значений типов </a:t>
            </a:r>
            <a:r>
              <a:rPr lang="en-US" dirty="0"/>
              <a:t>T</a:t>
            </a:r>
            <a:r>
              <a:rPr lang="ru-RU" baseline="-25000" dirty="0"/>
              <a:t>1</a:t>
            </a:r>
            <a:r>
              <a:rPr lang="ru-RU" dirty="0"/>
              <a:t>, </a:t>
            </a:r>
            <a:r>
              <a:rPr lang="en-US" dirty="0"/>
              <a:t>T</a:t>
            </a:r>
            <a:r>
              <a:rPr lang="en-US" baseline="-25000" dirty="0"/>
              <a:t>2</a:t>
            </a:r>
            <a:r>
              <a:rPr lang="en-US" dirty="0"/>
              <a:t>, …, T</a:t>
            </a:r>
            <a:r>
              <a:rPr lang="en-US" baseline="-25000" dirty="0"/>
              <a:t>N</a:t>
            </a:r>
            <a:endParaRPr lang="ru-RU" dirty="0"/>
          </a:p>
          <a:p>
            <a:pPr marL="0" indent="0">
              <a:buNone/>
            </a:pPr>
            <a:endParaRPr lang="ru-RU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Доступ к элементу объединения по имени </a:t>
            </a:r>
            <a:r>
              <a:rPr lang="en-US" dirty="0" err="1"/>
              <a:t>E</a:t>
            </a:r>
            <a:r>
              <a:rPr lang="en-US" baseline="-25000" dirty="0" err="1"/>
              <a:t>i</a:t>
            </a:r>
            <a:r>
              <a:rPr lang="en-US" dirty="0"/>
              <a:t> union U -&gt; </a:t>
            </a:r>
            <a:r>
              <a:rPr lang="en-US" dirty="0" err="1"/>
              <a:t>T</a:t>
            </a:r>
            <a:r>
              <a:rPr lang="en-US" baseline="-25000" dirty="0" err="1"/>
              <a:t>i</a:t>
            </a:r>
            <a:endParaRPr lang="ru-RU" baseline="-25000" dirty="0"/>
          </a:p>
          <a:p>
            <a:pPr lvl="1"/>
            <a:r>
              <a:rPr lang="ru-RU" dirty="0"/>
              <a:t>Доступ к элементу объединения по имени </a:t>
            </a:r>
            <a:r>
              <a:rPr lang="en-US" dirty="0" err="1"/>
              <a:t>E</a:t>
            </a:r>
            <a:r>
              <a:rPr lang="en-US" baseline="-25000" dirty="0" err="1"/>
              <a:t>i</a:t>
            </a:r>
            <a:r>
              <a:rPr lang="ru-RU" dirty="0"/>
              <a:t> по указателю </a:t>
            </a:r>
            <a:r>
              <a:rPr lang="en-US" dirty="0"/>
              <a:t>union U</a:t>
            </a:r>
            <a:r>
              <a:rPr lang="ru-RU" dirty="0"/>
              <a:t>*</a:t>
            </a:r>
            <a:r>
              <a:rPr lang="en-US" dirty="0"/>
              <a:t> -&gt; </a:t>
            </a:r>
            <a:r>
              <a:rPr lang="en-US" dirty="0" err="1"/>
              <a:t>T</a:t>
            </a:r>
            <a:r>
              <a:rPr lang="en-US" baseline="-25000" dirty="0" err="1"/>
              <a:t>i</a:t>
            </a:r>
            <a:endParaRPr lang="ru-RU" baseline="-25000" dirty="0"/>
          </a:p>
          <a:p>
            <a:pPr lvl="1"/>
            <a:r>
              <a:rPr lang="ru-RU" dirty="0"/>
              <a:t>Результат чтения элемента по имени </a:t>
            </a:r>
            <a:r>
              <a:rPr lang="en-US" dirty="0" err="1"/>
              <a:t>E</a:t>
            </a:r>
            <a:r>
              <a:rPr lang="en-US" baseline="-25000" dirty="0" err="1"/>
              <a:t>i</a:t>
            </a:r>
            <a:r>
              <a:rPr lang="ru-RU" dirty="0"/>
              <a:t> не определен, если ему не предшествует запись элемента по этому имени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691043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722426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118277"/>
            <a:ext cx="1934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(</a:t>
            </a:r>
            <a:r>
              <a:rPr lang="en-US" dirty="0" err="1"/>
              <a:t>struct</a:t>
            </a:r>
            <a:r>
              <a:rPr lang="ru-RU" dirty="0"/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959" y="5514127"/>
            <a:ext cx="22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(union)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326575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624" y="439707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onsolas" panose="020B0609020204030204" pitchFamily="49" charset="0"/>
              </a:rPr>
              <a:t>void</a:t>
            </a:r>
            <a:endParaRPr lang="ru-RU" b="1" dirty="0"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277193" y="2276343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7193" y="2616631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3990352" y="2461009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1649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8" idx="3"/>
            <a:endCxn id="9" idx="1"/>
          </p:cNvCxnSpPr>
          <p:nvPr/>
        </p:nvCxnSpPr>
        <p:spPr>
          <a:xfrm flipV="1">
            <a:off x="5392274" y="3645640"/>
            <a:ext cx="759485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8" idx="3"/>
            <a:endCxn id="10" idx="1"/>
          </p:cNvCxnSpPr>
          <p:nvPr/>
        </p:nvCxnSpPr>
        <p:spPr>
          <a:xfrm>
            <a:off x="5392274" y="3790308"/>
            <a:ext cx="759485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511241"/>
            <a:ext cx="1647902" cy="62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 flipV="1">
            <a:off x="7378057" y="4907092"/>
            <a:ext cx="1647902" cy="230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560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3990352" y="2463900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" idx="3"/>
            <a:endCxn id="17" idx="1"/>
          </p:cNvCxnSpPr>
          <p:nvPr/>
        </p:nvCxnSpPr>
        <p:spPr>
          <a:xfrm flipV="1">
            <a:off x="2481174" y="4581744"/>
            <a:ext cx="230450" cy="466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071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6474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105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091939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 </a:t>
            </a:r>
            <a:r>
              <a:rPr lang="en-US" dirty="0"/>
              <a:t>void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Множество значений пусто</a:t>
            </a:r>
          </a:p>
          <a:p>
            <a:endParaRPr lang="ru-RU" dirty="0"/>
          </a:p>
          <a:p>
            <a:r>
              <a:rPr lang="ru-RU" dirty="0"/>
              <a:t>Набор операций пуст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106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37053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722426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118277"/>
            <a:ext cx="1934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(</a:t>
            </a:r>
            <a:r>
              <a:rPr lang="en-US" dirty="0" err="1"/>
              <a:t>struct</a:t>
            </a:r>
            <a:r>
              <a:rPr lang="ru-RU" dirty="0"/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959" y="5514127"/>
            <a:ext cx="22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(union)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326575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624" y="439707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277193" y="2276343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7193" y="2616631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3990352" y="2461009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1649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8" idx="3"/>
            <a:endCxn id="9" idx="1"/>
          </p:cNvCxnSpPr>
          <p:nvPr/>
        </p:nvCxnSpPr>
        <p:spPr>
          <a:xfrm flipV="1">
            <a:off x="5392274" y="3645640"/>
            <a:ext cx="759485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8" idx="3"/>
            <a:endCxn id="10" idx="1"/>
          </p:cNvCxnSpPr>
          <p:nvPr/>
        </p:nvCxnSpPr>
        <p:spPr>
          <a:xfrm>
            <a:off x="5392274" y="3790308"/>
            <a:ext cx="759485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511241"/>
            <a:ext cx="1647902" cy="62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 flipV="1">
            <a:off x="7378057" y="4907092"/>
            <a:ext cx="1647902" cy="230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560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3990352" y="2463900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" idx="3"/>
            <a:endCxn id="17" idx="1"/>
          </p:cNvCxnSpPr>
          <p:nvPr/>
        </p:nvCxnSpPr>
        <p:spPr>
          <a:xfrm flipV="1">
            <a:off x="2481174" y="4581744"/>
            <a:ext cx="230450" cy="466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071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6474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711624" y="6021288"/>
            <a:ext cx="2464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Перечислимые (</a:t>
            </a:r>
            <a:r>
              <a:rPr lang="en-US" b="1" dirty="0" err="1"/>
              <a:t>enum</a:t>
            </a:r>
            <a:r>
              <a:rPr lang="ru-RU" b="1" dirty="0"/>
              <a:t>)</a:t>
            </a:r>
          </a:p>
        </p:txBody>
      </p:sp>
      <p:cxnSp>
        <p:nvCxnSpPr>
          <p:cNvPr id="101" name="Straight Arrow Connector 100"/>
          <p:cNvCxnSpPr>
            <a:stCxn id="6" idx="3"/>
            <a:endCxn id="100" idx="1"/>
          </p:cNvCxnSpPr>
          <p:nvPr/>
        </p:nvCxnSpPr>
        <p:spPr>
          <a:xfrm>
            <a:off x="2481174" y="5048097"/>
            <a:ext cx="230450" cy="1157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347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перечисления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Бесконечное семейство типов </a:t>
            </a:r>
            <a:r>
              <a:rPr lang="en-US" dirty="0" err="1">
                <a:solidFill>
                  <a:schemeClr val="bg1"/>
                </a:solidFill>
              </a:rPr>
              <a:t>enum</a:t>
            </a:r>
            <a:r>
              <a:rPr lang="en-US" dirty="0">
                <a:solidFill>
                  <a:schemeClr val="bg1"/>
                </a:solidFill>
              </a:rPr>
              <a:t> E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Перечисления с неизвестным списком именованных констант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Перечисление </a:t>
            </a:r>
            <a:r>
              <a:rPr lang="en-US" dirty="0" err="1">
                <a:solidFill>
                  <a:schemeClr val="bg1"/>
                </a:solidFill>
              </a:rPr>
              <a:t>enum</a:t>
            </a:r>
            <a:r>
              <a:rPr lang="en-US" dirty="0">
                <a:solidFill>
                  <a:schemeClr val="bg1"/>
                </a:solidFill>
              </a:rPr>
              <a:t> E </a:t>
            </a:r>
            <a:r>
              <a:rPr lang="ru-RU" dirty="0">
                <a:solidFill>
                  <a:schemeClr val="bg1"/>
                </a:solidFill>
              </a:rPr>
              <a:t>становится полным после того, как компилятор встретит </a:t>
            </a:r>
            <a:r>
              <a:rPr lang="en-US" dirty="0" err="1">
                <a:solidFill>
                  <a:schemeClr val="bg1"/>
                </a:solidFill>
              </a:rPr>
              <a:t>enum</a:t>
            </a:r>
            <a:r>
              <a:rPr lang="en-US" dirty="0">
                <a:solidFill>
                  <a:schemeClr val="bg1"/>
                </a:solidFill>
              </a:rPr>
              <a:t> E { … }</a:t>
            </a:r>
            <a:r>
              <a:rPr lang="ru-RU" dirty="0">
                <a:solidFill>
                  <a:schemeClr val="bg1"/>
                </a:solidFill>
              </a:rPr>
              <a:t> с тем же тэгом </a:t>
            </a:r>
            <a:r>
              <a:rPr lang="en-US" dirty="0">
                <a:solidFill>
                  <a:schemeClr val="bg1"/>
                </a:solidFill>
              </a:rPr>
              <a:t>E </a:t>
            </a:r>
            <a:r>
              <a:rPr lang="ru-RU" dirty="0">
                <a:solidFill>
                  <a:schemeClr val="bg1"/>
                </a:solidFill>
              </a:rPr>
              <a:t>и списком именованных констант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пусто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пуст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119072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перечисления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Бесконечное семейство типов </a:t>
            </a:r>
            <a:r>
              <a:rPr lang="en-US" dirty="0" err="1"/>
              <a:t>enum</a:t>
            </a:r>
            <a:r>
              <a:rPr lang="en-US" dirty="0"/>
              <a:t> E</a:t>
            </a:r>
          </a:p>
          <a:p>
            <a:pPr lvl="1"/>
            <a:r>
              <a:rPr lang="ru-RU" dirty="0"/>
              <a:t>Перечисления с неизвестным списком именованных констант</a:t>
            </a:r>
          </a:p>
          <a:p>
            <a:pPr lvl="1"/>
            <a:r>
              <a:rPr lang="ru-RU" dirty="0"/>
              <a:t>Перечисление </a:t>
            </a:r>
            <a:r>
              <a:rPr lang="en-US" dirty="0" err="1"/>
              <a:t>enum</a:t>
            </a:r>
            <a:r>
              <a:rPr lang="en-US" dirty="0"/>
              <a:t> E </a:t>
            </a:r>
            <a:r>
              <a:rPr lang="ru-RU" dirty="0"/>
              <a:t>становится полным после того, как компилятор встретит </a:t>
            </a:r>
            <a:r>
              <a:rPr lang="en-US" dirty="0" err="1"/>
              <a:t>enum</a:t>
            </a:r>
            <a:r>
              <a:rPr lang="en-US" dirty="0"/>
              <a:t> E { … }</a:t>
            </a:r>
            <a:r>
              <a:rPr lang="ru-RU" dirty="0"/>
              <a:t> с тем же тэгом </a:t>
            </a:r>
            <a:r>
              <a:rPr lang="en-US" dirty="0"/>
              <a:t>E </a:t>
            </a:r>
            <a:r>
              <a:rPr lang="ru-RU" dirty="0"/>
              <a:t>и списком именованных констант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пусто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пуст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520767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перечисления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Бесконечное семейство типов </a:t>
            </a:r>
            <a:r>
              <a:rPr lang="en-US" dirty="0" err="1"/>
              <a:t>enum</a:t>
            </a:r>
            <a:r>
              <a:rPr lang="en-US" dirty="0"/>
              <a:t> E</a:t>
            </a:r>
          </a:p>
          <a:p>
            <a:pPr lvl="1"/>
            <a:r>
              <a:rPr lang="ru-RU" dirty="0"/>
              <a:t>Перечисления с неизвестным списком именованных констант</a:t>
            </a:r>
          </a:p>
          <a:p>
            <a:pPr lvl="1"/>
            <a:r>
              <a:rPr lang="ru-RU" dirty="0"/>
              <a:t>Перечисление </a:t>
            </a:r>
            <a:r>
              <a:rPr lang="en-US" dirty="0" err="1"/>
              <a:t>enum</a:t>
            </a:r>
            <a:r>
              <a:rPr lang="en-US" dirty="0"/>
              <a:t> E </a:t>
            </a:r>
            <a:r>
              <a:rPr lang="ru-RU" dirty="0"/>
              <a:t>становится полным после того, как компилятор встретит </a:t>
            </a:r>
            <a:r>
              <a:rPr lang="en-US" dirty="0" err="1"/>
              <a:t>enum</a:t>
            </a:r>
            <a:r>
              <a:rPr lang="en-US" dirty="0"/>
              <a:t> E { … }</a:t>
            </a:r>
            <a:r>
              <a:rPr lang="ru-RU" dirty="0"/>
              <a:t> с тем же тэгом </a:t>
            </a:r>
            <a:r>
              <a:rPr lang="en-US" dirty="0"/>
              <a:t>E </a:t>
            </a:r>
            <a:r>
              <a:rPr lang="ru-RU" dirty="0"/>
              <a:t>и списком именованных констант</a:t>
            </a:r>
          </a:p>
          <a:p>
            <a:endParaRPr lang="ru-RU" dirty="0"/>
          </a:p>
          <a:p>
            <a:r>
              <a:rPr lang="ru-RU" dirty="0"/>
              <a:t>Множество значений пусто</a:t>
            </a:r>
          </a:p>
          <a:p>
            <a:endParaRPr lang="ru-RU" dirty="0"/>
          </a:p>
          <a:p>
            <a:r>
              <a:rPr lang="ru-RU" dirty="0"/>
              <a:t>Набор операций пуст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7447117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722426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118277"/>
            <a:ext cx="1934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(</a:t>
            </a:r>
            <a:r>
              <a:rPr lang="en-US" dirty="0" err="1"/>
              <a:t>struct</a:t>
            </a:r>
            <a:r>
              <a:rPr lang="ru-RU" dirty="0"/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959" y="5514127"/>
            <a:ext cx="22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(union)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326575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624" y="439707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277193" y="2276343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7193" y="2616631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2814483" y="5095660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8193" y="4701964"/>
            <a:ext cx="10986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Массивы</a:t>
            </a:r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3990352" y="2461009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1649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8" idx="3"/>
            <a:endCxn id="9" idx="1"/>
          </p:cNvCxnSpPr>
          <p:nvPr/>
        </p:nvCxnSpPr>
        <p:spPr>
          <a:xfrm flipV="1">
            <a:off x="5392274" y="3645640"/>
            <a:ext cx="759485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8" idx="3"/>
            <a:endCxn id="10" idx="1"/>
          </p:cNvCxnSpPr>
          <p:nvPr/>
        </p:nvCxnSpPr>
        <p:spPr>
          <a:xfrm>
            <a:off x="5392274" y="3790308"/>
            <a:ext cx="759485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511241"/>
            <a:ext cx="1647902" cy="62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 flipV="1">
            <a:off x="7378057" y="4907092"/>
            <a:ext cx="1647902" cy="230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560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3990352" y="2463900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" idx="3"/>
            <a:endCxn id="17" idx="1"/>
          </p:cNvCxnSpPr>
          <p:nvPr/>
        </p:nvCxnSpPr>
        <p:spPr>
          <a:xfrm flipV="1">
            <a:off x="2481174" y="4581744"/>
            <a:ext cx="230450" cy="466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6" idx="3"/>
            <a:endCxn id="22" idx="0"/>
          </p:cNvCxnSpPr>
          <p:nvPr/>
        </p:nvCxnSpPr>
        <p:spPr>
          <a:xfrm>
            <a:off x="2481174" y="5048097"/>
            <a:ext cx="919848" cy="232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stCxn id="22" idx="2"/>
            <a:endCxn id="25" idx="1"/>
          </p:cNvCxnSpPr>
          <p:nvPr/>
        </p:nvCxnSpPr>
        <p:spPr>
          <a:xfrm flipV="1">
            <a:off x="3770354" y="4886630"/>
            <a:ext cx="477839" cy="3936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071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6474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711624" y="6021288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cxnSp>
        <p:nvCxnSpPr>
          <p:cNvPr id="101" name="Straight Arrow Connector 100"/>
          <p:cNvCxnSpPr>
            <a:stCxn id="6" idx="3"/>
            <a:endCxn id="100" idx="1"/>
          </p:cNvCxnSpPr>
          <p:nvPr/>
        </p:nvCxnSpPr>
        <p:spPr>
          <a:xfrm>
            <a:off x="2481174" y="5048097"/>
            <a:ext cx="230450" cy="1157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012594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массивы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Бесконечное семейство типов </a:t>
            </a:r>
            <a:r>
              <a:rPr lang="en-US" dirty="0">
                <a:solidFill>
                  <a:schemeClr val="bg1"/>
                </a:solidFill>
              </a:rPr>
              <a:t>T[]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Тип </a:t>
            </a:r>
            <a:r>
              <a:rPr lang="en-US" dirty="0">
                <a:solidFill>
                  <a:schemeClr val="bg1"/>
                </a:solidFill>
              </a:rPr>
              <a:t>T </a:t>
            </a:r>
            <a:r>
              <a:rPr lang="ru-RU" dirty="0">
                <a:solidFill>
                  <a:schemeClr val="bg1"/>
                </a:solidFill>
              </a:rPr>
              <a:t>должен быть полным</a:t>
            </a:r>
          </a:p>
          <a:p>
            <a:pPr lvl="1"/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типа «неполный массив типа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dirty="0">
                <a:solidFill>
                  <a:schemeClr val="bg1"/>
                </a:solidFill>
              </a:rPr>
              <a:t>» – все непустые конечные последовательности значений типа </a:t>
            </a:r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pPr lvl="1"/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</a:t>
            </a:r>
            <a:r>
              <a:rPr lang="en-US" baseline="-25000" dirty="0">
                <a:solidFill>
                  <a:schemeClr val="bg1"/>
                </a:solidFill>
                <a:sym typeface="Symbol" panose="05050102010706020507" pitchFamily="18" charset="2"/>
              </a:rPr>
              <a:t>i</a:t>
            </a:r>
            <a:r>
              <a:rPr lang="ru-RU" baseline="-25000" dirty="0">
                <a:solidFill>
                  <a:schemeClr val="bg1"/>
                </a:solidFill>
                <a:sym typeface="Symbol" panose="05050102010706020507" pitchFamily="18" charset="2"/>
              </a:rPr>
              <a:t> ≥ 1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 </a:t>
            </a:r>
            <a:r>
              <a:rPr lang="en-US" dirty="0" err="1">
                <a:solidFill>
                  <a:schemeClr val="bg1"/>
                </a:solidFill>
                <a:sym typeface="Symbol" panose="05050102010706020507" pitchFamily="18" charset="2"/>
              </a:rPr>
              <a:t>T</a:t>
            </a:r>
            <a:r>
              <a:rPr lang="en-US" baseline="30000" dirty="0" err="1">
                <a:solidFill>
                  <a:schemeClr val="bg1"/>
                </a:solidFill>
                <a:sym typeface="Symbol" panose="05050102010706020507" pitchFamily="18" charset="2"/>
              </a:rPr>
              <a:t>i</a:t>
            </a:r>
            <a:endParaRPr lang="ru-RU" baseline="30000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Автоматическое преобразование в указатель на нулевой элемент </a:t>
            </a:r>
            <a:r>
              <a:rPr lang="en-US" dirty="0">
                <a:solidFill>
                  <a:schemeClr val="bg1"/>
                </a:solidFill>
              </a:rPr>
              <a:t>T[] -&gt; T*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После преобразования в указатель – все операции с указателями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В том числе, доступ по индексу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452152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массивы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Бесконечное семейство типов </a:t>
            </a:r>
            <a:r>
              <a:rPr lang="en-US" dirty="0"/>
              <a:t>T[]</a:t>
            </a:r>
          </a:p>
          <a:p>
            <a:pPr lvl="1"/>
            <a:r>
              <a:rPr lang="ru-RU" dirty="0"/>
              <a:t>Тип </a:t>
            </a:r>
            <a:r>
              <a:rPr lang="en-US" dirty="0"/>
              <a:t>T </a:t>
            </a:r>
            <a:r>
              <a:rPr lang="ru-RU" dirty="0"/>
              <a:t>должен быть полным</a:t>
            </a:r>
          </a:p>
          <a:p>
            <a:pPr lvl="1"/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типа «неполный массив типа </a:t>
            </a:r>
            <a:r>
              <a:rPr lang="en-US" dirty="0">
                <a:solidFill>
                  <a:schemeClr val="bg1"/>
                </a:solidFill>
              </a:rPr>
              <a:t>T</a:t>
            </a:r>
            <a:r>
              <a:rPr lang="ru-RU" dirty="0">
                <a:solidFill>
                  <a:schemeClr val="bg1"/>
                </a:solidFill>
              </a:rPr>
              <a:t>» – все непустые конечные последовательности значений типа </a:t>
            </a:r>
            <a:r>
              <a:rPr lang="en-US" dirty="0">
                <a:solidFill>
                  <a:schemeClr val="bg1"/>
                </a:solidFill>
              </a:rPr>
              <a:t>T</a:t>
            </a:r>
          </a:p>
          <a:p>
            <a:pPr lvl="1"/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</a:t>
            </a:r>
            <a:r>
              <a:rPr lang="en-US" baseline="-25000" dirty="0">
                <a:solidFill>
                  <a:schemeClr val="bg1"/>
                </a:solidFill>
                <a:sym typeface="Symbol" panose="05050102010706020507" pitchFamily="18" charset="2"/>
              </a:rPr>
              <a:t>i</a:t>
            </a:r>
            <a:r>
              <a:rPr lang="ru-RU" baseline="-25000" dirty="0">
                <a:solidFill>
                  <a:schemeClr val="bg1"/>
                </a:solidFill>
                <a:sym typeface="Symbol" panose="05050102010706020507" pitchFamily="18" charset="2"/>
              </a:rPr>
              <a:t> ≥ 1</a:t>
            </a:r>
            <a:r>
              <a:rPr lang="en-US" dirty="0">
                <a:solidFill>
                  <a:schemeClr val="bg1"/>
                </a:solidFill>
                <a:sym typeface="Symbol" panose="05050102010706020507" pitchFamily="18" charset="2"/>
              </a:rPr>
              <a:t> </a:t>
            </a:r>
            <a:r>
              <a:rPr lang="en-US" dirty="0" err="1">
                <a:solidFill>
                  <a:schemeClr val="bg1"/>
                </a:solidFill>
                <a:sym typeface="Symbol" panose="05050102010706020507" pitchFamily="18" charset="2"/>
              </a:rPr>
              <a:t>T</a:t>
            </a:r>
            <a:r>
              <a:rPr lang="en-US" baseline="30000" dirty="0" err="1">
                <a:solidFill>
                  <a:schemeClr val="bg1"/>
                </a:solidFill>
                <a:sym typeface="Symbol" panose="05050102010706020507" pitchFamily="18" charset="2"/>
              </a:rPr>
              <a:t>i</a:t>
            </a:r>
            <a:endParaRPr lang="ru-RU" baseline="30000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Автоматическое преобразование в указатель на нулевой элемент </a:t>
            </a:r>
            <a:r>
              <a:rPr lang="en-US" dirty="0">
                <a:solidFill>
                  <a:schemeClr val="bg1"/>
                </a:solidFill>
              </a:rPr>
              <a:t>T[] -&gt; T*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После преобразования в указатель – все операции с указателями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В том числе, доступ по индексу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90815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массивы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Бесконечное семейство типов </a:t>
            </a:r>
            <a:r>
              <a:rPr lang="en-US" dirty="0"/>
              <a:t>T[]</a:t>
            </a:r>
          </a:p>
          <a:p>
            <a:pPr lvl="1"/>
            <a:r>
              <a:rPr lang="ru-RU" dirty="0"/>
              <a:t>Тип </a:t>
            </a:r>
            <a:r>
              <a:rPr lang="en-US" dirty="0"/>
              <a:t>T </a:t>
            </a:r>
            <a:r>
              <a:rPr lang="ru-RU" dirty="0"/>
              <a:t>должен быть полным</a:t>
            </a:r>
          </a:p>
          <a:p>
            <a:pPr lvl="1"/>
            <a:endParaRPr lang="ru-RU" dirty="0"/>
          </a:p>
          <a:p>
            <a:r>
              <a:rPr lang="ru-RU" dirty="0"/>
              <a:t>Множество значений</a:t>
            </a:r>
            <a:r>
              <a:rPr lang="en-US" dirty="0"/>
              <a:t> </a:t>
            </a:r>
            <a:r>
              <a:rPr lang="ru-RU" dirty="0"/>
              <a:t>типа «неполный массив типа </a:t>
            </a:r>
            <a:r>
              <a:rPr lang="en-US" dirty="0"/>
              <a:t>T</a:t>
            </a:r>
            <a:r>
              <a:rPr lang="ru-RU" dirty="0"/>
              <a:t>» – все непустые конечные последовательности значений типа </a:t>
            </a:r>
            <a:r>
              <a:rPr lang="en-US" dirty="0"/>
              <a:t>T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</a:t>
            </a:r>
            <a:r>
              <a:rPr lang="en-US" baseline="-25000" dirty="0">
                <a:sym typeface="Symbol" panose="05050102010706020507" pitchFamily="18" charset="2"/>
              </a:rPr>
              <a:t>i</a:t>
            </a:r>
            <a:r>
              <a:rPr lang="ru-RU" baseline="-25000" dirty="0">
                <a:sym typeface="Symbol" panose="05050102010706020507" pitchFamily="18" charset="2"/>
              </a:rPr>
              <a:t> ≥ 1</a:t>
            </a:r>
            <a:r>
              <a:rPr lang="en-US" dirty="0">
                <a:sym typeface="Symbol" panose="05050102010706020507" pitchFamily="18" charset="2"/>
              </a:rPr>
              <a:t> </a:t>
            </a:r>
            <a:r>
              <a:rPr lang="en-US" dirty="0" err="1">
                <a:sym typeface="Symbol" panose="05050102010706020507" pitchFamily="18" charset="2"/>
              </a:rPr>
              <a:t>T</a:t>
            </a:r>
            <a:r>
              <a:rPr lang="en-US" baseline="30000" dirty="0" err="1">
                <a:sym typeface="Symbol" panose="05050102010706020507" pitchFamily="18" charset="2"/>
              </a:rPr>
              <a:t>i</a:t>
            </a:r>
            <a:endParaRPr lang="ru-RU" baseline="30000" dirty="0"/>
          </a:p>
          <a:p>
            <a:endParaRPr lang="en-US" dirty="0"/>
          </a:p>
          <a:p>
            <a:r>
              <a:rPr lang="ru-RU" dirty="0">
                <a:solidFill>
                  <a:schemeClr val="bg1"/>
                </a:solidFill>
              </a:rPr>
              <a:t>Операции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Автоматическое преобразование в указатель на нулевой элемент </a:t>
            </a:r>
            <a:r>
              <a:rPr lang="en-US" dirty="0">
                <a:solidFill>
                  <a:schemeClr val="bg1"/>
                </a:solidFill>
              </a:rPr>
              <a:t>T[] -&gt; T*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После преобразования в указатель – все операции с указателями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В том числе, доступ по индексу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5129608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массивы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Бесконечное семейство типов </a:t>
            </a:r>
            <a:r>
              <a:rPr lang="en-US" dirty="0"/>
              <a:t>T[]</a:t>
            </a:r>
          </a:p>
          <a:p>
            <a:pPr lvl="1"/>
            <a:r>
              <a:rPr lang="ru-RU" dirty="0"/>
              <a:t>Тип </a:t>
            </a:r>
            <a:r>
              <a:rPr lang="en-US" dirty="0"/>
              <a:t>T </a:t>
            </a:r>
            <a:r>
              <a:rPr lang="ru-RU" dirty="0"/>
              <a:t>должен быть полным</a:t>
            </a:r>
          </a:p>
          <a:p>
            <a:pPr lvl="1"/>
            <a:endParaRPr lang="ru-RU" dirty="0"/>
          </a:p>
          <a:p>
            <a:r>
              <a:rPr lang="ru-RU" dirty="0"/>
              <a:t>Множество значений</a:t>
            </a:r>
            <a:r>
              <a:rPr lang="en-US" dirty="0"/>
              <a:t> </a:t>
            </a:r>
            <a:r>
              <a:rPr lang="ru-RU" dirty="0"/>
              <a:t>типа «неполный массив типа </a:t>
            </a:r>
            <a:r>
              <a:rPr lang="en-US" dirty="0"/>
              <a:t>T</a:t>
            </a:r>
            <a:r>
              <a:rPr lang="ru-RU" dirty="0"/>
              <a:t>» – все непустые конечные последовательности значений типа </a:t>
            </a:r>
            <a:r>
              <a:rPr lang="en-US" dirty="0"/>
              <a:t>T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</a:t>
            </a:r>
            <a:r>
              <a:rPr lang="en-US" baseline="-25000" dirty="0">
                <a:sym typeface="Symbol" panose="05050102010706020507" pitchFamily="18" charset="2"/>
              </a:rPr>
              <a:t>i</a:t>
            </a:r>
            <a:r>
              <a:rPr lang="ru-RU" baseline="-25000" dirty="0">
                <a:sym typeface="Symbol" panose="05050102010706020507" pitchFamily="18" charset="2"/>
              </a:rPr>
              <a:t> ≥ 1</a:t>
            </a:r>
            <a:r>
              <a:rPr lang="en-US" dirty="0">
                <a:sym typeface="Symbol" panose="05050102010706020507" pitchFamily="18" charset="2"/>
              </a:rPr>
              <a:t> </a:t>
            </a:r>
            <a:r>
              <a:rPr lang="en-US" dirty="0" err="1">
                <a:sym typeface="Symbol" panose="05050102010706020507" pitchFamily="18" charset="2"/>
              </a:rPr>
              <a:t>T</a:t>
            </a:r>
            <a:r>
              <a:rPr lang="en-US" baseline="30000" dirty="0" err="1">
                <a:sym typeface="Symbol" panose="05050102010706020507" pitchFamily="18" charset="2"/>
              </a:rPr>
              <a:t>i</a:t>
            </a:r>
            <a:endParaRPr lang="ru-RU" baseline="30000" dirty="0"/>
          </a:p>
          <a:p>
            <a:endParaRPr lang="en-US" dirty="0"/>
          </a:p>
          <a:p>
            <a:r>
              <a:rPr lang="ru-RU" dirty="0"/>
              <a:t>Операции</a:t>
            </a:r>
          </a:p>
          <a:p>
            <a:pPr lvl="1"/>
            <a:r>
              <a:rPr lang="ru-RU" dirty="0"/>
              <a:t>Автоматическое преобразование в указатель на нулевой элемент </a:t>
            </a:r>
            <a:r>
              <a:rPr lang="en-US" dirty="0"/>
              <a:t>T[] -&gt; T*</a:t>
            </a:r>
            <a:endParaRPr lang="ru-RU" dirty="0"/>
          </a:p>
          <a:p>
            <a:pPr lvl="1"/>
            <a:r>
              <a:rPr lang="ru-RU" dirty="0"/>
              <a:t>После преобразования в указатель – все операции с указателями</a:t>
            </a:r>
          </a:p>
          <a:p>
            <a:pPr lvl="2"/>
            <a:r>
              <a:rPr lang="ru-RU" dirty="0"/>
              <a:t>В том числе, доступ по индексу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9084335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722426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118277"/>
            <a:ext cx="1934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(</a:t>
            </a:r>
            <a:r>
              <a:rPr lang="en-US" dirty="0" err="1"/>
              <a:t>struct</a:t>
            </a:r>
            <a:r>
              <a:rPr lang="ru-RU" dirty="0"/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959" y="5514127"/>
            <a:ext cx="22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(union)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326575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624" y="439707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277193" y="2276343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7193" y="2616631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2814483" y="5095660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8193" y="4701964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8193" y="5097815"/>
            <a:ext cx="1975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Структуры (</a:t>
            </a:r>
            <a:r>
              <a:rPr lang="en-US" b="1" dirty="0" err="1"/>
              <a:t>struct</a:t>
            </a:r>
            <a:r>
              <a:rPr lang="ru-RU" b="1" dirty="0"/>
              <a:t>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8193" y="5493665"/>
            <a:ext cx="2326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/>
              <a:t>Объединения</a:t>
            </a:r>
            <a:r>
              <a:rPr lang="en-US" b="1" dirty="0"/>
              <a:t> (union)</a:t>
            </a:r>
            <a:endParaRPr lang="ru-RU" b="1" dirty="0"/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3990352" y="2461009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1649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8" idx="3"/>
            <a:endCxn id="9" idx="1"/>
          </p:cNvCxnSpPr>
          <p:nvPr/>
        </p:nvCxnSpPr>
        <p:spPr>
          <a:xfrm flipV="1">
            <a:off x="5392274" y="3645640"/>
            <a:ext cx="759485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8" idx="3"/>
            <a:endCxn id="10" idx="1"/>
          </p:cNvCxnSpPr>
          <p:nvPr/>
        </p:nvCxnSpPr>
        <p:spPr>
          <a:xfrm>
            <a:off x="5392274" y="3790308"/>
            <a:ext cx="759485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511241"/>
            <a:ext cx="1647902" cy="62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 flipV="1">
            <a:off x="7378057" y="4907092"/>
            <a:ext cx="1647902" cy="230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560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3990352" y="2463900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" idx="3"/>
            <a:endCxn id="17" idx="1"/>
          </p:cNvCxnSpPr>
          <p:nvPr/>
        </p:nvCxnSpPr>
        <p:spPr>
          <a:xfrm flipV="1">
            <a:off x="2481174" y="4581744"/>
            <a:ext cx="230450" cy="466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6" idx="3"/>
            <a:endCxn id="22" idx="0"/>
          </p:cNvCxnSpPr>
          <p:nvPr/>
        </p:nvCxnSpPr>
        <p:spPr>
          <a:xfrm>
            <a:off x="2481174" y="5048097"/>
            <a:ext cx="919848" cy="232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stCxn id="22" idx="2"/>
            <a:endCxn id="25" idx="1"/>
          </p:cNvCxnSpPr>
          <p:nvPr/>
        </p:nvCxnSpPr>
        <p:spPr>
          <a:xfrm flipV="1">
            <a:off x="3770354" y="4886630"/>
            <a:ext cx="477839" cy="3936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>
            <a:stCxn id="22" idx="2"/>
            <a:endCxn id="26" idx="1"/>
          </p:cNvCxnSpPr>
          <p:nvPr/>
        </p:nvCxnSpPr>
        <p:spPr>
          <a:xfrm>
            <a:off x="3770354" y="5280326"/>
            <a:ext cx="477839" cy="21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/>
          <p:cNvCxnSpPr>
            <a:stCxn id="22" idx="2"/>
            <a:endCxn id="27" idx="1"/>
          </p:cNvCxnSpPr>
          <p:nvPr/>
        </p:nvCxnSpPr>
        <p:spPr>
          <a:xfrm>
            <a:off x="3770354" y="5280326"/>
            <a:ext cx="477839" cy="398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071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6474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711624" y="6021288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cxnSp>
        <p:nvCxnSpPr>
          <p:cNvPr id="101" name="Straight Arrow Connector 100"/>
          <p:cNvCxnSpPr>
            <a:stCxn id="6" idx="3"/>
            <a:endCxn id="100" idx="1"/>
          </p:cNvCxnSpPr>
          <p:nvPr/>
        </p:nvCxnSpPr>
        <p:spPr>
          <a:xfrm>
            <a:off x="2481174" y="5048097"/>
            <a:ext cx="230450" cy="1157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7662720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структуры (объединения)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Бесконечное семейство типов </a:t>
            </a:r>
            <a:r>
              <a:rPr lang="en-US" dirty="0" err="1">
                <a:solidFill>
                  <a:schemeClr val="bg1"/>
                </a:solidFill>
              </a:rPr>
              <a:t>struct</a:t>
            </a:r>
            <a:r>
              <a:rPr lang="en-US" dirty="0">
                <a:solidFill>
                  <a:schemeClr val="bg1"/>
                </a:solidFill>
              </a:rPr>
              <a:t> S </a:t>
            </a:r>
            <a:r>
              <a:rPr lang="ru-RU" dirty="0">
                <a:solidFill>
                  <a:schemeClr val="bg1"/>
                </a:solidFill>
              </a:rPr>
              <a:t>(</a:t>
            </a:r>
            <a:r>
              <a:rPr lang="en-US" dirty="0">
                <a:solidFill>
                  <a:schemeClr val="bg1"/>
                </a:solidFill>
              </a:rPr>
              <a:t>union  U</a:t>
            </a:r>
            <a:r>
              <a:rPr lang="ru-RU" dirty="0">
                <a:solidFill>
                  <a:schemeClr val="bg1"/>
                </a:solidFill>
              </a:rPr>
              <a:t>)</a:t>
            </a:r>
            <a:endParaRPr lang="en-US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Структуры (объединения) с неизвестным или незавершенным списком элементов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полностью отсутствует список элементов </a:t>
            </a:r>
            <a:r>
              <a:rPr lang="en-US" dirty="0">
                <a:solidFill>
                  <a:schemeClr val="bg1"/>
                </a:solidFill>
              </a:rPr>
              <a:t>{ … }</a:t>
            </a:r>
            <a:endParaRPr lang="ru-RU" dirty="0">
              <a:solidFill>
                <a:schemeClr val="bg1"/>
              </a:solidFill>
            </a:endParaRPr>
          </a:p>
          <a:p>
            <a:pPr lvl="2"/>
            <a:r>
              <a:rPr lang="ru-RU" dirty="0">
                <a:solidFill>
                  <a:schemeClr val="bg1"/>
                </a:solidFill>
              </a:rPr>
              <a:t>компилятор не встретил закрывающуюся </a:t>
            </a:r>
            <a:r>
              <a:rPr lang="en-US" dirty="0">
                <a:solidFill>
                  <a:schemeClr val="bg1"/>
                </a:solidFill>
              </a:rPr>
              <a:t>}</a:t>
            </a:r>
            <a:r>
              <a:rPr lang="ru-RU" dirty="0">
                <a:solidFill>
                  <a:schemeClr val="bg1"/>
                </a:solidFill>
              </a:rPr>
              <a:t> списка элементов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Внутри своего описания структура является неполным типом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Структура </a:t>
            </a:r>
            <a:r>
              <a:rPr lang="en-US" dirty="0" err="1">
                <a:solidFill>
                  <a:schemeClr val="bg1"/>
                </a:solidFill>
              </a:rPr>
              <a:t>struct</a:t>
            </a:r>
            <a:r>
              <a:rPr lang="en-US" dirty="0">
                <a:solidFill>
                  <a:schemeClr val="bg1"/>
                </a:solidFill>
              </a:rPr>
              <a:t> S </a:t>
            </a:r>
            <a:r>
              <a:rPr lang="ru-RU" dirty="0">
                <a:solidFill>
                  <a:schemeClr val="bg1"/>
                </a:solidFill>
              </a:rPr>
              <a:t>(</a:t>
            </a:r>
            <a:r>
              <a:rPr lang="en-US" dirty="0">
                <a:solidFill>
                  <a:schemeClr val="bg1"/>
                </a:solidFill>
              </a:rPr>
              <a:t>union  U</a:t>
            </a:r>
            <a:r>
              <a:rPr lang="ru-RU" dirty="0">
                <a:solidFill>
                  <a:schemeClr val="bg1"/>
                </a:solidFill>
              </a:rPr>
              <a:t>) становится полной после того, как компилятор встретит </a:t>
            </a:r>
          </a:p>
          <a:p>
            <a:pPr lvl="2"/>
            <a:r>
              <a:rPr lang="en-US" dirty="0" err="1">
                <a:solidFill>
                  <a:schemeClr val="bg1"/>
                </a:solidFill>
              </a:rPr>
              <a:t>struct</a:t>
            </a:r>
            <a:r>
              <a:rPr lang="en-US" dirty="0">
                <a:solidFill>
                  <a:schemeClr val="bg1"/>
                </a:solidFill>
              </a:rPr>
              <a:t> S { … }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(union U { … }) </a:t>
            </a:r>
            <a:r>
              <a:rPr lang="ru-RU" dirty="0">
                <a:solidFill>
                  <a:schemeClr val="bg1"/>
                </a:solidFill>
              </a:rPr>
              <a:t>с тем же тэгом и списком элементов или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закрывающуюся </a:t>
            </a:r>
            <a:r>
              <a:rPr lang="en-US" dirty="0">
                <a:solidFill>
                  <a:schemeClr val="bg1"/>
                </a:solidFill>
              </a:rPr>
              <a:t>}</a:t>
            </a:r>
            <a:r>
              <a:rPr lang="ru-RU" dirty="0">
                <a:solidFill>
                  <a:schemeClr val="bg1"/>
                </a:solidFill>
              </a:rPr>
              <a:t> списка элементов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пусто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пуст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1707221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структуры (объединения)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ru-RU" dirty="0"/>
              <a:t>Бесконечное семейство типов </a:t>
            </a:r>
            <a:r>
              <a:rPr lang="en-US" dirty="0" err="1"/>
              <a:t>struct</a:t>
            </a:r>
            <a:r>
              <a:rPr lang="en-US" dirty="0"/>
              <a:t> S </a:t>
            </a:r>
            <a:r>
              <a:rPr lang="ru-RU" dirty="0"/>
              <a:t>(</a:t>
            </a:r>
            <a:r>
              <a:rPr lang="en-US" dirty="0"/>
              <a:t>union  U</a:t>
            </a:r>
            <a:r>
              <a:rPr lang="ru-RU" dirty="0"/>
              <a:t>)</a:t>
            </a:r>
            <a:endParaRPr lang="en-US" dirty="0"/>
          </a:p>
          <a:p>
            <a:pPr lvl="1"/>
            <a:r>
              <a:rPr lang="ru-RU" dirty="0"/>
              <a:t>Структуры (объединения) с неизвестным или незавершенным списком элементов</a:t>
            </a:r>
          </a:p>
          <a:p>
            <a:pPr lvl="2"/>
            <a:r>
              <a:rPr lang="ru-RU" dirty="0"/>
              <a:t>полностью отсутствует список элементов </a:t>
            </a:r>
            <a:r>
              <a:rPr lang="en-US" dirty="0"/>
              <a:t>{ … }</a:t>
            </a:r>
            <a:endParaRPr lang="ru-RU" dirty="0"/>
          </a:p>
          <a:p>
            <a:pPr lvl="2"/>
            <a:r>
              <a:rPr lang="ru-RU" dirty="0"/>
              <a:t>компилятор не встретил закрывающуюся </a:t>
            </a:r>
            <a:r>
              <a:rPr lang="en-US" dirty="0"/>
              <a:t>}</a:t>
            </a:r>
            <a:r>
              <a:rPr lang="ru-RU" dirty="0"/>
              <a:t> списка элементов</a:t>
            </a:r>
          </a:p>
          <a:p>
            <a:pPr lvl="3"/>
            <a:r>
              <a:rPr lang="ru-RU" dirty="0"/>
              <a:t>Внутри своего описания структура является неполным типом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Структура </a:t>
            </a:r>
            <a:r>
              <a:rPr lang="en-US" dirty="0" err="1">
                <a:solidFill>
                  <a:schemeClr val="bg1"/>
                </a:solidFill>
              </a:rPr>
              <a:t>struct</a:t>
            </a:r>
            <a:r>
              <a:rPr lang="en-US" dirty="0">
                <a:solidFill>
                  <a:schemeClr val="bg1"/>
                </a:solidFill>
              </a:rPr>
              <a:t> S </a:t>
            </a:r>
            <a:r>
              <a:rPr lang="ru-RU" dirty="0">
                <a:solidFill>
                  <a:schemeClr val="bg1"/>
                </a:solidFill>
              </a:rPr>
              <a:t>(</a:t>
            </a:r>
            <a:r>
              <a:rPr lang="en-US" dirty="0">
                <a:solidFill>
                  <a:schemeClr val="bg1"/>
                </a:solidFill>
              </a:rPr>
              <a:t>union  U</a:t>
            </a:r>
            <a:r>
              <a:rPr lang="ru-RU" dirty="0">
                <a:solidFill>
                  <a:schemeClr val="bg1"/>
                </a:solidFill>
              </a:rPr>
              <a:t>) становится полной после того, как компилятор встретит </a:t>
            </a:r>
          </a:p>
          <a:p>
            <a:pPr lvl="2"/>
            <a:r>
              <a:rPr lang="en-US" dirty="0" err="1">
                <a:solidFill>
                  <a:schemeClr val="bg1"/>
                </a:solidFill>
              </a:rPr>
              <a:t>struct</a:t>
            </a:r>
            <a:r>
              <a:rPr lang="en-US" dirty="0">
                <a:solidFill>
                  <a:schemeClr val="bg1"/>
                </a:solidFill>
              </a:rPr>
              <a:t> S { … }</a:t>
            </a:r>
            <a:r>
              <a:rPr lang="ru-RU" dirty="0">
                <a:solidFill>
                  <a:schemeClr val="bg1"/>
                </a:solidFill>
              </a:rPr>
              <a:t> </a:t>
            </a:r>
            <a:r>
              <a:rPr lang="en-US" dirty="0">
                <a:solidFill>
                  <a:schemeClr val="bg1"/>
                </a:solidFill>
              </a:rPr>
              <a:t>(union U { … }) </a:t>
            </a:r>
            <a:r>
              <a:rPr lang="ru-RU" dirty="0">
                <a:solidFill>
                  <a:schemeClr val="bg1"/>
                </a:solidFill>
              </a:rPr>
              <a:t>с тем же тэгом и списком элементов или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закрывающуюся </a:t>
            </a:r>
            <a:r>
              <a:rPr lang="en-US" dirty="0">
                <a:solidFill>
                  <a:schemeClr val="bg1"/>
                </a:solidFill>
              </a:rPr>
              <a:t>}</a:t>
            </a:r>
            <a:r>
              <a:rPr lang="ru-RU" dirty="0">
                <a:solidFill>
                  <a:schemeClr val="bg1"/>
                </a:solidFill>
              </a:rPr>
              <a:t> списка элементов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пусто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пуст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73604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структуры (объединения)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ru-RU" dirty="0"/>
              <a:t>Бесконечное семейство типов </a:t>
            </a:r>
            <a:r>
              <a:rPr lang="en-US" dirty="0" err="1"/>
              <a:t>struct</a:t>
            </a:r>
            <a:r>
              <a:rPr lang="en-US" dirty="0"/>
              <a:t> S </a:t>
            </a:r>
            <a:r>
              <a:rPr lang="ru-RU" dirty="0"/>
              <a:t>(</a:t>
            </a:r>
            <a:r>
              <a:rPr lang="en-US" dirty="0"/>
              <a:t>union  U</a:t>
            </a:r>
            <a:r>
              <a:rPr lang="ru-RU" dirty="0"/>
              <a:t>)</a:t>
            </a:r>
            <a:endParaRPr lang="en-US" dirty="0"/>
          </a:p>
          <a:p>
            <a:pPr lvl="1"/>
            <a:r>
              <a:rPr lang="ru-RU" dirty="0"/>
              <a:t>Структуры (объединения) с неизвестным или незавершенным списком элементов</a:t>
            </a:r>
          </a:p>
          <a:p>
            <a:pPr lvl="2"/>
            <a:r>
              <a:rPr lang="ru-RU" dirty="0"/>
              <a:t>полностью отсутствует список элементов </a:t>
            </a:r>
            <a:r>
              <a:rPr lang="en-US" dirty="0"/>
              <a:t>{ … }</a:t>
            </a:r>
            <a:endParaRPr lang="ru-RU" dirty="0"/>
          </a:p>
          <a:p>
            <a:pPr lvl="2"/>
            <a:r>
              <a:rPr lang="ru-RU" dirty="0"/>
              <a:t>компилятор не встретил закрывающуюся </a:t>
            </a:r>
            <a:r>
              <a:rPr lang="en-US" dirty="0"/>
              <a:t>}</a:t>
            </a:r>
            <a:r>
              <a:rPr lang="ru-RU" dirty="0"/>
              <a:t> списка элементов</a:t>
            </a:r>
          </a:p>
          <a:p>
            <a:pPr lvl="3"/>
            <a:r>
              <a:rPr lang="ru-RU" dirty="0"/>
              <a:t>Внутри своего описания структура является неполным типом</a:t>
            </a:r>
          </a:p>
          <a:p>
            <a:pPr lvl="1"/>
            <a:r>
              <a:rPr lang="ru-RU" dirty="0"/>
              <a:t>Структура </a:t>
            </a:r>
            <a:r>
              <a:rPr lang="en-US" dirty="0" err="1"/>
              <a:t>struct</a:t>
            </a:r>
            <a:r>
              <a:rPr lang="en-US" dirty="0"/>
              <a:t> S </a:t>
            </a:r>
            <a:r>
              <a:rPr lang="ru-RU" dirty="0"/>
              <a:t>(</a:t>
            </a:r>
            <a:r>
              <a:rPr lang="en-US" dirty="0"/>
              <a:t>union  U</a:t>
            </a:r>
            <a:r>
              <a:rPr lang="ru-RU" dirty="0"/>
              <a:t>) становится полной после того, как компилятор встретит </a:t>
            </a:r>
          </a:p>
          <a:p>
            <a:pPr lvl="2"/>
            <a:r>
              <a:rPr lang="en-US" dirty="0" err="1"/>
              <a:t>struct</a:t>
            </a:r>
            <a:r>
              <a:rPr lang="en-US" dirty="0"/>
              <a:t> S { … }</a:t>
            </a:r>
            <a:r>
              <a:rPr lang="ru-RU" dirty="0"/>
              <a:t> </a:t>
            </a:r>
            <a:r>
              <a:rPr lang="en-US" dirty="0"/>
              <a:t>(union U { … }) </a:t>
            </a:r>
            <a:r>
              <a:rPr lang="ru-RU" dirty="0"/>
              <a:t>с тем же тэгом и списком элементов или</a:t>
            </a:r>
          </a:p>
          <a:p>
            <a:pPr lvl="2"/>
            <a:r>
              <a:rPr lang="ru-RU" dirty="0"/>
              <a:t>закрывающуюся </a:t>
            </a:r>
            <a:r>
              <a:rPr lang="en-US" dirty="0"/>
              <a:t>}</a:t>
            </a:r>
            <a:r>
              <a:rPr lang="ru-RU" dirty="0"/>
              <a:t> списка элементов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Множество значений пусто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Набор операций пуст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900773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Неполные структуры (объединения)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ru-RU" dirty="0"/>
              <a:t>Бесконечное семейство типов </a:t>
            </a:r>
            <a:r>
              <a:rPr lang="en-US" dirty="0" err="1"/>
              <a:t>struct</a:t>
            </a:r>
            <a:r>
              <a:rPr lang="en-US" dirty="0"/>
              <a:t> S </a:t>
            </a:r>
            <a:r>
              <a:rPr lang="ru-RU" dirty="0"/>
              <a:t>(</a:t>
            </a:r>
            <a:r>
              <a:rPr lang="en-US" dirty="0"/>
              <a:t>union  U</a:t>
            </a:r>
            <a:r>
              <a:rPr lang="ru-RU" dirty="0"/>
              <a:t>)</a:t>
            </a:r>
            <a:endParaRPr lang="en-US" dirty="0"/>
          </a:p>
          <a:p>
            <a:pPr lvl="1"/>
            <a:r>
              <a:rPr lang="ru-RU" dirty="0"/>
              <a:t>Структуры (объединения) с неизвестным или незавершенным списком элементов</a:t>
            </a:r>
          </a:p>
          <a:p>
            <a:pPr lvl="2"/>
            <a:r>
              <a:rPr lang="ru-RU" dirty="0"/>
              <a:t>полностью отсутствует список элементов </a:t>
            </a:r>
            <a:r>
              <a:rPr lang="en-US" dirty="0"/>
              <a:t>{ … }</a:t>
            </a:r>
            <a:endParaRPr lang="ru-RU" dirty="0"/>
          </a:p>
          <a:p>
            <a:pPr lvl="2"/>
            <a:r>
              <a:rPr lang="ru-RU" dirty="0"/>
              <a:t>компилятор не встретил закрывающуюся </a:t>
            </a:r>
            <a:r>
              <a:rPr lang="en-US" dirty="0"/>
              <a:t>}</a:t>
            </a:r>
            <a:r>
              <a:rPr lang="ru-RU" dirty="0"/>
              <a:t> списка элементов</a:t>
            </a:r>
          </a:p>
          <a:p>
            <a:pPr lvl="3"/>
            <a:r>
              <a:rPr lang="ru-RU" dirty="0"/>
              <a:t>Внутри своего описания структура является неполным типом</a:t>
            </a:r>
          </a:p>
          <a:p>
            <a:pPr lvl="1"/>
            <a:r>
              <a:rPr lang="ru-RU" dirty="0"/>
              <a:t>Структура </a:t>
            </a:r>
            <a:r>
              <a:rPr lang="en-US" dirty="0" err="1"/>
              <a:t>struct</a:t>
            </a:r>
            <a:r>
              <a:rPr lang="en-US" dirty="0"/>
              <a:t> S </a:t>
            </a:r>
            <a:r>
              <a:rPr lang="ru-RU" dirty="0"/>
              <a:t>(</a:t>
            </a:r>
            <a:r>
              <a:rPr lang="en-US" dirty="0"/>
              <a:t>union  U</a:t>
            </a:r>
            <a:r>
              <a:rPr lang="ru-RU" dirty="0"/>
              <a:t>) становится полной после того, как компилятор встретит </a:t>
            </a:r>
          </a:p>
          <a:p>
            <a:pPr lvl="2"/>
            <a:r>
              <a:rPr lang="en-US" dirty="0" err="1"/>
              <a:t>struct</a:t>
            </a:r>
            <a:r>
              <a:rPr lang="en-US" dirty="0"/>
              <a:t> S { … }</a:t>
            </a:r>
            <a:r>
              <a:rPr lang="ru-RU" dirty="0"/>
              <a:t> </a:t>
            </a:r>
            <a:r>
              <a:rPr lang="en-US" dirty="0"/>
              <a:t>(union U { … }) </a:t>
            </a:r>
            <a:r>
              <a:rPr lang="ru-RU" dirty="0"/>
              <a:t>с тем же тэгом и списком элементов или</a:t>
            </a:r>
          </a:p>
          <a:p>
            <a:pPr lvl="2"/>
            <a:r>
              <a:rPr lang="ru-RU" dirty="0"/>
              <a:t>закрывающуюся </a:t>
            </a:r>
            <a:r>
              <a:rPr lang="en-US" dirty="0"/>
              <a:t>}</a:t>
            </a:r>
            <a:r>
              <a:rPr lang="ru-RU" dirty="0"/>
              <a:t> списка элементов</a:t>
            </a:r>
          </a:p>
          <a:p>
            <a:endParaRPr lang="ru-RU" dirty="0"/>
          </a:p>
          <a:p>
            <a:r>
              <a:rPr lang="ru-RU" dirty="0"/>
              <a:t>Множество значений пусто</a:t>
            </a:r>
          </a:p>
          <a:p>
            <a:endParaRPr lang="ru-RU" dirty="0"/>
          </a:p>
          <a:p>
            <a:r>
              <a:rPr lang="ru-RU" dirty="0"/>
              <a:t>Набор операций пуст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58367297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Классификация типов в языке Си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9309" y="1921845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Функциональные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9309" y="3563053"/>
            <a:ext cx="9562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Полные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9309" y="4863431"/>
            <a:ext cx="11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Неполные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62112" y="2279234"/>
            <a:ext cx="828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Целые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2112" y="3605642"/>
            <a:ext cx="22301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 плавающей точкой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51759" y="3460974"/>
            <a:ext cx="1641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Вещественные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1759" y="3738120"/>
            <a:ext cx="20832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Комплексные (</a:t>
            </a:r>
            <a:r>
              <a:rPr lang="en-US" dirty="0"/>
              <a:t>C99</a:t>
            </a:r>
            <a:r>
              <a:rPr lang="ru-RU" dirty="0"/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 rot="16200000">
            <a:off x="6422186" y="4953375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12" name="TextBox 11"/>
          <p:cNvSpPr txBox="1"/>
          <p:nvPr/>
        </p:nvSpPr>
        <p:spPr>
          <a:xfrm rot="16200000">
            <a:off x="-140472" y="3576767"/>
            <a:ext cx="1609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Типы языка Си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5959" y="4722426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959" y="5118277"/>
            <a:ext cx="1934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(</a:t>
            </a:r>
            <a:r>
              <a:rPr lang="en-US" dirty="0" err="1"/>
              <a:t>struct</a:t>
            </a:r>
            <a:r>
              <a:rPr lang="ru-RU" dirty="0"/>
              <a:t>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959" y="5514127"/>
            <a:ext cx="22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(union)</a:t>
            </a:r>
            <a:endParaRPr lang="ru-RU" dirty="0"/>
          </a:p>
        </p:txBody>
      </p:sp>
      <p:sp>
        <p:nvSpPr>
          <p:cNvPr id="16" name="TextBox 15"/>
          <p:cNvSpPr txBox="1"/>
          <p:nvPr/>
        </p:nvSpPr>
        <p:spPr>
          <a:xfrm>
            <a:off x="9025959" y="4326575"/>
            <a:ext cx="11621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Указатели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1624" y="4397078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void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277193" y="2276343"/>
            <a:ext cx="1133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Знаковые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77193" y="2616631"/>
            <a:ext cx="1458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 err="1"/>
              <a:t>Беззнаковые</a:t>
            </a:r>
            <a:endParaRPr lang="ru-RU" dirty="0"/>
          </a:p>
        </p:txBody>
      </p:sp>
      <p:sp>
        <p:nvSpPr>
          <p:cNvPr id="20" name="TextBox 19"/>
          <p:cNvSpPr txBox="1"/>
          <p:nvPr/>
        </p:nvSpPr>
        <p:spPr>
          <a:xfrm>
            <a:off x="4277193" y="1595767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7193" y="1936055"/>
            <a:ext cx="6912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char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 rot="16200000">
            <a:off x="2814483" y="5095660"/>
            <a:ext cx="15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Производные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48193" y="4701964"/>
            <a:ext cx="1076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Массивы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48193" y="5097815"/>
            <a:ext cx="19341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Структуры (</a:t>
            </a:r>
            <a:r>
              <a:rPr lang="en-US" dirty="0" err="1"/>
              <a:t>struct</a:t>
            </a:r>
            <a:r>
              <a:rPr lang="ru-RU" dirty="0"/>
              <a:t>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8193" y="5493665"/>
            <a:ext cx="2279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Объединения</a:t>
            </a:r>
            <a:r>
              <a:rPr lang="en-US" dirty="0"/>
              <a:t> (union)</a:t>
            </a:r>
            <a:endParaRPr lang="ru-RU" dirty="0"/>
          </a:p>
        </p:txBody>
      </p:sp>
      <p:cxnSp>
        <p:nvCxnSpPr>
          <p:cNvPr id="29" name="Straight Arrow Connector 28"/>
          <p:cNvCxnSpPr>
            <a:stCxn id="12" idx="2"/>
            <a:endCxn id="4" idx="1"/>
          </p:cNvCxnSpPr>
          <p:nvPr/>
        </p:nvCxnSpPr>
        <p:spPr>
          <a:xfrm flipV="1">
            <a:off x="848709" y="2106511"/>
            <a:ext cx="440600" cy="16549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2" idx="2"/>
            <a:endCxn id="5" idx="1"/>
          </p:cNvCxnSpPr>
          <p:nvPr/>
        </p:nvCxnSpPr>
        <p:spPr>
          <a:xfrm flipV="1">
            <a:off x="848709" y="3747719"/>
            <a:ext cx="440600" cy="137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  <a:endCxn id="6" idx="1"/>
          </p:cNvCxnSpPr>
          <p:nvPr/>
        </p:nvCxnSpPr>
        <p:spPr>
          <a:xfrm>
            <a:off x="848709" y="3761433"/>
            <a:ext cx="440600" cy="12866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/>
          <p:cNvCxnSpPr>
            <a:stCxn id="5" idx="3"/>
            <a:endCxn id="7" idx="1"/>
          </p:cNvCxnSpPr>
          <p:nvPr/>
        </p:nvCxnSpPr>
        <p:spPr>
          <a:xfrm flipV="1">
            <a:off x="2245533" y="2463900"/>
            <a:ext cx="916579" cy="1283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/>
          <p:cNvCxnSpPr>
            <a:stCxn id="5" idx="3"/>
            <a:endCxn id="8" idx="1"/>
          </p:cNvCxnSpPr>
          <p:nvPr/>
        </p:nvCxnSpPr>
        <p:spPr>
          <a:xfrm>
            <a:off x="2245533" y="3747719"/>
            <a:ext cx="916579" cy="425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/>
          <p:cNvCxnSpPr>
            <a:stCxn id="5" idx="3"/>
            <a:endCxn id="11" idx="0"/>
          </p:cNvCxnSpPr>
          <p:nvPr/>
        </p:nvCxnSpPr>
        <p:spPr>
          <a:xfrm>
            <a:off x="2245533" y="3747719"/>
            <a:ext cx="4763192" cy="1390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7" idx="3"/>
            <a:endCxn id="20" idx="1"/>
          </p:cNvCxnSpPr>
          <p:nvPr/>
        </p:nvCxnSpPr>
        <p:spPr>
          <a:xfrm flipV="1">
            <a:off x="3990352" y="1780433"/>
            <a:ext cx="286841" cy="6834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stCxn id="7" idx="3"/>
            <a:endCxn id="21" idx="1"/>
          </p:cNvCxnSpPr>
          <p:nvPr/>
        </p:nvCxnSpPr>
        <p:spPr>
          <a:xfrm flipV="1">
            <a:off x="3990352" y="2120721"/>
            <a:ext cx="286841" cy="3431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7" idx="3"/>
            <a:endCxn id="18" idx="1"/>
          </p:cNvCxnSpPr>
          <p:nvPr/>
        </p:nvCxnSpPr>
        <p:spPr>
          <a:xfrm flipV="1">
            <a:off x="3990352" y="2461009"/>
            <a:ext cx="286841" cy="289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>
            <a:stCxn id="11" idx="2"/>
            <a:endCxn id="14" idx="1"/>
          </p:cNvCxnSpPr>
          <p:nvPr/>
        </p:nvCxnSpPr>
        <p:spPr>
          <a:xfrm>
            <a:off x="7378057" y="5138041"/>
            <a:ext cx="1647902" cy="1649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/>
          <p:cNvCxnSpPr>
            <a:stCxn id="8" idx="3"/>
            <a:endCxn id="9" idx="1"/>
          </p:cNvCxnSpPr>
          <p:nvPr/>
        </p:nvCxnSpPr>
        <p:spPr>
          <a:xfrm flipV="1">
            <a:off x="5392274" y="3645640"/>
            <a:ext cx="759485" cy="1446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/>
          <p:cNvCxnSpPr>
            <a:stCxn id="8" idx="3"/>
            <a:endCxn id="10" idx="1"/>
          </p:cNvCxnSpPr>
          <p:nvPr/>
        </p:nvCxnSpPr>
        <p:spPr>
          <a:xfrm>
            <a:off x="5392274" y="3790308"/>
            <a:ext cx="759485" cy="132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/>
          <p:cNvCxnSpPr>
            <a:stCxn id="11" idx="2"/>
            <a:endCxn id="16" idx="1"/>
          </p:cNvCxnSpPr>
          <p:nvPr/>
        </p:nvCxnSpPr>
        <p:spPr>
          <a:xfrm flipV="1">
            <a:off x="7378057" y="4511241"/>
            <a:ext cx="1647902" cy="626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/>
          <p:cNvCxnSpPr>
            <a:stCxn id="11" idx="2"/>
            <a:endCxn id="13" idx="1"/>
          </p:cNvCxnSpPr>
          <p:nvPr/>
        </p:nvCxnSpPr>
        <p:spPr>
          <a:xfrm flipV="1">
            <a:off x="7378057" y="4907092"/>
            <a:ext cx="1647902" cy="230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/>
          <p:cNvCxnSpPr>
            <a:stCxn id="11" idx="2"/>
            <a:endCxn id="15" idx="1"/>
          </p:cNvCxnSpPr>
          <p:nvPr/>
        </p:nvCxnSpPr>
        <p:spPr>
          <a:xfrm>
            <a:off x="7378057" y="5138041"/>
            <a:ext cx="1647902" cy="5607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/>
          <p:cNvCxnSpPr>
            <a:stCxn id="7" idx="3"/>
            <a:endCxn id="19" idx="1"/>
          </p:cNvCxnSpPr>
          <p:nvPr/>
        </p:nvCxnSpPr>
        <p:spPr>
          <a:xfrm>
            <a:off x="3990352" y="2463900"/>
            <a:ext cx="286841" cy="3373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>
            <a:stCxn id="6" idx="3"/>
            <a:endCxn id="17" idx="1"/>
          </p:cNvCxnSpPr>
          <p:nvPr/>
        </p:nvCxnSpPr>
        <p:spPr>
          <a:xfrm flipV="1">
            <a:off x="2481174" y="4581744"/>
            <a:ext cx="230450" cy="4663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/>
          <p:cNvCxnSpPr>
            <a:stCxn id="6" idx="3"/>
            <a:endCxn id="22" idx="0"/>
          </p:cNvCxnSpPr>
          <p:nvPr/>
        </p:nvCxnSpPr>
        <p:spPr>
          <a:xfrm>
            <a:off x="2481174" y="5048097"/>
            <a:ext cx="919848" cy="2322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Arrow Connector 84"/>
          <p:cNvCxnSpPr>
            <a:stCxn id="22" idx="2"/>
            <a:endCxn id="25" idx="1"/>
          </p:cNvCxnSpPr>
          <p:nvPr/>
        </p:nvCxnSpPr>
        <p:spPr>
          <a:xfrm flipV="1">
            <a:off x="3770354" y="4886630"/>
            <a:ext cx="477839" cy="3936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/>
          <p:cNvCxnSpPr>
            <a:stCxn id="22" idx="2"/>
            <a:endCxn id="26" idx="1"/>
          </p:cNvCxnSpPr>
          <p:nvPr/>
        </p:nvCxnSpPr>
        <p:spPr>
          <a:xfrm>
            <a:off x="3770354" y="5280326"/>
            <a:ext cx="477839" cy="21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/>
          <p:cNvCxnSpPr>
            <a:stCxn id="22" idx="2"/>
            <a:endCxn id="27" idx="1"/>
          </p:cNvCxnSpPr>
          <p:nvPr/>
        </p:nvCxnSpPr>
        <p:spPr>
          <a:xfrm>
            <a:off x="3770354" y="5280326"/>
            <a:ext cx="477839" cy="39800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6328037" y="2307121"/>
            <a:ext cx="47564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signed char, short, 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, long, 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r>
              <a:rPr lang="en-US" sz="1400" dirty="0">
                <a:latin typeface="Consolas" panose="020B0609020204030204" pitchFamily="49" charset="0"/>
              </a:rPr>
              <a:t>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6328037" y="2647409"/>
            <a:ext cx="41601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unsigned + char/short/</a:t>
            </a:r>
            <a:r>
              <a:rPr lang="en-US" sz="1400" dirty="0" err="1">
                <a:latin typeface="Consolas" panose="020B0609020204030204" pitchFamily="49" charset="0"/>
              </a:rPr>
              <a:t>int</a:t>
            </a:r>
            <a:r>
              <a:rPr lang="en-US" sz="1400" dirty="0">
                <a:latin typeface="Consolas" panose="020B0609020204030204" pitchFamily="49" charset="0"/>
              </a:rPr>
              <a:t>/long/long </a:t>
            </a:r>
            <a:r>
              <a:rPr lang="en-US" sz="1400" dirty="0" err="1">
                <a:latin typeface="Consolas" panose="020B0609020204030204" pitchFamily="49" charset="0"/>
              </a:rPr>
              <a:t>long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8235022" y="3491752"/>
            <a:ext cx="3365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float, double, long double (C99)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99" name="TextBox 98"/>
          <p:cNvSpPr txBox="1"/>
          <p:nvPr/>
        </p:nvSpPr>
        <p:spPr>
          <a:xfrm>
            <a:off x="8213625" y="3768898"/>
            <a:ext cx="35637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complex + float/double/long double</a:t>
            </a:r>
            <a:endParaRPr lang="ru-RU" sz="1400" dirty="0">
              <a:latin typeface="Consolas" panose="020B0609020204030204" pitchFamily="49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2711624" y="6021288"/>
            <a:ext cx="2417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Перечислимые (</a:t>
            </a:r>
            <a:r>
              <a:rPr lang="en-US" dirty="0" err="1"/>
              <a:t>enum</a:t>
            </a:r>
            <a:r>
              <a:rPr lang="ru-RU" dirty="0"/>
              <a:t>)</a:t>
            </a:r>
          </a:p>
        </p:txBody>
      </p:sp>
      <p:cxnSp>
        <p:nvCxnSpPr>
          <p:cNvPr id="101" name="Straight Arrow Connector 100"/>
          <p:cNvCxnSpPr>
            <a:stCxn id="6" idx="3"/>
            <a:endCxn id="100" idx="1"/>
          </p:cNvCxnSpPr>
          <p:nvPr/>
        </p:nvCxnSpPr>
        <p:spPr>
          <a:xfrm>
            <a:off x="2481174" y="5048097"/>
            <a:ext cx="230450" cy="11578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606093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хранится в памяти?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Значение – это непрерывная последовательность байтов памяти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Размер значения – это длина это последовательности байтов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Битовое поле – это непрерывная последовательность битов памяти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Размер битового поля – это длина это последовательности битов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Хранятся внутри значений целых типов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Используются довольно редко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676522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хранится в памяти?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Значение – это непрерывная последовательность байтов памяти</a:t>
            </a:r>
          </a:p>
          <a:p>
            <a:pPr lvl="1"/>
            <a:r>
              <a:rPr lang="ru-RU" dirty="0"/>
              <a:t>Размер значения – это длина это последовательности байтов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Битовое поле – это непрерывная последовательность битов памяти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Размер битового поля – это длина это последовательности битов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Хранятся внутри значений целых типов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Используются довольно редко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ru-RU" dirty="0">
              <a:solidFill>
                <a:schemeClr val="bg1"/>
              </a:solidFill>
            </a:endParaRPr>
          </a:p>
          <a:p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638999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хранится в памяти?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Значение – это непрерывная последовательность байтов памяти</a:t>
            </a:r>
          </a:p>
          <a:p>
            <a:pPr lvl="1"/>
            <a:r>
              <a:rPr lang="ru-RU" dirty="0"/>
              <a:t>Размер значения – это длина это последовательности байтов</a:t>
            </a:r>
          </a:p>
          <a:p>
            <a:endParaRPr lang="ru-RU" dirty="0"/>
          </a:p>
          <a:p>
            <a:r>
              <a:rPr lang="ru-RU" dirty="0"/>
              <a:t>Битовое поле – это непрерывная последовательность битов памяти</a:t>
            </a:r>
          </a:p>
          <a:p>
            <a:pPr lvl="1"/>
            <a:r>
              <a:rPr lang="ru-RU" dirty="0"/>
              <a:t>Размер битового поля – это длина это последовательности битов</a:t>
            </a:r>
          </a:p>
          <a:p>
            <a:pPr lvl="1"/>
            <a:r>
              <a:rPr lang="ru-RU" dirty="0"/>
              <a:t>Хранятся внутри значений целых типов</a:t>
            </a:r>
          </a:p>
          <a:p>
            <a:pPr lvl="1"/>
            <a:r>
              <a:rPr lang="ru-RU" dirty="0"/>
              <a:t>Используются довольно редко</a:t>
            </a:r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146327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Двоичное представление значений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Для значений </a:t>
            </a:r>
            <a:r>
              <a:rPr lang="en-US" dirty="0">
                <a:solidFill>
                  <a:schemeClr val="bg1"/>
                </a:solidFill>
              </a:rPr>
              <a:t>unsigned char </a:t>
            </a:r>
            <a:r>
              <a:rPr lang="ru-RU" dirty="0">
                <a:solidFill>
                  <a:schemeClr val="bg1"/>
                </a:solidFill>
              </a:rPr>
              <a:t>хранится двоичная запись значения</a:t>
            </a:r>
          </a:p>
          <a:p>
            <a:pPr lvl="1"/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Любое значение типа Т размером </a:t>
            </a:r>
            <a:r>
              <a:rPr lang="en-US" dirty="0">
                <a:solidFill>
                  <a:schemeClr val="bg1"/>
                </a:solidFill>
              </a:rPr>
              <a:t>N </a:t>
            </a:r>
            <a:r>
              <a:rPr lang="ru-RU" dirty="0">
                <a:solidFill>
                  <a:schemeClr val="bg1"/>
                </a:solidFill>
              </a:rPr>
              <a:t>байтов можно скопировать в массив типа </a:t>
            </a:r>
            <a:r>
              <a:rPr lang="en-US" dirty="0">
                <a:solidFill>
                  <a:schemeClr val="bg1"/>
                </a:solidFill>
              </a:rPr>
              <a:t>unsigned char[N]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 этого массива называется двоичным представлением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значения типа Т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Значения, отличные от </a:t>
            </a:r>
            <a:r>
              <a:rPr lang="en-US" dirty="0" err="1">
                <a:solidFill>
                  <a:schemeClr val="bg1"/>
                </a:solidFill>
              </a:rPr>
              <a:t>NaN</a:t>
            </a:r>
            <a:r>
              <a:rPr lang="ru-RU" dirty="0">
                <a:solidFill>
                  <a:schemeClr val="bg1"/>
                </a:solidFill>
              </a:rPr>
              <a:t>-</a:t>
            </a:r>
            <a:r>
              <a:rPr lang="ru-RU" dirty="0" err="1">
                <a:solidFill>
                  <a:schemeClr val="bg1"/>
                </a:solidFill>
              </a:rPr>
              <a:t>ов</a:t>
            </a:r>
            <a:r>
              <a:rPr lang="ru-RU" dirty="0">
                <a:solidFill>
                  <a:schemeClr val="bg1"/>
                </a:solidFill>
              </a:rPr>
              <a:t> и имеющие одинаковое двоичное представление, равны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Равные значения могут иметь разное двоичное представление</a:t>
            </a:r>
          </a:p>
          <a:p>
            <a:pPr lvl="1"/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Некоторые значения типа </a:t>
            </a:r>
            <a:r>
              <a:rPr lang="en-US" dirty="0">
                <a:solidFill>
                  <a:schemeClr val="bg1"/>
                </a:solidFill>
              </a:rPr>
              <a:t>unsigned char[N] </a:t>
            </a:r>
            <a:r>
              <a:rPr lang="ru-RU" dirty="0">
                <a:solidFill>
                  <a:schemeClr val="bg1"/>
                </a:solidFill>
              </a:rPr>
              <a:t>могут не быть двоичным представлением никакого значения типа Т размером </a:t>
            </a:r>
            <a:r>
              <a:rPr lang="en-US" dirty="0">
                <a:solidFill>
                  <a:schemeClr val="bg1"/>
                </a:solidFill>
              </a:rPr>
              <a:t>N </a:t>
            </a:r>
            <a:r>
              <a:rPr lang="ru-RU" dirty="0">
                <a:solidFill>
                  <a:schemeClr val="bg1"/>
                </a:solidFill>
              </a:rPr>
              <a:t>байтов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Такие значения называются особыми значениями</a:t>
            </a:r>
          </a:p>
          <a:p>
            <a:pPr lvl="1"/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Доступ и изменение двоичного представления особых значений иначе, чем через символьный тип, ведет к </a:t>
            </a:r>
            <a:r>
              <a:rPr lang="en-US" dirty="0">
                <a:solidFill>
                  <a:schemeClr val="bg1"/>
                </a:solidFill>
              </a:rPr>
              <a:t>undefined behavior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3911073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Двоичное представление значений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Для значений </a:t>
            </a:r>
            <a:r>
              <a:rPr lang="en-US" dirty="0"/>
              <a:t>unsigned char </a:t>
            </a:r>
            <a:r>
              <a:rPr lang="ru-RU" dirty="0"/>
              <a:t>хранится двоичная запись значения</a:t>
            </a:r>
          </a:p>
          <a:p>
            <a:pPr lvl="1"/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Любое значение типа Т размером </a:t>
            </a:r>
            <a:r>
              <a:rPr lang="en-US" dirty="0">
                <a:solidFill>
                  <a:schemeClr val="bg1"/>
                </a:solidFill>
              </a:rPr>
              <a:t>N </a:t>
            </a:r>
            <a:r>
              <a:rPr lang="ru-RU" dirty="0">
                <a:solidFill>
                  <a:schemeClr val="bg1"/>
                </a:solidFill>
              </a:rPr>
              <a:t>байтов можно скопировать в массив типа </a:t>
            </a:r>
            <a:r>
              <a:rPr lang="en-US" dirty="0">
                <a:solidFill>
                  <a:schemeClr val="bg1"/>
                </a:solidFill>
              </a:rPr>
              <a:t>unsigned char[N]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 этого массива называется двоичным представлением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значения типа Т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Значения, отличные от </a:t>
            </a:r>
            <a:r>
              <a:rPr lang="en-US" dirty="0" err="1">
                <a:solidFill>
                  <a:schemeClr val="bg1"/>
                </a:solidFill>
              </a:rPr>
              <a:t>NaN</a:t>
            </a:r>
            <a:r>
              <a:rPr lang="ru-RU" dirty="0">
                <a:solidFill>
                  <a:schemeClr val="bg1"/>
                </a:solidFill>
              </a:rPr>
              <a:t>-</a:t>
            </a:r>
            <a:r>
              <a:rPr lang="ru-RU" dirty="0" err="1">
                <a:solidFill>
                  <a:schemeClr val="bg1"/>
                </a:solidFill>
              </a:rPr>
              <a:t>ов</a:t>
            </a:r>
            <a:r>
              <a:rPr lang="ru-RU" dirty="0">
                <a:solidFill>
                  <a:schemeClr val="bg1"/>
                </a:solidFill>
              </a:rPr>
              <a:t> и имеющие одинаковое двоичное представление, равны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Равные значения могут иметь разное двоичное представление</a:t>
            </a:r>
          </a:p>
          <a:p>
            <a:pPr lvl="1"/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Некоторые значения типа </a:t>
            </a:r>
            <a:r>
              <a:rPr lang="en-US" dirty="0">
                <a:solidFill>
                  <a:schemeClr val="bg1"/>
                </a:solidFill>
              </a:rPr>
              <a:t>unsigned char[N] </a:t>
            </a:r>
            <a:r>
              <a:rPr lang="ru-RU" dirty="0">
                <a:solidFill>
                  <a:schemeClr val="bg1"/>
                </a:solidFill>
              </a:rPr>
              <a:t>могут не быть двоичным представлением никакого значения типа Т размером </a:t>
            </a:r>
            <a:r>
              <a:rPr lang="en-US" dirty="0">
                <a:solidFill>
                  <a:schemeClr val="bg1"/>
                </a:solidFill>
              </a:rPr>
              <a:t>N </a:t>
            </a:r>
            <a:r>
              <a:rPr lang="ru-RU" dirty="0">
                <a:solidFill>
                  <a:schemeClr val="bg1"/>
                </a:solidFill>
              </a:rPr>
              <a:t>байтов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Такие значения называются особыми значениями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и изменение двоичного представления особых значений иначе, чем через символьный тип, ведет к </a:t>
            </a:r>
            <a:r>
              <a:rPr lang="en-US" dirty="0">
                <a:solidFill>
                  <a:schemeClr val="bg1"/>
                </a:solidFill>
              </a:rPr>
              <a:t>undefined behavior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155691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Двоичное представление значений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Для значений </a:t>
            </a:r>
            <a:r>
              <a:rPr lang="en-US" dirty="0"/>
              <a:t>unsigned char </a:t>
            </a:r>
            <a:r>
              <a:rPr lang="ru-RU" dirty="0"/>
              <a:t>хранится двоичная запись значения</a:t>
            </a:r>
          </a:p>
          <a:p>
            <a:pPr lvl="1"/>
            <a:endParaRPr lang="ru-RU" dirty="0"/>
          </a:p>
          <a:p>
            <a:r>
              <a:rPr lang="ru-RU" dirty="0"/>
              <a:t>Любое значение типа Т размером </a:t>
            </a:r>
            <a:r>
              <a:rPr lang="en-US" dirty="0"/>
              <a:t>N </a:t>
            </a:r>
            <a:r>
              <a:rPr lang="ru-RU" dirty="0"/>
              <a:t>байтов можно скопировать в массив типа </a:t>
            </a:r>
            <a:r>
              <a:rPr lang="en-US" dirty="0"/>
              <a:t>unsigned char[N]</a:t>
            </a:r>
            <a:endParaRPr lang="ru-RU" dirty="0"/>
          </a:p>
          <a:p>
            <a:pPr lvl="1"/>
            <a:r>
              <a:rPr lang="ru-RU" dirty="0"/>
              <a:t>Значение этого массива называется двоичным представлением</a:t>
            </a:r>
            <a:r>
              <a:rPr lang="en-US" dirty="0"/>
              <a:t> </a:t>
            </a:r>
            <a:r>
              <a:rPr lang="ru-RU" dirty="0"/>
              <a:t>значения типа Т</a:t>
            </a:r>
          </a:p>
          <a:p>
            <a:pPr lvl="1"/>
            <a:r>
              <a:rPr lang="ru-RU" dirty="0"/>
              <a:t>Значения, отличные от </a:t>
            </a:r>
            <a:r>
              <a:rPr lang="en-US" dirty="0" err="1"/>
              <a:t>NaN</a:t>
            </a:r>
            <a:r>
              <a:rPr lang="ru-RU" dirty="0"/>
              <a:t>-</a:t>
            </a:r>
            <a:r>
              <a:rPr lang="ru-RU" dirty="0" err="1"/>
              <a:t>ов</a:t>
            </a:r>
            <a:r>
              <a:rPr lang="ru-RU" dirty="0"/>
              <a:t> и имеющие одинаковое двоичное представление, равны</a:t>
            </a:r>
          </a:p>
          <a:p>
            <a:pPr lvl="1"/>
            <a:r>
              <a:rPr lang="ru-RU" dirty="0"/>
              <a:t>Равные значения могут иметь разное двоичное представление</a:t>
            </a:r>
          </a:p>
          <a:p>
            <a:pPr lvl="1"/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Некоторые значения типа </a:t>
            </a:r>
            <a:r>
              <a:rPr lang="en-US" dirty="0">
                <a:solidFill>
                  <a:schemeClr val="bg1"/>
                </a:solidFill>
              </a:rPr>
              <a:t>unsigned char[N] </a:t>
            </a:r>
            <a:r>
              <a:rPr lang="ru-RU" dirty="0">
                <a:solidFill>
                  <a:schemeClr val="bg1"/>
                </a:solidFill>
              </a:rPr>
              <a:t>могут не быть двоичным представлением никакого значения типа Т размером </a:t>
            </a:r>
            <a:r>
              <a:rPr lang="en-US" dirty="0">
                <a:solidFill>
                  <a:schemeClr val="bg1"/>
                </a:solidFill>
              </a:rPr>
              <a:t>N </a:t>
            </a:r>
            <a:r>
              <a:rPr lang="ru-RU" dirty="0">
                <a:solidFill>
                  <a:schemeClr val="bg1"/>
                </a:solidFill>
              </a:rPr>
              <a:t>байтов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Такие значения называются особыми значениями</a:t>
            </a:r>
          </a:p>
          <a:p>
            <a:pPr lvl="1"/>
            <a:r>
              <a:rPr lang="ru-RU" dirty="0" err="1">
                <a:solidFill>
                  <a:schemeClr val="bg1"/>
                </a:solidFill>
              </a:rPr>
              <a:t>оступ</a:t>
            </a:r>
            <a:r>
              <a:rPr lang="ru-RU" dirty="0">
                <a:solidFill>
                  <a:schemeClr val="bg1"/>
                </a:solidFill>
              </a:rPr>
              <a:t> и изменение двоичного представления особых значений иначе, чем через символьный тип, ведет к </a:t>
            </a:r>
            <a:r>
              <a:rPr lang="en-US" dirty="0">
                <a:solidFill>
                  <a:schemeClr val="bg1"/>
                </a:solidFill>
              </a:rPr>
              <a:t>undefined behavior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662549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Двоичное представление значений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Для значений </a:t>
            </a:r>
            <a:r>
              <a:rPr lang="en-US" dirty="0"/>
              <a:t>unsigned char </a:t>
            </a:r>
            <a:r>
              <a:rPr lang="ru-RU" dirty="0"/>
              <a:t>хранится двоичная запись значения</a:t>
            </a:r>
          </a:p>
          <a:p>
            <a:pPr lvl="1"/>
            <a:endParaRPr lang="ru-RU" dirty="0"/>
          </a:p>
          <a:p>
            <a:r>
              <a:rPr lang="ru-RU" dirty="0"/>
              <a:t>Любое значение типа Т размером </a:t>
            </a:r>
            <a:r>
              <a:rPr lang="en-US" dirty="0"/>
              <a:t>N </a:t>
            </a:r>
            <a:r>
              <a:rPr lang="ru-RU" dirty="0"/>
              <a:t>байтов можно скопировать в массив типа </a:t>
            </a:r>
            <a:r>
              <a:rPr lang="en-US" dirty="0"/>
              <a:t>unsigned char[N]</a:t>
            </a:r>
            <a:endParaRPr lang="ru-RU" dirty="0"/>
          </a:p>
          <a:p>
            <a:pPr lvl="1"/>
            <a:r>
              <a:rPr lang="ru-RU" dirty="0"/>
              <a:t>Значение этого массива называется двоичным представлением</a:t>
            </a:r>
            <a:r>
              <a:rPr lang="en-US" dirty="0"/>
              <a:t> </a:t>
            </a:r>
            <a:r>
              <a:rPr lang="ru-RU" dirty="0"/>
              <a:t>значения типа Т</a:t>
            </a:r>
          </a:p>
          <a:p>
            <a:pPr lvl="1"/>
            <a:r>
              <a:rPr lang="ru-RU" dirty="0"/>
              <a:t>Значения, отличные от </a:t>
            </a:r>
            <a:r>
              <a:rPr lang="en-US" dirty="0" err="1"/>
              <a:t>NaN</a:t>
            </a:r>
            <a:r>
              <a:rPr lang="ru-RU" dirty="0"/>
              <a:t>-</a:t>
            </a:r>
            <a:r>
              <a:rPr lang="ru-RU" dirty="0" err="1"/>
              <a:t>ов</a:t>
            </a:r>
            <a:r>
              <a:rPr lang="ru-RU" dirty="0"/>
              <a:t> и имеющие одинаковое двоичное представление, равны</a:t>
            </a:r>
          </a:p>
          <a:p>
            <a:pPr lvl="1"/>
            <a:r>
              <a:rPr lang="ru-RU" dirty="0"/>
              <a:t>Равные значения могут иметь разное двоичное представление</a:t>
            </a:r>
          </a:p>
          <a:p>
            <a:pPr lvl="1"/>
            <a:endParaRPr lang="ru-RU" dirty="0"/>
          </a:p>
          <a:p>
            <a:r>
              <a:rPr lang="ru-RU" dirty="0"/>
              <a:t>Некоторые значения типа </a:t>
            </a:r>
            <a:r>
              <a:rPr lang="en-US" dirty="0"/>
              <a:t>unsigned char[N] </a:t>
            </a:r>
            <a:r>
              <a:rPr lang="ru-RU" dirty="0"/>
              <a:t>могут не быть двоичным представлением никакого значения типа Т размером </a:t>
            </a:r>
            <a:r>
              <a:rPr lang="en-US" dirty="0"/>
              <a:t>N </a:t>
            </a:r>
            <a:r>
              <a:rPr lang="ru-RU" dirty="0"/>
              <a:t>байтов</a:t>
            </a:r>
          </a:p>
          <a:p>
            <a:pPr lvl="1"/>
            <a:r>
              <a:rPr lang="ru-RU" dirty="0"/>
              <a:t>Такие значения называются особыми значениями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Доступ и изменение двоичного представления особых значений иначе, чем через символьный тип, ведет к </a:t>
            </a:r>
            <a:r>
              <a:rPr lang="en-US" dirty="0">
                <a:solidFill>
                  <a:schemeClr val="bg1"/>
                </a:solidFill>
              </a:rPr>
              <a:t>undefined behavior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2852553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Двоичное представление значений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Для значений </a:t>
            </a:r>
            <a:r>
              <a:rPr lang="en-US" dirty="0"/>
              <a:t>unsigned char </a:t>
            </a:r>
            <a:r>
              <a:rPr lang="ru-RU" dirty="0"/>
              <a:t>хранится двоичная запись значения</a:t>
            </a:r>
          </a:p>
          <a:p>
            <a:pPr lvl="1"/>
            <a:endParaRPr lang="ru-RU" dirty="0"/>
          </a:p>
          <a:p>
            <a:r>
              <a:rPr lang="ru-RU" dirty="0"/>
              <a:t>Любое значение типа Т размером </a:t>
            </a:r>
            <a:r>
              <a:rPr lang="en-US" dirty="0"/>
              <a:t>N </a:t>
            </a:r>
            <a:r>
              <a:rPr lang="ru-RU" dirty="0"/>
              <a:t>байтов можно скопировать в массив типа </a:t>
            </a:r>
            <a:r>
              <a:rPr lang="en-US" dirty="0"/>
              <a:t>unsigned char[N]</a:t>
            </a:r>
            <a:endParaRPr lang="ru-RU" dirty="0"/>
          </a:p>
          <a:p>
            <a:pPr lvl="1"/>
            <a:r>
              <a:rPr lang="ru-RU" dirty="0"/>
              <a:t>Значение этого массива называется двоичным представлением</a:t>
            </a:r>
            <a:r>
              <a:rPr lang="en-US" dirty="0"/>
              <a:t> </a:t>
            </a:r>
            <a:r>
              <a:rPr lang="ru-RU" dirty="0"/>
              <a:t>значения типа Т</a:t>
            </a:r>
          </a:p>
          <a:p>
            <a:pPr lvl="1"/>
            <a:r>
              <a:rPr lang="ru-RU" dirty="0"/>
              <a:t>Значения, отличные от </a:t>
            </a:r>
            <a:r>
              <a:rPr lang="en-US" dirty="0" err="1"/>
              <a:t>NaN</a:t>
            </a:r>
            <a:r>
              <a:rPr lang="ru-RU" dirty="0"/>
              <a:t>-</a:t>
            </a:r>
            <a:r>
              <a:rPr lang="ru-RU" dirty="0" err="1"/>
              <a:t>ов</a:t>
            </a:r>
            <a:r>
              <a:rPr lang="ru-RU" dirty="0"/>
              <a:t> и имеющие одинаковое двоичное представление, равны</a:t>
            </a:r>
          </a:p>
          <a:p>
            <a:pPr lvl="1"/>
            <a:r>
              <a:rPr lang="ru-RU" dirty="0"/>
              <a:t>Равные значения могут иметь разное двоичное представление</a:t>
            </a:r>
          </a:p>
          <a:p>
            <a:pPr lvl="1"/>
            <a:endParaRPr lang="ru-RU" dirty="0"/>
          </a:p>
          <a:p>
            <a:r>
              <a:rPr lang="ru-RU" dirty="0"/>
              <a:t>Некоторые значения типа </a:t>
            </a:r>
            <a:r>
              <a:rPr lang="en-US" dirty="0"/>
              <a:t>unsigned char[N] </a:t>
            </a:r>
            <a:r>
              <a:rPr lang="ru-RU" dirty="0"/>
              <a:t>могут не быть двоичным представлением никакого значения типа Т размером </a:t>
            </a:r>
            <a:r>
              <a:rPr lang="en-US" dirty="0"/>
              <a:t>N </a:t>
            </a:r>
            <a:r>
              <a:rPr lang="ru-RU" dirty="0"/>
              <a:t>байтов</a:t>
            </a:r>
          </a:p>
          <a:p>
            <a:pPr lvl="1"/>
            <a:r>
              <a:rPr lang="ru-RU" dirty="0"/>
              <a:t>Такие значения называются особыми значениями</a:t>
            </a:r>
          </a:p>
          <a:p>
            <a:pPr lvl="1"/>
            <a:r>
              <a:rPr lang="ru-RU" dirty="0"/>
              <a:t>Доступ и изменение двоичного представления особых значений иначе, чем через символьный тип, -- это </a:t>
            </a:r>
            <a:r>
              <a:rPr lang="en-US" dirty="0"/>
              <a:t>undefined behavior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326141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Представление </a:t>
            </a:r>
            <a:r>
              <a:rPr lang="ru-RU" dirty="0" err="1"/>
              <a:t>беззнаковых</a:t>
            </a:r>
            <a:r>
              <a:rPr lang="ru-RU" dirty="0"/>
              <a:t> целых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Двоичное представление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значения </a:t>
            </a:r>
            <a:r>
              <a:rPr lang="ru-RU" dirty="0" err="1">
                <a:solidFill>
                  <a:schemeClr val="bg1"/>
                </a:solidFill>
              </a:rPr>
              <a:t>беззнакового</a:t>
            </a:r>
            <a:r>
              <a:rPr lang="ru-RU" dirty="0">
                <a:solidFill>
                  <a:schemeClr val="bg1"/>
                </a:solidFill>
              </a:rPr>
              <a:t> целого типа != </a:t>
            </a:r>
            <a:r>
              <a:rPr lang="en-US" dirty="0">
                <a:solidFill>
                  <a:schemeClr val="bg1"/>
                </a:solidFill>
              </a:rPr>
              <a:t>unsigned char</a:t>
            </a:r>
            <a:r>
              <a:rPr lang="ru-RU" dirty="0">
                <a:solidFill>
                  <a:schemeClr val="bg1"/>
                </a:solidFill>
              </a:rPr>
              <a:t> делится на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Значащие биты 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Разложение значения по степеням 2 от 1 до 2</a:t>
            </a:r>
            <a:r>
              <a:rPr lang="en-US" dirty="0">
                <a:solidFill>
                  <a:schemeClr val="bg1"/>
                </a:solidFill>
              </a:rPr>
              <a:t>^(</a:t>
            </a:r>
            <a:r>
              <a:rPr lang="ru-RU" dirty="0">
                <a:solidFill>
                  <a:schemeClr val="bg1"/>
                </a:solidFill>
              </a:rPr>
              <a:t>число значащих битов - 1</a:t>
            </a:r>
            <a:r>
              <a:rPr lang="en-US" dirty="0">
                <a:solidFill>
                  <a:schemeClr val="bg1"/>
                </a:solidFill>
              </a:rPr>
              <a:t>)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Выравнивающие биты 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Значение не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определено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Как правило отсутствуют</a:t>
            </a:r>
            <a:r>
              <a:rPr lang="en-US" dirty="0">
                <a:solidFill>
                  <a:schemeClr val="bg1"/>
                </a:solidFill>
              </a:rPr>
              <a:t> – implementation defined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Двоичное представление </a:t>
            </a:r>
            <a:r>
              <a:rPr lang="en-US" dirty="0">
                <a:solidFill>
                  <a:schemeClr val="bg1"/>
                </a:solidFill>
              </a:rPr>
              <a:t>unsigned char</a:t>
            </a:r>
            <a:r>
              <a:rPr lang="ru-RU" dirty="0">
                <a:solidFill>
                  <a:schemeClr val="bg1"/>
                </a:solidFill>
              </a:rPr>
              <a:t> не содержит выравнивающих битов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84090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Представление </a:t>
            </a:r>
            <a:r>
              <a:rPr lang="ru-RU" dirty="0" err="1"/>
              <a:t>беззнаковых</a:t>
            </a:r>
            <a:r>
              <a:rPr lang="ru-RU" dirty="0"/>
              <a:t> целых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Двоичное представление</a:t>
            </a:r>
            <a:r>
              <a:rPr lang="en-US" dirty="0"/>
              <a:t> </a:t>
            </a:r>
            <a:r>
              <a:rPr lang="ru-RU" dirty="0"/>
              <a:t>значения </a:t>
            </a:r>
            <a:r>
              <a:rPr lang="ru-RU" dirty="0" err="1"/>
              <a:t>беззнакового</a:t>
            </a:r>
            <a:r>
              <a:rPr lang="ru-RU" dirty="0"/>
              <a:t> целого типа != </a:t>
            </a:r>
            <a:r>
              <a:rPr lang="en-US" dirty="0"/>
              <a:t>unsigned char</a:t>
            </a:r>
            <a:r>
              <a:rPr lang="ru-RU" dirty="0"/>
              <a:t> делится на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Значащие биты 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Разложение значения по степеням 2 от 1 до 2</a:t>
            </a:r>
            <a:r>
              <a:rPr lang="en-US" dirty="0">
                <a:solidFill>
                  <a:schemeClr val="bg1"/>
                </a:solidFill>
              </a:rPr>
              <a:t>^(</a:t>
            </a:r>
            <a:r>
              <a:rPr lang="ru-RU" dirty="0">
                <a:solidFill>
                  <a:schemeClr val="bg1"/>
                </a:solidFill>
              </a:rPr>
              <a:t>число значащих битов - 1</a:t>
            </a:r>
            <a:r>
              <a:rPr lang="en-US" dirty="0">
                <a:solidFill>
                  <a:schemeClr val="bg1"/>
                </a:solidFill>
              </a:rPr>
              <a:t>)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Выравнивающие биты 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Значение не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определено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Как правило отсутствуют</a:t>
            </a:r>
            <a:r>
              <a:rPr lang="en-US" dirty="0">
                <a:solidFill>
                  <a:schemeClr val="bg1"/>
                </a:solidFill>
              </a:rPr>
              <a:t> – implementation defined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Двоичное представление </a:t>
            </a:r>
            <a:r>
              <a:rPr lang="en-US" dirty="0">
                <a:solidFill>
                  <a:schemeClr val="bg1"/>
                </a:solidFill>
              </a:rPr>
              <a:t>unsigned char</a:t>
            </a:r>
            <a:r>
              <a:rPr lang="ru-RU" dirty="0">
                <a:solidFill>
                  <a:schemeClr val="bg1"/>
                </a:solidFill>
              </a:rPr>
              <a:t> не содержит выравнивающих битов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542310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Представление </a:t>
            </a:r>
            <a:r>
              <a:rPr lang="ru-RU" dirty="0" err="1"/>
              <a:t>беззнаковых</a:t>
            </a:r>
            <a:r>
              <a:rPr lang="ru-RU" dirty="0"/>
              <a:t> целых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Двоичное представление</a:t>
            </a:r>
            <a:r>
              <a:rPr lang="en-US" dirty="0"/>
              <a:t> </a:t>
            </a:r>
            <a:r>
              <a:rPr lang="ru-RU" dirty="0"/>
              <a:t>значения </a:t>
            </a:r>
            <a:r>
              <a:rPr lang="ru-RU" dirty="0" err="1"/>
              <a:t>беззнакового</a:t>
            </a:r>
            <a:r>
              <a:rPr lang="ru-RU" dirty="0"/>
              <a:t> целого типа != </a:t>
            </a:r>
            <a:r>
              <a:rPr lang="en-US" dirty="0"/>
              <a:t>unsigned char</a:t>
            </a:r>
            <a:r>
              <a:rPr lang="ru-RU" dirty="0"/>
              <a:t> делится на</a:t>
            </a:r>
          </a:p>
          <a:p>
            <a:pPr lvl="1"/>
            <a:r>
              <a:rPr lang="ru-RU" dirty="0"/>
              <a:t>Значащие биты </a:t>
            </a:r>
          </a:p>
          <a:p>
            <a:pPr lvl="2"/>
            <a:r>
              <a:rPr lang="ru-RU" dirty="0"/>
              <a:t>Разложение значения по степеням 2 от 1 до 2</a:t>
            </a:r>
            <a:r>
              <a:rPr lang="ru-RU" baseline="30000" dirty="0"/>
              <a:t>число значащих битов - 1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Выравнивающие биты 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Значение не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определено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Как правило отсутствуют</a:t>
            </a:r>
            <a:r>
              <a:rPr lang="en-US" dirty="0">
                <a:solidFill>
                  <a:schemeClr val="bg1"/>
                </a:solidFill>
              </a:rPr>
              <a:t> – implementation defined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Двоичное представление </a:t>
            </a:r>
            <a:r>
              <a:rPr lang="en-US" dirty="0">
                <a:solidFill>
                  <a:schemeClr val="bg1"/>
                </a:solidFill>
              </a:rPr>
              <a:t>unsigned char</a:t>
            </a:r>
            <a:r>
              <a:rPr lang="ru-RU" dirty="0">
                <a:solidFill>
                  <a:schemeClr val="bg1"/>
                </a:solidFill>
              </a:rPr>
              <a:t> не содержит выравнивающих битов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0405558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Представление </a:t>
            </a:r>
            <a:r>
              <a:rPr lang="ru-RU" dirty="0" err="1"/>
              <a:t>беззнаковых</a:t>
            </a:r>
            <a:r>
              <a:rPr lang="ru-RU" dirty="0"/>
              <a:t> целых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Двоичное представление</a:t>
            </a:r>
            <a:r>
              <a:rPr lang="en-US" dirty="0"/>
              <a:t> </a:t>
            </a:r>
            <a:r>
              <a:rPr lang="ru-RU" dirty="0"/>
              <a:t>значения </a:t>
            </a:r>
            <a:r>
              <a:rPr lang="ru-RU" dirty="0" err="1"/>
              <a:t>беззнакового</a:t>
            </a:r>
            <a:r>
              <a:rPr lang="ru-RU" dirty="0"/>
              <a:t> целого типа != </a:t>
            </a:r>
            <a:r>
              <a:rPr lang="en-US" dirty="0"/>
              <a:t>unsigned char</a:t>
            </a:r>
            <a:r>
              <a:rPr lang="ru-RU" dirty="0"/>
              <a:t> делится на</a:t>
            </a:r>
          </a:p>
          <a:p>
            <a:pPr lvl="1"/>
            <a:r>
              <a:rPr lang="ru-RU" dirty="0"/>
              <a:t>Значащие биты </a:t>
            </a:r>
          </a:p>
          <a:p>
            <a:pPr lvl="2"/>
            <a:r>
              <a:rPr lang="ru-RU" dirty="0"/>
              <a:t>Разложение значения по степеням 2 от 1 до 2</a:t>
            </a:r>
            <a:r>
              <a:rPr lang="ru-RU" baseline="30000" dirty="0"/>
              <a:t>число значащих битов - 1</a:t>
            </a:r>
          </a:p>
          <a:p>
            <a:pPr lvl="1"/>
            <a:r>
              <a:rPr lang="ru-RU" dirty="0"/>
              <a:t>Выравнивающие биты </a:t>
            </a:r>
          </a:p>
          <a:p>
            <a:pPr lvl="2"/>
            <a:r>
              <a:rPr lang="ru-RU" dirty="0"/>
              <a:t>Значение не</a:t>
            </a:r>
            <a:r>
              <a:rPr lang="en-US" dirty="0"/>
              <a:t> </a:t>
            </a:r>
            <a:r>
              <a:rPr lang="ru-RU" dirty="0"/>
              <a:t>определено</a:t>
            </a:r>
          </a:p>
          <a:p>
            <a:pPr lvl="2"/>
            <a:r>
              <a:rPr lang="ru-RU" dirty="0"/>
              <a:t>Как правило отсутствуют</a:t>
            </a:r>
            <a:r>
              <a:rPr lang="en-US" dirty="0"/>
              <a:t> – implementation defined</a:t>
            </a:r>
            <a:endParaRPr lang="ru-RU" dirty="0"/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Двоичное представление </a:t>
            </a:r>
            <a:r>
              <a:rPr lang="en-US" dirty="0">
                <a:solidFill>
                  <a:schemeClr val="bg1"/>
                </a:solidFill>
              </a:rPr>
              <a:t>unsigned char</a:t>
            </a:r>
            <a:r>
              <a:rPr lang="ru-RU" dirty="0">
                <a:solidFill>
                  <a:schemeClr val="bg1"/>
                </a:solidFill>
              </a:rPr>
              <a:t> не содержит выравнивающих битов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4550116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Представление </a:t>
            </a:r>
            <a:r>
              <a:rPr lang="ru-RU" dirty="0" err="1"/>
              <a:t>беззнаковых</a:t>
            </a:r>
            <a:r>
              <a:rPr lang="ru-RU" dirty="0"/>
              <a:t> целых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Двоичное представление</a:t>
            </a:r>
            <a:r>
              <a:rPr lang="en-US" dirty="0"/>
              <a:t> </a:t>
            </a:r>
            <a:r>
              <a:rPr lang="ru-RU" dirty="0"/>
              <a:t>значения </a:t>
            </a:r>
            <a:r>
              <a:rPr lang="ru-RU" dirty="0" err="1"/>
              <a:t>беззнакового</a:t>
            </a:r>
            <a:r>
              <a:rPr lang="ru-RU" dirty="0"/>
              <a:t> целого типа != </a:t>
            </a:r>
            <a:r>
              <a:rPr lang="en-US" dirty="0"/>
              <a:t>unsigned char</a:t>
            </a:r>
            <a:r>
              <a:rPr lang="ru-RU" dirty="0"/>
              <a:t> делится на</a:t>
            </a:r>
          </a:p>
          <a:p>
            <a:pPr lvl="1"/>
            <a:r>
              <a:rPr lang="ru-RU" dirty="0"/>
              <a:t>Значащие биты </a:t>
            </a:r>
          </a:p>
          <a:p>
            <a:pPr lvl="2"/>
            <a:r>
              <a:rPr lang="ru-RU" dirty="0"/>
              <a:t>Разложение значения по степеням 2 от 1 до 2</a:t>
            </a:r>
            <a:r>
              <a:rPr lang="ru-RU" baseline="30000" dirty="0"/>
              <a:t>число значащих битов - 1</a:t>
            </a:r>
          </a:p>
          <a:p>
            <a:pPr lvl="1"/>
            <a:r>
              <a:rPr lang="ru-RU" dirty="0"/>
              <a:t>Выравнивающие биты </a:t>
            </a:r>
          </a:p>
          <a:p>
            <a:pPr lvl="2"/>
            <a:r>
              <a:rPr lang="ru-RU" dirty="0"/>
              <a:t>Значение не</a:t>
            </a:r>
            <a:r>
              <a:rPr lang="en-US" dirty="0"/>
              <a:t> </a:t>
            </a:r>
            <a:r>
              <a:rPr lang="ru-RU" dirty="0"/>
              <a:t>определено</a:t>
            </a:r>
          </a:p>
          <a:p>
            <a:pPr lvl="2"/>
            <a:r>
              <a:rPr lang="ru-RU" dirty="0"/>
              <a:t>Как правило отсутствуют</a:t>
            </a:r>
            <a:r>
              <a:rPr lang="en-US" dirty="0"/>
              <a:t> – implementation defined</a:t>
            </a:r>
            <a:endParaRPr lang="ru-RU" dirty="0"/>
          </a:p>
          <a:p>
            <a:endParaRPr lang="ru-RU" dirty="0"/>
          </a:p>
          <a:p>
            <a:r>
              <a:rPr lang="ru-RU" dirty="0"/>
              <a:t>Двоичное представление </a:t>
            </a:r>
            <a:r>
              <a:rPr lang="en-US" dirty="0"/>
              <a:t>unsigned char</a:t>
            </a:r>
            <a:r>
              <a:rPr lang="ru-RU" dirty="0"/>
              <a:t> не содержит выравнивающих битов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1874107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Представление </a:t>
            </a:r>
            <a:r>
              <a:rPr lang="ru-RU" dirty="0" err="1"/>
              <a:t>беззнаковых</a:t>
            </a:r>
            <a:r>
              <a:rPr lang="ru-RU" dirty="0"/>
              <a:t> целых типов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135</a:t>
            </a:fld>
            <a:endParaRPr lang="ru-RU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58A2A5B-C851-4CBF-A350-3B347A3A236B}"/>
              </a:ext>
            </a:extLst>
          </p:cNvPr>
          <p:cNvSpPr/>
          <p:nvPr/>
        </p:nvSpPr>
        <p:spPr>
          <a:xfrm>
            <a:off x="4007767" y="1834703"/>
            <a:ext cx="3988135" cy="398813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FE4A600-4AFF-4F64-8D8A-7395F28AC5BD}"/>
              </a:ext>
            </a:extLst>
          </p:cNvPr>
          <p:cNvSpPr/>
          <p:nvPr/>
        </p:nvSpPr>
        <p:spPr>
          <a:xfrm>
            <a:off x="4381654" y="2208590"/>
            <a:ext cx="3240360" cy="324036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C12B996-1FF4-4D21-B798-5BB3E083438D}"/>
              </a:ext>
            </a:extLst>
          </p:cNvPr>
          <p:cNvCxnSpPr>
            <a:stCxn id="5" idx="0"/>
            <a:endCxn id="6" idx="0"/>
          </p:cNvCxnSpPr>
          <p:nvPr/>
        </p:nvCxnSpPr>
        <p:spPr>
          <a:xfrm flipH="1">
            <a:off x="6001834" y="183470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AEFEF5-11CB-48AC-92FE-16EB43B346B3}"/>
              </a:ext>
            </a:extLst>
          </p:cNvPr>
          <p:cNvCxnSpPr>
            <a:cxnSpLocks/>
          </p:cNvCxnSpPr>
          <p:nvPr/>
        </p:nvCxnSpPr>
        <p:spPr>
          <a:xfrm rot="600000" flipH="1">
            <a:off x="6352303" y="187763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574ED38-5F97-49DD-9972-97F6BD155F80}"/>
              </a:ext>
            </a:extLst>
          </p:cNvPr>
          <p:cNvCxnSpPr>
            <a:cxnSpLocks/>
          </p:cNvCxnSpPr>
          <p:nvPr/>
        </p:nvCxnSpPr>
        <p:spPr>
          <a:xfrm rot="1200000" flipH="1">
            <a:off x="6666544" y="196383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59A7E7E-56A0-47F9-BFD5-D09C0561346E}"/>
              </a:ext>
            </a:extLst>
          </p:cNvPr>
          <p:cNvCxnSpPr>
            <a:cxnSpLocks/>
          </p:cNvCxnSpPr>
          <p:nvPr/>
        </p:nvCxnSpPr>
        <p:spPr>
          <a:xfrm rot="1800000" flipH="1">
            <a:off x="6941129" y="2114078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AB0434B-794C-4B6B-A89C-C3D8C8A78233}"/>
              </a:ext>
            </a:extLst>
          </p:cNvPr>
          <p:cNvCxnSpPr>
            <a:cxnSpLocks/>
          </p:cNvCxnSpPr>
          <p:nvPr/>
        </p:nvCxnSpPr>
        <p:spPr>
          <a:xfrm rot="21000000" flipH="1">
            <a:off x="5654394" y="1892906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C181BB0-CE4B-4AF5-9593-AA5F665A88C7}"/>
              </a:ext>
            </a:extLst>
          </p:cNvPr>
          <p:cNvCxnSpPr>
            <a:cxnSpLocks/>
          </p:cNvCxnSpPr>
          <p:nvPr/>
        </p:nvCxnSpPr>
        <p:spPr>
          <a:xfrm rot="20400000" flipH="1">
            <a:off x="5309156" y="198691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210D8E9F-25D1-4438-B809-E86E7F07FE4F}"/>
              </a:ext>
            </a:extLst>
          </p:cNvPr>
          <p:cNvSpPr txBox="1"/>
          <p:nvPr/>
        </p:nvSpPr>
        <p:spPr>
          <a:xfrm>
            <a:off x="6017881" y="183925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49C5FF2-E35A-48A4-8CD5-06EBF8A80F8B}"/>
              </a:ext>
            </a:extLst>
          </p:cNvPr>
          <p:cNvSpPr txBox="1"/>
          <p:nvPr/>
        </p:nvSpPr>
        <p:spPr>
          <a:xfrm>
            <a:off x="6322205" y="1907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ECC4DF9-DDD9-4DDF-90C7-A2015D7FD0FA}"/>
              </a:ext>
            </a:extLst>
          </p:cNvPr>
          <p:cNvSpPr txBox="1"/>
          <p:nvPr/>
        </p:nvSpPr>
        <p:spPr>
          <a:xfrm>
            <a:off x="5603075" y="5474850"/>
            <a:ext cx="60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  <a:r>
              <a:rPr lang="en-US" baseline="30000" dirty="0"/>
              <a:t>n-1</a:t>
            </a:r>
            <a:endParaRPr lang="ru-RU" baseline="30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9A652E-0CF4-441C-82EE-2D712C36CA62}"/>
              </a:ext>
            </a:extLst>
          </p:cNvPr>
          <p:cNvSpPr txBox="1"/>
          <p:nvPr/>
        </p:nvSpPr>
        <p:spPr>
          <a:xfrm>
            <a:off x="5582282" y="1880983"/>
            <a:ext cx="648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2</a:t>
            </a:r>
            <a:r>
              <a:rPr lang="en-US" sz="1600" baseline="30000" dirty="0"/>
              <a:t>n</a:t>
            </a:r>
            <a:r>
              <a:rPr lang="en-US" sz="1600" dirty="0"/>
              <a:t>-1</a:t>
            </a:r>
            <a:endParaRPr lang="ru-RU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5423EE-1E58-4401-AF99-D37D2CF8117A}"/>
              </a:ext>
            </a:extLst>
          </p:cNvPr>
          <p:cNvSpPr txBox="1"/>
          <p:nvPr/>
        </p:nvSpPr>
        <p:spPr>
          <a:xfrm>
            <a:off x="5959684" y="5533243"/>
            <a:ext cx="9776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/>
              <a:t>2</a:t>
            </a:r>
            <a:r>
              <a:rPr lang="en-US" sz="1400" baseline="30000" dirty="0"/>
              <a:t>n-1</a:t>
            </a:r>
            <a:r>
              <a:rPr lang="en-US" sz="1400" dirty="0"/>
              <a:t>-1</a:t>
            </a:r>
            <a:endParaRPr lang="ru-RU" sz="14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BDA688-38A6-40BA-B2CE-D23E48C410F5}"/>
              </a:ext>
            </a:extLst>
          </p:cNvPr>
          <p:cNvSpPr txBox="1"/>
          <p:nvPr/>
        </p:nvSpPr>
        <p:spPr>
          <a:xfrm>
            <a:off x="6643701" y="20475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CF7B38-0D91-4257-A74B-5577F4F6348D}"/>
              </a:ext>
            </a:extLst>
          </p:cNvPr>
          <p:cNvSpPr txBox="1"/>
          <p:nvPr/>
        </p:nvSpPr>
        <p:spPr>
          <a:xfrm>
            <a:off x="5228045" y="1970408"/>
            <a:ext cx="64807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2</a:t>
            </a:r>
            <a:r>
              <a:rPr lang="en-US" sz="1600" baseline="30000" dirty="0"/>
              <a:t>n</a:t>
            </a:r>
            <a:r>
              <a:rPr lang="en-US" sz="1600" dirty="0"/>
              <a:t>-2</a:t>
            </a:r>
            <a:endParaRPr lang="ru-RU" sz="1600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37E0404-5F10-43FE-AD45-546957A90F65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27466" y="54544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16FB225-8390-4773-822F-EFAEBC087799}"/>
              </a:ext>
            </a:extLst>
          </p:cNvPr>
          <p:cNvCxnSpPr>
            <a:cxnSpLocks/>
          </p:cNvCxnSpPr>
          <p:nvPr/>
        </p:nvCxnSpPr>
        <p:spPr>
          <a:xfrm rot="11400000" flipH="1">
            <a:off x="5701261" y="542301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A87CDE-0671-4023-B3EC-46ED0321BCBC}"/>
              </a:ext>
            </a:extLst>
          </p:cNvPr>
          <p:cNvCxnSpPr>
            <a:cxnSpLocks/>
          </p:cNvCxnSpPr>
          <p:nvPr/>
        </p:nvCxnSpPr>
        <p:spPr>
          <a:xfrm rot="10200000" flipH="1">
            <a:off x="6423576" y="539265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CB861AE3-CECA-498A-83C6-95FE4F0883DA}"/>
              </a:ext>
            </a:extLst>
          </p:cNvPr>
          <p:cNvSpPr txBox="1"/>
          <p:nvPr/>
        </p:nvSpPr>
        <p:spPr>
          <a:xfrm>
            <a:off x="7271743" y="1931689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+1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30992515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знаковых целых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Значащие биты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Разложение вспомогательного значения </a:t>
            </a:r>
            <a:r>
              <a:rPr lang="en-US" dirty="0">
                <a:solidFill>
                  <a:schemeClr val="bg1"/>
                </a:solidFill>
              </a:rPr>
              <a:t>X </a:t>
            </a:r>
            <a:r>
              <a:rPr lang="ru-RU" dirty="0">
                <a:solidFill>
                  <a:schemeClr val="bg1"/>
                </a:solidFill>
              </a:rPr>
              <a:t>по степеням 2 от 1 до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 - 1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Выбор </a:t>
            </a:r>
            <a:r>
              <a:rPr lang="en-US" dirty="0">
                <a:solidFill>
                  <a:schemeClr val="bg1"/>
                </a:solidFill>
              </a:rPr>
              <a:t>X </a:t>
            </a:r>
            <a:r>
              <a:rPr lang="ru-RU" dirty="0">
                <a:solidFill>
                  <a:schemeClr val="bg1"/>
                </a:solidFill>
              </a:rPr>
              <a:t>зависит от знакового бита</a:t>
            </a:r>
            <a:endParaRPr lang="en-US" dirty="0">
              <a:solidFill>
                <a:schemeClr val="bg1"/>
              </a:solidFill>
            </a:endParaRPr>
          </a:p>
          <a:p>
            <a:pPr lvl="2"/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Знаковый бит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Выравнивающие биты 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 не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определено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Как правило отсутствуют</a:t>
            </a:r>
            <a:r>
              <a:rPr lang="en-US" dirty="0">
                <a:solidFill>
                  <a:schemeClr val="bg1"/>
                </a:solidFill>
              </a:rPr>
              <a:t> – implementation defined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Знаковый бит = 0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значением является </a:t>
            </a:r>
            <a:r>
              <a:rPr lang="en-US" dirty="0">
                <a:solidFill>
                  <a:schemeClr val="bg1"/>
                </a:solidFill>
              </a:rPr>
              <a:t>X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Знаковый бит = 1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значением является </a:t>
            </a:r>
            <a:r>
              <a:rPr lang="en-US" dirty="0">
                <a:solidFill>
                  <a:schemeClr val="bg1"/>
                </a:solidFill>
              </a:rPr>
              <a:t>implementation defined </a:t>
            </a:r>
            <a:r>
              <a:rPr lang="ru-RU" dirty="0">
                <a:solidFill>
                  <a:schemeClr val="bg1"/>
                </a:solidFill>
              </a:rPr>
              <a:t>одно из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– </a:t>
            </a:r>
            <a:r>
              <a:rPr lang="en-US" dirty="0">
                <a:solidFill>
                  <a:schemeClr val="bg1"/>
                </a:solidFill>
              </a:rPr>
              <a:t>X</a:t>
            </a:r>
            <a:endParaRPr lang="ru-RU" dirty="0">
              <a:solidFill>
                <a:schemeClr val="bg1"/>
              </a:solidFill>
            </a:endParaRPr>
          </a:p>
          <a:p>
            <a:pPr lvl="3"/>
            <a:r>
              <a:rPr lang="ru-RU" dirty="0">
                <a:solidFill>
                  <a:schemeClr val="bg1"/>
                </a:solidFill>
              </a:rPr>
              <a:t> «знак и абсолютная величина»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X</a:t>
            </a:r>
            <a:r>
              <a:rPr lang="ru-RU" dirty="0">
                <a:solidFill>
                  <a:schemeClr val="bg1"/>
                </a:solidFill>
              </a:rPr>
              <a:t> –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</a:t>
            </a:r>
            <a:r>
              <a:rPr lang="ru-RU" dirty="0">
                <a:solidFill>
                  <a:schemeClr val="bg1"/>
                </a:solidFill>
              </a:rPr>
              <a:t> 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«дополнительный код», «дополнение до нуля»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X</a:t>
            </a:r>
            <a:r>
              <a:rPr lang="ru-RU" dirty="0">
                <a:solidFill>
                  <a:schemeClr val="bg1"/>
                </a:solidFill>
              </a:rPr>
              <a:t> –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</a:t>
            </a:r>
            <a:r>
              <a:rPr lang="ru-RU" dirty="0">
                <a:solidFill>
                  <a:schemeClr val="bg1"/>
                </a:solidFill>
              </a:rPr>
              <a:t> + 1 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«дополнительный код плюс один», «дополнение до единицы»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136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66731789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знаковых целых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Значащие биты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Разложение вспомогательного значения </a:t>
            </a:r>
            <a:r>
              <a:rPr lang="en-US" dirty="0">
                <a:solidFill>
                  <a:schemeClr val="bg1"/>
                </a:solidFill>
              </a:rPr>
              <a:t>X </a:t>
            </a:r>
            <a:r>
              <a:rPr lang="ru-RU" dirty="0">
                <a:solidFill>
                  <a:schemeClr val="bg1"/>
                </a:solidFill>
              </a:rPr>
              <a:t>по степеням 2 от 1 до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 - 1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Выбор </a:t>
            </a:r>
            <a:r>
              <a:rPr lang="en-US" dirty="0">
                <a:solidFill>
                  <a:schemeClr val="bg1"/>
                </a:solidFill>
              </a:rPr>
              <a:t>X </a:t>
            </a:r>
            <a:r>
              <a:rPr lang="ru-RU" dirty="0">
                <a:solidFill>
                  <a:schemeClr val="bg1"/>
                </a:solidFill>
              </a:rPr>
              <a:t>зависит от знакового бита</a:t>
            </a:r>
            <a:endParaRPr lang="en-US" dirty="0">
              <a:solidFill>
                <a:schemeClr val="bg1"/>
              </a:solidFill>
            </a:endParaRPr>
          </a:p>
          <a:p>
            <a:pPr lvl="2"/>
            <a:endParaRPr lang="ru-RU" dirty="0">
              <a:solidFill>
                <a:schemeClr val="bg1"/>
              </a:solidFill>
            </a:endParaRPr>
          </a:p>
          <a:p>
            <a:r>
              <a:rPr lang="ru-RU" dirty="0"/>
              <a:t>Знаковый бит</a:t>
            </a:r>
          </a:p>
          <a:p>
            <a:endParaRPr lang="ru-RU" dirty="0"/>
          </a:p>
          <a:p>
            <a:r>
              <a:rPr lang="ru-RU" dirty="0"/>
              <a:t>Выравнивающие биты 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 не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определено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Как правило отсутствуют</a:t>
            </a:r>
            <a:r>
              <a:rPr lang="en-US" dirty="0">
                <a:solidFill>
                  <a:schemeClr val="bg1"/>
                </a:solidFill>
              </a:rPr>
              <a:t> – implementation defined</a:t>
            </a:r>
          </a:p>
          <a:p>
            <a:endParaRPr lang="ru-RU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Знаковый бит = 0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значением является </a:t>
            </a:r>
            <a:r>
              <a:rPr lang="en-US" dirty="0">
                <a:solidFill>
                  <a:schemeClr val="bg1"/>
                </a:solidFill>
              </a:rPr>
              <a:t>X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Знаковый бит = 1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значением является </a:t>
            </a:r>
            <a:r>
              <a:rPr lang="en-US" dirty="0">
                <a:solidFill>
                  <a:schemeClr val="bg1"/>
                </a:solidFill>
              </a:rPr>
              <a:t>implementation defined </a:t>
            </a:r>
            <a:r>
              <a:rPr lang="ru-RU" dirty="0">
                <a:solidFill>
                  <a:schemeClr val="bg1"/>
                </a:solidFill>
              </a:rPr>
              <a:t>одно из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– </a:t>
            </a:r>
            <a:r>
              <a:rPr lang="en-US" dirty="0">
                <a:solidFill>
                  <a:schemeClr val="bg1"/>
                </a:solidFill>
              </a:rPr>
              <a:t>X</a:t>
            </a:r>
            <a:endParaRPr lang="ru-RU" dirty="0">
              <a:solidFill>
                <a:schemeClr val="bg1"/>
              </a:solidFill>
            </a:endParaRPr>
          </a:p>
          <a:p>
            <a:pPr lvl="3"/>
            <a:r>
              <a:rPr lang="ru-RU" dirty="0">
                <a:solidFill>
                  <a:schemeClr val="bg1"/>
                </a:solidFill>
              </a:rPr>
              <a:t> «знак и абсолютная величина»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X</a:t>
            </a:r>
            <a:r>
              <a:rPr lang="ru-RU" dirty="0">
                <a:solidFill>
                  <a:schemeClr val="bg1"/>
                </a:solidFill>
              </a:rPr>
              <a:t> –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</a:t>
            </a:r>
            <a:r>
              <a:rPr lang="ru-RU" dirty="0">
                <a:solidFill>
                  <a:schemeClr val="bg1"/>
                </a:solidFill>
              </a:rPr>
              <a:t> 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«дополнительный код», «дополнение до нуля»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X</a:t>
            </a:r>
            <a:r>
              <a:rPr lang="ru-RU" dirty="0">
                <a:solidFill>
                  <a:schemeClr val="bg1"/>
                </a:solidFill>
              </a:rPr>
              <a:t> –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</a:t>
            </a:r>
            <a:r>
              <a:rPr lang="ru-RU" dirty="0">
                <a:solidFill>
                  <a:schemeClr val="bg1"/>
                </a:solidFill>
              </a:rPr>
              <a:t> + 1 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«дополнительный код плюс один», «дополнение до единицы»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03602206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знаковых целых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Значащие биты</a:t>
            </a:r>
          </a:p>
          <a:p>
            <a:pPr lvl="1"/>
            <a:r>
              <a:rPr lang="ru-RU" dirty="0"/>
              <a:t>Разложение вспомогательного значения </a:t>
            </a:r>
            <a:r>
              <a:rPr lang="en-US" dirty="0"/>
              <a:t>X </a:t>
            </a:r>
            <a:r>
              <a:rPr lang="ru-RU" dirty="0"/>
              <a:t>по степеням 2 от 1 до 2</a:t>
            </a:r>
            <a:r>
              <a:rPr lang="ru-RU" baseline="30000" dirty="0"/>
              <a:t>число значащих битов - 1</a:t>
            </a:r>
          </a:p>
          <a:p>
            <a:pPr lvl="2"/>
            <a:r>
              <a:rPr lang="ru-RU" dirty="0"/>
              <a:t>Выбор </a:t>
            </a:r>
            <a:r>
              <a:rPr lang="en-US" dirty="0"/>
              <a:t>X </a:t>
            </a:r>
            <a:r>
              <a:rPr lang="ru-RU" dirty="0"/>
              <a:t>зависит от знакового бита</a:t>
            </a:r>
            <a:endParaRPr lang="en-US" dirty="0"/>
          </a:p>
          <a:p>
            <a:pPr lvl="2"/>
            <a:endParaRPr lang="ru-RU" dirty="0"/>
          </a:p>
          <a:p>
            <a:r>
              <a:rPr lang="ru-RU" dirty="0"/>
              <a:t>Знаковый бит</a:t>
            </a:r>
          </a:p>
          <a:p>
            <a:endParaRPr lang="ru-RU" dirty="0"/>
          </a:p>
          <a:p>
            <a:r>
              <a:rPr lang="ru-RU" dirty="0"/>
              <a:t>Выравнивающие биты 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 не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ru-RU" dirty="0">
                <a:solidFill>
                  <a:schemeClr val="bg1"/>
                </a:solidFill>
              </a:rPr>
              <a:t>определено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Как правило отсутствуют</a:t>
            </a:r>
            <a:r>
              <a:rPr lang="en-US" dirty="0">
                <a:solidFill>
                  <a:schemeClr val="bg1"/>
                </a:solidFill>
              </a:rPr>
              <a:t> – implementation defined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Знаковый бит = 0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значением является </a:t>
            </a:r>
            <a:r>
              <a:rPr lang="en-US" dirty="0">
                <a:solidFill>
                  <a:schemeClr val="bg1"/>
                </a:solidFill>
              </a:rPr>
              <a:t>X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Знаковый бит = 1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значением является </a:t>
            </a:r>
            <a:r>
              <a:rPr lang="en-US" dirty="0">
                <a:solidFill>
                  <a:schemeClr val="bg1"/>
                </a:solidFill>
              </a:rPr>
              <a:t>implementation defined </a:t>
            </a:r>
            <a:r>
              <a:rPr lang="ru-RU" dirty="0">
                <a:solidFill>
                  <a:schemeClr val="bg1"/>
                </a:solidFill>
              </a:rPr>
              <a:t>одно из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– </a:t>
            </a:r>
            <a:r>
              <a:rPr lang="en-US" dirty="0">
                <a:solidFill>
                  <a:schemeClr val="bg1"/>
                </a:solidFill>
              </a:rPr>
              <a:t>X</a:t>
            </a:r>
            <a:endParaRPr lang="ru-RU" dirty="0">
              <a:solidFill>
                <a:schemeClr val="bg1"/>
              </a:solidFill>
            </a:endParaRPr>
          </a:p>
          <a:p>
            <a:pPr lvl="3"/>
            <a:r>
              <a:rPr lang="ru-RU" dirty="0">
                <a:solidFill>
                  <a:schemeClr val="bg1"/>
                </a:solidFill>
              </a:rPr>
              <a:t> «знак и абсолютная величина»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X</a:t>
            </a:r>
            <a:r>
              <a:rPr lang="ru-RU" dirty="0">
                <a:solidFill>
                  <a:schemeClr val="bg1"/>
                </a:solidFill>
              </a:rPr>
              <a:t> –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</a:t>
            </a:r>
            <a:r>
              <a:rPr lang="ru-RU" dirty="0">
                <a:solidFill>
                  <a:schemeClr val="bg1"/>
                </a:solidFill>
              </a:rPr>
              <a:t> 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«дополнительный код», «дополнение до нуля»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X</a:t>
            </a:r>
            <a:r>
              <a:rPr lang="ru-RU" dirty="0">
                <a:solidFill>
                  <a:schemeClr val="bg1"/>
                </a:solidFill>
              </a:rPr>
              <a:t> –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</a:t>
            </a:r>
            <a:r>
              <a:rPr lang="ru-RU" dirty="0">
                <a:solidFill>
                  <a:schemeClr val="bg1"/>
                </a:solidFill>
              </a:rPr>
              <a:t> + 1 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«дополнительный код плюс один», «дополнение до единицы»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8583815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знаковых целых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Значащие биты</a:t>
            </a:r>
          </a:p>
          <a:p>
            <a:pPr lvl="1"/>
            <a:r>
              <a:rPr lang="ru-RU" dirty="0"/>
              <a:t>Разложение вспомогательного значения </a:t>
            </a:r>
            <a:r>
              <a:rPr lang="en-US" dirty="0"/>
              <a:t>X </a:t>
            </a:r>
            <a:r>
              <a:rPr lang="ru-RU" dirty="0"/>
              <a:t>по степеням 2 от 1 до 2</a:t>
            </a:r>
            <a:r>
              <a:rPr lang="ru-RU" baseline="30000" dirty="0"/>
              <a:t>число значащих битов - 1</a:t>
            </a:r>
          </a:p>
          <a:p>
            <a:pPr lvl="2"/>
            <a:r>
              <a:rPr lang="ru-RU" dirty="0"/>
              <a:t>Выбор </a:t>
            </a:r>
            <a:r>
              <a:rPr lang="en-US" dirty="0"/>
              <a:t>X </a:t>
            </a:r>
            <a:r>
              <a:rPr lang="ru-RU" dirty="0"/>
              <a:t>зависит от знакового бита</a:t>
            </a:r>
            <a:endParaRPr lang="en-US" dirty="0"/>
          </a:p>
          <a:p>
            <a:pPr lvl="2"/>
            <a:endParaRPr lang="ru-RU" dirty="0"/>
          </a:p>
          <a:p>
            <a:r>
              <a:rPr lang="ru-RU" dirty="0"/>
              <a:t>Знаковый бит</a:t>
            </a:r>
          </a:p>
          <a:p>
            <a:endParaRPr lang="ru-RU" dirty="0"/>
          </a:p>
          <a:p>
            <a:r>
              <a:rPr lang="ru-RU" dirty="0"/>
              <a:t>Выравнивающие биты </a:t>
            </a:r>
          </a:p>
          <a:p>
            <a:pPr lvl="1"/>
            <a:r>
              <a:rPr lang="ru-RU" dirty="0"/>
              <a:t>Значение не</a:t>
            </a:r>
            <a:r>
              <a:rPr lang="en-US" dirty="0"/>
              <a:t> </a:t>
            </a:r>
            <a:r>
              <a:rPr lang="ru-RU" dirty="0"/>
              <a:t>определено</a:t>
            </a:r>
          </a:p>
          <a:p>
            <a:pPr lvl="1"/>
            <a:r>
              <a:rPr lang="ru-RU" dirty="0"/>
              <a:t>Как правило отсутствуют</a:t>
            </a:r>
            <a:r>
              <a:rPr lang="en-US" dirty="0"/>
              <a:t> – implementation defined</a:t>
            </a:r>
          </a:p>
          <a:p>
            <a:endParaRPr lang="ru-RU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>
                <a:solidFill>
                  <a:schemeClr val="bg1"/>
                </a:solidFill>
              </a:rPr>
              <a:t>Знаковый бит = 0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значением является </a:t>
            </a:r>
            <a:r>
              <a:rPr lang="en-US" dirty="0">
                <a:solidFill>
                  <a:schemeClr val="bg1"/>
                </a:solidFill>
              </a:rPr>
              <a:t>X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Знаковый бит = 1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значением является </a:t>
            </a:r>
            <a:r>
              <a:rPr lang="en-US" dirty="0">
                <a:solidFill>
                  <a:schemeClr val="bg1"/>
                </a:solidFill>
              </a:rPr>
              <a:t>implementation defined </a:t>
            </a:r>
            <a:r>
              <a:rPr lang="ru-RU" dirty="0">
                <a:solidFill>
                  <a:schemeClr val="bg1"/>
                </a:solidFill>
              </a:rPr>
              <a:t>одно из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– </a:t>
            </a:r>
            <a:r>
              <a:rPr lang="en-US" dirty="0">
                <a:solidFill>
                  <a:schemeClr val="bg1"/>
                </a:solidFill>
              </a:rPr>
              <a:t>X</a:t>
            </a:r>
            <a:endParaRPr lang="ru-RU" dirty="0">
              <a:solidFill>
                <a:schemeClr val="bg1"/>
              </a:solidFill>
            </a:endParaRPr>
          </a:p>
          <a:p>
            <a:pPr lvl="3"/>
            <a:r>
              <a:rPr lang="ru-RU" dirty="0">
                <a:solidFill>
                  <a:schemeClr val="bg1"/>
                </a:solidFill>
              </a:rPr>
              <a:t> «знак и абсолютная величина»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X</a:t>
            </a:r>
            <a:r>
              <a:rPr lang="ru-RU" dirty="0">
                <a:solidFill>
                  <a:schemeClr val="bg1"/>
                </a:solidFill>
              </a:rPr>
              <a:t> –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</a:t>
            </a:r>
            <a:r>
              <a:rPr lang="ru-RU" dirty="0">
                <a:solidFill>
                  <a:schemeClr val="bg1"/>
                </a:solidFill>
              </a:rPr>
              <a:t> 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«дополнительный код», «дополнение до нуля»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X</a:t>
            </a:r>
            <a:r>
              <a:rPr lang="ru-RU" dirty="0">
                <a:solidFill>
                  <a:schemeClr val="bg1"/>
                </a:solidFill>
              </a:rPr>
              <a:t> –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</a:t>
            </a:r>
            <a:r>
              <a:rPr lang="ru-RU" dirty="0">
                <a:solidFill>
                  <a:schemeClr val="bg1"/>
                </a:solidFill>
              </a:rPr>
              <a:t> + 1 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«дополнительный код плюс один», «дополнение до единицы»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139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431606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знаковых целых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Значащие биты</a:t>
            </a:r>
          </a:p>
          <a:p>
            <a:pPr lvl="1"/>
            <a:r>
              <a:rPr lang="ru-RU" dirty="0"/>
              <a:t>Разложение вспомогательного значения </a:t>
            </a:r>
            <a:r>
              <a:rPr lang="en-US" dirty="0"/>
              <a:t>X </a:t>
            </a:r>
            <a:r>
              <a:rPr lang="ru-RU" dirty="0"/>
              <a:t>по степеням 2 от 1 до 2</a:t>
            </a:r>
            <a:r>
              <a:rPr lang="ru-RU" baseline="30000" dirty="0"/>
              <a:t>число значащих битов - 1</a:t>
            </a:r>
          </a:p>
          <a:p>
            <a:pPr lvl="2"/>
            <a:r>
              <a:rPr lang="ru-RU" dirty="0"/>
              <a:t>Выбор </a:t>
            </a:r>
            <a:r>
              <a:rPr lang="en-US" dirty="0"/>
              <a:t>X </a:t>
            </a:r>
            <a:r>
              <a:rPr lang="ru-RU" dirty="0"/>
              <a:t>зависит от знакового бита</a:t>
            </a:r>
            <a:endParaRPr lang="en-US" dirty="0"/>
          </a:p>
          <a:p>
            <a:pPr lvl="2"/>
            <a:endParaRPr lang="ru-RU" dirty="0"/>
          </a:p>
          <a:p>
            <a:r>
              <a:rPr lang="ru-RU" dirty="0"/>
              <a:t>Знаковый бит</a:t>
            </a:r>
          </a:p>
          <a:p>
            <a:endParaRPr lang="ru-RU" dirty="0"/>
          </a:p>
          <a:p>
            <a:r>
              <a:rPr lang="ru-RU" dirty="0"/>
              <a:t>Выравнивающие биты </a:t>
            </a:r>
          </a:p>
          <a:p>
            <a:pPr lvl="1"/>
            <a:r>
              <a:rPr lang="ru-RU" dirty="0"/>
              <a:t>Значение не</a:t>
            </a:r>
            <a:r>
              <a:rPr lang="en-US" dirty="0"/>
              <a:t> </a:t>
            </a:r>
            <a:r>
              <a:rPr lang="ru-RU" dirty="0"/>
              <a:t>определено</a:t>
            </a:r>
          </a:p>
          <a:p>
            <a:pPr lvl="1"/>
            <a:r>
              <a:rPr lang="ru-RU" dirty="0"/>
              <a:t>Как правило отсутствуют</a:t>
            </a:r>
            <a:r>
              <a:rPr lang="en-US" dirty="0"/>
              <a:t> – implementation defined</a:t>
            </a:r>
          </a:p>
          <a:p>
            <a:endParaRPr lang="ru-RU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Знаковый бит = 0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значением является </a:t>
            </a:r>
            <a:r>
              <a:rPr lang="en-US" dirty="0">
                <a:solidFill>
                  <a:schemeClr val="bg1"/>
                </a:solidFill>
              </a:rPr>
              <a:t>X</a:t>
            </a:r>
            <a:endParaRPr lang="ru-RU" dirty="0">
              <a:solidFill>
                <a:schemeClr val="bg1"/>
              </a:solidFill>
            </a:endParaRPr>
          </a:p>
          <a:p>
            <a:r>
              <a:rPr lang="ru-RU" dirty="0"/>
              <a:t>Знаковый бит = 1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значением является </a:t>
            </a:r>
            <a:r>
              <a:rPr lang="en-US" dirty="0">
                <a:solidFill>
                  <a:schemeClr val="bg1"/>
                </a:solidFill>
              </a:rPr>
              <a:t>implementation defined </a:t>
            </a:r>
            <a:r>
              <a:rPr lang="ru-RU" dirty="0">
                <a:solidFill>
                  <a:schemeClr val="bg1"/>
                </a:solidFill>
              </a:rPr>
              <a:t>одно из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– </a:t>
            </a:r>
            <a:r>
              <a:rPr lang="en-US" dirty="0">
                <a:solidFill>
                  <a:schemeClr val="bg1"/>
                </a:solidFill>
              </a:rPr>
              <a:t>X</a:t>
            </a:r>
            <a:endParaRPr lang="ru-RU" dirty="0">
              <a:solidFill>
                <a:schemeClr val="bg1"/>
              </a:solidFill>
            </a:endParaRPr>
          </a:p>
          <a:p>
            <a:pPr lvl="3"/>
            <a:r>
              <a:rPr lang="ru-RU" dirty="0">
                <a:solidFill>
                  <a:schemeClr val="bg1"/>
                </a:solidFill>
              </a:rPr>
              <a:t> «знак и абсолютная величина»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X</a:t>
            </a:r>
            <a:r>
              <a:rPr lang="ru-RU" dirty="0">
                <a:solidFill>
                  <a:schemeClr val="bg1"/>
                </a:solidFill>
              </a:rPr>
              <a:t> –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</a:t>
            </a:r>
            <a:r>
              <a:rPr lang="ru-RU" dirty="0">
                <a:solidFill>
                  <a:schemeClr val="bg1"/>
                </a:solidFill>
              </a:rPr>
              <a:t> 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«дополнительный код», «дополнение до нуля»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X</a:t>
            </a:r>
            <a:r>
              <a:rPr lang="ru-RU" dirty="0">
                <a:solidFill>
                  <a:schemeClr val="bg1"/>
                </a:solidFill>
              </a:rPr>
              <a:t> –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</a:t>
            </a:r>
            <a:r>
              <a:rPr lang="ru-RU" dirty="0">
                <a:solidFill>
                  <a:schemeClr val="bg1"/>
                </a:solidFill>
              </a:rPr>
              <a:t> + 1 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«дополнительный код плюс один», «дополнение до единицы»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140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3611525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знаковых целых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Значащие биты</a:t>
            </a:r>
          </a:p>
          <a:p>
            <a:pPr lvl="1"/>
            <a:r>
              <a:rPr lang="ru-RU" dirty="0"/>
              <a:t>Разложение вспомогательного значения </a:t>
            </a:r>
            <a:r>
              <a:rPr lang="en-US" dirty="0"/>
              <a:t>X </a:t>
            </a:r>
            <a:r>
              <a:rPr lang="ru-RU" dirty="0"/>
              <a:t>по степеням 2 от 1 до 2</a:t>
            </a:r>
            <a:r>
              <a:rPr lang="ru-RU" baseline="30000" dirty="0"/>
              <a:t>число значащих битов - 1</a:t>
            </a:r>
          </a:p>
          <a:p>
            <a:pPr lvl="2"/>
            <a:r>
              <a:rPr lang="ru-RU" dirty="0"/>
              <a:t>Выбор </a:t>
            </a:r>
            <a:r>
              <a:rPr lang="en-US" dirty="0"/>
              <a:t>X </a:t>
            </a:r>
            <a:r>
              <a:rPr lang="ru-RU" dirty="0"/>
              <a:t>зависит от знакового бита</a:t>
            </a:r>
            <a:endParaRPr lang="en-US" dirty="0"/>
          </a:p>
          <a:p>
            <a:pPr lvl="2"/>
            <a:endParaRPr lang="ru-RU" dirty="0"/>
          </a:p>
          <a:p>
            <a:r>
              <a:rPr lang="ru-RU" dirty="0"/>
              <a:t>Знаковый бит</a:t>
            </a:r>
          </a:p>
          <a:p>
            <a:endParaRPr lang="ru-RU" dirty="0"/>
          </a:p>
          <a:p>
            <a:r>
              <a:rPr lang="ru-RU" dirty="0"/>
              <a:t>Выравнивающие биты </a:t>
            </a:r>
          </a:p>
          <a:p>
            <a:pPr lvl="1"/>
            <a:r>
              <a:rPr lang="ru-RU" dirty="0"/>
              <a:t>Значение не</a:t>
            </a:r>
            <a:r>
              <a:rPr lang="en-US" dirty="0"/>
              <a:t> </a:t>
            </a:r>
            <a:r>
              <a:rPr lang="ru-RU" dirty="0"/>
              <a:t>определено</a:t>
            </a:r>
          </a:p>
          <a:p>
            <a:pPr lvl="1"/>
            <a:r>
              <a:rPr lang="ru-RU" dirty="0"/>
              <a:t>Как правило отсутствуют</a:t>
            </a:r>
            <a:r>
              <a:rPr lang="en-US" dirty="0"/>
              <a:t> – implementation defined</a:t>
            </a:r>
          </a:p>
          <a:p>
            <a:endParaRPr lang="ru-RU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Знаковый бит = 0</a:t>
            </a:r>
          </a:p>
          <a:p>
            <a:pPr lvl="1"/>
            <a:r>
              <a:rPr lang="ru-RU" dirty="0"/>
              <a:t>значением является </a:t>
            </a:r>
            <a:r>
              <a:rPr lang="en-US" dirty="0"/>
              <a:t>X</a:t>
            </a:r>
            <a:endParaRPr lang="ru-RU" dirty="0"/>
          </a:p>
          <a:p>
            <a:r>
              <a:rPr lang="ru-RU" dirty="0"/>
              <a:t>Знаковый бит = 1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значением является </a:t>
            </a:r>
            <a:r>
              <a:rPr lang="en-US" dirty="0">
                <a:solidFill>
                  <a:schemeClr val="bg1"/>
                </a:solidFill>
              </a:rPr>
              <a:t>implementation defined </a:t>
            </a:r>
            <a:r>
              <a:rPr lang="ru-RU" dirty="0">
                <a:solidFill>
                  <a:schemeClr val="bg1"/>
                </a:solidFill>
              </a:rPr>
              <a:t>одно из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– </a:t>
            </a:r>
            <a:r>
              <a:rPr lang="en-US" dirty="0">
                <a:solidFill>
                  <a:schemeClr val="bg1"/>
                </a:solidFill>
              </a:rPr>
              <a:t>X</a:t>
            </a:r>
            <a:endParaRPr lang="ru-RU" dirty="0">
              <a:solidFill>
                <a:schemeClr val="bg1"/>
              </a:solidFill>
            </a:endParaRPr>
          </a:p>
          <a:p>
            <a:pPr lvl="3"/>
            <a:r>
              <a:rPr lang="ru-RU" dirty="0">
                <a:solidFill>
                  <a:schemeClr val="bg1"/>
                </a:solidFill>
              </a:rPr>
              <a:t> «знак и абсолютная величина»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X</a:t>
            </a:r>
            <a:r>
              <a:rPr lang="ru-RU" dirty="0">
                <a:solidFill>
                  <a:schemeClr val="bg1"/>
                </a:solidFill>
              </a:rPr>
              <a:t> –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</a:t>
            </a:r>
            <a:r>
              <a:rPr lang="ru-RU" dirty="0">
                <a:solidFill>
                  <a:schemeClr val="bg1"/>
                </a:solidFill>
              </a:rPr>
              <a:t> 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«дополнительный код», «дополнение до нуля»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X</a:t>
            </a:r>
            <a:r>
              <a:rPr lang="ru-RU" dirty="0">
                <a:solidFill>
                  <a:schemeClr val="bg1"/>
                </a:solidFill>
              </a:rPr>
              <a:t> –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</a:t>
            </a:r>
            <a:r>
              <a:rPr lang="ru-RU" dirty="0">
                <a:solidFill>
                  <a:schemeClr val="bg1"/>
                </a:solidFill>
              </a:rPr>
              <a:t> + 1 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«дополнительный код плюс один», «дополнение до единицы»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51074584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знаковых целых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Значащие биты</a:t>
            </a:r>
          </a:p>
          <a:p>
            <a:pPr lvl="1"/>
            <a:r>
              <a:rPr lang="ru-RU" dirty="0"/>
              <a:t>Разложение вспомогательного значения </a:t>
            </a:r>
            <a:r>
              <a:rPr lang="en-US" dirty="0"/>
              <a:t>X </a:t>
            </a:r>
            <a:r>
              <a:rPr lang="ru-RU" dirty="0"/>
              <a:t>по степеням 2 от 1 до 2</a:t>
            </a:r>
            <a:r>
              <a:rPr lang="ru-RU" baseline="30000" dirty="0"/>
              <a:t>число значащих битов - 1</a:t>
            </a:r>
          </a:p>
          <a:p>
            <a:pPr lvl="2"/>
            <a:r>
              <a:rPr lang="ru-RU" dirty="0"/>
              <a:t>Выбор </a:t>
            </a:r>
            <a:r>
              <a:rPr lang="en-US" dirty="0"/>
              <a:t>X </a:t>
            </a:r>
            <a:r>
              <a:rPr lang="ru-RU" dirty="0"/>
              <a:t>зависит от знакового бита</a:t>
            </a:r>
            <a:endParaRPr lang="en-US" dirty="0"/>
          </a:p>
          <a:p>
            <a:pPr lvl="2"/>
            <a:endParaRPr lang="ru-RU" dirty="0"/>
          </a:p>
          <a:p>
            <a:r>
              <a:rPr lang="ru-RU" dirty="0"/>
              <a:t>Знаковый бит</a:t>
            </a:r>
          </a:p>
          <a:p>
            <a:endParaRPr lang="ru-RU" dirty="0"/>
          </a:p>
          <a:p>
            <a:r>
              <a:rPr lang="ru-RU" dirty="0"/>
              <a:t>Выравнивающие биты </a:t>
            </a:r>
          </a:p>
          <a:p>
            <a:pPr lvl="1"/>
            <a:r>
              <a:rPr lang="ru-RU" dirty="0"/>
              <a:t>Значение не</a:t>
            </a:r>
            <a:r>
              <a:rPr lang="en-US" dirty="0"/>
              <a:t> </a:t>
            </a:r>
            <a:r>
              <a:rPr lang="ru-RU" dirty="0"/>
              <a:t>определено</a:t>
            </a:r>
          </a:p>
          <a:p>
            <a:pPr lvl="1"/>
            <a:r>
              <a:rPr lang="ru-RU" dirty="0"/>
              <a:t>Как правило отсутствуют</a:t>
            </a:r>
            <a:r>
              <a:rPr lang="en-US" dirty="0"/>
              <a:t> – implementation defined</a:t>
            </a:r>
          </a:p>
          <a:p>
            <a:endParaRPr lang="ru-RU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Знаковый бит = 0</a:t>
            </a:r>
          </a:p>
          <a:p>
            <a:pPr lvl="1"/>
            <a:r>
              <a:rPr lang="ru-RU" dirty="0"/>
              <a:t>значением является </a:t>
            </a:r>
            <a:r>
              <a:rPr lang="en-US" dirty="0"/>
              <a:t>X</a:t>
            </a:r>
            <a:endParaRPr lang="ru-RU" dirty="0"/>
          </a:p>
          <a:p>
            <a:r>
              <a:rPr lang="ru-RU" dirty="0"/>
              <a:t>Знаковый бит = 1</a:t>
            </a:r>
          </a:p>
          <a:p>
            <a:pPr lvl="1"/>
            <a:r>
              <a:rPr lang="ru-RU" dirty="0"/>
              <a:t>значением является </a:t>
            </a:r>
            <a:r>
              <a:rPr lang="en-US" dirty="0"/>
              <a:t>implementation defined </a:t>
            </a:r>
            <a:r>
              <a:rPr lang="ru-RU" dirty="0"/>
              <a:t>одно из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– </a:t>
            </a:r>
            <a:r>
              <a:rPr lang="en-US" dirty="0">
                <a:solidFill>
                  <a:schemeClr val="bg1"/>
                </a:solidFill>
              </a:rPr>
              <a:t>X</a:t>
            </a:r>
            <a:endParaRPr lang="ru-RU" dirty="0">
              <a:solidFill>
                <a:schemeClr val="bg1"/>
              </a:solidFill>
            </a:endParaRPr>
          </a:p>
          <a:p>
            <a:pPr lvl="3"/>
            <a:r>
              <a:rPr lang="ru-RU" dirty="0">
                <a:solidFill>
                  <a:schemeClr val="bg1"/>
                </a:solidFill>
              </a:rPr>
              <a:t> «знак и абсолютная величина»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X</a:t>
            </a:r>
            <a:r>
              <a:rPr lang="ru-RU" dirty="0">
                <a:solidFill>
                  <a:schemeClr val="bg1"/>
                </a:solidFill>
              </a:rPr>
              <a:t> –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</a:t>
            </a:r>
            <a:r>
              <a:rPr lang="ru-RU" dirty="0">
                <a:solidFill>
                  <a:schemeClr val="bg1"/>
                </a:solidFill>
              </a:rPr>
              <a:t> 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«дополнительный код», «дополнение до нуля»</a:t>
            </a:r>
          </a:p>
          <a:p>
            <a:pPr lvl="2"/>
            <a:r>
              <a:rPr lang="en-US" dirty="0">
                <a:solidFill>
                  <a:schemeClr val="bg1"/>
                </a:solidFill>
              </a:rPr>
              <a:t>X</a:t>
            </a:r>
            <a:r>
              <a:rPr lang="ru-RU" dirty="0">
                <a:solidFill>
                  <a:schemeClr val="bg1"/>
                </a:solidFill>
              </a:rPr>
              <a:t> – 2</a:t>
            </a:r>
            <a:r>
              <a:rPr lang="ru-RU" baseline="30000" dirty="0">
                <a:solidFill>
                  <a:schemeClr val="bg1"/>
                </a:solidFill>
              </a:rPr>
              <a:t>число значащих битов</a:t>
            </a:r>
            <a:r>
              <a:rPr lang="ru-RU" dirty="0">
                <a:solidFill>
                  <a:schemeClr val="bg1"/>
                </a:solidFill>
              </a:rPr>
              <a:t> + 1 </a:t>
            </a:r>
          </a:p>
          <a:p>
            <a:pPr lvl="3"/>
            <a:r>
              <a:rPr lang="ru-RU" dirty="0">
                <a:solidFill>
                  <a:schemeClr val="bg1"/>
                </a:solidFill>
              </a:rPr>
              <a:t>«дополнительный код плюс один», «дополнение до единицы»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67831645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знаковых целых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Значащие биты</a:t>
            </a:r>
          </a:p>
          <a:p>
            <a:pPr lvl="1"/>
            <a:r>
              <a:rPr lang="ru-RU" dirty="0"/>
              <a:t>Разложение вспомогательного значения </a:t>
            </a:r>
            <a:r>
              <a:rPr lang="en-US" dirty="0"/>
              <a:t>X </a:t>
            </a:r>
            <a:r>
              <a:rPr lang="ru-RU" dirty="0"/>
              <a:t>по степеням 2 от 1 до 2</a:t>
            </a:r>
            <a:r>
              <a:rPr lang="ru-RU" baseline="30000" dirty="0"/>
              <a:t>число значащих битов - 1</a:t>
            </a:r>
          </a:p>
          <a:p>
            <a:pPr lvl="2"/>
            <a:r>
              <a:rPr lang="ru-RU" dirty="0"/>
              <a:t>Выбор </a:t>
            </a:r>
            <a:r>
              <a:rPr lang="en-US" dirty="0"/>
              <a:t>X </a:t>
            </a:r>
            <a:r>
              <a:rPr lang="ru-RU" dirty="0"/>
              <a:t>зависит от знакового бита</a:t>
            </a:r>
            <a:endParaRPr lang="en-US" dirty="0"/>
          </a:p>
          <a:p>
            <a:pPr lvl="2"/>
            <a:endParaRPr lang="ru-RU" dirty="0"/>
          </a:p>
          <a:p>
            <a:r>
              <a:rPr lang="ru-RU" dirty="0"/>
              <a:t>Знаковый бит</a:t>
            </a:r>
          </a:p>
          <a:p>
            <a:endParaRPr lang="ru-RU" dirty="0"/>
          </a:p>
          <a:p>
            <a:r>
              <a:rPr lang="ru-RU" dirty="0"/>
              <a:t>Выравнивающие биты </a:t>
            </a:r>
          </a:p>
          <a:p>
            <a:pPr lvl="1"/>
            <a:r>
              <a:rPr lang="ru-RU" dirty="0"/>
              <a:t>Значение не</a:t>
            </a:r>
            <a:r>
              <a:rPr lang="en-US" dirty="0"/>
              <a:t> </a:t>
            </a:r>
            <a:r>
              <a:rPr lang="ru-RU" dirty="0"/>
              <a:t>определено</a:t>
            </a:r>
          </a:p>
          <a:p>
            <a:pPr lvl="1"/>
            <a:r>
              <a:rPr lang="ru-RU" dirty="0"/>
              <a:t>Как правило отсутствуют</a:t>
            </a:r>
            <a:r>
              <a:rPr lang="en-US" dirty="0"/>
              <a:t> – implementation defined</a:t>
            </a:r>
          </a:p>
          <a:p>
            <a:endParaRPr lang="ru-RU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Знаковый бит = 0</a:t>
            </a:r>
          </a:p>
          <a:p>
            <a:pPr lvl="1"/>
            <a:r>
              <a:rPr lang="ru-RU" dirty="0"/>
              <a:t>значением является </a:t>
            </a:r>
            <a:r>
              <a:rPr lang="en-US" dirty="0"/>
              <a:t>X</a:t>
            </a:r>
            <a:endParaRPr lang="ru-RU" dirty="0"/>
          </a:p>
          <a:p>
            <a:r>
              <a:rPr lang="ru-RU" dirty="0"/>
              <a:t>Знаковый бит = 1</a:t>
            </a:r>
          </a:p>
          <a:p>
            <a:pPr lvl="1"/>
            <a:r>
              <a:rPr lang="ru-RU" dirty="0"/>
              <a:t>значением является </a:t>
            </a:r>
            <a:r>
              <a:rPr lang="en-US" dirty="0"/>
              <a:t>implementation defined </a:t>
            </a:r>
            <a:r>
              <a:rPr lang="ru-RU" dirty="0"/>
              <a:t>одно из</a:t>
            </a:r>
          </a:p>
          <a:p>
            <a:pPr lvl="2"/>
            <a:r>
              <a:rPr lang="ru-RU" dirty="0"/>
              <a:t>– </a:t>
            </a:r>
            <a:r>
              <a:rPr lang="en-US" dirty="0"/>
              <a:t>X</a:t>
            </a:r>
            <a:endParaRPr lang="ru-RU" dirty="0"/>
          </a:p>
          <a:p>
            <a:pPr lvl="3"/>
            <a:r>
              <a:rPr lang="ru-RU" dirty="0"/>
              <a:t> «знак и абсолютная величина»</a:t>
            </a:r>
          </a:p>
          <a:p>
            <a:pPr lvl="2"/>
            <a:r>
              <a:rPr lang="en-US" dirty="0"/>
              <a:t>X</a:t>
            </a:r>
            <a:r>
              <a:rPr lang="ru-RU" dirty="0"/>
              <a:t> – 2</a:t>
            </a:r>
            <a:r>
              <a:rPr lang="ru-RU" baseline="30000" dirty="0"/>
              <a:t>число значащих битов</a:t>
            </a:r>
            <a:r>
              <a:rPr lang="ru-RU" dirty="0"/>
              <a:t> </a:t>
            </a:r>
          </a:p>
          <a:p>
            <a:pPr lvl="3"/>
            <a:r>
              <a:rPr lang="ru-RU" dirty="0"/>
              <a:t>«дополнительный код», «дополнение до нуля»</a:t>
            </a:r>
          </a:p>
          <a:p>
            <a:pPr lvl="2"/>
            <a:r>
              <a:rPr lang="en-US" dirty="0"/>
              <a:t>X</a:t>
            </a:r>
            <a:r>
              <a:rPr lang="ru-RU" dirty="0"/>
              <a:t> – 2</a:t>
            </a:r>
            <a:r>
              <a:rPr lang="ru-RU" baseline="30000" dirty="0"/>
              <a:t>число значащих битов</a:t>
            </a:r>
            <a:r>
              <a:rPr lang="ru-RU" dirty="0"/>
              <a:t> + 1 </a:t>
            </a:r>
          </a:p>
          <a:p>
            <a:pPr lvl="3"/>
            <a:r>
              <a:rPr lang="ru-RU" dirty="0"/>
              <a:t>«дополнительный код плюс один», «дополнение до единицы»</a:t>
            </a:r>
          </a:p>
          <a:p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04185123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знаковых целых типов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Значащие биты</a:t>
            </a:r>
          </a:p>
          <a:p>
            <a:pPr lvl="1"/>
            <a:r>
              <a:rPr lang="ru-RU" dirty="0"/>
              <a:t>Разложение вспомогательного значения </a:t>
            </a:r>
            <a:r>
              <a:rPr lang="en-US" dirty="0"/>
              <a:t>X </a:t>
            </a:r>
            <a:r>
              <a:rPr lang="ru-RU" dirty="0"/>
              <a:t>по степеням 2 от 1 до 2</a:t>
            </a:r>
            <a:r>
              <a:rPr lang="ru-RU" baseline="30000" dirty="0"/>
              <a:t>число значащих битов - 1</a:t>
            </a:r>
          </a:p>
          <a:p>
            <a:pPr lvl="2"/>
            <a:r>
              <a:rPr lang="ru-RU" dirty="0"/>
              <a:t>Выбор </a:t>
            </a:r>
            <a:r>
              <a:rPr lang="en-US" dirty="0"/>
              <a:t>X </a:t>
            </a:r>
            <a:r>
              <a:rPr lang="ru-RU" dirty="0"/>
              <a:t>зависит от знакового бита</a:t>
            </a:r>
            <a:endParaRPr lang="en-US" dirty="0"/>
          </a:p>
          <a:p>
            <a:pPr lvl="2"/>
            <a:endParaRPr lang="ru-RU" dirty="0"/>
          </a:p>
          <a:p>
            <a:r>
              <a:rPr lang="ru-RU" dirty="0"/>
              <a:t>Знаковый бит</a:t>
            </a:r>
          </a:p>
          <a:p>
            <a:endParaRPr lang="ru-RU" dirty="0"/>
          </a:p>
          <a:p>
            <a:r>
              <a:rPr lang="ru-RU" dirty="0"/>
              <a:t>Выравнивающие биты </a:t>
            </a:r>
          </a:p>
          <a:p>
            <a:pPr lvl="1"/>
            <a:r>
              <a:rPr lang="ru-RU" dirty="0"/>
              <a:t>Значение не</a:t>
            </a:r>
            <a:r>
              <a:rPr lang="en-US" dirty="0"/>
              <a:t> </a:t>
            </a:r>
            <a:r>
              <a:rPr lang="ru-RU" dirty="0"/>
              <a:t>определено</a:t>
            </a:r>
          </a:p>
          <a:p>
            <a:pPr lvl="1"/>
            <a:r>
              <a:rPr lang="ru-RU" dirty="0"/>
              <a:t>Как правило отсутствуют</a:t>
            </a:r>
            <a:r>
              <a:rPr lang="en-US" dirty="0"/>
              <a:t> – implementation defined</a:t>
            </a:r>
          </a:p>
          <a:p>
            <a:endParaRPr lang="ru-RU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Знаковый бит = 0</a:t>
            </a:r>
          </a:p>
          <a:p>
            <a:pPr lvl="1"/>
            <a:r>
              <a:rPr lang="ru-RU" dirty="0"/>
              <a:t>значением является </a:t>
            </a:r>
            <a:r>
              <a:rPr lang="en-US" dirty="0"/>
              <a:t>X</a:t>
            </a:r>
            <a:endParaRPr lang="ru-RU" dirty="0"/>
          </a:p>
          <a:p>
            <a:r>
              <a:rPr lang="ru-RU" dirty="0"/>
              <a:t>Знаковый бит = 1</a:t>
            </a:r>
          </a:p>
          <a:p>
            <a:pPr lvl="1"/>
            <a:r>
              <a:rPr lang="ru-RU" dirty="0"/>
              <a:t>значением является </a:t>
            </a:r>
            <a:r>
              <a:rPr lang="en-US" dirty="0"/>
              <a:t>implementation defined </a:t>
            </a:r>
            <a:r>
              <a:rPr lang="ru-RU" dirty="0"/>
              <a:t>одно из</a:t>
            </a:r>
          </a:p>
          <a:p>
            <a:pPr lvl="2"/>
            <a:r>
              <a:rPr lang="ru-RU" dirty="0"/>
              <a:t>– </a:t>
            </a:r>
            <a:r>
              <a:rPr lang="en-US" dirty="0"/>
              <a:t>X</a:t>
            </a:r>
            <a:endParaRPr lang="ru-RU" dirty="0"/>
          </a:p>
          <a:p>
            <a:pPr lvl="3"/>
            <a:r>
              <a:rPr lang="ru-RU" dirty="0"/>
              <a:t> «знак и абсолютная величина»</a:t>
            </a:r>
          </a:p>
          <a:p>
            <a:pPr lvl="2"/>
            <a:r>
              <a:rPr lang="en-US" dirty="0"/>
              <a:t>X</a:t>
            </a:r>
            <a:r>
              <a:rPr lang="ru-RU" dirty="0"/>
              <a:t> – 2</a:t>
            </a:r>
            <a:r>
              <a:rPr lang="ru-RU" baseline="30000" dirty="0"/>
              <a:t>число значащих битов</a:t>
            </a:r>
            <a:r>
              <a:rPr lang="ru-RU" dirty="0"/>
              <a:t> </a:t>
            </a:r>
          </a:p>
          <a:p>
            <a:pPr lvl="3"/>
            <a:r>
              <a:rPr lang="ru-RU" dirty="0"/>
              <a:t>«дополнительный код», «дополнение до нуля»</a:t>
            </a:r>
          </a:p>
          <a:p>
            <a:pPr lvl="2"/>
            <a:r>
              <a:rPr lang="en-US" dirty="0"/>
              <a:t>X</a:t>
            </a:r>
            <a:r>
              <a:rPr lang="ru-RU" dirty="0"/>
              <a:t> – 2</a:t>
            </a:r>
            <a:r>
              <a:rPr lang="ru-RU" baseline="30000" dirty="0"/>
              <a:t>число значащих битов</a:t>
            </a:r>
            <a:r>
              <a:rPr lang="ru-RU" dirty="0"/>
              <a:t> + 1 </a:t>
            </a:r>
          </a:p>
          <a:p>
            <a:pPr lvl="3"/>
            <a:r>
              <a:rPr lang="ru-RU" dirty="0"/>
              <a:t>«дополнительный код плюс один», «дополнение до единицы»</a:t>
            </a:r>
          </a:p>
          <a:p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144</a:t>
            </a:fld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89FA83-24C1-4A7A-965E-8773562CC5E5}"/>
              </a:ext>
            </a:extLst>
          </p:cNvPr>
          <p:cNvSpPr/>
          <p:nvPr/>
        </p:nvSpPr>
        <p:spPr>
          <a:xfrm>
            <a:off x="7104112" y="4163241"/>
            <a:ext cx="3456384" cy="79208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947970-6EDC-4146-8D26-0F9A4E3983F7}"/>
              </a:ext>
            </a:extLst>
          </p:cNvPr>
          <p:cNvSpPr txBox="1"/>
          <p:nvPr/>
        </p:nvSpPr>
        <p:spPr>
          <a:xfrm>
            <a:off x="10674313" y="4097620"/>
            <a:ext cx="13589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99.99%</a:t>
            </a:r>
          </a:p>
          <a:p>
            <a:r>
              <a:rPr lang="ru-RU" dirty="0"/>
              <a:t>всех</a:t>
            </a:r>
            <a:r>
              <a:rPr lang="en-US" dirty="0"/>
              <a:t> </a:t>
            </a:r>
            <a:r>
              <a:rPr lang="ru-RU" dirty="0"/>
              <a:t>реализаций</a:t>
            </a:r>
          </a:p>
        </p:txBody>
      </p:sp>
    </p:spTree>
    <p:extLst>
      <p:ext uri="{BB962C8B-B14F-4D97-AF65-F5344CB8AC3E}">
        <p14:creationId xmlns:p14="http://schemas.microsoft.com/office/powerpoint/2010/main" val="3554884048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знаковых целых типов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145</a:t>
            </a:fld>
            <a:endParaRPr lang="ru-RU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A6EDFE1-CE9A-4FAA-8BAD-EC3E0ED258A3}"/>
              </a:ext>
            </a:extLst>
          </p:cNvPr>
          <p:cNvSpPr/>
          <p:nvPr/>
        </p:nvSpPr>
        <p:spPr>
          <a:xfrm>
            <a:off x="4007767" y="1834703"/>
            <a:ext cx="3988135" cy="398813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1E22B64-E169-455C-9023-8B69A0FD163B}"/>
              </a:ext>
            </a:extLst>
          </p:cNvPr>
          <p:cNvSpPr/>
          <p:nvPr/>
        </p:nvSpPr>
        <p:spPr>
          <a:xfrm>
            <a:off x="4381654" y="2208590"/>
            <a:ext cx="3240360" cy="324036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C47FBF4-6248-4643-8D93-FF0FBD660E63}"/>
              </a:ext>
            </a:extLst>
          </p:cNvPr>
          <p:cNvCxnSpPr>
            <a:stCxn id="7" idx="0"/>
            <a:endCxn id="8" idx="0"/>
          </p:cNvCxnSpPr>
          <p:nvPr/>
        </p:nvCxnSpPr>
        <p:spPr>
          <a:xfrm flipH="1">
            <a:off x="6001834" y="183470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505DEA3-D26D-4EE2-82E6-684C40C06D5D}"/>
              </a:ext>
            </a:extLst>
          </p:cNvPr>
          <p:cNvCxnSpPr>
            <a:cxnSpLocks/>
          </p:cNvCxnSpPr>
          <p:nvPr/>
        </p:nvCxnSpPr>
        <p:spPr>
          <a:xfrm rot="600000" flipH="1">
            <a:off x="6352303" y="1877631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D27FE5-F0E7-4F3C-ADA5-0E9BF4049BF1}"/>
              </a:ext>
            </a:extLst>
          </p:cNvPr>
          <p:cNvCxnSpPr>
            <a:cxnSpLocks/>
          </p:cNvCxnSpPr>
          <p:nvPr/>
        </p:nvCxnSpPr>
        <p:spPr>
          <a:xfrm rot="1200000" flipH="1">
            <a:off x="6666544" y="196383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63220E6-87B6-4539-93E7-26FAD89BF179}"/>
              </a:ext>
            </a:extLst>
          </p:cNvPr>
          <p:cNvCxnSpPr>
            <a:cxnSpLocks/>
          </p:cNvCxnSpPr>
          <p:nvPr/>
        </p:nvCxnSpPr>
        <p:spPr>
          <a:xfrm rot="1800000" flipH="1">
            <a:off x="6941129" y="2114078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CC1C6B3-5446-46B4-9ABD-96A54C7131EA}"/>
              </a:ext>
            </a:extLst>
          </p:cNvPr>
          <p:cNvCxnSpPr>
            <a:cxnSpLocks/>
          </p:cNvCxnSpPr>
          <p:nvPr/>
        </p:nvCxnSpPr>
        <p:spPr>
          <a:xfrm rot="21000000" flipH="1">
            <a:off x="5654394" y="18721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CD886D5-5D38-461E-9964-E1D98DA3F262}"/>
              </a:ext>
            </a:extLst>
          </p:cNvPr>
          <p:cNvCxnSpPr>
            <a:cxnSpLocks/>
          </p:cNvCxnSpPr>
          <p:nvPr/>
        </p:nvCxnSpPr>
        <p:spPr>
          <a:xfrm rot="20400000" flipH="1">
            <a:off x="5309156" y="198691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B8DC01E-95E9-4588-B7BC-D19A14DBCB9A}"/>
              </a:ext>
            </a:extLst>
          </p:cNvPr>
          <p:cNvSpPr txBox="1"/>
          <p:nvPr/>
        </p:nvSpPr>
        <p:spPr>
          <a:xfrm>
            <a:off x="6017881" y="183925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AFBC91B-9250-448F-BE8E-4F044C9A62B2}"/>
              </a:ext>
            </a:extLst>
          </p:cNvPr>
          <p:cNvSpPr txBox="1"/>
          <p:nvPr/>
        </p:nvSpPr>
        <p:spPr>
          <a:xfrm>
            <a:off x="6322205" y="1907182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5EFE037-7DF3-4B09-B22E-3E3CB6077F6F}"/>
              </a:ext>
            </a:extLst>
          </p:cNvPr>
          <p:cNvSpPr txBox="1"/>
          <p:nvPr/>
        </p:nvSpPr>
        <p:spPr>
          <a:xfrm>
            <a:off x="5519947" y="5474850"/>
            <a:ext cx="606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</a:t>
            </a:r>
            <a:r>
              <a:rPr lang="ru-RU" dirty="0"/>
              <a:t>2</a:t>
            </a:r>
            <a:r>
              <a:rPr lang="en-US" baseline="30000" dirty="0"/>
              <a:t>n-1</a:t>
            </a:r>
            <a:endParaRPr lang="ru-RU" baseline="30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EAC649E-7F3E-4722-A459-40527DF4E9DA}"/>
              </a:ext>
            </a:extLst>
          </p:cNvPr>
          <p:cNvSpPr txBox="1"/>
          <p:nvPr/>
        </p:nvSpPr>
        <p:spPr>
          <a:xfrm>
            <a:off x="5649931" y="1841735"/>
            <a:ext cx="377534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-1</a:t>
            </a:r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1BDA28-4B48-4B04-91B3-AB31ABF120CE}"/>
              </a:ext>
            </a:extLst>
          </p:cNvPr>
          <p:cNvSpPr txBox="1"/>
          <p:nvPr/>
        </p:nvSpPr>
        <p:spPr>
          <a:xfrm>
            <a:off x="5949293" y="5470897"/>
            <a:ext cx="977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2</a:t>
            </a:r>
            <a:r>
              <a:rPr lang="en-US" baseline="30000" dirty="0"/>
              <a:t>n-1</a:t>
            </a:r>
            <a:r>
              <a:rPr lang="en-US" dirty="0"/>
              <a:t>-1</a:t>
            </a:r>
            <a:endParaRPr lang="ru-RU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79676C-8E3E-4915-ABCB-D3B78847FD7A}"/>
              </a:ext>
            </a:extLst>
          </p:cNvPr>
          <p:cNvSpPr txBox="1"/>
          <p:nvPr/>
        </p:nvSpPr>
        <p:spPr>
          <a:xfrm>
            <a:off x="6643701" y="20475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673E287-2449-446F-A323-CE94F0314040}"/>
              </a:ext>
            </a:extLst>
          </p:cNvPr>
          <p:cNvSpPr txBox="1"/>
          <p:nvPr/>
        </p:nvSpPr>
        <p:spPr>
          <a:xfrm>
            <a:off x="5303912" y="1928844"/>
            <a:ext cx="4159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-2</a:t>
            </a:r>
            <a:endParaRPr lang="ru-RU" dirty="0"/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5E750605-F792-4DCA-A470-3A94C3CC6525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27466" y="5454424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9C868FB-8E44-42A0-A589-DB7BBC3E168C}"/>
              </a:ext>
            </a:extLst>
          </p:cNvPr>
          <p:cNvCxnSpPr>
            <a:cxnSpLocks/>
          </p:cNvCxnSpPr>
          <p:nvPr/>
        </p:nvCxnSpPr>
        <p:spPr>
          <a:xfrm rot="11700000" flipH="1">
            <a:off x="5568321" y="5402229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A8AD490-FBF7-42EF-86AC-FE345A946615}"/>
              </a:ext>
            </a:extLst>
          </p:cNvPr>
          <p:cNvCxnSpPr>
            <a:cxnSpLocks/>
          </p:cNvCxnSpPr>
          <p:nvPr/>
        </p:nvCxnSpPr>
        <p:spPr>
          <a:xfrm rot="9900000" flipH="1">
            <a:off x="6495584" y="5392653"/>
            <a:ext cx="1" cy="3738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9E0B36A1-29FF-4C6A-B3AB-B122657B4DEA}"/>
              </a:ext>
            </a:extLst>
          </p:cNvPr>
          <p:cNvSpPr txBox="1"/>
          <p:nvPr/>
        </p:nvSpPr>
        <p:spPr>
          <a:xfrm>
            <a:off x="7271743" y="1931689"/>
            <a:ext cx="417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+1</a:t>
            </a:r>
            <a:endParaRPr lang="ru-RU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06FD90-4243-4633-8443-B9868602E918}"/>
              </a:ext>
            </a:extLst>
          </p:cNvPr>
          <p:cNvSpPr txBox="1"/>
          <p:nvPr/>
        </p:nvSpPr>
        <p:spPr>
          <a:xfrm>
            <a:off x="4212721" y="1928238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-1</a:t>
            </a:r>
            <a:endParaRPr lang="ru-RU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DA188EF-42DD-4DB4-8C72-AB232C00BAC9}"/>
              </a:ext>
            </a:extLst>
          </p:cNvPr>
          <p:cNvSpPr txBox="1"/>
          <p:nvPr/>
        </p:nvSpPr>
        <p:spPr>
          <a:xfrm>
            <a:off x="8280313" y="3429000"/>
            <a:ext cx="340377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Для чисел в дополнительном коде</a:t>
            </a:r>
            <a:endParaRPr lang="en-US" sz="2800" dirty="0"/>
          </a:p>
          <a:p>
            <a:pPr algn="ctr"/>
            <a:r>
              <a:rPr lang="en-US" sz="2800" dirty="0"/>
              <a:t>-(-</a:t>
            </a:r>
            <a:r>
              <a:rPr lang="ru-RU" sz="2800" dirty="0"/>
              <a:t>2</a:t>
            </a:r>
            <a:r>
              <a:rPr lang="en-US" sz="2800" baseline="30000" dirty="0"/>
              <a:t>n-1</a:t>
            </a:r>
            <a:r>
              <a:rPr lang="en-US" sz="2800" dirty="0"/>
              <a:t>) = -</a:t>
            </a:r>
            <a:r>
              <a:rPr lang="ru-RU" sz="2800" dirty="0"/>
              <a:t>2</a:t>
            </a:r>
            <a:r>
              <a:rPr lang="en-US" sz="2800" baseline="30000" dirty="0"/>
              <a:t>n-1</a:t>
            </a:r>
            <a:endParaRPr lang="ru-RU" sz="2800" baseline="30000" dirty="0"/>
          </a:p>
          <a:p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167004949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Особые значения знаковых целых типов</a:t>
            </a:r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Являются </a:t>
            </a:r>
            <a:r>
              <a:rPr lang="en-US" dirty="0">
                <a:solidFill>
                  <a:schemeClr val="bg1"/>
                </a:solidFill>
              </a:rPr>
              <a:t>implementation defined</a:t>
            </a:r>
            <a:endParaRPr lang="ru-RU" dirty="0">
              <a:solidFill>
                <a:schemeClr val="bg1"/>
              </a:solidFill>
            </a:endParaRPr>
          </a:p>
          <a:p>
            <a:pPr lvl="1"/>
            <a:r>
              <a:rPr lang="ru-RU" dirty="0">
                <a:solidFill>
                  <a:schemeClr val="bg1"/>
                </a:solidFill>
              </a:rPr>
              <a:t>Если «дополнительный код» или «знак и абсолютная величина», то знаковый бит=1 и все значащие биты=0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Если «дополнительный код плюс один», то знаковый бит=1 и все значащие биты=1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150448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Особые значения знаковых целых типов</a:t>
            </a:r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Являются </a:t>
            </a:r>
            <a:r>
              <a:rPr lang="en-US" dirty="0"/>
              <a:t>implementation defined</a:t>
            </a:r>
            <a:endParaRPr lang="ru-RU" dirty="0"/>
          </a:p>
          <a:p>
            <a:pPr lvl="1"/>
            <a:r>
              <a:rPr lang="ru-RU" dirty="0">
                <a:solidFill>
                  <a:schemeClr val="bg1"/>
                </a:solidFill>
              </a:rPr>
              <a:t>Если «дополнительный код» или «знак и абсолютная величина», то знаковый бит=1 и все значащие биты=0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Если «дополнительный код плюс один», то знаковый бит=1 и все значащие биты=1</a:t>
            </a:r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0457090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Особые значения знаковых целых типов</a:t>
            </a:r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Являются </a:t>
            </a:r>
            <a:r>
              <a:rPr lang="en-US" dirty="0"/>
              <a:t>implementation defined</a:t>
            </a:r>
            <a:endParaRPr lang="ru-RU" dirty="0"/>
          </a:p>
          <a:p>
            <a:pPr lvl="1"/>
            <a:r>
              <a:rPr lang="ru-RU" dirty="0"/>
              <a:t>Если «дополнительный код» или «знак и абсолютная величина», то знаковый бит=1 и все значащие биты=0</a:t>
            </a:r>
          </a:p>
          <a:p>
            <a:pPr lvl="1"/>
            <a:r>
              <a:rPr lang="ru-RU" dirty="0"/>
              <a:t>Если «дополнительный код плюс один», то знаковый бит=1 и все значащие биты=1</a:t>
            </a:r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988198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</a:t>
            </a:r>
            <a:r>
              <a:rPr lang="en-US" dirty="0"/>
              <a:t>double</a:t>
            </a:r>
            <a:r>
              <a:rPr lang="ru-RU" dirty="0"/>
              <a:t> – стандарт </a:t>
            </a:r>
            <a:r>
              <a:rPr lang="en-US" dirty="0"/>
              <a:t>IEEE 754</a:t>
            </a:r>
            <a:endParaRPr lang="ru-RU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3139534"/>
              </p:ext>
            </p:extLst>
          </p:nvPr>
        </p:nvGraphicFramePr>
        <p:xfrm>
          <a:off x="2063552" y="1916832"/>
          <a:ext cx="8450176" cy="1356126"/>
        </p:xfrm>
        <a:graphic>
          <a:graphicData uri="http://schemas.openxmlformats.org/drawingml/2006/table">
            <a:tbl>
              <a:tblPr/>
              <a:tblGrid>
                <a:gridCol w="13203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3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4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3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4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5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6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7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8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59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0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1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2"/>
                    </a:ext>
                  </a:extLst>
                </a:gridCol>
                <a:gridCol w="132034">
                  <a:extLst>
                    <a:ext uri="{9D8B030D-6E8A-4147-A177-3AD203B41FA5}">
                      <a16:colId xmlns:a16="http://schemas.microsoft.com/office/drawing/2014/main" val="20063"/>
                    </a:ext>
                  </a:extLst>
                </a:gridCol>
              </a:tblGrid>
              <a:tr h="213267">
                <a:tc gridSpan="7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Знак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0E0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217">
                <a:tc>
                  <a:txBody>
                    <a:bodyPr/>
                    <a:lstStyle/>
                    <a:p>
                      <a:endParaRPr lang="ru-RU" sz="100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 gridSpan="11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(11 битов)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Порядок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52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(52 бита)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Мантисса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267"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267"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63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56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55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48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47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40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39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32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31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24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23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16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15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>
                          <a:effectLst/>
                        </a:rPr>
                        <a:t>8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r>
                        <a:rPr lang="ru-RU" sz="1000">
                          <a:effectLst/>
                        </a:rPr>
                        <a:t>7</a:t>
                      </a: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r>
                        <a:rPr lang="ru-RU" sz="1000" dirty="0">
                          <a:effectLst/>
                        </a:rPr>
                        <a:t>0</a:t>
                      </a: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7730508"/>
              </p:ext>
            </p:extLst>
          </p:nvPr>
        </p:nvGraphicFramePr>
        <p:xfrm>
          <a:off x="2063552" y="3501008"/>
          <a:ext cx="8424936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49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18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8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699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Порядок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Мантисса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Мантисса !=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Формула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  <a:r>
                        <a:rPr lang="en-US" dirty="0"/>
                        <a:t>x000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 и -0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Денормализов. числа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порядок-1022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(0.мантисса)</a:t>
                      </a:r>
                      <a:r>
                        <a:rPr lang="ru-RU" baseline="-25000" dirty="0"/>
                        <a:t>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0x001 … 0x7fe</a:t>
                      </a:r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ru-RU" dirty="0"/>
                        <a:t>Нормализованные</a:t>
                      </a:r>
                      <a:r>
                        <a:rPr lang="ru-RU" baseline="0" dirty="0"/>
                        <a:t> числа</a:t>
                      </a:r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порядок-1023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(1.мантисса)</a:t>
                      </a:r>
                      <a:r>
                        <a:rPr lang="ru-RU" baseline="-25000" dirty="0"/>
                        <a:t>(2)</a:t>
                      </a:r>
                      <a:endParaRPr lang="ru-RU" baseline="0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0x7ff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>
                          <a:sym typeface="Symbol"/>
                        </a:rPr>
                        <a:t> </a:t>
                      </a:r>
                      <a:r>
                        <a:rPr lang="ru-RU" dirty="0">
                          <a:sym typeface="Symbol"/>
                        </a:rPr>
                        <a:t>или</a:t>
                      </a:r>
                      <a:r>
                        <a:rPr lang="ru-RU" baseline="0" dirty="0">
                          <a:sym typeface="Symbol"/>
                        </a:rPr>
                        <a:t> -</a:t>
                      </a:r>
                      <a:r>
                        <a:rPr lang="en-US" dirty="0">
                          <a:sym typeface="Symbol"/>
                        </a:rPr>
                        <a:t>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3272780"/>
              </p:ext>
            </p:extLst>
          </p:nvPr>
        </p:nvGraphicFramePr>
        <p:xfrm>
          <a:off x="2063552" y="5733256"/>
          <a:ext cx="8424936" cy="9499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83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083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3ff0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/>
                        <a:t> = 1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68580" indent="0">
                        <a:buNone/>
                      </a:pPr>
                      <a:r>
                        <a:rPr lang="ru-RU" sz="1600" dirty="0"/>
                        <a:t>0000 0000 0000 0000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ru-RU" sz="1600" dirty="0"/>
                        <a:t> =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</a:rPr>
                        <a:t>7ff0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>
                          <a:effectLst/>
                        </a:rPr>
                        <a:t> = ∞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/>
                        <a:t>3ff0 0000 0000 0001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/>
                        <a:t> ≈ 1.0000000000000002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dirty="0"/>
                        <a:t> 8000 0000 0000 0000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ru-RU" sz="1600" dirty="0"/>
                        <a:t> = –0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effectLst/>
                        </a:rPr>
                        <a:t>fff0 0000 0000 0000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en-US" sz="1600" dirty="0">
                          <a:effectLst/>
                        </a:rPr>
                        <a:t> = −∞</a:t>
                      </a:r>
                    </a:p>
                    <a:p>
                      <a:r>
                        <a:rPr lang="nl-NL" sz="1600" dirty="0">
                          <a:effectLst/>
                        </a:rPr>
                        <a:t>3fd5 5555 5555 5555</a:t>
                      </a:r>
                      <a:r>
                        <a:rPr lang="en-US" sz="1600" baseline="-25000" dirty="0"/>
                        <a:t>(16)</a:t>
                      </a:r>
                      <a:r>
                        <a:rPr lang="nl-NL" sz="1600" dirty="0">
                          <a:effectLst/>
                        </a:rPr>
                        <a:t> ≈ 1/3 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639241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</a:t>
            </a:r>
            <a:r>
              <a:rPr lang="en-US" dirty="0"/>
              <a:t>float </a:t>
            </a:r>
            <a:r>
              <a:rPr lang="ru-RU" dirty="0"/>
              <a:t>– стандарт </a:t>
            </a:r>
            <a:r>
              <a:rPr lang="en-US" dirty="0"/>
              <a:t>IEEE 754</a:t>
            </a:r>
            <a:endParaRPr lang="ru-RU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748076"/>
              </p:ext>
            </p:extLst>
          </p:nvPr>
        </p:nvGraphicFramePr>
        <p:xfrm>
          <a:off x="2063552" y="1916832"/>
          <a:ext cx="8424928" cy="1356126"/>
        </p:xfrm>
        <a:graphic>
          <a:graphicData uri="http://schemas.openxmlformats.org/drawingml/2006/table">
            <a:tbl>
              <a:tblPr/>
              <a:tblGrid>
                <a:gridCol w="2632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  <a:gridCol w="263279">
                  <a:extLst>
                    <a:ext uri="{9D8B030D-6E8A-4147-A177-3AD203B41FA5}">
                      <a16:colId xmlns:a16="http://schemas.microsoft.com/office/drawing/2014/main" val="20031"/>
                    </a:ext>
                  </a:extLst>
                </a:gridCol>
              </a:tblGrid>
              <a:tr h="213267">
                <a:tc gridSpan="7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Знак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B0E0E6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 dirty="0">
                        <a:solidFill>
                          <a:schemeClr val="bg1"/>
                        </a:solidFill>
                      </a:endParaRPr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ru-RU" sz="1000"/>
                    </a:p>
                  </a:txBody>
                  <a:tcPr marL="53317" marR="53317" marT="26658" marB="26658"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217">
                <a:tc>
                  <a:txBody>
                    <a:bodyPr/>
                    <a:lstStyle/>
                    <a:p>
                      <a:endParaRPr lang="ru-RU" sz="100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 gridSpan="8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  <a:effectLst/>
                        </a:rPr>
                        <a:t>8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 битов)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Порядок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23">
                  <a:txBody>
                    <a:bodyPr/>
                    <a:lstStyle/>
                    <a:p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(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  <a:effectLst/>
                        </a:rPr>
                        <a:t>23</a:t>
                      </a: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 бита)</a:t>
                      </a:r>
                      <a:b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</a:br>
                      <a:r>
                        <a:rPr lang="ru-RU" sz="1800" dirty="0">
                          <a:solidFill>
                            <a:schemeClr val="bg1"/>
                          </a:solidFill>
                          <a:effectLst/>
                        </a:rPr>
                        <a:t>Мантисса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267"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E0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0EE9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 dirty="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000">
                          <a:effectLst/>
                        </a:rPr>
                        <a:t> </a:t>
                      </a:r>
                    </a:p>
                  </a:txBody>
                  <a:tcPr marL="53317" marR="53317" marT="26658" marB="2665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80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267"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r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>
                      <a:noFill/>
                    </a:lnL>
                    <a:lnR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/>
                      <a:endParaRPr lang="ru-RU" sz="1000" dirty="0">
                        <a:effectLst/>
                      </a:endParaRPr>
                    </a:p>
                  </a:txBody>
                  <a:tcPr marL="53317" marR="53317" marT="26658" marB="26658" anchor="ctr">
                    <a:lnL w="7620" cap="flat" cmpd="sng" algn="ctr">
                      <a:solidFill>
                        <a:srgbClr val="80808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439526"/>
              </p:ext>
            </p:extLst>
          </p:nvPr>
        </p:nvGraphicFramePr>
        <p:xfrm>
          <a:off x="2063552" y="3501008"/>
          <a:ext cx="8424936" cy="202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49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318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381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6997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Порядок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Мантисса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Мантисса != 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Формула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0</a:t>
                      </a:r>
                      <a:r>
                        <a:rPr lang="en-US" dirty="0"/>
                        <a:t>x00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0 и -0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Денормализов. числа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порядок-12</a:t>
                      </a:r>
                      <a:r>
                        <a:rPr lang="en-US" baseline="30000" dirty="0"/>
                        <a:t>6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(0.мантисса)</a:t>
                      </a:r>
                      <a:r>
                        <a:rPr lang="ru-RU" baseline="-25000" dirty="0"/>
                        <a:t>(2)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0x01 … 0xfe</a:t>
                      </a:r>
                      <a:endParaRPr lang="ru-RU" dirty="0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ru-RU" dirty="0"/>
                        <a:t>Нормализованные</a:t>
                      </a:r>
                      <a:r>
                        <a:rPr lang="ru-RU" baseline="0" dirty="0"/>
                        <a:t> числа</a:t>
                      </a:r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(-1)</a:t>
                      </a:r>
                      <a:r>
                        <a:rPr lang="ru-RU" baseline="30000" dirty="0"/>
                        <a:t>знак</a:t>
                      </a:r>
                      <a:r>
                        <a:rPr lang="en-US" dirty="0"/>
                        <a:t>∙2</a:t>
                      </a:r>
                      <a:r>
                        <a:rPr lang="ru-RU" baseline="30000" dirty="0"/>
                        <a:t>порядок-12</a:t>
                      </a:r>
                      <a:r>
                        <a:rPr lang="en-US" baseline="30000" dirty="0"/>
                        <a:t>7</a:t>
                      </a:r>
                      <a:r>
                        <a:rPr lang="en-US" baseline="0" dirty="0"/>
                        <a:t>∙</a:t>
                      </a:r>
                      <a:r>
                        <a:rPr lang="ru-RU" baseline="0" dirty="0"/>
                        <a:t>(1.мантисса)</a:t>
                      </a:r>
                      <a:r>
                        <a:rPr lang="ru-RU" baseline="-25000" dirty="0"/>
                        <a:t>(2)</a:t>
                      </a:r>
                      <a:endParaRPr lang="ru-RU" baseline="0" dirty="0"/>
                    </a:p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0xff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</a:t>
                      </a:r>
                      <a:r>
                        <a:rPr lang="en-US" dirty="0">
                          <a:sym typeface="Symbol"/>
                        </a:rPr>
                        <a:t> </a:t>
                      </a:r>
                      <a:r>
                        <a:rPr lang="ru-RU" dirty="0">
                          <a:sym typeface="Symbol"/>
                        </a:rPr>
                        <a:t>или</a:t>
                      </a:r>
                      <a:r>
                        <a:rPr lang="ru-RU" baseline="0" dirty="0">
                          <a:sym typeface="Symbol"/>
                        </a:rPr>
                        <a:t> -</a:t>
                      </a:r>
                      <a:r>
                        <a:rPr lang="en-US" dirty="0">
                          <a:sym typeface="Symbol"/>
                        </a:rPr>
                        <a:t>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NaN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984280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</a:t>
            </a:r>
            <a:r>
              <a:rPr lang="en-US" dirty="0"/>
              <a:t>float </a:t>
            </a:r>
            <a:r>
              <a:rPr lang="ru-RU" dirty="0"/>
              <a:t>– стандарт </a:t>
            </a:r>
            <a:r>
              <a:rPr lang="en-US" dirty="0"/>
              <a:t>IEEE 754</a:t>
            </a:r>
            <a:endParaRPr lang="ru-RU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151</a:t>
            </a:fld>
            <a:endParaRPr lang="ru-RU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BA73701-5C61-430E-BF08-878545AF8B18}"/>
              </a:ext>
            </a:extLst>
          </p:cNvPr>
          <p:cNvCxnSpPr/>
          <p:nvPr/>
        </p:nvCxnSpPr>
        <p:spPr>
          <a:xfrm>
            <a:off x="911424" y="4149080"/>
            <a:ext cx="10369152" cy="0"/>
          </a:xfrm>
          <a:prstGeom prst="straightConnector1">
            <a:avLst/>
          </a:prstGeom>
          <a:ln w="22225"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28E53C3-A73E-47C3-8A29-E5A02B5AD4F3}"/>
              </a:ext>
            </a:extLst>
          </p:cNvPr>
          <p:cNvCxnSpPr>
            <a:cxnSpLocks/>
          </p:cNvCxnSpPr>
          <p:nvPr/>
        </p:nvCxnSpPr>
        <p:spPr>
          <a:xfrm>
            <a:off x="5303912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EA336C5-C07A-40A7-8D58-F7F592F3E3E6}"/>
              </a:ext>
            </a:extLst>
          </p:cNvPr>
          <p:cNvCxnSpPr>
            <a:cxnSpLocks/>
          </p:cNvCxnSpPr>
          <p:nvPr/>
        </p:nvCxnSpPr>
        <p:spPr>
          <a:xfrm>
            <a:off x="4295800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4389D7D-1F6D-4FAC-9390-5C8AE125DE31}"/>
              </a:ext>
            </a:extLst>
          </p:cNvPr>
          <p:cNvCxnSpPr>
            <a:cxnSpLocks/>
          </p:cNvCxnSpPr>
          <p:nvPr/>
        </p:nvCxnSpPr>
        <p:spPr>
          <a:xfrm>
            <a:off x="5663952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683C34-7853-4C10-B495-4A3CA8D8F520}"/>
              </a:ext>
            </a:extLst>
          </p:cNvPr>
          <p:cNvCxnSpPr>
            <a:cxnSpLocks/>
          </p:cNvCxnSpPr>
          <p:nvPr/>
        </p:nvCxnSpPr>
        <p:spPr>
          <a:xfrm>
            <a:off x="5991718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37CD75F-6B82-4F6E-8379-E8F845842231}"/>
              </a:ext>
            </a:extLst>
          </p:cNvPr>
          <p:cNvCxnSpPr>
            <a:cxnSpLocks/>
          </p:cNvCxnSpPr>
          <p:nvPr/>
        </p:nvCxnSpPr>
        <p:spPr>
          <a:xfrm>
            <a:off x="6600056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785372-9ADD-4FA5-A53A-04DF918AE349}"/>
              </a:ext>
            </a:extLst>
          </p:cNvPr>
          <p:cNvCxnSpPr>
            <a:cxnSpLocks/>
          </p:cNvCxnSpPr>
          <p:nvPr/>
        </p:nvCxnSpPr>
        <p:spPr>
          <a:xfrm>
            <a:off x="7608168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F83C9D3-1741-490F-901A-1847E9BEBCF7}"/>
              </a:ext>
            </a:extLst>
          </p:cNvPr>
          <p:cNvCxnSpPr>
            <a:cxnSpLocks/>
          </p:cNvCxnSpPr>
          <p:nvPr/>
        </p:nvCxnSpPr>
        <p:spPr>
          <a:xfrm>
            <a:off x="6312024" y="4005064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6DC9564B-3CEE-4E15-A596-907C2BA1BE58}"/>
              </a:ext>
            </a:extLst>
          </p:cNvPr>
          <p:cNvSpPr txBox="1"/>
          <p:nvPr/>
        </p:nvSpPr>
        <p:spPr>
          <a:xfrm>
            <a:off x="5840875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67F6EAC-6C10-46F2-8E47-6C6FA3AC8C2E}"/>
              </a:ext>
            </a:extLst>
          </p:cNvPr>
          <p:cNvSpPr txBox="1"/>
          <p:nvPr/>
        </p:nvSpPr>
        <p:spPr>
          <a:xfrm>
            <a:off x="6137329" y="4427820"/>
            <a:ext cx="393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½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004FEF-5C8B-4698-B102-591F7B121ADC}"/>
              </a:ext>
            </a:extLst>
          </p:cNvPr>
          <p:cNvSpPr txBox="1"/>
          <p:nvPr/>
        </p:nvSpPr>
        <p:spPr>
          <a:xfrm>
            <a:off x="5432158" y="4427820"/>
            <a:ext cx="463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-½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55BF56-9D72-477E-86AB-A9442051AF4F}"/>
              </a:ext>
            </a:extLst>
          </p:cNvPr>
          <p:cNvSpPr txBox="1"/>
          <p:nvPr/>
        </p:nvSpPr>
        <p:spPr>
          <a:xfrm>
            <a:off x="6449213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2BDE29F-BEE8-4675-A2A4-CE640C5C61FC}"/>
              </a:ext>
            </a:extLst>
          </p:cNvPr>
          <p:cNvSpPr txBox="1"/>
          <p:nvPr/>
        </p:nvSpPr>
        <p:spPr>
          <a:xfrm>
            <a:off x="5117803" y="439537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B276D9-6BAC-4CD3-8D63-CB8FF6F6A82A}"/>
              </a:ext>
            </a:extLst>
          </p:cNvPr>
          <p:cNvSpPr txBox="1"/>
          <p:nvPr/>
        </p:nvSpPr>
        <p:spPr>
          <a:xfrm>
            <a:off x="7457325" y="4395379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AE8153A-7708-49FD-ABD5-F0A0B556CCC7}"/>
              </a:ext>
            </a:extLst>
          </p:cNvPr>
          <p:cNvSpPr txBox="1"/>
          <p:nvPr/>
        </p:nvSpPr>
        <p:spPr>
          <a:xfrm>
            <a:off x="4109691" y="4395379"/>
            <a:ext cx="372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-2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897F5FE9-2C04-41BD-94F7-9742C37EB2FA}"/>
              </a:ext>
            </a:extLst>
          </p:cNvPr>
          <p:cNvCxnSpPr>
            <a:cxnSpLocks/>
          </p:cNvCxnSpPr>
          <p:nvPr/>
        </p:nvCxnSpPr>
        <p:spPr>
          <a:xfrm>
            <a:off x="10848528" y="4035758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D7E8BBF-D0C8-4F8E-A0FF-742F7DC55B40}"/>
              </a:ext>
            </a:extLst>
          </p:cNvPr>
          <p:cNvCxnSpPr>
            <a:cxnSpLocks/>
          </p:cNvCxnSpPr>
          <p:nvPr/>
        </p:nvCxnSpPr>
        <p:spPr>
          <a:xfrm>
            <a:off x="1271464" y="4023422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7351E297-563A-4D1E-B961-92AD7F0B9E3F}"/>
              </a:ext>
            </a:extLst>
          </p:cNvPr>
          <p:cNvCxnSpPr>
            <a:cxnSpLocks/>
          </p:cNvCxnSpPr>
          <p:nvPr/>
        </p:nvCxnSpPr>
        <p:spPr>
          <a:xfrm>
            <a:off x="2351584" y="4035758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6E29440-8791-4555-86F9-CAB2DA2A6943}"/>
              </a:ext>
            </a:extLst>
          </p:cNvPr>
          <p:cNvCxnSpPr>
            <a:cxnSpLocks/>
          </p:cNvCxnSpPr>
          <p:nvPr/>
        </p:nvCxnSpPr>
        <p:spPr>
          <a:xfrm>
            <a:off x="9840416" y="4021843"/>
            <a:ext cx="0" cy="28803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0D1C84A5-1179-40D0-9551-14C213C22BCC}"/>
              </a:ext>
            </a:extLst>
          </p:cNvPr>
          <p:cNvSpPr txBox="1"/>
          <p:nvPr/>
        </p:nvSpPr>
        <p:spPr>
          <a:xfrm>
            <a:off x="10634238" y="4395379"/>
            <a:ext cx="8050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inf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sym typeface="Symbol" panose="05050102010706020507" pitchFamily="18" charset="2"/>
              </a:rPr>
              <a:t></a:t>
            </a:r>
            <a:r>
              <a:rPr lang="en-US" dirty="0"/>
              <a:t>2</a:t>
            </a:r>
            <a:r>
              <a:rPr lang="en-US" baseline="30000" dirty="0"/>
              <a:t>128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D8C08EC-A253-4651-BD8F-84AAAE6AE8C1}"/>
              </a:ext>
            </a:extLst>
          </p:cNvPr>
          <p:cNvSpPr txBox="1"/>
          <p:nvPr/>
        </p:nvSpPr>
        <p:spPr>
          <a:xfrm>
            <a:off x="1057174" y="4328573"/>
            <a:ext cx="8755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-inf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>
                <a:sym typeface="Symbol" panose="05050102010706020507" pitchFamily="18" charset="2"/>
              </a:rPr>
              <a:t>-</a:t>
            </a:r>
            <a:r>
              <a:rPr lang="en-US" dirty="0"/>
              <a:t>2</a:t>
            </a:r>
            <a:r>
              <a:rPr lang="en-US" baseline="30000" dirty="0"/>
              <a:t>128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0D6FC6-8651-4BC0-A61A-8426D7B9D500}"/>
              </a:ext>
            </a:extLst>
          </p:cNvPr>
          <p:cNvSpPr txBox="1"/>
          <p:nvPr/>
        </p:nvSpPr>
        <p:spPr>
          <a:xfrm>
            <a:off x="9840416" y="4581128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  <a:r>
              <a:rPr lang="en-US" baseline="30000" dirty="0"/>
              <a:t>127</a:t>
            </a:r>
            <a:endParaRPr lang="ru-RU" baseline="3000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F50745E-EF65-4943-AA28-4072B898B3F8}"/>
              </a:ext>
            </a:extLst>
          </p:cNvPr>
          <p:cNvSpPr txBox="1"/>
          <p:nvPr/>
        </p:nvSpPr>
        <p:spPr>
          <a:xfrm>
            <a:off x="2019602" y="4395379"/>
            <a:ext cx="607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Symbol" panose="05050102010706020507" pitchFamily="18" charset="2"/>
              </a:rPr>
              <a:t>-</a:t>
            </a:r>
            <a:r>
              <a:rPr lang="en-US" dirty="0"/>
              <a:t>2</a:t>
            </a:r>
            <a:r>
              <a:rPr lang="en-US" baseline="30000" dirty="0"/>
              <a:t>127</a:t>
            </a:r>
            <a:endParaRPr lang="ru-RU" baseline="30000" dirty="0"/>
          </a:p>
        </p:txBody>
      </p:sp>
      <p:sp>
        <p:nvSpPr>
          <p:cNvPr id="32" name="Right Brace 31">
            <a:extLst>
              <a:ext uri="{FF2B5EF4-FFF2-40B4-BE49-F238E27FC236}">
                <a16:creationId xmlns:a16="http://schemas.microsoft.com/office/drawing/2014/main" id="{07297531-F8F9-4E92-BC9C-FF82803FC78C}"/>
              </a:ext>
            </a:extLst>
          </p:cNvPr>
          <p:cNvSpPr/>
          <p:nvPr/>
        </p:nvSpPr>
        <p:spPr>
          <a:xfrm rot="16200000">
            <a:off x="10189803" y="3299397"/>
            <a:ext cx="288031" cy="991052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Right Brace 32">
            <a:extLst>
              <a:ext uri="{FF2B5EF4-FFF2-40B4-BE49-F238E27FC236}">
                <a16:creationId xmlns:a16="http://schemas.microsoft.com/office/drawing/2014/main" id="{CFBA60FE-D24C-4E0E-954A-545E81CC7E18}"/>
              </a:ext>
            </a:extLst>
          </p:cNvPr>
          <p:cNvSpPr/>
          <p:nvPr/>
        </p:nvSpPr>
        <p:spPr>
          <a:xfrm rot="16200000">
            <a:off x="6308364" y="3646878"/>
            <a:ext cx="287298" cy="296091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Right Brace 33">
            <a:extLst>
              <a:ext uri="{FF2B5EF4-FFF2-40B4-BE49-F238E27FC236}">
                <a16:creationId xmlns:a16="http://schemas.microsoft.com/office/drawing/2014/main" id="{0633F7D8-A6C7-436B-BDF8-305B09F25C4D}"/>
              </a:ext>
            </a:extLst>
          </p:cNvPr>
          <p:cNvSpPr/>
          <p:nvPr/>
        </p:nvSpPr>
        <p:spPr>
          <a:xfrm rot="16200000">
            <a:off x="6971019" y="3301421"/>
            <a:ext cx="287298" cy="987006"/>
          </a:xfrm>
          <a:prstGeom prst="rightBrace">
            <a:avLst>
              <a:gd name="adj1" fmla="val 12974"/>
              <a:gd name="adj2" fmla="val 52855"/>
            </a:avLst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F9654B-421A-45D0-92FE-1CC34866DFDD}"/>
              </a:ext>
            </a:extLst>
          </p:cNvPr>
          <p:cNvSpPr txBox="1"/>
          <p:nvPr/>
        </p:nvSpPr>
        <p:spPr>
          <a:xfrm>
            <a:off x="8184232" y="2019057"/>
            <a:ext cx="130979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2</a:t>
            </a:r>
            <a:r>
              <a:rPr lang="en-US" sz="2400" baseline="30000" dirty="0"/>
              <a:t>23</a:t>
            </a:r>
          </a:p>
          <a:p>
            <a:r>
              <a:rPr lang="ru-RU" dirty="0"/>
              <a:t>значений типа </a:t>
            </a:r>
            <a:r>
              <a:rPr lang="en-US" dirty="0"/>
              <a:t>float</a:t>
            </a:r>
            <a:endParaRPr lang="ru-RU" dirty="0"/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F8B5A73-4405-46A6-925A-810066D0F1D9}"/>
              </a:ext>
            </a:extLst>
          </p:cNvPr>
          <p:cNvCxnSpPr>
            <a:cxnSpLocks/>
            <a:stCxn id="35" idx="2"/>
            <a:endCxn id="32" idx="1"/>
          </p:cNvCxnSpPr>
          <p:nvPr/>
        </p:nvCxnSpPr>
        <p:spPr>
          <a:xfrm>
            <a:off x="8839131" y="3034720"/>
            <a:ext cx="1522983" cy="616188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7978C64-C611-4412-941D-6B502305A056}"/>
              </a:ext>
            </a:extLst>
          </p:cNvPr>
          <p:cNvCxnSpPr>
            <a:cxnSpLocks/>
            <a:stCxn id="35" idx="2"/>
            <a:endCxn id="34" idx="1"/>
          </p:cNvCxnSpPr>
          <p:nvPr/>
        </p:nvCxnSpPr>
        <p:spPr>
          <a:xfrm flipH="1">
            <a:off x="7142847" y="3034720"/>
            <a:ext cx="1696284" cy="61655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02B5FA03-FE4F-42FF-88BA-1629DF2B572F}"/>
              </a:ext>
            </a:extLst>
          </p:cNvPr>
          <p:cNvCxnSpPr>
            <a:cxnSpLocks/>
            <a:stCxn id="35" idx="2"/>
            <a:endCxn id="33" idx="1"/>
          </p:cNvCxnSpPr>
          <p:nvPr/>
        </p:nvCxnSpPr>
        <p:spPr>
          <a:xfrm flipH="1">
            <a:off x="6460467" y="3034720"/>
            <a:ext cx="2378664" cy="616555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6658682-601B-4FFD-869F-77C0CA4DD9C7}"/>
              </a:ext>
            </a:extLst>
          </p:cNvPr>
          <p:cNvSpPr txBox="1"/>
          <p:nvPr/>
        </p:nvSpPr>
        <p:spPr>
          <a:xfrm>
            <a:off x="2869991" y="5318665"/>
            <a:ext cx="645202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000" dirty="0"/>
              <a:t>Относительная погрешность = </a:t>
            </a:r>
            <a:r>
              <a:rPr lang="en-US" sz="2000" dirty="0"/>
              <a:t>const</a:t>
            </a:r>
            <a:br>
              <a:rPr lang="en-US" sz="2000" dirty="0"/>
            </a:br>
            <a:r>
              <a:rPr lang="ru-RU" sz="2000" dirty="0"/>
              <a:t>Абсолютная погрешность чем ближе к нулю, тем меньше</a:t>
            </a:r>
          </a:p>
        </p:txBody>
      </p:sp>
    </p:spTree>
    <p:extLst>
      <p:ext uri="{BB962C8B-B14F-4D97-AF65-F5344CB8AC3E}">
        <p14:creationId xmlns:p14="http://schemas.microsoft.com/office/powerpoint/2010/main" val="182577272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массивов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Двоичное представление значения типа массив состоит из двоичных представлений значений его элементов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Представления значений элементов непрерывно расположены в памяти в порядке возрастания индексов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Значение массива не является особым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Даже значение какого-то элемента является особым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То есть доступ к элементу массива всегда возможен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859073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массивов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Двоичное представление значения типа массив состоит из двоичных представлений значений его элементов</a:t>
            </a:r>
          </a:p>
          <a:p>
            <a:pPr lvl="1"/>
            <a:r>
              <a:rPr lang="ru-RU" dirty="0"/>
              <a:t>Представления значений элементов непрерывно расположены в памяти в порядке возрастания индексов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Значение массива не является особым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Даже значение какого-то элемента является особым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То есть доступ к элементу массива всегда возможен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3102269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массивов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Двоичное представление значения типа массив состоит из двоичных представлений значений его элементов</a:t>
            </a:r>
          </a:p>
          <a:p>
            <a:pPr lvl="1"/>
            <a:r>
              <a:rPr lang="ru-RU" dirty="0"/>
              <a:t>Представления значений элементов непрерывно расположены в памяти в порядке возрастания индексов</a:t>
            </a:r>
          </a:p>
          <a:p>
            <a:endParaRPr lang="ru-RU" dirty="0"/>
          </a:p>
          <a:p>
            <a:r>
              <a:rPr lang="ru-RU" dirty="0"/>
              <a:t>Значение массива не является особым</a:t>
            </a:r>
          </a:p>
          <a:p>
            <a:pPr lvl="1"/>
            <a:r>
              <a:rPr lang="ru-RU" dirty="0"/>
              <a:t>Даже если значение какого-то элемента является особым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7634019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структур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>
                <a:solidFill>
                  <a:schemeClr val="bg1"/>
                </a:solidFill>
              </a:rPr>
              <a:t>Двоичное представление значения типа структура состоит из двоичных представлений значений его элементов и выравнивающих байтов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Представления значений элементов расположены в памяти в порядке описания элементов в списке элементов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Между представлениями значений элементов могут быть выравнивающие байты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Значения выравнивающих байтов не определены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Значение структуры никогда не является особым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Даже если значение какого-то их элемента является особым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То есть доступ к элементам структур и объединений всегда возможен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6900964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структур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Двоичное представление значения типа структура состоит из двоичных представлений значений его элементов и выравнивающих байтов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Представления значений элементов расположены в памяти в порядке описания элементов в списке элементов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Между представлениями значений элементов могут быть выравнивающие байты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Значения выравнивающих байтов не определены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Значение структуры никогда не является особым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Даже если значение какого-то их элемента является особым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0754660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структур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Двоичное представление значения типа структура состоит из двоичных представлений значений его элементов и выравнивающих байтов</a:t>
            </a:r>
          </a:p>
          <a:p>
            <a:pPr lvl="1"/>
            <a:r>
              <a:rPr lang="ru-RU" dirty="0"/>
              <a:t>Представления значений элементов расположены в памяти в порядке описания элементов в списке элементов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Между представлениями значений элементов могут быть выравнивающие байты</a:t>
            </a:r>
          </a:p>
          <a:p>
            <a:pPr lvl="2"/>
            <a:r>
              <a:rPr lang="ru-RU" dirty="0">
                <a:solidFill>
                  <a:schemeClr val="bg1"/>
                </a:solidFill>
              </a:rPr>
              <a:t>Значения выравнивающих байтов не определены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Значение структуры никогда не является особым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Даже если значение какого-то их элемента является особым</a:t>
            </a: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0897612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структур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Двоичное представление значения типа структура состоит из двоичных представлений значений его элементов и выравнивающих байтов</a:t>
            </a:r>
          </a:p>
          <a:p>
            <a:pPr lvl="1"/>
            <a:r>
              <a:rPr lang="ru-RU" dirty="0"/>
              <a:t>Представления значений элементов расположены в памяти в порядке описания элементов в списке элементов</a:t>
            </a:r>
          </a:p>
          <a:p>
            <a:pPr lvl="1"/>
            <a:r>
              <a:rPr lang="ru-RU" dirty="0"/>
              <a:t>Между представлениями значений элементов могут быть выравнивающие байты</a:t>
            </a:r>
          </a:p>
          <a:p>
            <a:pPr lvl="2"/>
            <a:r>
              <a:rPr lang="ru-RU" dirty="0"/>
              <a:t>Значения выравнивающих байтов не определены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Значение структуры никогда не является особым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Даже если значение какого-то их элемента является особым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98152325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структур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Двоичное представление значения типа структура состоит из двоичных представлений значений его элементов и выравнивающих байтов</a:t>
            </a:r>
          </a:p>
          <a:p>
            <a:pPr lvl="1"/>
            <a:r>
              <a:rPr lang="ru-RU" dirty="0"/>
              <a:t>Представления значений элементов расположены в памяти в порядке описания элементов в списке элементов</a:t>
            </a:r>
          </a:p>
          <a:p>
            <a:pPr lvl="1"/>
            <a:r>
              <a:rPr lang="ru-RU" dirty="0"/>
              <a:t>Между представлениями значений элементов могут быть выравнивающие байты</a:t>
            </a:r>
          </a:p>
          <a:p>
            <a:pPr lvl="2"/>
            <a:r>
              <a:rPr lang="ru-RU" dirty="0"/>
              <a:t>Значения выравнивающих байтов не определены</a:t>
            </a:r>
          </a:p>
          <a:p>
            <a:endParaRPr lang="ru-RU" dirty="0"/>
          </a:p>
          <a:p>
            <a:r>
              <a:rPr lang="ru-RU" dirty="0"/>
              <a:t>Значение структуры никогда не является особым</a:t>
            </a:r>
          </a:p>
          <a:p>
            <a:pPr lvl="1"/>
            <a:r>
              <a:rPr lang="ru-RU" dirty="0"/>
              <a:t>Даже если значение какого-то элемента является особым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6090618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объединений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solidFill>
                  <a:schemeClr val="bg1"/>
                </a:solidFill>
              </a:rPr>
              <a:t>Двоичное представление значения типа объединение состоит из двоичного представления значения одного из его элементов, за которым могут следовать выравнивающие байты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Значения выравнивающих байтов не определены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r>
              <a:rPr lang="ru-RU" dirty="0">
                <a:solidFill>
                  <a:schemeClr val="bg1"/>
                </a:solidFill>
              </a:rPr>
              <a:t>Значение объединения никогда не является особым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Даже если значение какого-то элемента является особым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То есть доступ к элементам объединения всегда </a:t>
            </a:r>
            <a:r>
              <a:rPr lang="en-US" dirty="0">
                <a:solidFill>
                  <a:schemeClr val="bg1"/>
                </a:solidFill>
              </a:rPr>
              <a:t>well-defined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3659445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объединений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Двоичное представление значения типа объединение состоит из двоичного представления значения одного из его элементов, за которым могут следовать выравнивающие байты</a:t>
            </a:r>
          </a:p>
          <a:p>
            <a:pPr lvl="1"/>
            <a:r>
              <a:rPr lang="ru-RU" dirty="0"/>
              <a:t>Значения выравнивающих байтов не определены</a:t>
            </a:r>
          </a:p>
          <a:p>
            <a:endParaRPr lang="ru-RU" dirty="0"/>
          </a:p>
          <a:p>
            <a:r>
              <a:rPr lang="ru-RU" dirty="0">
                <a:solidFill>
                  <a:schemeClr val="bg1"/>
                </a:solidFill>
              </a:rPr>
              <a:t>Значение объединения никогда не является особым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Даже если значение какого-то элемента является особым</a:t>
            </a:r>
          </a:p>
          <a:p>
            <a:pPr lvl="1"/>
            <a:r>
              <a:rPr lang="ru-RU" dirty="0">
                <a:solidFill>
                  <a:schemeClr val="bg1"/>
                </a:solidFill>
              </a:rPr>
              <a:t>То есть доступ к элементам объединения всегда </a:t>
            </a:r>
            <a:r>
              <a:rPr lang="en-US" dirty="0">
                <a:solidFill>
                  <a:schemeClr val="bg1"/>
                </a:solidFill>
              </a:rPr>
              <a:t>well-defined</a:t>
            </a:r>
            <a:endParaRPr lang="ru-RU" dirty="0">
              <a:solidFill>
                <a:schemeClr val="bg1"/>
              </a:solidFill>
            </a:endParaRPr>
          </a:p>
          <a:p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0208794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Представление объединений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Двоичное представление значения типа объединение состоит из двоичного представления значения одного из его элементов, за которым могут следовать выравнивающие байты</a:t>
            </a:r>
          </a:p>
          <a:p>
            <a:pPr lvl="1"/>
            <a:r>
              <a:rPr lang="ru-RU" dirty="0"/>
              <a:t>Значения выравнивающих байтов не определены</a:t>
            </a:r>
          </a:p>
          <a:p>
            <a:endParaRPr lang="ru-RU" dirty="0"/>
          </a:p>
          <a:p>
            <a:r>
              <a:rPr lang="ru-RU" dirty="0"/>
              <a:t>Значение объединения никогда не является особым</a:t>
            </a:r>
          </a:p>
          <a:p>
            <a:pPr lvl="1"/>
            <a:r>
              <a:rPr lang="ru-RU" dirty="0"/>
              <a:t>Даже если значение какого-то элемента является особым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8319653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Заключение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Что такое тип и система типов?</a:t>
            </a:r>
          </a:p>
          <a:p>
            <a:r>
              <a:rPr lang="ru-RU" dirty="0"/>
              <a:t>Классификация типов языка Си</a:t>
            </a:r>
          </a:p>
          <a:p>
            <a:pPr lvl="1"/>
            <a:r>
              <a:rPr lang="ru-RU" dirty="0"/>
              <a:t>Функциональные</a:t>
            </a:r>
          </a:p>
          <a:p>
            <a:pPr lvl="1"/>
            <a:r>
              <a:rPr lang="ru-RU" dirty="0"/>
              <a:t>Полные</a:t>
            </a:r>
            <a:endParaRPr lang="en-US" dirty="0"/>
          </a:p>
          <a:p>
            <a:pPr lvl="2"/>
            <a:r>
              <a:rPr lang="ru-RU" dirty="0"/>
              <a:t>Целые, с плавающей точкой, и т.п.</a:t>
            </a:r>
          </a:p>
          <a:p>
            <a:pPr lvl="1"/>
            <a:r>
              <a:rPr lang="ru-RU" dirty="0"/>
              <a:t>Неполные</a:t>
            </a:r>
          </a:p>
          <a:p>
            <a:pPr lvl="2"/>
            <a:r>
              <a:rPr lang="en-US" dirty="0"/>
              <a:t>void</a:t>
            </a:r>
            <a:r>
              <a:rPr lang="ru-RU" dirty="0"/>
              <a:t> и другие</a:t>
            </a:r>
          </a:p>
          <a:p>
            <a:r>
              <a:rPr lang="ru-RU" dirty="0"/>
              <a:t>Представление типов в памяти</a:t>
            </a:r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2276337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Композиция типов 1/2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ru-RU" dirty="0"/>
              <a:t>Композицией совместимых типов Т1 и Т2 называется тип, построенный по правилам:</a:t>
            </a:r>
          </a:p>
          <a:p>
            <a:endParaRPr lang="ru-RU" dirty="0"/>
          </a:p>
          <a:p>
            <a:r>
              <a:rPr lang="ru-RU" dirty="0"/>
              <a:t>Если Т1 (или Т2) – это массив фиксированного размера, то Т1 (соотв. Т2)</a:t>
            </a:r>
          </a:p>
          <a:p>
            <a:pPr lvl="1"/>
            <a:r>
              <a:rPr lang="ru-RU" dirty="0"/>
              <a:t>С99: Если Т1 (или Т2) – это массив переменного размера, то Т1 (соотв. Т2)</a:t>
            </a:r>
          </a:p>
          <a:p>
            <a:endParaRPr lang="ru-RU" dirty="0"/>
          </a:p>
          <a:p>
            <a:r>
              <a:rPr lang="ru-RU" dirty="0"/>
              <a:t>Если Т1 (или Т2) – это прототип функции (т.е. функция с списком формальных параметров), то Т1 (соотв. Т2)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Т1 и Т2 – это прототипы функций, то тип формального параметра композиции является композицией типов формальных параметров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</a:t>
            </a:r>
            <a:r>
              <a:rPr lang="en-US" dirty="0"/>
              <a:t>T1 </a:t>
            </a:r>
            <a:r>
              <a:rPr lang="ru-RU" dirty="0"/>
              <a:t>и </a:t>
            </a:r>
            <a:r>
              <a:rPr lang="en-US" dirty="0"/>
              <a:t>T2</a:t>
            </a:r>
            <a:r>
              <a:rPr lang="ru-RU" dirty="0"/>
              <a:t> </a:t>
            </a:r>
            <a:r>
              <a:rPr lang="en-US" dirty="0"/>
              <a:t>– </a:t>
            </a:r>
            <a:r>
              <a:rPr lang="ru-RU" dirty="0"/>
              <a:t>это производные типы, то правила применяются рекурсивно к типам, от которых произведены Т1 и Т2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6883094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Композиция типов 2/2</a:t>
            </a:r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Единица трансляции А</a:t>
            </a:r>
          </a:p>
          <a:p>
            <a:pPr marL="0" indent="0" algn="ctr"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f(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(*)(),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(*)[3]);</a:t>
            </a:r>
          </a:p>
          <a:p>
            <a:endParaRPr lang="ru-RU" dirty="0"/>
          </a:p>
          <a:p>
            <a:r>
              <a:rPr lang="ru-RU" dirty="0"/>
              <a:t>Единица трансляции Б</a:t>
            </a:r>
          </a:p>
          <a:p>
            <a:pPr marL="0" indent="0" algn="ctr">
              <a:buNone/>
            </a:pP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f(</a:t>
            </a:r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(*)(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*),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(*)[]);</a:t>
            </a:r>
          </a:p>
          <a:p>
            <a:endParaRPr lang="ru-RU" dirty="0"/>
          </a:p>
          <a:p>
            <a:r>
              <a:rPr lang="ru-RU" dirty="0"/>
              <a:t>Композиция типов функции </a:t>
            </a:r>
            <a:r>
              <a:rPr lang="en-US" dirty="0"/>
              <a:t>f</a:t>
            </a:r>
          </a:p>
          <a:p>
            <a:pPr marL="0" indent="0" algn="ctr">
              <a:buNone/>
            </a:pPr>
            <a:r>
              <a:rPr lang="fr-FR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fr-FR" dirty="0">
                <a:solidFill>
                  <a:srgbClr val="000000"/>
                </a:solidFill>
                <a:latin typeface="Consolas" panose="020B0609020204030204" pitchFamily="49" charset="0"/>
              </a:rPr>
              <a:t> f(</a:t>
            </a:r>
            <a:r>
              <a:rPr lang="fr-FR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fr-FR" dirty="0">
                <a:solidFill>
                  <a:srgbClr val="000000"/>
                </a:solidFill>
                <a:latin typeface="Consolas" panose="020B0609020204030204" pitchFamily="49" charset="0"/>
              </a:rPr>
              <a:t>(*)(</a:t>
            </a:r>
            <a:r>
              <a:rPr lang="fr-FR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fr-FR" dirty="0">
                <a:solidFill>
                  <a:srgbClr val="000000"/>
                </a:solidFill>
                <a:latin typeface="Consolas" panose="020B0609020204030204" pitchFamily="49" charset="0"/>
              </a:rPr>
              <a:t> *), </a:t>
            </a:r>
            <a:r>
              <a:rPr lang="fr-FR" dirty="0">
                <a:solidFill>
                  <a:srgbClr val="0000FF"/>
                </a:solidFill>
                <a:latin typeface="Consolas" panose="020B0609020204030204" pitchFamily="49" charset="0"/>
              </a:rPr>
              <a:t>double</a:t>
            </a:r>
            <a:r>
              <a:rPr lang="fr-FR" dirty="0">
                <a:solidFill>
                  <a:srgbClr val="000000"/>
                </a:solidFill>
                <a:latin typeface="Consolas" panose="020B0609020204030204" pitchFamily="49" charset="0"/>
              </a:rPr>
              <a:t>(*)[3]);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0E2822-3F92-4355-B47E-F2E8C9595EE5}" type="slidenum">
              <a:rPr lang="ru-RU" smtClean="0"/>
              <a:t>165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321033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79001</TotalTime>
  <Words>10288</Words>
  <Application>Microsoft Office PowerPoint</Application>
  <PresentationFormat>Widescreen</PresentationFormat>
  <Paragraphs>2072</Paragraphs>
  <Slides>165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165</vt:i4>
      </vt:variant>
    </vt:vector>
  </HeadingPairs>
  <TitlesOfParts>
    <vt:vector size="171" baseType="lpstr">
      <vt:lpstr>Arial</vt:lpstr>
      <vt:lpstr>Calibri</vt:lpstr>
      <vt:lpstr>Calibri Light</vt:lpstr>
      <vt:lpstr>Consolas</vt:lpstr>
      <vt:lpstr>Symbol</vt:lpstr>
      <vt:lpstr>Тема Office</vt:lpstr>
      <vt:lpstr>Система типов языка Си</vt:lpstr>
      <vt:lpstr>План лекции</vt:lpstr>
      <vt:lpstr>План лекции</vt:lpstr>
      <vt:lpstr>Что такое тип и система типов?</vt:lpstr>
      <vt:lpstr>Что такое тип и система типов?</vt:lpstr>
      <vt:lpstr>Что такое тип и система типов?</vt:lpstr>
      <vt:lpstr>Что такое тип и система типов?</vt:lpstr>
      <vt:lpstr>Что такое тип и система типов?</vt:lpstr>
      <vt:lpstr>Виды типизаций</vt:lpstr>
      <vt:lpstr>Виды типизаций</vt:lpstr>
      <vt:lpstr>Виды типизаций</vt:lpstr>
      <vt:lpstr>Виды типизаций</vt:lpstr>
      <vt:lpstr>Классификация типов в языке Си</vt:lpstr>
      <vt:lpstr>Классификация типов в языке Си</vt:lpstr>
      <vt:lpstr>Классификация типов в языке Си</vt:lpstr>
      <vt:lpstr>Классификация типов в языке Си</vt:lpstr>
      <vt:lpstr>Функциональные типы</vt:lpstr>
      <vt:lpstr>Функциональные типы</vt:lpstr>
      <vt:lpstr>Функциональные типы</vt:lpstr>
      <vt:lpstr>Функциональные типы</vt:lpstr>
      <vt:lpstr>Функциональные типы</vt:lpstr>
      <vt:lpstr>Классификация типов в языке Си</vt:lpstr>
      <vt:lpstr>Полные типы</vt:lpstr>
      <vt:lpstr>Полные типы</vt:lpstr>
      <vt:lpstr>Полные типы</vt:lpstr>
      <vt:lpstr>Классификация типов в языке Си</vt:lpstr>
      <vt:lpstr>Неполные типы</vt:lpstr>
      <vt:lpstr>Неполные типы</vt:lpstr>
      <vt:lpstr>Неполные типы</vt:lpstr>
      <vt:lpstr>Классификация типов в языке Си</vt:lpstr>
      <vt:lpstr>Целые типы</vt:lpstr>
      <vt:lpstr>Целые типы</vt:lpstr>
      <vt:lpstr>Целые типы</vt:lpstr>
      <vt:lpstr>Целые типы</vt:lpstr>
      <vt:lpstr>Целые типы</vt:lpstr>
      <vt:lpstr>Классификация типов в языке Си</vt:lpstr>
      <vt:lpstr>Типы с «плавающей точкой»</vt:lpstr>
      <vt:lpstr>Типы с «плавающей точкой»</vt:lpstr>
      <vt:lpstr>Типы с «плавающей точкой»</vt:lpstr>
      <vt:lpstr>Типы с «плавающей точкой»</vt:lpstr>
      <vt:lpstr>Типы с «плавающей точкой»</vt:lpstr>
      <vt:lpstr>Классификация типов в языке Си</vt:lpstr>
      <vt:lpstr>Производные типы</vt:lpstr>
      <vt:lpstr>Производные типы</vt:lpstr>
      <vt:lpstr>Производные типы</vt:lpstr>
      <vt:lpstr>Классификация типов в языке Си</vt:lpstr>
      <vt:lpstr>Перечислимые типы</vt:lpstr>
      <vt:lpstr>Перечислимые типы</vt:lpstr>
      <vt:lpstr>Перечислимые типы</vt:lpstr>
      <vt:lpstr>Перечислимые типы</vt:lpstr>
      <vt:lpstr>Классификация типов в языке Си</vt:lpstr>
      <vt:lpstr>Тип char</vt:lpstr>
      <vt:lpstr>Тип char</vt:lpstr>
      <vt:lpstr>Тип char</vt:lpstr>
      <vt:lpstr>Тип char</vt:lpstr>
      <vt:lpstr>Классификация типов в языке Си</vt:lpstr>
      <vt:lpstr>Знаковые типы</vt:lpstr>
      <vt:lpstr>Знаковые типы</vt:lpstr>
      <vt:lpstr>Знаковые типы</vt:lpstr>
      <vt:lpstr>Знаковые типы</vt:lpstr>
      <vt:lpstr>Знаковые типы</vt:lpstr>
      <vt:lpstr>Классификация типов в языке Си</vt:lpstr>
      <vt:lpstr>Беззнаковые типы</vt:lpstr>
      <vt:lpstr>Беззнаковые типы</vt:lpstr>
      <vt:lpstr>Беззнаковые типы</vt:lpstr>
      <vt:lpstr>Беззнаковые типы</vt:lpstr>
      <vt:lpstr>Беззнаковые типы</vt:lpstr>
      <vt:lpstr>Связь знаковых и беззнаковых типов</vt:lpstr>
      <vt:lpstr>Связь знаковых и беззнаковых типов</vt:lpstr>
      <vt:lpstr>Связь знаковых и беззнаковых типов</vt:lpstr>
      <vt:lpstr>Связь знаковых и беззнаковых типов</vt:lpstr>
      <vt:lpstr>Связь знаковых и беззнаковых типов</vt:lpstr>
      <vt:lpstr>Классификация типов в языке Си</vt:lpstr>
      <vt:lpstr>Вещественные типы</vt:lpstr>
      <vt:lpstr>Вещественные типы</vt:lpstr>
      <vt:lpstr>Вещественные типы</vt:lpstr>
      <vt:lpstr>Вещественные типы</vt:lpstr>
      <vt:lpstr>Вещественные типы</vt:lpstr>
      <vt:lpstr>Классификация типов в языке Си</vt:lpstr>
      <vt:lpstr>Комплексные типы</vt:lpstr>
      <vt:lpstr>Комплексные типы</vt:lpstr>
      <vt:lpstr>Комплексные типы</vt:lpstr>
      <vt:lpstr>Комплексные типы</vt:lpstr>
      <vt:lpstr>Комплексные типы</vt:lpstr>
      <vt:lpstr>Классификация типов в языке Си</vt:lpstr>
      <vt:lpstr>Указатели</vt:lpstr>
      <vt:lpstr>Указатели</vt:lpstr>
      <vt:lpstr>Указатели</vt:lpstr>
      <vt:lpstr>Указатели</vt:lpstr>
      <vt:lpstr>Классификация типов в языке Си</vt:lpstr>
      <vt:lpstr>Массивы</vt:lpstr>
      <vt:lpstr>Массивы</vt:lpstr>
      <vt:lpstr>Массивы</vt:lpstr>
      <vt:lpstr>Массивы</vt:lpstr>
      <vt:lpstr>Классификация типов в языке Си</vt:lpstr>
      <vt:lpstr>Структуры struct</vt:lpstr>
      <vt:lpstr>Структуры struct</vt:lpstr>
      <vt:lpstr>Структуры struct</vt:lpstr>
      <vt:lpstr>Структуры struct</vt:lpstr>
      <vt:lpstr>Классификация типов в языке Си</vt:lpstr>
      <vt:lpstr>Объединения union</vt:lpstr>
      <vt:lpstr>Объединения union</vt:lpstr>
      <vt:lpstr>Объединения union</vt:lpstr>
      <vt:lpstr>Объединения union</vt:lpstr>
      <vt:lpstr>Классификация типов в языке Си</vt:lpstr>
      <vt:lpstr>Тип void</vt:lpstr>
      <vt:lpstr>Классификация типов в языке Си</vt:lpstr>
      <vt:lpstr>Неполные перечисления</vt:lpstr>
      <vt:lpstr>Неполные перечисления</vt:lpstr>
      <vt:lpstr>Неполные перечисления</vt:lpstr>
      <vt:lpstr>Классификация типов в языке Си</vt:lpstr>
      <vt:lpstr>Неполные массивы</vt:lpstr>
      <vt:lpstr>Неполные массивы</vt:lpstr>
      <vt:lpstr>Неполные массивы</vt:lpstr>
      <vt:lpstr>Неполные массивы</vt:lpstr>
      <vt:lpstr>Классификация типов в языке Си</vt:lpstr>
      <vt:lpstr>Неполные структуры (объединения)</vt:lpstr>
      <vt:lpstr>Неполные структуры (объединения)</vt:lpstr>
      <vt:lpstr>Неполные структуры (объединения)</vt:lpstr>
      <vt:lpstr>Неполные структуры (объединения)</vt:lpstr>
      <vt:lpstr>Классификация типов в языке Си</vt:lpstr>
      <vt:lpstr>Что хранится в памяти?</vt:lpstr>
      <vt:lpstr>Что хранится в памяти?</vt:lpstr>
      <vt:lpstr>Что хранится в памяти?</vt:lpstr>
      <vt:lpstr>Двоичное представление значений</vt:lpstr>
      <vt:lpstr>Двоичное представление значений</vt:lpstr>
      <vt:lpstr>Двоичное представление значений</vt:lpstr>
      <vt:lpstr>Двоичное представление значений</vt:lpstr>
      <vt:lpstr>Двоичное представление значений</vt:lpstr>
      <vt:lpstr>Представление беззнаковых целых типов</vt:lpstr>
      <vt:lpstr>Представление беззнаковых целых типов</vt:lpstr>
      <vt:lpstr>Представление беззнаковых целых типов</vt:lpstr>
      <vt:lpstr>Представление беззнаковых целых типов</vt:lpstr>
      <vt:lpstr>Представление беззнаковых целых типов</vt:lpstr>
      <vt:lpstr>Представление беззнаковых целых типов</vt:lpstr>
      <vt:lpstr>Представление знаковых целых типов</vt:lpstr>
      <vt:lpstr>Представление знаковых целых типов</vt:lpstr>
      <vt:lpstr>Представление знаковых целых типов</vt:lpstr>
      <vt:lpstr>Представление знаковых целых типов</vt:lpstr>
      <vt:lpstr>Представление знаковых целых типов</vt:lpstr>
      <vt:lpstr>Представление знаковых целых типов</vt:lpstr>
      <vt:lpstr>Представление знаковых целых типов</vt:lpstr>
      <vt:lpstr>Представление знаковых целых типов</vt:lpstr>
      <vt:lpstr>Представление знаковых целых типов</vt:lpstr>
      <vt:lpstr>Представление знаковых целых типов</vt:lpstr>
      <vt:lpstr>Особые значения знаковых целых типов</vt:lpstr>
      <vt:lpstr>Особые значения знаковых целых типов</vt:lpstr>
      <vt:lpstr>Особые значения знаковых целых типов</vt:lpstr>
      <vt:lpstr>Представление double – стандарт IEEE 754</vt:lpstr>
      <vt:lpstr>Представление float – стандарт IEEE 754</vt:lpstr>
      <vt:lpstr>Представление float – стандарт IEEE 754</vt:lpstr>
      <vt:lpstr>Представление массивов</vt:lpstr>
      <vt:lpstr>Представление массивов</vt:lpstr>
      <vt:lpstr>Представление массивов</vt:lpstr>
      <vt:lpstr>Представление структур</vt:lpstr>
      <vt:lpstr>Представление структур</vt:lpstr>
      <vt:lpstr>Представление структур</vt:lpstr>
      <vt:lpstr>Представление структур</vt:lpstr>
      <vt:lpstr>Представление структур</vt:lpstr>
      <vt:lpstr>Представление объединений</vt:lpstr>
      <vt:lpstr>Представление объединений</vt:lpstr>
      <vt:lpstr>Представление объединений</vt:lpstr>
      <vt:lpstr>Заключение</vt:lpstr>
      <vt:lpstr>Композиция типов 1/2</vt:lpstr>
      <vt:lpstr>Композиция типов 2/2</vt:lpstr>
    </vt:vector>
  </TitlesOfParts>
  <Company>Intel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Простые типы данных языка С</dc:title>
  <dc:creator>Petrov, Evgueni S</dc:creator>
  <cp:lastModifiedBy>Evgenii Petrov</cp:lastModifiedBy>
  <cp:revision>433</cp:revision>
  <dcterms:created xsi:type="dcterms:W3CDTF">2012-09-17T07:39:46Z</dcterms:created>
  <dcterms:modified xsi:type="dcterms:W3CDTF">2025-11-10T15:31:49Z</dcterms:modified>
</cp:coreProperties>
</file>