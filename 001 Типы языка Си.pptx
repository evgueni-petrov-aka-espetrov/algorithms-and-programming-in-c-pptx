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534" r:id="rId4"/>
    <p:sldId id="531" r:id="rId5"/>
    <p:sldId id="535" r:id="rId6"/>
    <p:sldId id="369" r:id="rId7"/>
    <p:sldId id="375" r:id="rId8"/>
    <p:sldId id="493" r:id="rId9"/>
    <p:sldId id="497" r:id="rId10"/>
    <p:sldId id="538" r:id="rId11"/>
    <p:sldId id="524" r:id="rId12"/>
    <p:sldId id="539" r:id="rId13"/>
    <p:sldId id="432" r:id="rId14"/>
    <p:sldId id="438" r:id="rId15"/>
    <p:sldId id="450" r:id="rId16"/>
    <p:sldId id="454" r:id="rId17"/>
    <p:sldId id="458" r:id="rId18"/>
    <p:sldId id="462" r:id="rId19"/>
    <p:sldId id="501" r:id="rId20"/>
    <p:sldId id="525" r:id="rId21"/>
    <p:sldId id="528" r:id="rId22"/>
    <p:sldId id="510" r:id="rId23"/>
    <p:sldId id="526" r:id="rId24"/>
    <p:sldId id="442" r:id="rId25"/>
    <p:sldId id="322" r:id="rId26"/>
    <p:sldId id="324" r:id="rId27"/>
    <p:sldId id="529" r:id="rId28"/>
    <p:sldId id="536" r:id="rId29"/>
    <p:sldId id="444" r:id="rId30"/>
    <p:sldId id="447" r:id="rId31"/>
    <p:sldId id="474" r:id="rId32"/>
    <p:sldId id="477" r:id="rId33"/>
    <p:sldId id="512" r:id="rId34"/>
    <p:sldId id="480" r:id="rId35"/>
    <p:sldId id="540" r:id="rId36"/>
    <p:sldId id="541" r:id="rId37"/>
    <p:sldId id="542" r:id="rId38"/>
    <p:sldId id="543" r:id="rId39"/>
    <p:sldId id="544" r:id="rId40"/>
    <p:sldId id="523" r:id="rId41"/>
    <p:sldId id="430" r:id="rId42"/>
    <p:sldId id="546" r:id="rId43"/>
    <p:sldId id="434" r:id="rId44"/>
    <p:sldId id="420" r:id="rId45"/>
    <p:sldId id="485" r:id="rId46"/>
    <p:sldId id="488" r:id="rId47"/>
    <p:sldId id="491" r:id="rId48"/>
    <p:sldId id="545" r:id="rId4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79" d="100"/>
          <a:sy n="79" d="100"/>
        </p:scale>
        <p:origin x="1704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5B237-282A-413C-93C7-161EFC0FDF85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76A4F9-BD28-403D-BBAD-4B00023990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2533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177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8396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897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2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61600-6CFB-6E23-95FD-C6FCB6CC8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8DD284-F53D-66D7-89A2-915AE1FF40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E3E01-0186-76A2-A75D-D3E5515A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3C7D45-AD7F-AFBF-AB07-A909B07B4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7B6AC-5521-71FA-71CE-5DF40275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1624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99E7-F5B9-B10B-8946-76BB9EF95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C0509-A180-A312-34AB-5176C4361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2F41A-2792-E892-1BE4-291F75880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D4DCD-767F-6C02-97AE-DDEB2CA6C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D6AE2-E371-A201-0B15-F801DF7BF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3059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609F3-2A65-8AB7-D0CC-0F388C92A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041385-EBFA-5E68-1332-8F13ED6D5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BD92F8-89B9-E9B6-C3C7-C41868B90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59BF9-2B75-1F36-9F0C-038138E6B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E8F03-26C2-42AC-9A09-7CDD75622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6422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11DBD-6120-3A1A-FFAA-8358E82F9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5664F-141E-2E93-7555-3A7F94AA14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B4B6A3-0BB4-7FB3-55B1-E68FA9B8D0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4844F-DC1F-E0AE-0DFF-89F5AE103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7F443-0739-8B3A-55DC-923DD18F3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F9E48-D1CB-D78A-B040-9700F5300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021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60619-7F34-A828-D59D-FF2C6D84E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C73909-E095-E805-0EE7-ACD50CE6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2846E-A56C-41E0-2A55-9D48D85844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99E750-A06B-3DE7-7C45-A84368E91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F24F34-99A2-5407-5549-4805DB5EAD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41F877-22B3-66AA-39BA-4231ABD63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640632-BDAB-CC1B-1635-2A564ACC7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A3C67-F741-FDD7-649A-60AB084A2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271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9D9F-9BDF-5DCB-9132-32EFFCA64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6800F5-11FB-1DFD-F377-1DC8261BB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F090FD-BD40-E7EF-5F2B-A6EAEDA97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FC1E87-3107-3909-C83C-BEB17D250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8867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EB5FE9-A44F-6DD4-ACD8-8040D47FB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D67B5-95B7-6559-35B5-2FBE55006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F2122-DDAA-B692-342C-B696E6E63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74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53329-0105-8684-6F92-61335AD00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B052C-9092-FA12-E8E9-65181E5AF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BF9E9A-26CD-B4B2-B4CE-93525ECB12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737719-CD42-0661-8743-5AE9D7E8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BEC6A6-DC7A-9A02-09A3-80E39FABB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0E246-2AEF-6E37-271E-BCA8118CF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9095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2D1C2-01B3-B735-2728-2033776A8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1B89DA-C059-F494-9057-40346A13EE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CCD52A-8090-289F-B416-8E79181914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ABEAF-C792-609A-DD4E-9E8D6B31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880A08-5B04-4BFE-A819-86952634F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628AF-3697-DFE1-8AC6-7E48514AA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530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59B02-AF22-7191-FBEF-A46D3CA3D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298B11-9402-9C64-286C-5E6B65F8F7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97201-8140-F8BF-1EA4-7041F9BF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79268-0FE1-193E-BB64-F65400B9E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A86EF-2E98-DFB3-FF5C-48941DF7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0889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965B14-E3A9-60C2-9409-00F2A9F6B9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F2CB5-2FF5-D9AE-8203-2DC531E13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F641-62F4-0361-DA35-ED6AF5763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1C974-E346-D14A-D203-6046145A7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D288F-702D-9019-D682-1E26FE0BE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730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ED5D2B-18E7-ACF9-3788-D4679B820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8CF1A-34BC-7BC2-0F2D-440C595A4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1FAAF-3B23-4CF4-EA94-4DA5ED3B4B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65DD7-7B4A-47A4-8B61-4938D03CC77B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E1DD-FF5E-B5F1-CCF8-3B7136BD98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46865-C7B4-F2DC-AFEE-8370690CFD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5649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5FE92-475C-7BC1-A47F-89A12A77E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4213BC-1734-C3A4-40A6-EC57412485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4022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тип, система типов, типизация?</a:t>
            </a:r>
          </a:p>
          <a:p>
            <a:r>
              <a:rPr lang="ru-RU" dirty="0"/>
              <a:t>Классификация и двоичное представление типов языка Си</a:t>
            </a:r>
          </a:p>
          <a:p>
            <a:pPr lvl="1"/>
            <a:r>
              <a:rPr lang="ru-RU" dirty="0"/>
              <a:t>Полные</a:t>
            </a:r>
            <a:endParaRPr lang="en-US" dirty="0"/>
          </a:p>
          <a:p>
            <a:pPr lvl="2"/>
            <a:r>
              <a:rPr lang="ru-RU" dirty="0"/>
              <a:t>Целые, с плавающей точкой, производные</a:t>
            </a:r>
          </a:p>
          <a:p>
            <a:pPr lvl="1"/>
            <a:r>
              <a:rPr lang="ru-RU" dirty="0"/>
              <a:t>Функциональные</a:t>
            </a:r>
          </a:p>
          <a:p>
            <a:pPr lvl="1"/>
            <a:r>
              <a:rPr lang="ru-RU" dirty="0"/>
              <a:t>Неполные</a:t>
            </a:r>
          </a:p>
          <a:p>
            <a:pPr lvl="2"/>
            <a:r>
              <a:rPr lang="en-US" dirty="0"/>
              <a:t>void</a:t>
            </a:r>
            <a:r>
              <a:rPr lang="ru-RU" dirty="0"/>
              <a:t> и другие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454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тип, система типов, типизация?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Тип</a:t>
            </a:r>
            <a:r>
              <a:rPr lang="en-US" dirty="0"/>
              <a:t> </a:t>
            </a:r>
            <a:r>
              <a:rPr lang="ru-RU" dirty="0"/>
              <a:t>данных – это множество значений и набор операций над ними</a:t>
            </a:r>
          </a:p>
          <a:p>
            <a:pPr lvl="1"/>
            <a:r>
              <a:rPr lang="ru-RU" dirty="0"/>
              <a:t>Результат и/или некоторые аргументы операции могут иметь другой тип</a:t>
            </a:r>
          </a:p>
          <a:p>
            <a:pPr lvl="2"/>
            <a:r>
              <a:rPr lang="ru-RU" dirty="0"/>
              <a:t>Например, сравнение чисел дает булевское значение</a:t>
            </a:r>
          </a:p>
          <a:p>
            <a:pPr lvl="1"/>
            <a:r>
              <a:rPr lang="ru-RU" dirty="0"/>
              <a:t>Может частично задавать способ хранения значений в памяти и/или реализацию операций – точность, сложность по памяти/времени и т.п.</a:t>
            </a:r>
          </a:p>
          <a:p>
            <a:endParaRPr lang="ru-RU" dirty="0"/>
          </a:p>
          <a:p>
            <a:r>
              <a:rPr lang="ru-RU" dirty="0"/>
              <a:t>Система типов языка программирования – это множество всех типов, которые можно описать на этом языке</a:t>
            </a:r>
          </a:p>
          <a:p>
            <a:endParaRPr lang="ru-RU" dirty="0"/>
          </a:p>
          <a:p>
            <a:r>
              <a:rPr lang="ru-RU" dirty="0"/>
              <a:t>Типизация языка программирования -- это набор правил, которые назначают типы переменным, выражениям, функциям и т.п. частям программы на этом языке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4626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типизаций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Статическая</a:t>
            </a:r>
          </a:p>
          <a:p>
            <a:pPr lvl="1"/>
            <a:r>
              <a:rPr lang="ru-RU" dirty="0"/>
              <a:t>Типы переменных определяются во время компиляции программы</a:t>
            </a:r>
          </a:p>
          <a:p>
            <a:pPr lvl="1"/>
            <a:r>
              <a:rPr lang="ru-RU" b="1" dirty="0">
                <a:solidFill>
                  <a:schemeClr val="accent4"/>
                </a:solidFill>
              </a:rPr>
              <a:t>Си</a:t>
            </a:r>
            <a:r>
              <a:rPr lang="ru-RU" dirty="0"/>
              <a:t>, Паскаль</a:t>
            </a:r>
          </a:p>
          <a:p>
            <a:r>
              <a:rPr lang="ru-RU" dirty="0"/>
              <a:t>Сильная</a:t>
            </a:r>
          </a:p>
          <a:p>
            <a:pPr lvl="1"/>
            <a:r>
              <a:rPr lang="ru-RU" dirty="0"/>
              <a:t>Нет неявных преобразований типов</a:t>
            </a:r>
            <a:br>
              <a:rPr lang="ru-RU" dirty="0"/>
            </a:br>
            <a:r>
              <a:rPr lang="en-US" b="1" dirty="0">
                <a:solidFill>
                  <a:schemeClr val="accent5"/>
                </a:solidFill>
              </a:rPr>
              <a:t>Python</a:t>
            </a:r>
            <a:r>
              <a:rPr lang="ru-RU" dirty="0"/>
              <a:t>, </a:t>
            </a:r>
            <a:r>
              <a:rPr lang="en-US" dirty="0"/>
              <a:t>Java</a:t>
            </a:r>
            <a:endParaRPr lang="ru-RU" dirty="0"/>
          </a:p>
          <a:p>
            <a:r>
              <a:rPr lang="ru-RU" dirty="0"/>
              <a:t>Явная</a:t>
            </a:r>
          </a:p>
          <a:p>
            <a:pPr lvl="1"/>
            <a:r>
              <a:rPr lang="ru-RU" dirty="0"/>
              <a:t>Типы переменных указываются в исходном коде</a:t>
            </a:r>
            <a:endParaRPr lang="en-US" dirty="0"/>
          </a:p>
          <a:p>
            <a:pPr lvl="1"/>
            <a:r>
              <a:rPr lang="ru-RU" b="1" dirty="0">
                <a:solidFill>
                  <a:schemeClr val="accent4"/>
                </a:solidFill>
              </a:rPr>
              <a:t>Си</a:t>
            </a:r>
            <a:r>
              <a:rPr lang="ru-RU" dirty="0"/>
              <a:t>, Паскаль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4CC772-204D-3142-8F4C-B340CAD5C5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Динамическая</a:t>
            </a:r>
          </a:p>
          <a:p>
            <a:pPr lvl="1"/>
            <a:r>
              <a:rPr lang="ru-RU" dirty="0"/>
              <a:t>Типы переменных определяется во время исполнения программы</a:t>
            </a:r>
          </a:p>
          <a:p>
            <a:pPr lvl="1"/>
            <a:r>
              <a:rPr lang="en-US" b="1" dirty="0">
                <a:solidFill>
                  <a:schemeClr val="accent5"/>
                </a:solidFill>
              </a:rPr>
              <a:t>Python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/>
              <a:t>Слабая</a:t>
            </a:r>
          </a:p>
          <a:p>
            <a:pPr lvl="1"/>
            <a:r>
              <a:rPr lang="ru-RU" dirty="0"/>
              <a:t>Есть неявные преобразования типов</a:t>
            </a:r>
            <a:endParaRPr lang="en-US" dirty="0"/>
          </a:p>
          <a:p>
            <a:pPr lvl="1"/>
            <a:r>
              <a:rPr lang="ru-RU" b="1" dirty="0">
                <a:solidFill>
                  <a:schemeClr val="accent4"/>
                </a:solidFill>
              </a:rPr>
              <a:t>Си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/>
              <a:t>Неявная</a:t>
            </a:r>
          </a:p>
          <a:p>
            <a:pPr lvl="1"/>
            <a:r>
              <a:rPr lang="ru-RU" dirty="0"/>
              <a:t>Типы переменных назначает компилятор или интерпретатор</a:t>
            </a:r>
          </a:p>
          <a:p>
            <a:pPr lvl="1"/>
            <a:r>
              <a:rPr lang="en-US" b="1" dirty="0">
                <a:solidFill>
                  <a:schemeClr val="accent5"/>
                </a:solidFill>
              </a:rPr>
              <a:t>Python</a:t>
            </a:r>
            <a:r>
              <a:rPr lang="en-US" dirty="0"/>
              <a:t>, JavaScript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3320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BB163-90D8-33B7-C32B-61512BD88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в языке 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54C80-28D3-2B15-2C83-E48EBB104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Тип языка Си задаёт </a:t>
            </a:r>
          </a:p>
          <a:p>
            <a:pPr lvl="1"/>
            <a:r>
              <a:rPr lang="ru-RU" sz="3600" dirty="0">
                <a:highlight>
                  <a:srgbClr val="00FFFF"/>
                </a:highlight>
              </a:rPr>
              <a:t>Способ хранения значений в памяти</a:t>
            </a:r>
          </a:p>
          <a:p>
            <a:pPr lvl="2"/>
            <a:r>
              <a:rPr lang="ru-RU" sz="3200" dirty="0"/>
              <a:t>Двоичное представление</a:t>
            </a:r>
          </a:p>
          <a:p>
            <a:pPr lvl="2"/>
            <a:r>
              <a:rPr lang="ru-RU" sz="3200" dirty="0"/>
              <a:t>Выравнивание в памяти</a:t>
            </a:r>
          </a:p>
          <a:p>
            <a:pPr lvl="1"/>
            <a:r>
              <a:rPr lang="ru-RU" sz="3600" dirty="0"/>
              <a:t>Список операций над значениями</a:t>
            </a:r>
          </a:p>
        </p:txBody>
      </p:sp>
    </p:spTree>
    <p:extLst>
      <p:ext uri="{BB962C8B-B14F-4D97-AF65-F5344CB8AC3E}">
        <p14:creationId xmlns:p14="http://schemas.microsoft.com/office/powerpoint/2010/main" val="3850013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C199-275A-E4E9-D002-729C8485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 программы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89C38-08EB-B5DD-02D6-1936F23E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B7184-F5EB-4B8D-8963-C9795633C8D6}" type="slidenum">
              <a:rPr lang="ru-RU" smtClean="0"/>
              <a:t>6</a:t>
            </a:fld>
            <a:endParaRPr lang="ru-RU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0361C7F-6EBB-AB7D-41BE-B302364625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5" t="1105" r="626" b="1864"/>
          <a:stretch/>
        </p:blipFill>
        <p:spPr>
          <a:xfrm>
            <a:off x="1326292" y="1510557"/>
            <a:ext cx="9111049" cy="51126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ECCD28C-48CF-07CC-8957-697C5AAF19DF}"/>
              </a:ext>
            </a:extLst>
          </p:cNvPr>
          <p:cNvSpPr txBox="1"/>
          <p:nvPr/>
        </p:nvSpPr>
        <p:spPr>
          <a:xfrm rot="16200000">
            <a:off x="9096832" y="4079789"/>
            <a:ext cx="2165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Память программы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D6EAF6-2FFD-8D0D-CA5D-669A09AA8375}"/>
              </a:ext>
            </a:extLst>
          </p:cNvPr>
          <p:cNvSpPr txBox="1"/>
          <p:nvPr/>
        </p:nvSpPr>
        <p:spPr>
          <a:xfrm rot="16200000">
            <a:off x="9242233" y="5147389"/>
            <a:ext cx="695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solidFill>
                  <a:srgbClr val="002060"/>
                </a:solidFill>
              </a:rPr>
              <a:t>Куча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029520-DE69-353B-BB14-7BDC104721A6}"/>
              </a:ext>
            </a:extLst>
          </p:cNvPr>
          <p:cNvSpPr txBox="1"/>
          <p:nvPr/>
        </p:nvSpPr>
        <p:spPr>
          <a:xfrm rot="16200000">
            <a:off x="7039192" y="2960586"/>
            <a:ext cx="1912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r>
              <a:rPr lang="ru-RU" sz="1200" b="1" dirty="0">
                <a:solidFill>
                  <a:srgbClr val="002060"/>
                </a:solidFill>
              </a:rPr>
              <a:t> </a:t>
            </a:r>
            <a:r>
              <a:rPr lang="en-US" sz="1200" b="1" dirty="0">
                <a:solidFill>
                  <a:srgbClr val="002060"/>
                </a:solidFill>
              </a:rPr>
              <a:t>T - 2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CD6143-0035-7DAE-1A0F-3BEEA2ADDFFB}"/>
              </a:ext>
            </a:extLst>
          </p:cNvPr>
          <p:cNvSpPr txBox="1"/>
          <p:nvPr/>
        </p:nvSpPr>
        <p:spPr>
          <a:xfrm rot="16200000">
            <a:off x="8642002" y="2832899"/>
            <a:ext cx="1912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r>
              <a:rPr lang="ru-RU" sz="1200" b="1" dirty="0">
                <a:solidFill>
                  <a:srgbClr val="002060"/>
                </a:solidFill>
              </a:rPr>
              <a:t> </a:t>
            </a:r>
            <a:r>
              <a:rPr lang="en-US" sz="1200" b="1" dirty="0">
                <a:solidFill>
                  <a:srgbClr val="002060"/>
                </a:solidFill>
              </a:rPr>
              <a:t>T - 1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217C0-879C-9E15-664A-4FFBC8EB9EDD}"/>
              </a:ext>
            </a:extLst>
          </p:cNvPr>
          <p:cNvSpPr txBox="1"/>
          <p:nvPr/>
        </p:nvSpPr>
        <p:spPr>
          <a:xfrm rot="16200000">
            <a:off x="959936" y="3141822"/>
            <a:ext cx="17186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0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5576BD-FC4A-F649-4D52-8104294E10D4}"/>
              </a:ext>
            </a:extLst>
          </p:cNvPr>
          <p:cNvSpPr txBox="1"/>
          <p:nvPr/>
        </p:nvSpPr>
        <p:spPr>
          <a:xfrm>
            <a:off x="4006028" y="1911933"/>
            <a:ext cx="19898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Цветные блоки – значения</a:t>
            </a:r>
          </a:p>
          <a:p>
            <a:r>
              <a:rPr lang="ru-RU" sz="1200" b="1" dirty="0">
                <a:solidFill>
                  <a:srgbClr val="002060"/>
                </a:solidFill>
              </a:rPr>
              <a:t>Стрелки – «ссылки»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53CABB0-D826-AB97-5446-FC174A79D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767" y="5272217"/>
            <a:ext cx="1598141" cy="59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43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C199-275A-E4E9-D002-729C8485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 программы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DAD84-D681-4C27-0961-BF17B64414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endParaRPr lang="ru-RU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CC7A10-243F-39CF-233B-FE9F9B506C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Языки без указателей</a:t>
            </a:r>
          </a:p>
          <a:p>
            <a:pPr lvl="1"/>
            <a:r>
              <a:rPr lang="en-US" dirty="0"/>
              <a:t>Java, Python, C#, etc.</a:t>
            </a:r>
          </a:p>
          <a:p>
            <a:pPr lvl="1"/>
            <a:r>
              <a:rPr lang="ru-RU" dirty="0">
                <a:solidFill>
                  <a:srgbClr val="00B050"/>
                </a:solidFill>
              </a:rPr>
              <a:t>Работа с памятью 100% автоматическая</a:t>
            </a:r>
          </a:p>
          <a:p>
            <a:pPr lvl="2"/>
            <a:r>
              <a:rPr lang="ru-RU" dirty="0"/>
              <a:t>Сборка мусора, безопасность – бесплатно</a:t>
            </a:r>
          </a:p>
          <a:p>
            <a:pPr lvl="1"/>
            <a:r>
              <a:rPr lang="ru-RU" dirty="0"/>
              <a:t>Скорость работы </a:t>
            </a:r>
            <a:r>
              <a:rPr lang="ru-RU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▼</a:t>
            </a:r>
            <a:endParaRPr lang="ru-RU" dirty="0">
              <a:solidFill>
                <a:srgbClr val="C00000"/>
              </a:solidFill>
            </a:endParaRPr>
          </a:p>
          <a:p>
            <a:pPr lvl="1"/>
            <a:r>
              <a:rPr lang="ru-RU" dirty="0"/>
              <a:t>Расход памяти </a:t>
            </a:r>
            <a:r>
              <a:rPr lang="ru-RU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▲</a:t>
            </a:r>
            <a:endParaRPr lang="ru-RU" dirty="0">
              <a:solidFill>
                <a:srgbClr val="C00000"/>
              </a:solidFill>
            </a:endParaRPr>
          </a:p>
          <a:p>
            <a:endParaRPr lang="ru-RU" dirty="0"/>
          </a:p>
          <a:p>
            <a:r>
              <a:rPr lang="ru-RU" dirty="0"/>
              <a:t>Языки с указателями</a:t>
            </a:r>
          </a:p>
          <a:p>
            <a:pPr lvl="1"/>
            <a:r>
              <a:rPr lang="en-US" dirty="0"/>
              <a:t>Pascal, C, C++, </a:t>
            </a:r>
            <a:r>
              <a:rPr lang="en-US" dirty="0" err="1"/>
              <a:t>golang</a:t>
            </a:r>
            <a:r>
              <a:rPr lang="ru-RU" dirty="0"/>
              <a:t>, </a:t>
            </a:r>
            <a:r>
              <a:rPr lang="en-US" dirty="0"/>
              <a:t>etc.</a:t>
            </a:r>
            <a:endParaRPr lang="ru-RU" dirty="0"/>
          </a:p>
          <a:p>
            <a:pPr lvl="1"/>
            <a:r>
              <a:rPr lang="ru-RU" dirty="0">
                <a:solidFill>
                  <a:srgbClr val="C00000"/>
                </a:solidFill>
              </a:rPr>
              <a:t>Работа с памятью полуавтоматическая</a:t>
            </a:r>
          </a:p>
          <a:p>
            <a:pPr lvl="2"/>
            <a:r>
              <a:rPr lang="ru-RU" dirty="0"/>
              <a:t>Сами уничтожаем ненужные значения</a:t>
            </a:r>
            <a:r>
              <a:rPr lang="en-US" dirty="0"/>
              <a:t> </a:t>
            </a:r>
            <a:r>
              <a:rPr lang="ru-RU" dirty="0"/>
              <a:t>и правильно работаем с указателями</a:t>
            </a:r>
          </a:p>
          <a:p>
            <a:pPr lvl="1"/>
            <a:r>
              <a:rPr lang="ru-RU" dirty="0"/>
              <a:t>Скорость работы </a:t>
            </a:r>
            <a:r>
              <a:rPr lang="ru-RU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▲</a:t>
            </a:r>
          </a:p>
          <a:p>
            <a:pPr lvl="1"/>
            <a:r>
              <a:rPr lang="ru-RU" dirty="0">
                <a:cs typeface="Arial" panose="020B0604020202020204" pitchFamily="34" charset="0"/>
              </a:rPr>
              <a:t>Расход памяти </a:t>
            </a:r>
            <a:r>
              <a:rPr lang="ru-RU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▼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89C38-08EB-B5DD-02D6-1936F23E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B7184-F5EB-4B8D-8963-C9795633C8D6}" type="slidenum">
              <a:rPr lang="ru-RU" smtClean="0"/>
              <a:t>7</a:t>
            </a:fld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ECCB37-9F8E-71DA-C0B1-36082B148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37938"/>
            <a:ext cx="5181600" cy="292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313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значения ½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Значение – это непрерывная последовательность байтов</a:t>
            </a:r>
          </a:p>
          <a:p>
            <a:pPr lvl="1"/>
            <a:r>
              <a:rPr lang="ru-RU" dirty="0"/>
              <a:t>Размер значения – это длина этой последовательности</a:t>
            </a:r>
          </a:p>
          <a:p>
            <a:pPr lvl="1"/>
            <a:r>
              <a:rPr lang="ru-RU" dirty="0"/>
              <a:t>Эта последовательность называется </a:t>
            </a:r>
            <a:r>
              <a:rPr lang="ru-RU" dirty="0">
                <a:highlight>
                  <a:srgbClr val="00FFFF"/>
                </a:highlight>
              </a:rPr>
              <a:t>двоичным представлением</a:t>
            </a:r>
            <a:r>
              <a:rPr lang="ru-RU" dirty="0"/>
              <a:t> (ДП) значения</a:t>
            </a:r>
          </a:p>
          <a:p>
            <a:endParaRPr lang="ru-RU" dirty="0"/>
          </a:p>
          <a:p>
            <a:r>
              <a:rPr lang="ru-RU" dirty="0"/>
              <a:t>Экзотика – битовое поле</a:t>
            </a:r>
          </a:p>
          <a:p>
            <a:pPr lvl="1"/>
            <a:r>
              <a:rPr lang="ru-RU" dirty="0"/>
              <a:t>Непрерывная последовательность битов внутри значения целого типа</a:t>
            </a:r>
          </a:p>
          <a:p>
            <a:pPr lvl="1"/>
            <a:r>
              <a:rPr lang="ru-RU" dirty="0"/>
              <a:t>Размер битового поля – это длина этой последовательности</a:t>
            </a:r>
          </a:p>
          <a:p>
            <a:pPr lvl="2"/>
            <a:r>
              <a:rPr lang="ru-RU" dirty="0"/>
              <a:t>Не превосходит числа битов в </a:t>
            </a:r>
            <a:r>
              <a:rPr lang="ru-RU" dirty="0" err="1"/>
              <a:t>сАмом</a:t>
            </a:r>
            <a:r>
              <a:rPr lang="ru-RU" dirty="0"/>
              <a:t> многоразрядном целом</a:t>
            </a:r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463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значения 2/2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Значения, имеющие одинаковое ДП, равны</a:t>
            </a:r>
          </a:p>
          <a:p>
            <a:pPr lvl="1"/>
            <a:r>
              <a:rPr lang="ru-RU" dirty="0"/>
              <a:t>Кроме числовых </a:t>
            </a:r>
            <a:r>
              <a:rPr lang="en-US" dirty="0" err="1"/>
              <a:t>NaN</a:t>
            </a:r>
            <a:r>
              <a:rPr lang="ru-RU" dirty="0"/>
              <a:t>-</a:t>
            </a:r>
            <a:r>
              <a:rPr lang="ru-RU" dirty="0" err="1"/>
              <a:t>ов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Равные значения могут иметь разное ДП</a:t>
            </a:r>
          </a:p>
          <a:p>
            <a:pPr lvl="2"/>
            <a:endParaRPr lang="ru-RU" dirty="0"/>
          </a:p>
          <a:p>
            <a:r>
              <a:rPr lang="ru-RU" dirty="0"/>
              <a:t>Последовательность байтов, не являющаяся ДП никакого значения, называется </a:t>
            </a:r>
            <a:r>
              <a:rPr lang="ru-RU" dirty="0">
                <a:highlight>
                  <a:srgbClr val="00FFFF"/>
                </a:highlight>
              </a:rPr>
              <a:t>представлением-ловушкой</a:t>
            </a:r>
          </a:p>
          <a:p>
            <a:pPr lvl="2"/>
            <a:endParaRPr lang="ru-RU" dirty="0"/>
          </a:p>
          <a:p>
            <a:r>
              <a:rPr lang="ru-RU" dirty="0"/>
              <a:t>Операции с представлением-ловушкой являются </a:t>
            </a:r>
            <a:r>
              <a:rPr lang="en-US" dirty="0"/>
              <a:t>undefined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3261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0CD6C-8844-F907-C5ED-132852E77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Выравнивание в памяти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E5C95-A6A7-4839-D63D-76342A759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значения типа </a:t>
            </a:r>
            <a:r>
              <a:rPr lang="en-US" dirty="0"/>
              <a:t>T</a:t>
            </a:r>
            <a:r>
              <a:rPr lang="ru-RU" dirty="0"/>
              <a:t> должно храниться по адресу, кратному выравниванию</a:t>
            </a:r>
            <a:r>
              <a:rPr lang="en-US" dirty="0"/>
              <a:t> </a:t>
            </a:r>
            <a:r>
              <a:rPr lang="ru-RU" dirty="0"/>
              <a:t>типа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ru-RU" dirty="0"/>
              <a:t>Обозначается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ru-RU" dirty="0"/>
              <a:t>Чтение и запись по не выровненному адресу являются </a:t>
            </a:r>
            <a:r>
              <a:rPr lang="en-US" dirty="0"/>
              <a:t>undefined</a:t>
            </a:r>
            <a:endParaRPr lang="ru-RU" dirty="0"/>
          </a:p>
          <a:p>
            <a:pPr lvl="1"/>
            <a:r>
              <a:rPr lang="ru-RU" dirty="0"/>
              <a:t>Значения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 являются </a:t>
            </a:r>
            <a:r>
              <a:rPr lang="en-US" dirty="0"/>
              <a:t>implementation defined</a:t>
            </a:r>
          </a:p>
          <a:p>
            <a:pPr lvl="2"/>
            <a:r>
              <a:rPr lang="ru-RU" dirty="0"/>
              <a:t>Обычно </a:t>
            </a:r>
            <a:r>
              <a:rPr lang="en-US" sz="2400" dirty="0" err="1">
                <a:latin typeface="Consolas" panose="020B0609020204030204" pitchFamily="49" charset="0"/>
              </a:rPr>
              <a:t>alignof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r>
              <a:rPr lang="en-US" dirty="0"/>
              <a:t> </a:t>
            </a:r>
            <a:r>
              <a:rPr lang="ru-RU" dirty="0"/>
              <a:t>– это небольшая степень 2</a:t>
            </a:r>
          </a:p>
          <a:p>
            <a:pPr lvl="2"/>
            <a:r>
              <a:rPr lang="ru-RU" dirty="0"/>
              <a:t>Обычно </a:t>
            </a:r>
            <a:r>
              <a:rPr lang="en-US" sz="2400" dirty="0" err="1">
                <a:latin typeface="Consolas" panose="020B0609020204030204" pitchFamily="49" charset="0"/>
              </a:rPr>
              <a:t>alignof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ru-RU" dirty="0"/>
              <a:t>тип для работы с числами/адресами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r>
              <a:rPr lang="ru-RU" dirty="0"/>
              <a:t> = размер значения</a:t>
            </a:r>
          </a:p>
          <a:p>
            <a:endParaRPr lang="ru-RU" dirty="0"/>
          </a:p>
          <a:p>
            <a:r>
              <a:rPr lang="ru-RU" dirty="0"/>
              <a:t>Инструкции ЦПУ для чтения-записи </a:t>
            </a:r>
            <a:r>
              <a:rPr lang="en-US" dirty="0"/>
              <a:t>n = </a:t>
            </a:r>
            <a:r>
              <a:rPr lang="ru-RU" dirty="0"/>
              <a:t>1, 2, 4, 8 байтов ожидают адрес, кратный</a:t>
            </a:r>
            <a:r>
              <a:rPr lang="en-US" dirty="0"/>
              <a:t> 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7786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93998" y="2350697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425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975378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34262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9025959" y="570987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608130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09079" y="2347806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9079" y="2688094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9025959" y="424088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4309079" y="200751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145366" y="546598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9337" y="5257682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9337" y="5642522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3669337" y="602736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535363"/>
            <a:ext cx="948465" cy="121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cxnSpLocks/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4022238" y="2192184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4022238" y="2532472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389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cxnSpLocks/>
            <a:stCxn id="8" idx="3"/>
            <a:endCxn id="9" idx="1"/>
          </p:cNvCxnSpPr>
          <p:nvPr/>
        </p:nvCxnSpPr>
        <p:spPr>
          <a:xfrm flipV="1">
            <a:off x="5587340" y="3645640"/>
            <a:ext cx="564419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cxnSpLocks/>
            <a:stCxn id="8" idx="3"/>
            <a:endCxn id="10" idx="1"/>
          </p:cNvCxnSpPr>
          <p:nvPr/>
        </p:nvCxnSpPr>
        <p:spPr>
          <a:xfrm>
            <a:off x="5587340" y="3790308"/>
            <a:ext cx="564419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792796"/>
            <a:ext cx="1647902" cy="345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>
            <a:off x="7378057" y="5138041"/>
            <a:ext cx="1647902" cy="22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75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4022238" y="2535363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250731" cy="602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101237" y="5442348"/>
            <a:ext cx="568100" cy="20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101237" y="5650655"/>
            <a:ext cx="568100" cy="17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101237" y="5650655"/>
            <a:ext cx="568100" cy="561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745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7148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93423" y="487284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cxnSp>
        <p:nvCxnSpPr>
          <p:cNvPr id="101" name="Straight Arrow Connector 100"/>
          <p:cNvCxnSpPr>
            <a:cxnSpLocks/>
            <a:stCxn id="22" idx="2"/>
            <a:endCxn id="100" idx="1"/>
          </p:cNvCxnSpPr>
          <p:nvPr/>
        </p:nvCxnSpPr>
        <p:spPr>
          <a:xfrm flipV="1">
            <a:off x="3101237" y="5057508"/>
            <a:ext cx="592186" cy="593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</a:t>
            </a:fld>
            <a:endParaRPr lang="ru-RU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14FC24-33AB-1843-596B-CF244023B687}"/>
              </a:ext>
            </a:extLst>
          </p:cNvPr>
          <p:cNvCxnSpPr>
            <a:cxnSpLocks/>
            <a:stCxn id="11" idx="2"/>
            <a:endCxn id="20" idx="1"/>
          </p:cNvCxnSpPr>
          <p:nvPr/>
        </p:nvCxnSpPr>
        <p:spPr>
          <a:xfrm flipV="1">
            <a:off x="7378057" y="4425548"/>
            <a:ext cx="1647902" cy="712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388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93998" y="2350697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425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975378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34262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9025959" y="570987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608130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09079" y="2347806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9079" y="2688094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9025959" y="424088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4309079" y="200751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145366" y="546598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9337" y="5257682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9337" y="5642522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3669337" y="602736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535363"/>
            <a:ext cx="948465" cy="121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cxnSpLocks/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4022238" y="2192184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4022238" y="2532472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389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cxnSpLocks/>
            <a:stCxn id="8" idx="3"/>
            <a:endCxn id="9" idx="1"/>
          </p:cNvCxnSpPr>
          <p:nvPr/>
        </p:nvCxnSpPr>
        <p:spPr>
          <a:xfrm flipV="1">
            <a:off x="5587340" y="3645640"/>
            <a:ext cx="564419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cxnSpLocks/>
            <a:stCxn id="8" idx="3"/>
            <a:endCxn id="10" idx="1"/>
          </p:cNvCxnSpPr>
          <p:nvPr/>
        </p:nvCxnSpPr>
        <p:spPr>
          <a:xfrm>
            <a:off x="5587340" y="3790308"/>
            <a:ext cx="564419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792796"/>
            <a:ext cx="1647902" cy="345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>
            <a:off x="7378057" y="5138041"/>
            <a:ext cx="1647902" cy="22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75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4022238" y="2535363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250731" cy="602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101237" y="5442348"/>
            <a:ext cx="568100" cy="20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101237" y="5650655"/>
            <a:ext cx="568100" cy="17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101237" y="5650655"/>
            <a:ext cx="568100" cy="561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745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7148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93423" y="487284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cxnSp>
        <p:nvCxnSpPr>
          <p:cNvPr id="101" name="Straight Arrow Connector 100"/>
          <p:cNvCxnSpPr>
            <a:cxnSpLocks/>
            <a:stCxn id="22" idx="2"/>
            <a:endCxn id="100" idx="1"/>
          </p:cNvCxnSpPr>
          <p:nvPr/>
        </p:nvCxnSpPr>
        <p:spPr>
          <a:xfrm flipV="1">
            <a:off x="3101237" y="5057508"/>
            <a:ext cx="592186" cy="593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</a:t>
            </a:fld>
            <a:endParaRPr lang="ru-RU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14FC24-33AB-1843-596B-CF244023B687}"/>
              </a:ext>
            </a:extLst>
          </p:cNvPr>
          <p:cNvCxnSpPr>
            <a:cxnSpLocks/>
            <a:stCxn id="11" idx="2"/>
            <a:endCxn id="20" idx="1"/>
          </p:cNvCxnSpPr>
          <p:nvPr/>
        </p:nvCxnSpPr>
        <p:spPr>
          <a:xfrm flipV="1">
            <a:off x="7378057" y="4425548"/>
            <a:ext cx="1647902" cy="712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4BCC8871-FF50-17CD-075F-504F812493EA}"/>
              </a:ext>
            </a:extLst>
          </p:cNvPr>
          <p:cNvSpPr/>
          <p:nvPr/>
        </p:nvSpPr>
        <p:spPr>
          <a:xfrm>
            <a:off x="1491642" y="2933972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D74BEBB-A799-E221-0466-8C213DBFEE25}"/>
              </a:ext>
            </a:extLst>
          </p:cNvPr>
          <p:cNvSpPr/>
          <p:nvPr/>
        </p:nvSpPr>
        <p:spPr>
          <a:xfrm>
            <a:off x="3296567" y="1638875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5A47023-4C30-9810-7BBE-B434AEAF1651}"/>
              </a:ext>
            </a:extLst>
          </p:cNvPr>
          <p:cNvSpPr/>
          <p:nvPr/>
        </p:nvSpPr>
        <p:spPr>
          <a:xfrm>
            <a:off x="3999283" y="2980126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06F2D29-3C63-2F05-06CA-E0AC622DA2AE}"/>
              </a:ext>
            </a:extLst>
          </p:cNvPr>
          <p:cNvSpPr/>
          <p:nvPr/>
        </p:nvSpPr>
        <p:spPr>
          <a:xfrm>
            <a:off x="6520984" y="4207373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F9973DE-8CE8-82BA-0AAF-598BD744EB7F}"/>
              </a:ext>
            </a:extLst>
          </p:cNvPr>
          <p:cNvSpPr/>
          <p:nvPr/>
        </p:nvSpPr>
        <p:spPr>
          <a:xfrm>
            <a:off x="1491641" y="1246803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7E359B6-B5A4-E41E-DF53-E456D50028E0}"/>
              </a:ext>
            </a:extLst>
          </p:cNvPr>
          <p:cNvSpPr/>
          <p:nvPr/>
        </p:nvSpPr>
        <p:spPr>
          <a:xfrm>
            <a:off x="1496086" y="4195697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1104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Полный тип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Тип</a:t>
            </a:r>
            <a:r>
              <a:rPr lang="en-US" sz="4000" dirty="0"/>
              <a:t> T </a:t>
            </a:r>
            <a:r>
              <a:rPr lang="ru-RU" sz="4000" dirty="0"/>
              <a:t>называется полным, если известен</a:t>
            </a:r>
            <a:r>
              <a:rPr lang="ru-RU" sz="4000" baseline="30000" dirty="0"/>
              <a:t>(*)</a:t>
            </a:r>
            <a:r>
              <a:rPr lang="ru-RU" sz="4000" dirty="0"/>
              <a:t> размер значений</a:t>
            </a:r>
            <a:r>
              <a:rPr lang="en-US" sz="4000" dirty="0"/>
              <a:t> </a:t>
            </a:r>
            <a:r>
              <a:rPr lang="en-US" sz="4000" dirty="0" err="1">
                <a:latin typeface="Consolas" panose="020B0609020204030204" pitchFamily="49" charset="0"/>
              </a:rPr>
              <a:t>sizeof</a:t>
            </a:r>
            <a:r>
              <a:rPr lang="ru-RU" sz="4000" dirty="0">
                <a:latin typeface="Consolas" panose="020B0609020204030204" pitchFamily="49" charset="0"/>
              </a:rPr>
              <a:t>(</a:t>
            </a:r>
            <a:r>
              <a:rPr lang="en-US" sz="4000" dirty="0"/>
              <a:t>T</a:t>
            </a:r>
            <a:r>
              <a:rPr lang="ru-RU" sz="4000" dirty="0">
                <a:latin typeface="Consolas" panose="020B0609020204030204" pitchFamily="49" charset="0"/>
              </a:rPr>
              <a:t>)</a:t>
            </a:r>
            <a:r>
              <a:rPr lang="ru-RU" sz="4000" dirty="0"/>
              <a:t> типа </a:t>
            </a:r>
            <a:r>
              <a:rPr lang="en-US" sz="4000" dirty="0"/>
              <a:t>T</a:t>
            </a:r>
            <a:endParaRPr lang="ru-RU" sz="4000" dirty="0"/>
          </a:p>
          <a:p>
            <a:pPr marL="457200" lvl="1" indent="0">
              <a:buNone/>
            </a:pPr>
            <a:r>
              <a:rPr lang="ru-RU" baseline="30000" dirty="0"/>
              <a:t>(*)</a:t>
            </a:r>
            <a:r>
              <a:rPr lang="ru-RU" dirty="0"/>
              <a:t> В исходном коде достаточно информации, чтобы вычислить</a:t>
            </a:r>
          </a:p>
          <a:p>
            <a:endParaRPr lang="ru-RU" sz="4000" dirty="0"/>
          </a:p>
          <a:p>
            <a:r>
              <a:rPr lang="ru-RU" sz="4000" dirty="0"/>
              <a:t>Операции</a:t>
            </a:r>
          </a:p>
          <a:p>
            <a:pPr lvl="1"/>
            <a:r>
              <a:rPr lang="en-US" sz="3600" dirty="0" err="1">
                <a:latin typeface="Consolas" panose="020B0609020204030204" pitchFamily="49" charset="0"/>
              </a:rPr>
              <a:t>sizeof</a:t>
            </a:r>
            <a:r>
              <a:rPr lang="en-US" sz="3600" dirty="0"/>
              <a:t>: T -&gt; </a:t>
            </a:r>
            <a:r>
              <a:rPr lang="ru-RU" sz="3600" dirty="0"/>
              <a:t>целое</a:t>
            </a:r>
          </a:p>
          <a:p>
            <a:endParaRPr lang="en-US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19450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</a:t>
            </a:r>
          </a:p>
          <a:p>
            <a:pPr lvl="1"/>
            <a:r>
              <a:rPr lang="ru-RU" dirty="0"/>
              <a:t>Интервал целых чисел</a:t>
            </a:r>
          </a:p>
          <a:p>
            <a:pPr lvl="1"/>
            <a:r>
              <a:rPr lang="ru-RU" dirty="0"/>
              <a:t>ДП см. далее в зависимости от типа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поразрядные, проверка равенства и порядка, преобразования целое </a:t>
            </a:r>
            <a:r>
              <a:rPr lang="en-US" dirty="0"/>
              <a:t>&lt;</a:t>
            </a:r>
            <a:r>
              <a:rPr lang="ru-RU" dirty="0"/>
              <a:t>--</a:t>
            </a:r>
            <a:r>
              <a:rPr lang="en-US" dirty="0"/>
              <a:t>&gt; </a:t>
            </a:r>
            <a:r>
              <a:rPr lang="ru-RU" dirty="0"/>
              <a:t>целое/вещественное/указатель</a:t>
            </a:r>
          </a:p>
          <a:p>
            <a:pPr lvl="2"/>
            <a:r>
              <a:rPr lang="ru-RU" dirty="0">
                <a:sym typeface="Symbol" panose="05050102010706020507" pitchFamily="18" charset="2"/>
              </a:rPr>
              <a:t>Результат сравнения всегда определён, совпадает с математическим</a:t>
            </a:r>
            <a:endParaRPr lang="ru-RU" dirty="0"/>
          </a:p>
          <a:p>
            <a:pPr lvl="2"/>
            <a:r>
              <a:rPr lang="ru-RU" dirty="0">
                <a:sym typeface="Symbol" panose="05050102010706020507" pitchFamily="18" charset="2"/>
              </a:rPr>
              <a:t>Результат преобразований, арифметических и поразрядных операций может быть </a:t>
            </a:r>
            <a:r>
              <a:rPr lang="en-US" dirty="0">
                <a:sym typeface="Symbol" panose="05050102010706020507" pitchFamily="18" charset="2"/>
              </a:rPr>
              <a:t>undefined</a:t>
            </a:r>
            <a:r>
              <a:rPr lang="ru-RU" dirty="0">
                <a:sym typeface="Symbol" panose="05050102010706020507" pitchFamily="18" charset="2"/>
              </a:rPr>
              <a:t> или </a:t>
            </a:r>
            <a:r>
              <a:rPr lang="en-US" dirty="0">
                <a:sym typeface="Symbol" panose="05050102010706020507" pitchFamily="18" charset="2"/>
              </a:rPr>
              <a:t>implementation defined</a:t>
            </a:r>
            <a:r>
              <a:rPr lang="ru-RU" dirty="0">
                <a:sym typeface="Symbol" panose="05050102010706020507" pitchFamily="18" charset="2"/>
              </a:rPr>
              <a:t>, может отличаться от математического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269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200" dirty="0"/>
          </a:p>
          <a:p>
            <a:r>
              <a:rPr lang="ru-RU" sz="3200" dirty="0"/>
              <a:t>Множество значений </a:t>
            </a:r>
          </a:p>
          <a:p>
            <a:pPr lvl="1"/>
            <a:r>
              <a:rPr lang="ru-RU" sz="2800" dirty="0"/>
              <a:t>Включает интервал </a:t>
            </a:r>
            <a:r>
              <a:rPr lang="en-US" sz="2800" dirty="0"/>
              <a:t>[0, 127]</a:t>
            </a:r>
            <a:r>
              <a:rPr lang="ru-RU" sz="2800" dirty="0"/>
              <a:t> </a:t>
            </a:r>
            <a:endParaRPr lang="en-US" sz="2800" dirty="0"/>
          </a:p>
          <a:p>
            <a:pPr lvl="2"/>
            <a:r>
              <a:rPr lang="ru-RU" sz="2400" dirty="0"/>
              <a:t>Обычно содержит 256 значений, т.е. </a:t>
            </a:r>
            <a:r>
              <a:rPr lang="en-US" sz="2400" dirty="0"/>
              <a:t>[0, 255] </a:t>
            </a:r>
            <a:r>
              <a:rPr lang="ru-RU" sz="2400" dirty="0"/>
              <a:t>или </a:t>
            </a:r>
            <a:r>
              <a:rPr lang="en-US" sz="2400" dirty="0"/>
              <a:t>[-128, 127]</a:t>
            </a:r>
            <a:endParaRPr lang="ru-RU" sz="2400" dirty="0"/>
          </a:p>
          <a:p>
            <a:pPr lvl="1"/>
            <a:r>
              <a:rPr lang="ru-RU" sz="2800" dirty="0"/>
              <a:t>Неотрицательные элементы взаимно однозначно соответствуют символам </a:t>
            </a:r>
            <a:r>
              <a:rPr lang="en-US" sz="2800" dirty="0"/>
              <a:t>ASCII</a:t>
            </a:r>
            <a:endParaRPr lang="ru-RU" sz="2800" dirty="0"/>
          </a:p>
          <a:p>
            <a:pPr lvl="1"/>
            <a:r>
              <a:rPr lang="ru-RU" sz="2800" dirty="0"/>
              <a:t>Наличие отрицательных значений является </a:t>
            </a:r>
            <a:r>
              <a:rPr lang="en-US" sz="2800" dirty="0"/>
              <a:t>implementation defined</a:t>
            </a:r>
            <a:endParaRPr lang="ru-RU" sz="2800" dirty="0"/>
          </a:p>
          <a:p>
            <a:endParaRPr lang="ru-RU" sz="3200" dirty="0"/>
          </a:p>
          <a:p>
            <a:endParaRPr lang="ru-RU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028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600" dirty="0"/>
          </a:p>
          <a:p>
            <a:r>
              <a:rPr lang="ru-RU" sz="3600" dirty="0"/>
              <a:t>Множество значений </a:t>
            </a:r>
            <a:endParaRPr lang="en-US" sz="3600" dirty="0"/>
          </a:p>
          <a:p>
            <a:pPr lvl="1"/>
            <a:r>
              <a:rPr lang="ru-RU" sz="3200" dirty="0"/>
              <a:t>Интервал целых чисел </a:t>
            </a:r>
          </a:p>
          <a:p>
            <a:pPr lvl="1"/>
            <a:r>
              <a:rPr lang="ru-RU" sz="3200" dirty="0"/>
              <a:t>Содержит отрицательные</a:t>
            </a:r>
            <a:r>
              <a:rPr lang="en-US" sz="3200" dirty="0"/>
              <a:t> </a:t>
            </a:r>
            <a:r>
              <a:rPr lang="ru-RU" sz="3200" dirty="0"/>
              <a:t>и положительные значения</a:t>
            </a:r>
          </a:p>
          <a:p>
            <a:pPr lvl="1"/>
            <a:r>
              <a:rPr lang="ru-RU" sz="3200" dirty="0"/>
              <a:t>0 </a:t>
            </a:r>
            <a:r>
              <a:rPr lang="ru-RU" sz="3200" dirty="0">
                <a:sym typeface="Symbol" panose="05050102010706020507" pitchFamily="18" charset="2"/>
              </a:rPr>
              <a:t> </a:t>
            </a:r>
            <a:r>
              <a:rPr lang="en-US" sz="3200" dirty="0">
                <a:latin typeface="Consolas" panose="020B0609020204030204" pitchFamily="49" charset="0"/>
              </a:rPr>
              <a:t>signed</a:t>
            </a:r>
            <a:r>
              <a:rPr lang="en-US" sz="3200" dirty="0"/>
              <a:t> char </a:t>
            </a:r>
            <a:r>
              <a:rPr lang="en-US" sz="3200" dirty="0">
                <a:sym typeface="Symbol" panose="05050102010706020507" pitchFamily="18" charset="2"/>
              </a:rPr>
              <a:t>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short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int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long </a:t>
            </a:r>
            <a:r>
              <a:rPr lang="en-US" sz="3200" dirty="0" err="1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endParaRPr lang="ru-RU" sz="32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1123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Беззнаковые</a:t>
            </a:r>
            <a:r>
              <a:rPr lang="ru-RU" dirty="0"/>
              <a:t>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 </a:t>
            </a:r>
          </a:p>
          <a:p>
            <a:pPr lvl="1"/>
            <a:r>
              <a:rPr lang="ru-RU" dirty="0"/>
              <a:t>Интервал неотрицательных целых чисел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</a:rPr>
              <a:t>unsigned char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short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int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r>
              <a:rPr lang="en-US" dirty="0">
                <a:sym typeface="Symbol" panose="05050102010706020507" pitchFamily="18" charset="2"/>
              </a:rPr>
              <a:t> 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 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  <a:p>
            <a:r>
              <a:rPr lang="ru-RU" dirty="0">
                <a:sym typeface="Symbol" panose="05050102010706020507" pitchFamily="18" charset="2"/>
              </a:rPr>
              <a:t>Операции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Арифметика над значениями беззнакового типа </a:t>
            </a:r>
            <a:r>
              <a:rPr lang="en-US" dirty="0">
                <a:sym typeface="Symbol" panose="05050102010706020507" pitchFamily="18" charset="2"/>
              </a:rPr>
              <a:t>UT </a:t>
            </a:r>
            <a:r>
              <a:rPr lang="ru-RU" dirty="0">
                <a:sym typeface="Symbol" panose="05050102010706020507" pitchFamily="18" charset="2"/>
              </a:rPr>
              <a:t>выполняется по модулю 2</a:t>
            </a:r>
            <a:r>
              <a:rPr lang="en-US" baseline="30000" dirty="0">
                <a:sym typeface="Symbol" panose="05050102010706020507" pitchFamily="18" charset="2"/>
              </a:rPr>
              <a:t>8∙</a:t>
            </a:r>
            <a:r>
              <a:rPr lang="en-US" baseline="30000" dirty="0">
                <a:latin typeface="Consolas" panose="020B0609020204030204" pitchFamily="49" charset="0"/>
                <a:sym typeface="Symbol" panose="05050102010706020507" pitchFamily="18" charset="2"/>
              </a:rPr>
              <a:t>sizeof(</a:t>
            </a:r>
            <a:r>
              <a:rPr lang="en-US" baseline="30000" dirty="0">
                <a:sym typeface="Symbol" panose="05050102010706020507" pitchFamily="18" charset="2"/>
              </a:rPr>
              <a:t>UT</a:t>
            </a:r>
            <a:r>
              <a:rPr lang="en-US" baseline="30000" dirty="0">
                <a:latin typeface="Consolas" panose="020B0609020204030204" pitchFamily="49" charset="0"/>
                <a:sym typeface="Symbol" panose="05050102010706020507" pitchFamily="18" charset="2"/>
              </a:rPr>
              <a:t>)</a:t>
            </a:r>
            <a:r>
              <a:rPr lang="ru-RU" baseline="30000" dirty="0">
                <a:sym typeface="Symbol" panose="05050102010706020507" pitchFamily="18" charset="2"/>
              </a:rPr>
              <a:t> 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Результат всегда определён, совпадает с математическим ❤️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8980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знаковых и </a:t>
            </a:r>
            <a:r>
              <a:rPr lang="ru-RU" dirty="0" err="1"/>
              <a:t>беззнаковых</a:t>
            </a:r>
            <a:r>
              <a:rPr lang="ru-RU" dirty="0"/>
              <a:t>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  <a:p>
            <a:r>
              <a:rPr lang="ru-RU" dirty="0"/>
              <a:t>Если </a:t>
            </a:r>
            <a:r>
              <a:rPr lang="en-US" dirty="0"/>
              <a:t>T</a:t>
            </a:r>
            <a:r>
              <a:rPr lang="ru-RU" dirty="0"/>
              <a:t>, </a:t>
            </a:r>
            <a:r>
              <a:rPr lang="en-US" dirty="0"/>
              <a:t>UT </a:t>
            </a:r>
            <a:r>
              <a:rPr lang="ru-RU" dirty="0"/>
              <a:t>– одноимённые знаковый и беззнаковый тип, то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  <a:cs typeface="Arial" panose="020B0604020202020204" pitchFamily="34" charset="0"/>
              </a:rPr>
              <a:t>T</a:t>
            </a:r>
            <a:r>
              <a:rPr lang="en-US" dirty="0">
                <a:latin typeface="Consolas" panose="020B0609020204030204" pitchFamily="49" charset="0"/>
              </a:rPr>
              <a:t>) ==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UT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ru-RU" dirty="0"/>
              <a:t>Диапазон неотрицательных значений </a:t>
            </a:r>
            <a:r>
              <a:rPr lang="en-US" dirty="0"/>
              <a:t>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ru-RU" dirty="0">
                <a:sym typeface="Symbol" panose="05050102010706020507" pitchFamily="18" charset="2"/>
              </a:rPr>
              <a:t>диапазон значений </a:t>
            </a:r>
            <a:r>
              <a:rPr lang="en-US" dirty="0">
                <a:sym typeface="Symbol" panose="05050102010706020507" pitchFamily="18" charset="2"/>
              </a:rPr>
              <a:t>UT</a:t>
            </a:r>
            <a:endParaRPr lang="ru-RU" dirty="0">
              <a:sym typeface="Symbol" panose="05050102010706020507" pitchFamily="18" charset="2"/>
            </a:endParaRPr>
          </a:p>
          <a:p>
            <a:endParaRPr lang="en-US" dirty="0"/>
          </a:p>
          <a:p>
            <a:r>
              <a:rPr lang="ru-RU" dirty="0"/>
              <a:t>Диапазон значений </a:t>
            </a:r>
            <a:r>
              <a:rPr lang="en-US" sz="2400" dirty="0">
                <a:latin typeface="Consolas" panose="020B0609020204030204" pitchFamily="49" charset="0"/>
              </a:rPr>
              <a:t>char</a:t>
            </a:r>
            <a:r>
              <a:rPr lang="en-US" dirty="0"/>
              <a:t> implementation defined </a:t>
            </a:r>
            <a:r>
              <a:rPr lang="ru-RU" dirty="0"/>
              <a:t>совпадает </a:t>
            </a:r>
          </a:p>
          <a:p>
            <a:pPr lvl="1"/>
            <a:r>
              <a:rPr lang="ru-RU" dirty="0"/>
              <a:t>с диапазоном значений </a:t>
            </a:r>
            <a:r>
              <a:rPr lang="en-US" dirty="0">
                <a:latin typeface="Consolas" panose="020B0609020204030204" pitchFamily="49" charset="0"/>
              </a:rPr>
              <a:t>signed char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/>
              <a:t>или</a:t>
            </a:r>
            <a:endParaRPr lang="en-US" dirty="0"/>
          </a:p>
          <a:p>
            <a:pPr lvl="1"/>
            <a:r>
              <a:rPr lang="ru-RU" dirty="0"/>
              <a:t>с диапазоном значений </a:t>
            </a:r>
            <a:r>
              <a:rPr lang="en-US" dirty="0">
                <a:latin typeface="Consolas" panose="020B0609020204030204" pitchFamily="49" charset="0"/>
              </a:rPr>
              <a:t>unsigned char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4577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беззнаковых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ДП значения беззнакового типа делится на</a:t>
            </a:r>
          </a:p>
          <a:p>
            <a:pPr lvl="2"/>
            <a:endParaRPr lang="ru-RU" sz="2400" dirty="0"/>
          </a:p>
          <a:p>
            <a:pPr lvl="1"/>
            <a:r>
              <a:rPr lang="ru-RU" sz="2800" dirty="0"/>
              <a:t>Значащие биты </a:t>
            </a:r>
          </a:p>
          <a:p>
            <a:pPr lvl="2"/>
            <a:r>
              <a:rPr lang="ru-RU" sz="2400" dirty="0"/>
              <a:t>Разложение значения по степеням 2 от 1 до 2</a:t>
            </a:r>
            <a:r>
              <a:rPr lang="ru-RU" sz="2400" baseline="30000" dirty="0"/>
              <a:t>число значащих битов - 1</a:t>
            </a:r>
          </a:p>
          <a:p>
            <a:pPr lvl="2"/>
            <a:endParaRPr lang="ru-RU" sz="2400" dirty="0"/>
          </a:p>
          <a:p>
            <a:pPr lvl="1"/>
            <a:r>
              <a:rPr lang="ru-RU" sz="2800" dirty="0"/>
              <a:t>Выравнивающие биты </a:t>
            </a:r>
          </a:p>
          <a:p>
            <a:pPr lvl="2"/>
            <a:r>
              <a:rPr lang="ru-RU" sz="2400" dirty="0"/>
              <a:t>Значение </a:t>
            </a:r>
            <a:r>
              <a:rPr lang="en-US" sz="2400" dirty="0"/>
              <a:t>undefined</a:t>
            </a:r>
            <a:endParaRPr lang="ru-RU" sz="2400" dirty="0"/>
          </a:p>
          <a:p>
            <a:pPr lvl="2"/>
            <a:r>
              <a:rPr lang="ru-RU" sz="2400" dirty="0"/>
              <a:t>Отсутствуют для </a:t>
            </a:r>
            <a:r>
              <a:rPr lang="en-US" sz="2400" dirty="0">
                <a:latin typeface="Consolas" panose="020B0609020204030204" pitchFamily="49" charset="0"/>
              </a:rPr>
              <a:t>unsigned char</a:t>
            </a:r>
            <a:endParaRPr lang="ru-RU" sz="2400" dirty="0">
              <a:latin typeface="Consolas" panose="020B0609020204030204" pitchFamily="49" charset="0"/>
            </a:endParaRPr>
          </a:p>
          <a:p>
            <a:pPr lvl="2"/>
            <a:r>
              <a:rPr lang="ru-RU" sz="2400" dirty="0"/>
              <a:t>Наличие для других беззнаковых типов </a:t>
            </a:r>
            <a:r>
              <a:rPr lang="en-US" sz="2400" dirty="0"/>
              <a:t>implementation defined</a:t>
            </a:r>
            <a:endParaRPr lang="ru-RU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741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беззнаковых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20</a:t>
            </a:fld>
            <a:endParaRPr lang="ru-RU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58A2A5B-C851-4CBF-A350-3B347A3A236B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E4A600-4AFF-4F64-8D8A-7395F28AC5BD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12B996-1FF4-4D21-B798-5BB3E083438D}"/>
              </a:ext>
            </a:extLst>
          </p:cNvPr>
          <p:cNvCxnSpPr>
            <a:stCxn id="5" idx="0"/>
            <a:endCxn id="6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AEFEF5-11CB-48AC-92FE-16EB43B346B3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574ED38-5F97-49DD-9972-97F6BD155F80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9A7E7E-56A0-47F9-BFD5-D09C0561346E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AB0434B-794C-4B6B-A89C-C3D8C8A78233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92906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181BB0-CE4B-4AF5-9593-AA5F665A88C7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0D8E9F-25D1-4438-B809-E86E7F07FE4F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9C5FF2-E35A-48A4-8CD5-06EBF8A80F8B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CC4DF9-DDD9-4DDF-90C7-A2015D7FD0FA}"/>
              </a:ext>
            </a:extLst>
          </p:cNvPr>
          <p:cNvSpPr txBox="1"/>
          <p:nvPr/>
        </p:nvSpPr>
        <p:spPr>
          <a:xfrm>
            <a:off x="5603075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endParaRPr lang="ru-RU" baseline="30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9A652E-0CF4-441C-82EE-2D712C36CA62}"/>
              </a:ext>
            </a:extLst>
          </p:cNvPr>
          <p:cNvSpPr txBox="1"/>
          <p:nvPr/>
        </p:nvSpPr>
        <p:spPr>
          <a:xfrm>
            <a:off x="5582282" y="1880983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-1</a:t>
            </a:r>
            <a:endParaRPr lang="ru-RU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5423EE-1E58-4401-AF99-D37D2CF8117A}"/>
              </a:ext>
            </a:extLst>
          </p:cNvPr>
          <p:cNvSpPr txBox="1"/>
          <p:nvPr/>
        </p:nvSpPr>
        <p:spPr>
          <a:xfrm>
            <a:off x="5959684" y="5533243"/>
            <a:ext cx="977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2</a:t>
            </a:r>
            <a:r>
              <a:rPr lang="en-US" sz="1400" baseline="30000" dirty="0"/>
              <a:t>n-1</a:t>
            </a:r>
            <a:r>
              <a:rPr lang="en-US" sz="1400" dirty="0"/>
              <a:t>-1</a:t>
            </a:r>
            <a:endParaRPr lang="ru-RU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BDA688-38A6-40BA-B2CE-D23E48C410F5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CF7B38-0D91-4257-A74B-5577F4F6348D}"/>
              </a:ext>
            </a:extLst>
          </p:cNvPr>
          <p:cNvSpPr txBox="1"/>
          <p:nvPr/>
        </p:nvSpPr>
        <p:spPr>
          <a:xfrm>
            <a:off x="5228045" y="1970408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-2</a:t>
            </a:r>
            <a:endParaRPr lang="ru-RU" sz="1600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37E0404-5F10-43FE-AD45-546957A90F6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16FB225-8390-4773-822F-EFAEBC087799}"/>
              </a:ext>
            </a:extLst>
          </p:cNvPr>
          <p:cNvCxnSpPr>
            <a:cxnSpLocks/>
          </p:cNvCxnSpPr>
          <p:nvPr/>
        </p:nvCxnSpPr>
        <p:spPr>
          <a:xfrm rot="11400000" flipH="1">
            <a:off x="5701261" y="542301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A87CDE-0671-4023-B3EC-46ED0321BCBC}"/>
              </a:ext>
            </a:extLst>
          </p:cNvPr>
          <p:cNvCxnSpPr>
            <a:cxnSpLocks/>
          </p:cNvCxnSpPr>
          <p:nvPr/>
        </p:nvCxnSpPr>
        <p:spPr>
          <a:xfrm rot="10200000" flipH="1">
            <a:off x="6423576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B861AE3-CECA-498A-83C6-95FE4F0883DA}"/>
              </a:ext>
            </a:extLst>
          </p:cNvPr>
          <p:cNvSpPr txBox="1"/>
          <p:nvPr/>
        </p:nvSpPr>
        <p:spPr>
          <a:xfrm>
            <a:off x="7271743" y="1931689"/>
            <a:ext cx="4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09925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знаковых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</a:p>
          <a:p>
            <a:pPr lvl="4"/>
            <a:endParaRPr lang="ru-RU" dirty="0"/>
          </a:p>
          <a:p>
            <a:r>
              <a:rPr lang="ru-RU" dirty="0"/>
              <a:t>Знаковый бит</a:t>
            </a:r>
          </a:p>
          <a:p>
            <a:pPr lvl="4"/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</a:t>
            </a:r>
            <a:r>
              <a:rPr lang="en-US" dirty="0"/>
              <a:t>undefined</a:t>
            </a:r>
            <a:endParaRPr lang="ru-RU" dirty="0"/>
          </a:p>
          <a:p>
            <a:pPr lvl="1"/>
            <a:r>
              <a:rPr lang="ru-RU" dirty="0"/>
              <a:t>Наличие</a:t>
            </a:r>
            <a:r>
              <a:rPr lang="en-US" dirty="0"/>
              <a:t>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Знаковый бит = 0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Знаковый бит = 1</a:t>
            </a:r>
          </a:p>
          <a:p>
            <a:pPr lvl="1"/>
            <a:r>
              <a:rPr lang="ru-RU" dirty="0"/>
              <a:t>значение </a:t>
            </a:r>
            <a:r>
              <a:rPr lang="en-US" dirty="0"/>
              <a:t>implementation defined </a:t>
            </a:r>
            <a:r>
              <a:rPr lang="ru-RU" dirty="0"/>
              <a:t>одно из</a:t>
            </a:r>
          </a:p>
          <a:p>
            <a:pPr lvl="2"/>
            <a:r>
              <a:rPr lang="ru-RU" dirty="0"/>
              <a:t>- </a:t>
            </a:r>
            <a:r>
              <a:rPr lang="en-US" dirty="0"/>
              <a:t>X</a:t>
            </a:r>
            <a:endParaRPr lang="ru-RU" dirty="0"/>
          </a:p>
          <a:p>
            <a:pPr lvl="3"/>
            <a:r>
              <a:rPr lang="ru-RU" dirty="0"/>
              <a:t> «знак и абсолютная величина»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- 2</a:t>
            </a:r>
            <a:r>
              <a:rPr lang="ru-RU" baseline="30000" dirty="0"/>
              <a:t>число значащих битов</a:t>
            </a:r>
            <a:r>
              <a:rPr lang="ru-RU" dirty="0"/>
              <a:t> </a:t>
            </a:r>
          </a:p>
          <a:p>
            <a:pPr lvl="3"/>
            <a:r>
              <a:rPr lang="ru-RU" dirty="0"/>
              <a:t>«дополнительный код», «дополнение до нуля»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- 2</a:t>
            </a:r>
            <a:r>
              <a:rPr lang="ru-RU" baseline="30000" dirty="0"/>
              <a:t>число значащих битов</a:t>
            </a:r>
            <a:r>
              <a:rPr lang="ru-RU" dirty="0"/>
              <a:t> + 1 </a:t>
            </a:r>
          </a:p>
          <a:p>
            <a:pPr lvl="3"/>
            <a:r>
              <a:rPr lang="ru-RU" dirty="0"/>
              <a:t>«дополнительный код плюс один», «дополнение до единицы»</a:t>
            </a:r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21</a:t>
            </a:fld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89FA83-24C1-4A7A-965E-8773562CC5E5}"/>
              </a:ext>
            </a:extLst>
          </p:cNvPr>
          <p:cNvSpPr/>
          <p:nvPr/>
        </p:nvSpPr>
        <p:spPr>
          <a:xfrm>
            <a:off x="7161260" y="4296096"/>
            <a:ext cx="3126480" cy="79208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47970-6EDC-4146-8D26-0F9A4E3983F7}"/>
              </a:ext>
            </a:extLst>
          </p:cNvPr>
          <p:cNvSpPr txBox="1"/>
          <p:nvPr/>
        </p:nvSpPr>
        <p:spPr>
          <a:xfrm>
            <a:off x="10318050" y="4222311"/>
            <a:ext cx="1517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B050"/>
                </a:solidFill>
              </a:rPr>
              <a:t>99.99%</a:t>
            </a:r>
          </a:p>
          <a:p>
            <a:r>
              <a:rPr lang="ru-RU" b="1" dirty="0">
                <a:solidFill>
                  <a:srgbClr val="00B050"/>
                </a:solidFill>
              </a:rPr>
              <a:t>всех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ru-RU" b="1" dirty="0">
                <a:solidFill>
                  <a:srgbClr val="00B050"/>
                </a:solidFill>
              </a:rPr>
              <a:t>реализаций</a:t>
            </a:r>
          </a:p>
        </p:txBody>
      </p:sp>
    </p:spTree>
    <p:extLst>
      <p:ext uri="{BB962C8B-B14F-4D97-AF65-F5344CB8AC3E}">
        <p14:creationId xmlns:p14="http://schemas.microsoft.com/office/powerpoint/2010/main" val="3554884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Представления-ловушки </a:t>
            </a:r>
            <a:r>
              <a:rPr lang="en-US" sz="4000" dirty="0"/>
              <a:t>vs </a:t>
            </a:r>
            <a:r>
              <a:rPr lang="ru-RU" sz="4000" dirty="0"/>
              <a:t>отрицательный 0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sz="3600" dirty="0"/>
              <a:t>Знаковый бит = 1 и все значащие биты = 0</a:t>
            </a:r>
          </a:p>
          <a:p>
            <a:pPr lvl="1"/>
            <a:r>
              <a:rPr lang="ru-RU" sz="3200" dirty="0"/>
              <a:t>Для «дополнительный код» и «знак и абсолютная величина»</a:t>
            </a:r>
          </a:p>
          <a:p>
            <a:endParaRPr lang="ru-RU" sz="3600" dirty="0"/>
          </a:p>
          <a:p>
            <a:r>
              <a:rPr lang="ru-RU" sz="3600" dirty="0"/>
              <a:t>Знаковый бит = 1 и все значащие биты = 1</a:t>
            </a:r>
          </a:p>
          <a:p>
            <a:pPr lvl="1"/>
            <a:r>
              <a:rPr lang="ru-RU" sz="3200" dirty="0"/>
              <a:t>Для «дополнительный код плюс один»</a:t>
            </a:r>
          </a:p>
          <a:p>
            <a:endParaRPr lang="ru-RU" sz="3600" dirty="0"/>
          </a:p>
          <a:p>
            <a:r>
              <a:rPr lang="ru-RU" sz="3600" dirty="0"/>
              <a:t>Выбор «ловушка </a:t>
            </a:r>
            <a:r>
              <a:rPr lang="en-US" sz="3600" dirty="0"/>
              <a:t>vs </a:t>
            </a:r>
            <a:r>
              <a:rPr lang="ru-RU" sz="3600" dirty="0"/>
              <a:t>отрицательный 0» </a:t>
            </a:r>
            <a:r>
              <a:rPr lang="en-US" sz="3600" dirty="0"/>
              <a:t>implementation defined</a:t>
            </a:r>
            <a:endParaRPr lang="ru-RU" sz="3600" dirty="0"/>
          </a:p>
          <a:p>
            <a:endParaRPr lang="ru-RU" sz="3600" dirty="0"/>
          </a:p>
          <a:p>
            <a:pPr marL="0" indent="0">
              <a:buNone/>
            </a:pPr>
            <a:endParaRPr lang="ru-RU" sz="3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8819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типов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23</a:t>
            </a:fld>
            <a:endParaRPr lang="ru-RU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A6EDFE1-CE9A-4FAA-8BAD-EC3E0ED258A3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1E22B64-E169-455C-9023-8B69A0FD163B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47FBF4-6248-4643-8D93-FF0FBD660E63}"/>
              </a:ext>
            </a:extLst>
          </p:cNvPr>
          <p:cNvCxnSpPr>
            <a:stCxn id="7" idx="0"/>
            <a:endCxn id="8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05DEA3-D26D-4EE2-82E6-684C40C06D5D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D27FE5-F0E7-4F3C-ADA5-0E9BF4049BF1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3220E6-87B6-4539-93E7-26FAD89BF179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C1C6B3-5446-46B4-9ABD-96A54C7131EA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721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D886D5-5D38-461E-9964-E1D98DA3F262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B8DC01E-95E9-4588-B7BC-D19A14DBCB9A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BC91B-9250-448F-BE8E-4F044C9A62B2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EFE037-7DF3-4B09-B22E-3E3CB6077F6F}"/>
              </a:ext>
            </a:extLst>
          </p:cNvPr>
          <p:cNvSpPr txBox="1"/>
          <p:nvPr/>
        </p:nvSpPr>
        <p:spPr>
          <a:xfrm>
            <a:off x="5519947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-</a:t>
            </a:r>
            <a:r>
              <a:rPr lang="ru-RU" b="1" dirty="0">
                <a:highlight>
                  <a:srgbClr val="FFFF00"/>
                </a:highlight>
              </a:rPr>
              <a:t>2</a:t>
            </a:r>
            <a:r>
              <a:rPr lang="en-US" b="1" baseline="30000" dirty="0">
                <a:highlight>
                  <a:srgbClr val="FFFF00"/>
                </a:highlight>
              </a:rPr>
              <a:t>n-1</a:t>
            </a:r>
            <a:endParaRPr lang="ru-RU" b="1" baseline="30000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AC649E-7F3E-4722-A459-40527DF4E9DA}"/>
              </a:ext>
            </a:extLst>
          </p:cNvPr>
          <p:cNvSpPr txBox="1"/>
          <p:nvPr/>
        </p:nvSpPr>
        <p:spPr>
          <a:xfrm>
            <a:off x="5649931" y="1841735"/>
            <a:ext cx="377534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1BDA28-4B48-4B04-91B3-AB31ABF120CE}"/>
              </a:ext>
            </a:extLst>
          </p:cNvPr>
          <p:cNvSpPr txBox="1"/>
          <p:nvPr/>
        </p:nvSpPr>
        <p:spPr>
          <a:xfrm>
            <a:off x="5949293" y="5470897"/>
            <a:ext cx="97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r>
              <a:rPr lang="en-US" dirty="0"/>
              <a:t>-1</a:t>
            </a:r>
            <a:endParaRPr lang="ru-RU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79676C-8E3E-4915-ABCB-D3B78847FD7A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73E287-2449-446F-A323-CE94F0314040}"/>
              </a:ext>
            </a:extLst>
          </p:cNvPr>
          <p:cNvSpPr txBox="1"/>
          <p:nvPr/>
        </p:nvSpPr>
        <p:spPr>
          <a:xfrm>
            <a:off x="5303912" y="1928844"/>
            <a:ext cx="415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-2</a:t>
            </a:r>
            <a:endParaRPr lang="ru-RU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E750605-F792-4DCA-A470-3A94C3CC652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C868FB-8E44-42A0-A589-DB7BBC3E168C}"/>
              </a:ext>
            </a:extLst>
          </p:cNvPr>
          <p:cNvCxnSpPr>
            <a:cxnSpLocks/>
          </p:cNvCxnSpPr>
          <p:nvPr/>
        </p:nvCxnSpPr>
        <p:spPr>
          <a:xfrm rot="11700000" flipH="1">
            <a:off x="5568321" y="5402229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A8AD490-FBF7-42EF-86AC-FE345A946615}"/>
              </a:ext>
            </a:extLst>
          </p:cNvPr>
          <p:cNvCxnSpPr>
            <a:cxnSpLocks/>
          </p:cNvCxnSpPr>
          <p:nvPr/>
        </p:nvCxnSpPr>
        <p:spPr>
          <a:xfrm rot="9900000" flipH="1">
            <a:off x="6495584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E0B36A1-29FF-4C6A-B3AB-B122657B4DEA}"/>
              </a:ext>
            </a:extLst>
          </p:cNvPr>
          <p:cNvSpPr txBox="1"/>
          <p:nvPr/>
        </p:nvSpPr>
        <p:spPr>
          <a:xfrm>
            <a:off x="7271743" y="193168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06FD90-4243-4633-8443-B9868602E918}"/>
              </a:ext>
            </a:extLst>
          </p:cNvPr>
          <p:cNvSpPr txBox="1"/>
          <p:nvPr/>
        </p:nvSpPr>
        <p:spPr>
          <a:xfrm>
            <a:off x="4212721" y="192823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A188EF-42DD-4DB4-8C72-AB232C00BAC9}"/>
              </a:ext>
            </a:extLst>
          </p:cNvPr>
          <p:cNvSpPr txBox="1"/>
          <p:nvPr/>
        </p:nvSpPr>
        <p:spPr>
          <a:xfrm>
            <a:off x="838200" y="5856067"/>
            <a:ext cx="85675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Для дополнительного кода</a:t>
            </a:r>
            <a:r>
              <a:rPr lang="en-US" sz="2000" dirty="0"/>
              <a:t> implementation defined</a:t>
            </a:r>
            <a:endParaRPr lang="ru-RU" sz="2000" dirty="0"/>
          </a:p>
          <a:p>
            <a:r>
              <a:rPr lang="ru-RU" sz="2000" dirty="0"/>
              <a:t>- либо </a:t>
            </a:r>
            <a:r>
              <a:rPr lang="en-US" sz="2000" b="1" dirty="0">
                <a:highlight>
                  <a:srgbClr val="FFFF00"/>
                </a:highlight>
              </a:rPr>
              <a:t>-(-</a:t>
            </a:r>
            <a:r>
              <a:rPr lang="ru-RU" sz="2000" b="1" dirty="0">
                <a:highlight>
                  <a:srgbClr val="FFFF00"/>
                </a:highlight>
              </a:rPr>
              <a:t>2</a:t>
            </a:r>
            <a:r>
              <a:rPr lang="en-US" sz="2000" b="1" baseline="30000" dirty="0">
                <a:highlight>
                  <a:srgbClr val="FFFF00"/>
                </a:highlight>
              </a:rPr>
              <a:t>n-1</a:t>
            </a:r>
            <a:r>
              <a:rPr lang="en-US" sz="2000" b="1" dirty="0">
                <a:highlight>
                  <a:srgbClr val="FFFF00"/>
                </a:highlight>
              </a:rPr>
              <a:t>) = -</a:t>
            </a:r>
            <a:r>
              <a:rPr lang="ru-RU" sz="2000" b="1" dirty="0">
                <a:highlight>
                  <a:srgbClr val="FFFF00"/>
                </a:highlight>
              </a:rPr>
              <a:t>2</a:t>
            </a:r>
            <a:r>
              <a:rPr lang="en-US" sz="2000" b="1" baseline="30000" dirty="0">
                <a:highlight>
                  <a:srgbClr val="FFFF00"/>
                </a:highlight>
              </a:rPr>
              <a:t>n-1</a:t>
            </a:r>
            <a:r>
              <a:rPr lang="ru-RU" sz="2000" dirty="0"/>
              <a:t>, т.е. это отрицательный 0</a:t>
            </a:r>
          </a:p>
          <a:p>
            <a:r>
              <a:rPr lang="ru-RU" sz="2000" dirty="0"/>
              <a:t>- либо соотв. биты не являются ДП числа со знаком</a:t>
            </a:r>
          </a:p>
        </p:txBody>
      </p:sp>
    </p:spTree>
    <p:extLst>
      <p:ext uri="{BB962C8B-B14F-4D97-AF65-F5344CB8AC3E}">
        <p14:creationId xmlns:p14="http://schemas.microsoft.com/office/powerpoint/2010/main" val="11670049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 «плавающей точкой»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Множество значений </a:t>
            </a:r>
          </a:p>
          <a:p>
            <a:pPr lvl="1"/>
            <a:r>
              <a:rPr lang="ru-RU" dirty="0"/>
              <a:t>Подмножество вещественных или комплексных чисел (</a:t>
            </a:r>
            <a:r>
              <a:rPr lang="en-US" dirty="0"/>
              <a:t>C99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 double</a:t>
            </a:r>
            <a:r>
              <a:rPr lang="ru-RU" dirty="0">
                <a:latin typeface="Consolas" panose="020B0609020204030204" pitchFamily="49" charset="0"/>
                <a:sym typeface="Symbol" panose="05050102010706020507" pitchFamily="18" charset="2"/>
              </a:rPr>
              <a:t> 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</a:t>
            </a:r>
            <a:r>
              <a:rPr lang="en-US" dirty="0">
                <a:latin typeface="Consolas" panose="020B0609020204030204" pitchFamily="49" charset="0"/>
              </a:rPr>
              <a:t>float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</a:t>
            </a:r>
            <a:r>
              <a:rPr lang="en-US" dirty="0">
                <a:latin typeface="Consolas" panose="020B0609020204030204" pitchFamily="49" charset="0"/>
              </a:rPr>
              <a:t>double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long double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ДП см. далее в зависимости от типа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проверка равенства, проверка порядка для вещественных</a:t>
            </a:r>
          </a:p>
          <a:p>
            <a:pPr lvl="2"/>
            <a:r>
              <a:rPr lang="ru-RU" dirty="0"/>
              <a:t>Результат сравнения всегда определён</a:t>
            </a:r>
          </a:p>
          <a:p>
            <a:pPr lvl="2"/>
            <a:r>
              <a:rPr lang="ru-RU" dirty="0"/>
              <a:t>Результат арифметических операций всегда определен, но может отличаться от результата соотв. арифметической операции в математике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10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r>
              <a:rPr lang="ru-RU" dirty="0"/>
              <a:t> 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63552" y="1916832"/>
          <a:ext cx="8450176" cy="1356126"/>
        </p:xfrm>
        <a:graphic>
          <a:graphicData uri="http://schemas.openxmlformats.org/drawingml/2006/table">
            <a:tbl>
              <a:tblPr/>
              <a:tblGrid>
                <a:gridCol w="132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3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11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(11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52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(52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63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56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55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47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39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32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31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24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23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16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15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 dirty="0">
                          <a:effectLst/>
                        </a:rPr>
                        <a:t>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096363"/>
              </p:ext>
            </p:extLst>
          </p:nvPr>
        </p:nvGraphicFramePr>
        <p:xfrm>
          <a:off x="2063552" y="3501008"/>
          <a:ext cx="8424936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3491">
                  <a:extLst>
                    <a:ext uri="{9D8B030D-6E8A-4147-A177-3AD203B41FA5}">
                      <a16:colId xmlns:a16="http://schemas.microsoft.com/office/drawing/2014/main" val="3471432865"/>
                    </a:ext>
                  </a:extLst>
                </a:gridCol>
                <a:gridCol w="3660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Мантисса != 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Денормализов</a:t>
                      </a:r>
                      <a:r>
                        <a:rPr lang="ru-RU" dirty="0"/>
                        <a:t>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порядок-1022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0x001 … 0x7fe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порядок-1023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0x7ff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063552" y="5733256"/>
          <a:ext cx="8424936" cy="949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= 1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8580" indent="0">
                        <a:buNone/>
                      </a:pPr>
                      <a:r>
                        <a:rPr lang="ru-RU" sz="1600" dirty="0"/>
                        <a:t>0000 0000 0000 0000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7ff0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∞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0001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≈ 1.0000000000000002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 8000 0000 0000 0000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–0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fff0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−∞</a:t>
                      </a:r>
                    </a:p>
                    <a:p>
                      <a:r>
                        <a:rPr lang="nl-NL" sz="1600" dirty="0">
                          <a:effectLst/>
                        </a:rPr>
                        <a:t>3fd5 5555 5555 5555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nl-NL" sz="1600" dirty="0">
                          <a:effectLst/>
                        </a:rPr>
                        <a:t> ≈ 1/3 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639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63552" y="1916832"/>
          <a:ext cx="8424928" cy="1356126"/>
        </p:xfrm>
        <a:graphic>
          <a:graphicData uri="http://schemas.openxmlformats.org/drawingml/2006/table">
            <a:tbl>
              <a:tblPr/>
              <a:tblGrid>
                <a:gridCol w="2632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8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3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23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85045"/>
              </p:ext>
            </p:extLst>
          </p:nvPr>
        </p:nvGraphicFramePr>
        <p:xfrm>
          <a:off x="2063553" y="3501008"/>
          <a:ext cx="8424928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21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4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1879">
                  <a:extLst>
                    <a:ext uri="{9D8B030D-6E8A-4147-A177-3AD203B41FA5}">
                      <a16:colId xmlns:a16="http://schemas.microsoft.com/office/drawing/2014/main" val="48296286"/>
                    </a:ext>
                  </a:extLst>
                </a:gridCol>
                <a:gridCol w="36261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Мантисса != 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Денормализов</a:t>
                      </a:r>
                      <a:r>
                        <a:rPr lang="ru-RU" dirty="0"/>
                        <a:t>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6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0x01 … 0xfe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7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8428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27</a:t>
            </a:fld>
            <a:endParaRPr lang="ru-R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A73701-5C61-430E-BF08-878545AF8B18}"/>
              </a:ext>
            </a:extLst>
          </p:cNvPr>
          <p:cNvCxnSpPr/>
          <p:nvPr/>
        </p:nvCxnSpPr>
        <p:spPr>
          <a:xfrm>
            <a:off x="911424" y="4149080"/>
            <a:ext cx="10369152" cy="0"/>
          </a:xfrm>
          <a:prstGeom prst="straightConnector1">
            <a:avLst/>
          </a:prstGeom>
          <a:ln w="22225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28E53C3-A73E-47C3-8A29-E5A02B5AD4F3}"/>
              </a:ext>
            </a:extLst>
          </p:cNvPr>
          <p:cNvCxnSpPr>
            <a:cxnSpLocks/>
          </p:cNvCxnSpPr>
          <p:nvPr/>
        </p:nvCxnSpPr>
        <p:spPr>
          <a:xfrm>
            <a:off x="530391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A336C5-C07A-40A7-8D58-F7F592F3E3E6}"/>
              </a:ext>
            </a:extLst>
          </p:cNvPr>
          <p:cNvCxnSpPr>
            <a:cxnSpLocks/>
          </p:cNvCxnSpPr>
          <p:nvPr/>
        </p:nvCxnSpPr>
        <p:spPr>
          <a:xfrm>
            <a:off x="4295800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389D7D-1F6D-4FAC-9390-5C8AE125DE31}"/>
              </a:ext>
            </a:extLst>
          </p:cNvPr>
          <p:cNvCxnSpPr>
            <a:cxnSpLocks/>
          </p:cNvCxnSpPr>
          <p:nvPr/>
        </p:nvCxnSpPr>
        <p:spPr>
          <a:xfrm>
            <a:off x="566395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683C34-7853-4C10-B495-4A3CA8D8F520}"/>
              </a:ext>
            </a:extLst>
          </p:cNvPr>
          <p:cNvCxnSpPr>
            <a:cxnSpLocks/>
          </p:cNvCxnSpPr>
          <p:nvPr/>
        </p:nvCxnSpPr>
        <p:spPr>
          <a:xfrm>
            <a:off x="599171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7CD75F-6B82-4F6E-8379-E8F845842231}"/>
              </a:ext>
            </a:extLst>
          </p:cNvPr>
          <p:cNvCxnSpPr>
            <a:cxnSpLocks/>
          </p:cNvCxnSpPr>
          <p:nvPr/>
        </p:nvCxnSpPr>
        <p:spPr>
          <a:xfrm>
            <a:off x="6600056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785372-9ADD-4FA5-A53A-04DF918AE349}"/>
              </a:ext>
            </a:extLst>
          </p:cNvPr>
          <p:cNvCxnSpPr>
            <a:cxnSpLocks/>
          </p:cNvCxnSpPr>
          <p:nvPr/>
        </p:nvCxnSpPr>
        <p:spPr>
          <a:xfrm>
            <a:off x="760816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83C9D3-1741-490F-901A-1847E9BEBCF7}"/>
              </a:ext>
            </a:extLst>
          </p:cNvPr>
          <p:cNvCxnSpPr>
            <a:cxnSpLocks/>
          </p:cNvCxnSpPr>
          <p:nvPr/>
        </p:nvCxnSpPr>
        <p:spPr>
          <a:xfrm>
            <a:off x="6312024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DC9564B-3CEE-4E15-A596-907C2BA1BE58}"/>
              </a:ext>
            </a:extLst>
          </p:cNvPr>
          <p:cNvSpPr txBox="1"/>
          <p:nvPr/>
        </p:nvSpPr>
        <p:spPr>
          <a:xfrm>
            <a:off x="584087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7F6EAC-6C10-46F2-8E47-6C6FA3AC8C2E}"/>
              </a:ext>
            </a:extLst>
          </p:cNvPr>
          <p:cNvSpPr txBox="1"/>
          <p:nvPr/>
        </p:nvSpPr>
        <p:spPr>
          <a:xfrm>
            <a:off x="6137329" y="4427820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½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04FEF-5C8B-4698-B102-591F7B121ADC}"/>
              </a:ext>
            </a:extLst>
          </p:cNvPr>
          <p:cNvSpPr txBox="1"/>
          <p:nvPr/>
        </p:nvSpPr>
        <p:spPr>
          <a:xfrm>
            <a:off x="5432158" y="4427820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-½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55BF56-9D72-477E-86AB-A9442051AF4F}"/>
              </a:ext>
            </a:extLst>
          </p:cNvPr>
          <p:cNvSpPr txBox="1"/>
          <p:nvPr/>
        </p:nvSpPr>
        <p:spPr>
          <a:xfrm>
            <a:off x="6449213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BDE29F-BEE8-4675-A2A4-CE640C5C61FC}"/>
              </a:ext>
            </a:extLst>
          </p:cNvPr>
          <p:cNvSpPr txBox="1"/>
          <p:nvPr/>
        </p:nvSpPr>
        <p:spPr>
          <a:xfrm>
            <a:off x="5117803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B276D9-6BAC-4CD3-8D63-CB8FF6F6A82A}"/>
              </a:ext>
            </a:extLst>
          </p:cNvPr>
          <p:cNvSpPr txBox="1"/>
          <p:nvPr/>
        </p:nvSpPr>
        <p:spPr>
          <a:xfrm>
            <a:off x="745732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E8153A-7708-49FD-ABD5-F0A0B556CCC7}"/>
              </a:ext>
            </a:extLst>
          </p:cNvPr>
          <p:cNvSpPr txBox="1"/>
          <p:nvPr/>
        </p:nvSpPr>
        <p:spPr>
          <a:xfrm>
            <a:off x="4109691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-2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97F5FE9-2C04-41BD-94F7-9742C37EB2FA}"/>
              </a:ext>
            </a:extLst>
          </p:cNvPr>
          <p:cNvCxnSpPr>
            <a:cxnSpLocks/>
          </p:cNvCxnSpPr>
          <p:nvPr/>
        </p:nvCxnSpPr>
        <p:spPr>
          <a:xfrm>
            <a:off x="10848528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D7E8BBF-D0C8-4F8E-A0FF-742F7DC55B40}"/>
              </a:ext>
            </a:extLst>
          </p:cNvPr>
          <p:cNvCxnSpPr>
            <a:cxnSpLocks/>
          </p:cNvCxnSpPr>
          <p:nvPr/>
        </p:nvCxnSpPr>
        <p:spPr>
          <a:xfrm>
            <a:off x="1271464" y="4023422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51E297-563A-4D1E-B961-92AD7F0B9E3F}"/>
              </a:ext>
            </a:extLst>
          </p:cNvPr>
          <p:cNvCxnSpPr>
            <a:cxnSpLocks/>
          </p:cNvCxnSpPr>
          <p:nvPr/>
        </p:nvCxnSpPr>
        <p:spPr>
          <a:xfrm>
            <a:off x="2351584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6E29440-8791-4555-86F9-CAB2DA2A6943}"/>
              </a:ext>
            </a:extLst>
          </p:cNvPr>
          <p:cNvCxnSpPr>
            <a:cxnSpLocks/>
          </p:cNvCxnSpPr>
          <p:nvPr/>
        </p:nvCxnSpPr>
        <p:spPr>
          <a:xfrm>
            <a:off x="9840416" y="4021843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D1C84A5-1179-40D0-9551-14C213C22BCC}"/>
              </a:ext>
            </a:extLst>
          </p:cNvPr>
          <p:cNvSpPr txBox="1"/>
          <p:nvPr/>
        </p:nvSpPr>
        <p:spPr>
          <a:xfrm>
            <a:off x="10634238" y="4395379"/>
            <a:ext cx="805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8C08EC-A253-4651-BD8F-84AAAE6AE8C1}"/>
              </a:ext>
            </a:extLst>
          </p:cNvPr>
          <p:cNvSpPr txBox="1"/>
          <p:nvPr/>
        </p:nvSpPr>
        <p:spPr>
          <a:xfrm>
            <a:off x="1057174" y="4328573"/>
            <a:ext cx="875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-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0D6FC6-8651-4BC0-A61A-8426D7B9D500}"/>
              </a:ext>
            </a:extLst>
          </p:cNvPr>
          <p:cNvSpPr txBox="1"/>
          <p:nvPr/>
        </p:nvSpPr>
        <p:spPr>
          <a:xfrm>
            <a:off x="9840416" y="4581128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50745E-EF65-4943-AA28-4072B898B3F8}"/>
              </a:ext>
            </a:extLst>
          </p:cNvPr>
          <p:cNvSpPr txBox="1"/>
          <p:nvPr/>
        </p:nvSpPr>
        <p:spPr>
          <a:xfrm>
            <a:off x="2019602" y="439537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-</a:t>
            </a:r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07297531-F8F9-4E92-BC9C-FF82803FC78C}"/>
              </a:ext>
            </a:extLst>
          </p:cNvPr>
          <p:cNvSpPr/>
          <p:nvPr/>
        </p:nvSpPr>
        <p:spPr>
          <a:xfrm rot="16200000">
            <a:off x="10189803" y="3299397"/>
            <a:ext cx="288031" cy="991052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CFBA60FE-D24C-4E0E-954A-545E81CC7E18}"/>
              </a:ext>
            </a:extLst>
          </p:cNvPr>
          <p:cNvSpPr/>
          <p:nvPr/>
        </p:nvSpPr>
        <p:spPr>
          <a:xfrm rot="16200000">
            <a:off x="6308364" y="3646878"/>
            <a:ext cx="287298" cy="296091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0633F7D8-A6C7-436B-BDF8-305B09F25C4D}"/>
              </a:ext>
            </a:extLst>
          </p:cNvPr>
          <p:cNvSpPr/>
          <p:nvPr/>
        </p:nvSpPr>
        <p:spPr>
          <a:xfrm rot="16200000">
            <a:off x="6971019" y="3301421"/>
            <a:ext cx="287298" cy="987006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F9654B-421A-45D0-92FE-1CC34866DFDD}"/>
              </a:ext>
            </a:extLst>
          </p:cNvPr>
          <p:cNvSpPr txBox="1"/>
          <p:nvPr/>
        </p:nvSpPr>
        <p:spPr>
          <a:xfrm>
            <a:off x="8184232" y="2019057"/>
            <a:ext cx="1458532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  <a:r>
              <a:rPr lang="en-US" sz="2400" baseline="30000" dirty="0"/>
              <a:t>23</a:t>
            </a:r>
          </a:p>
          <a:p>
            <a:r>
              <a:rPr lang="ru-RU" dirty="0"/>
              <a:t>значений типа </a:t>
            </a:r>
            <a:r>
              <a:rPr lang="en-US" sz="2000" dirty="0">
                <a:latin typeface="Consolas" panose="020B0609020204030204" pitchFamily="49" charset="0"/>
              </a:rPr>
              <a:t>float</a:t>
            </a:r>
            <a:endParaRPr lang="ru-RU" sz="2000" dirty="0">
              <a:latin typeface="Consolas" panose="020B0609020204030204" pitchFamily="49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F8B5A73-4405-46A6-925A-810066D0F1D9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>
            <a:off x="8913498" y="3065497"/>
            <a:ext cx="1448616" cy="58541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7978C64-C611-4412-941D-6B502305A056}"/>
              </a:ext>
            </a:extLst>
          </p:cNvPr>
          <p:cNvCxnSpPr>
            <a:cxnSpLocks/>
            <a:stCxn id="35" idx="2"/>
            <a:endCxn id="34" idx="1"/>
          </p:cNvCxnSpPr>
          <p:nvPr/>
        </p:nvCxnSpPr>
        <p:spPr>
          <a:xfrm flipH="1">
            <a:off x="7142847" y="3065497"/>
            <a:ext cx="1770651" cy="58577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2B5FA03-FE4F-42FF-88BA-1629DF2B572F}"/>
              </a:ext>
            </a:extLst>
          </p:cNvPr>
          <p:cNvCxnSpPr>
            <a:cxnSpLocks/>
            <a:stCxn id="35" idx="2"/>
            <a:endCxn id="33" idx="1"/>
          </p:cNvCxnSpPr>
          <p:nvPr/>
        </p:nvCxnSpPr>
        <p:spPr>
          <a:xfrm flipH="1">
            <a:off x="6460467" y="3065497"/>
            <a:ext cx="2453031" cy="58577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6658682-601B-4FFD-869F-77C0CA4DD9C7}"/>
              </a:ext>
            </a:extLst>
          </p:cNvPr>
          <p:cNvSpPr txBox="1"/>
          <p:nvPr/>
        </p:nvSpPr>
        <p:spPr>
          <a:xfrm>
            <a:off x="1092221" y="1690688"/>
            <a:ext cx="592609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Относительная погрешность = </a:t>
            </a:r>
            <a:r>
              <a:rPr lang="en-US" sz="2000" dirty="0"/>
              <a:t>const</a:t>
            </a:r>
            <a:br>
              <a:rPr lang="en-US" sz="2000" dirty="0"/>
            </a:br>
            <a:endParaRPr lang="ru-RU" sz="2000" dirty="0"/>
          </a:p>
          <a:p>
            <a:r>
              <a:rPr lang="ru-RU" sz="2000" dirty="0"/>
              <a:t>Абсолютная погрешность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Чем ближе к нулю, тем меньше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Чем дальше от нуля, тем больше</a:t>
            </a:r>
          </a:p>
          <a:p>
            <a:pPr marL="342900" indent="-342900">
              <a:buFontTx/>
              <a:buChar char="-"/>
            </a:pPr>
            <a:r>
              <a:rPr lang="ru-RU" sz="2000" dirty="0"/>
              <a:t>После </a:t>
            </a:r>
            <a:r>
              <a:rPr lang="en-US" sz="2000" dirty="0"/>
              <a:t>2</a:t>
            </a:r>
            <a:r>
              <a:rPr lang="en-US" sz="2000" baseline="30000" dirty="0"/>
              <a:t>24</a:t>
            </a:r>
            <a:r>
              <a:rPr lang="ru-RU" sz="2000" dirty="0"/>
              <a:t> есть </a:t>
            </a:r>
            <a:r>
              <a:rPr lang="en-US" sz="2000" dirty="0">
                <a:latin typeface="Consolas" panose="020B0609020204030204" pitchFamily="49" charset="0"/>
              </a:rPr>
              <a:t>int</a:t>
            </a:r>
            <a:r>
              <a:rPr lang="en-US" sz="2000" dirty="0"/>
              <a:t>, </a:t>
            </a:r>
            <a:r>
              <a:rPr lang="ru-RU" sz="2000" dirty="0"/>
              <a:t>которые не являются </a:t>
            </a:r>
            <a:r>
              <a:rPr lang="en-US" sz="2000" dirty="0">
                <a:latin typeface="Consolas" panose="020B0609020204030204" pitchFamily="49" charset="0"/>
              </a:rPr>
              <a:t>float</a:t>
            </a:r>
            <a:endParaRPr lang="ru-R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7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D8106-8DC1-2B54-9465-55C564ACE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complex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ru-RU" dirty="0"/>
              <a:t> и </a:t>
            </a:r>
            <a:r>
              <a:rPr lang="en-US" dirty="0">
                <a:latin typeface="Consolas" panose="020B0609020204030204" pitchFamily="49" charset="0"/>
              </a:rPr>
              <a:t>complex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36C78-11B9-A253-9604-C26F5D84C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Вещественная и мнимая часть имеют один и тот же тип, хранятся в формате </a:t>
            </a:r>
            <a:r>
              <a:rPr lang="en-US" dirty="0"/>
              <a:t>IEEE-754</a:t>
            </a:r>
          </a:p>
          <a:p>
            <a:endParaRPr lang="ru-RU" dirty="0"/>
          </a:p>
          <a:p>
            <a:r>
              <a:rPr lang="ru-RU" dirty="0"/>
              <a:t>ДП вещественной части непосредственно предшествует ДП мнимой части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(complex float)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(float)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(complex float)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(float)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(complex double)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(double)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(complex double)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(double)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4995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Множество значений выражается через множества значений других типов</a:t>
            </a:r>
          </a:p>
          <a:p>
            <a:endParaRPr lang="ru-RU" sz="4000" dirty="0"/>
          </a:p>
          <a:p>
            <a:r>
              <a:rPr lang="ru-RU" sz="4000" dirty="0"/>
              <a:t>Список операций выражается через списки операций других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6380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Перечислимый тип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Множество значений</a:t>
            </a:r>
          </a:p>
          <a:p>
            <a:pPr lvl="1"/>
            <a:r>
              <a:rPr lang="ru-RU" dirty="0"/>
              <a:t>Подмножество значений одного из целых типов </a:t>
            </a:r>
            <a:r>
              <a:rPr lang="en-US" dirty="0"/>
              <a:t>T</a:t>
            </a:r>
            <a:endParaRPr lang="ru-RU" dirty="0"/>
          </a:p>
          <a:p>
            <a:pPr lvl="2"/>
            <a:r>
              <a:rPr lang="ru-RU" dirty="0"/>
              <a:t>Выбор </a:t>
            </a:r>
            <a:r>
              <a:rPr lang="en-US" dirty="0"/>
              <a:t>T</a:t>
            </a:r>
            <a:r>
              <a:rPr lang="ru-RU" dirty="0"/>
              <a:t> </a:t>
            </a:r>
            <a:r>
              <a:rPr lang="en-US" dirty="0"/>
              <a:t>implementation defined</a:t>
            </a:r>
            <a:endParaRPr lang="ru-RU" dirty="0"/>
          </a:p>
          <a:p>
            <a:pPr lvl="1"/>
            <a:r>
              <a:rPr lang="ru-RU" dirty="0"/>
              <a:t>Задаётся списком именованных констант в описании </a:t>
            </a:r>
            <a:r>
              <a:rPr lang="en-US" dirty="0" err="1"/>
              <a:t>enum</a:t>
            </a:r>
            <a:endParaRPr lang="ru-RU" dirty="0"/>
          </a:p>
          <a:p>
            <a:pPr lvl="2"/>
            <a:r>
              <a:rPr lang="ru-RU" dirty="0"/>
              <a:t>Значения </a:t>
            </a:r>
            <a:r>
              <a:rPr lang="en-US" dirty="0"/>
              <a:t>T, </a:t>
            </a:r>
            <a:r>
              <a:rPr lang="ru-RU" dirty="0"/>
              <a:t>не входящие в этот список, являются «ловушками» с </a:t>
            </a:r>
            <a:r>
              <a:rPr lang="ru-RU" dirty="0" err="1"/>
              <a:t>т.з</a:t>
            </a:r>
            <a:r>
              <a:rPr lang="ru-RU" dirty="0"/>
              <a:t>. ДП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en-US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Операции как у целых типов</a:t>
            </a:r>
          </a:p>
          <a:p>
            <a:endParaRPr lang="ru-RU" dirty="0"/>
          </a:p>
          <a:p>
            <a:r>
              <a:rPr lang="ru-RU" dirty="0"/>
              <a:t>Идентификатор после ключевого слова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</a:t>
            </a:r>
            <a:r>
              <a:rPr lang="ru-RU" dirty="0"/>
              <a:t>называется тэгом перечислимого типа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30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75161-8545-929B-420A-52AB2C6D00CE}"/>
              </a:ext>
            </a:extLst>
          </p:cNvPr>
          <p:cNvSpPr txBox="1"/>
          <p:nvPr/>
        </p:nvSpPr>
        <p:spPr>
          <a:xfrm>
            <a:off x="8610600" y="365125"/>
            <a:ext cx="3081646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Red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Green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Blue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 c = Red;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3903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на тип </a:t>
            </a:r>
            <a:r>
              <a:rPr lang="en-US" dirty="0"/>
              <a:t>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Множество значений </a:t>
            </a:r>
            <a:endParaRPr lang="en-US" dirty="0"/>
          </a:p>
          <a:p>
            <a:pPr lvl="1"/>
            <a:r>
              <a:rPr lang="ru-RU" dirty="0"/>
              <a:t>Адреса ячеек памяти и нулевой адрес </a:t>
            </a:r>
            <a:r>
              <a:rPr lang="en-US" dirty="0">
                <a:latin typeface="Consolas" panose="020B0609020204030204" pitchFamily="49" charset="0"/>
              </a:rPr>
              <a:t>NULL</a:t>
            </a:r>
          </a:p>
          <a:p>
            <a:pPr lvl="1"/>
            <a:r>
              <a:rPr lang="ru-RU" dirty="0"/>
              <a:t>ДП как у беззнаковых с разрядность == разрядность адреса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Если </a:t>
            </a:r>
            <a:r>
              <a:rPr lang="en-US" dirty="0"/>
              <a:t>T </a:t>
            </a:r>
            <a:r>
              <a:rPr lang="ru-RU" dirty="0"/>
              <a:t>полный </a:t>
            </a:r>
          </a:p>
          <a:p>
            <a:pPr lvl="2"/>
            <a:r>
              <a:rPr lang="ru-RU" dirty="0"/>
              <a:t>Арифметика указателей</a:t>
            </a:r>
          </a:p>
          <a:p>
            <a:pPr lvl="3"/>
            <a:r>
              <a:rPr lang="ru-RU" dirty="0"/>
              <a:t>смещение на целое число значений </a:t>
            </a:r>
            <a:r>
              <a:rPr lang="ru-RU" dirty="0">
                <a:latin typeface="Consolas" panose="020B0609020204030204" pitchFamily="49" charset="0"/>
              </a:rPr>
              <a:t>+</a:t>
            </a:r>
            <a:r>
              <a:rPr lang="en-US" dirty="0"/>
              <a:t>: (T*, </a:t>
            </a:r>
            <a:r>
              <a:rPr lang="ru-RU" dirty="0"/>
              <a:t>целое</a:t>
            </a:r>
            <a:r>
              <a:rPr lang="en-US" dirty="0"/>
              <a:t>) -&gt; T*</a:t>
            </a:r>
            <a:endParaRPr lang="ru-RU" dirty="0"/>
          </a:p>
          <a:p>
            <a:pPr lvl="3"/>
            <a:r>
              <a:rPr lang="ru-RU" dirty="0"/>
              <a:t>расстояние </a:t>
            </a:r>
            <a:r>
              <a:rPr lang="ru-RU" dirty="0">
                <a:latin typeface="Consolas" panose="020B0609020204030204" pitchFamily="49" charset="0"/>
              </a:rPr>
              <a:t>-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</a:t>
            </a:r>
            <a:r>
              <a:rPr lang="ru-RU" dirty="0"/>
              <a:t>целое</a:t>
            </a:r>
            <a:endParaRPr lang="en-US" dirty="0"/>
          </a:p>
          <a:p>
            <a:pPr lvl="2"/>
            <a:r>
              <a:rPr lang="ru-RU" dirty="0"/>
              <a:t>Разыменование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T* -&gt; T</a:t>
            </a:r>
            <a:endParaRPr lang="ru-RU" dirty="0"/>
          </a:p>
          <a:p>
            <a:pPr lvl="2"/>
            <a:r>
              <a:rPr lang="ru-RU" dirty="0"/>
              <a:t>Взятие адреса </a:t>
            </a:r>
            <a:r>
              <a:rPr lang="en-US" dirty="0">
                <a:latin typeface="Consolas" panose="020B0609020204030204" pitchFamily="49" charset="0"/>
              </a:rPr>
              <a:t>&amp;</a:t>
            </a:r>
            <a:r>
              <a:rPr lang="en-US" dirty="0"/>
              <a:t>: T -&gt; T</a:t>
            </a:r>
            <a:r>
              <a:rPr lang="ru-RU" dirty="0"/>
              <a:t>*</a:t>
            </a:r>
          </a:p>
          <a:p>
            <a:pPr lvl="2"/>
            <a:r>
              <a:rPr lang="ru-RU" dirty="0"/>
              <a:t>Доступ по индексу </a:t>
            </a:r>
            <a:r>
              <a:rPr lang="en-US" dirty="0">
                <a:latin typeface="Consolas" panose="020B0609020204030204" pitchFamily="49" charset="0"/>
              </a:rPr>
              <a:t>[]</a:t>
            </a:r>
            <a:r>
              <a:rPr lang="en-US" dirty="0"/>
              <a:t>: (T*, </a:t>
            </a:r>
            <a:r>
              <a:rPr lang="ru-RU" dirty="0"/>
              <a:t>целое</a:t>
            </a:r>
            <a:r>
              <a:rPr lang="en-US" dirty="0"/>
              <a:t>) -&gt; T</a:t>
            </a:r>
            <a:r>
              <a:rPr lang="ru-RU" dirty="0"/>
              <a:t> – смещение + разыменование</a:t>
            </a:r>
            <a:endParaRPr lang="en-US" dirty="0"/>
          </a:p>
          <a:p>
            <a:pPr lvl="1"/>
            <a:r>
              <a:rPr lang="ru-RU" dirty="0"/>
              <a:t>Проверка равенства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{0, 1}</a:t>
            </a:r>
            <a:r>
              <a:rPr lang="ru-RU" dirty="0"/>
              <a:t>, порядка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{0, 1}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31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A4B9FB-14CF-FC77-8D55-3C963AFC8E4E}"/>
              </a:ext>
            </a:extLst>
          </p:cNvPr>
          <p:cNvSpPr txBox="1"/>
          <p:nvPr/>
        </p:nvSpPr>
        <p:spPr>
          <a:xfrm>
            <a:off x="8259288" y="3124131"/>
            <a:ext cx="3094512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T*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 – int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сдвигаем на 10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-10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62809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 </a:t>
            </a:r>
            <a:r>
              <a:rPr lang="en-US" dirty="0"/>
              <a:t>T[N] </a:t>
            </a:r>
            <a:r>
              <a:rPr lang="ru-RU" dirty="0"/>
              <a:t>из </a:t>
            </a:r>
            <a:r>
              <a:rPr lang="en-US" dirty="0"/>
              <a:t>N </a:t>
            </a:r>
            <a:r>
              <a:rPr lang="ru-RU" dirty="0"/>
              <a:t>элементов типа </a:t>
            </a:r>
            <a:r>
              <a:rPr lang="en-US" dirty="0"/>
              <a:t>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  <a:p>
            <a:r>
              <a:rPr lang="ru-RU" dirty="0"/>
              <a:t>Множество значений </a:t>
            </a:r>
            <a:endParaRPr lang="en-US" dirty="0"/>
          </a:p>
          <a:p>
            <a:pPr lvl="1"/>
            <a:r>
              <a:rPr lang="ru-RU" dirty="0"/>
              <a:t>Кортежи длины </a:t>
            </a:r>
            <a:r>
              <a:rPr lang="en-US" dirty="0"/>
              <a:t>N</a:t>
            </a:r>
            <a:r>
              <a:rPr lang="ru-RU" dirty="0"/>
              <a:t> из значений типа </a:t>
            </a:r>
            <a:r>
              <a:rPr lang="en-US" dirty="0"/>
              <a:t>T</a:t>
            </a:r>
            <a:endParaRPr lang="ru-RU" dirty="0"/>
          </a:p>
          <a:p>
            <a:pPr lvl="1"/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Неявное преобразование в указатель на нулевой элемент </a:t>
            </a:r>
            <a:r>
              <a:rPr lang="en-US" dirty="0" err="1"/>
              <a:t>pointer_generation</a:t>
            </a:r>
            <a:r>
              <a:rPr lang="en-US" dirty="0"/>
              <a:t>: T[N] -&gt; T*</a:t>
            </a:r>
            <a:endParaRPr lang="ru-RU" dirty="0"/>
          </a:p>
          <a:p>
            <a:pPr lvl="1"/>
            <a:endParaRPr lang="en-US" dirty="0"/>
          </a:p>
          <a:p>
            <a:r>
              <a:rPr lang="ru-RU" dirty="0"/>
              <a:t>Ограничения: тип </a:t>
            </a:r>
            <a:r>
              <a:rPr lang="en-US" dirty="0"/>
              <a:t>T </a:t>
            </a:r>
            <a:r>
              <a:rPr lang="ru-RU" dirty="0"/>
              <a:t>полный, </a:t>
            </a:r>
            <a:r>
              <a:rPr lang="en-US" dirty="0"/>
              <a:t>N</a:t>
            </a:r>
            <a:r>
              <a:rPr lang="ru-RU" dirty="0"/>
              <a:t> целое </a:t>
            </a:r>
            <a:r>
              <a:rPr lang="en-US" dirty="0"/>
              <a:t>&gt; 0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32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1CE99-B433-D18B-AF70-31A8B41CE32B}"/>
              </a:ext>
            </a:extLst>
          </p:cNvPr>
          <p:cNvSpPr txBox="1"/>
          <p:nvPr/>
        </p:nvSpPr>
        <p:spPr>
          <a:xfrm>
            <a:off x="8719457" y="1825625"/>
            <a:ext cx="2634343" cy="92333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T[N]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 – </a:t>
            </a:r>
            <a:r>
              <a:rPr lang="fr-F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, N - 10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0190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массива</a:t>
            </a:r>
            <a:r>
              <a:rPr lang="en-US" dirty="0"/>
              <a:t> T[N]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Последовательность ДП элементов массива в порядке возрастания индексов</a:t>
            </a:r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T[N]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 = </a:t>
            </a:r>
            <a:r>
              <a:rPr lang="en-US" dirty="0"/>
              <a:t>N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ru-RU" dirty="0"/>
              <a:t>Т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endParaRPr lang="en-US" dirty="0"/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T[N]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=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3401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Множество значений</a:t>
            </a:r>
            <a:endParaRPr lang="en-US" dirty="0"/>
          </a:p>
          <a:p>
            <a:pPr lvl="1"/>
            <a:r>
              <a:rPr lang="ru-RU" dirty="0"/>
              <a:t>Кортежи </a:t>
            </a:r>
            <a:r>
              <a:rPr lang="en-US" dirty="0"/>
              <a:t>(x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x</a:t>
            </a:r>
            <a:r>
              <a:rPr lang="en-US" baseline="-25000" dirty="0" err="1"/>
              <a:t>N</a:t>
            </a:r>
            <a:r>
              <a:rPr lang="en-US" dirty="0"/>
              <a:t>), x</a:t>
            </a:r>
            <a:r>
              <a:rPr lang="en-US" baseline="-25000" dirty="0"/>
              <a:t>i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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ru-RU" dirty="0"/>
              <a:t>множеству значений типа </a:t>
            </a:r>
            <a:r>
              <a:rPr lang="en-US" dirty="0"/>
              <a:t>T</a:t>
            </a:r>
            <a:r>
              <a:rPr lang="en-US" baseline="-25000" dirty="0"/>
              <a:t>i</a:t>
            </a:r>
            <a:endParaRPr lang="ru-RU" dirty="0"/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Присваивание </a:t>
            </a:r>
            <a:r>
              <a:rPr lang="ru-RU" dirty="0">
                <a:latin typeface="Consolas" panose="020B0609020204030204" pitchFamily="49" charset="0"/>
              </a:rPr>
              <a:t>=</a:t>
            </a:r>
            <a:r>
              <a:rPr lang="ru-RU" dirty="0"/>
              <a:t> </a:t>
            </a:r>
            <a:r>
              <a:rPr lang="en-US" dirty="0"/>
              <a:t>: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-&gt;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endParaRPr lang="ru-RU" dirty="0"/>
          </a:p>
          <a:p>
            <a:pPr lvl="1"/>
            <a:r>
              <a:rPr lang="ru-RU" dirty="0"/>
              <a:t>Доступ к элементу по имени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/>
              <a:t>E</a:t>
            </a:r>
            <a:r>
              <a:rPr lang="en-US" baseline="-25000" dirty="0"/>
              <a:t>i</a:t>
            </a:r>
            <a:r>
              <a:rPr lang="en-US" dirty="0"/>
              <a:t> :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-&gt; T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/>
              <a:t>E</a:t>
            </a:r>
            <a:r>
              <a:rPr lang="en-US" baseline="-25000" dirty="0"/>
              <a:t>i 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r>
              <a:rPr lang="ru-RU" dirty="0"/>
              <a:t>*</a:t>
            </a:r>
            <a:r>
              <a:rPr lang="en-US" dirty="0"/>
              <a:t> -&gt;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endParaRPr lang="ru-RU" baseline="-25000" dirty="0"/>
          </a:p>
          <a:p>
            <a:endParaRPr lang="ru-RU" dirty="0"/>
          </a:p>
          <a:p>
            <a:r>
              <a:rPr lang="ru-RU" dirty="0"/>
              <a:t>Ограничения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baseline="-25000" dirty="0"/>
              <a:t>-1</a:t>
            </a:r>
            <a:r>
              <a:rPr lang="en-US" baseline="-25000" dirty="0"/>
              <a:t> </a:t>
            </a:r>
            <a:r>
              <a:rPr lang="ru-RU" dirty="0"/>
              <a:t>полные типы</a:t>
            </a:r>
          </a:p>
          <a:p>
            <a:pPr lvl="1"/>
            <a:r>
              <a:rPr lang="en-US" dirty="0"/>
              <a:t> T</a:t>
            </a:r>
            <a:r>
              <a:rPr lang="en-US" baseline="-25000" dirty="0"/>
              <a:t>N</a:t>
            </a:r>
            <a:r>
              <a:rPr lang="ru-RU" dirty="0"/>
              <a:t> любой полный тип или неполный тип-массив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TBuffer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int N; char Data[];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62692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 {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описание структуры,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Human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–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тэг структуры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элементы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Age;</a:t>
            </a: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en-US" sz="2800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 bob;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переменная типа структура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bob.Name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"Bob"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элементам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bob.Age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en-US" sz="28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Human*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...;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переменная типа указатель на структуру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2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"Alice"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элементам указываемой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-&gt;Age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fr-FR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20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4E4BE-1A08-33CF-31A3-C3296DE4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1EEF6-B005-21B7-4E0E-0F0BB3079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ДП значения типа </a:t>
            </a:r>
            <a:r>
              <a:rPr lang="en-US" sz="2800" dirty="0">
                <a:latin typeface="Consolas" panose="020B0609020204030204" pitchFamily="49" charset="0"/>
              </a:rPr>
              <a:t>struct S</a:t>
            </a:r>
            <a:r>
              <a:rPr lang="ru-RU" dirty="0"/>
              <a:t> состоит из </a:t>
            </a:r>
          </a:p>
          <a:p>
            <a:pPr lvl="1"/>
            <a:r>
              <a:rPr lang="ru-RU" dirty="0"/>
              <a:t>ДП её элементов –</a:t>
            </a:r>
            <a:r>
              <a:rPr lang="en-US" dirty="0"/>
              <a:t> </a:t>
            </a:r>
            <a:r>
              <a:rPr lang="ru-RU" dirty="0"/>
              <a:t>расположены в памяти в порядке </a:t>
            </a:r>
            <a:r>
              <a:rPr lang="en-US" dirty="0"/>
              <a:t>E</a:t>
            </a:r>
            <a:r>
              <a:rPr lang="en-US" baseline="-25000" dirty="0"/>
              <a:t>1</a:t>
            </a:r>
            <a:r>
              <a:rPr lang="en-US" dirty="0"/>
              <a:t>, E</a:t>
            </a:r>
            <a:r>
              <a:rPr lang="en-US" baseline="-25000" dirty="0"/>
              <a:t>2</a:t>
            </a:r>
            <a:r>
              <a:rPr lang="en-US" dirty="0"/>
              <a:t>, …, E</a:t>
            </a:r>
            <a:r>
              <a:rPr lang="en-US" baseline="-25000" dirty="0"/>
              <a:t>N</a:t>
            </a:r>
            <a:endParaRPr lang="ru-RU" dirty="0"/>
          </a:p>
          <a:p>
            <a:pPr lvl="1"/>
            <a:r>
              <a:rPr lang="en-US" dirty="0"/>
              <a:t>Undefined </a:t>
            </a:r>
            <a:r>
              <a:rPr lang="ru-RU" dirty="0"/>
              <a:t>выравнивающих байтов</a:t>
            </a:r>
          </a:p>
          <a:p>
            <a:pPr lvl="2"/>
            <a:r>
              <a:rPr lang="ru-RU" dirty="0"/>
              <a:t>Между ДП элементов, чтобы выровнять элементы</a:t>
            </a:r>
          </a:p>
          <a:p>
            <a:pPr lvl="2"/>
            <a:r>
              <a:rPr lang="ru-RU" dirty="0"/>
              <a:t>После ДП последнего элемента, чтобы выровнять элементы массива </a:t>
            </a:r>
            <a:r>
              <a:rPr lang="en-US" sz="2200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N</a:t>
            </a:r>
            <a:r>
              <a:rPr lang="en-US" sz="2200" dirty="0">
                <a:latin typeface="Consolas" panose="020B0609020204030204" pitchFamily="49" charset="0"/>
              </a:rPr>
              <a:t>]</a:t>
            </a:r>
            <a:endParaRPr lang="ru-RU" sz="2200" dirty="0">
              <a:latin typeface="Consolas" panose="020B0609020204030204" pitchFamily="49" charset="0"/>
            </a:endParaRP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(struct </a:t>
            </a:r>
            <a:r>
              <a:rPr lang="en-US" dirty="0"/>
              <a:t>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= </a:t>
            </a:r>
            <a:r>
              <a:rPr lang="ru-RU" dirty="0"/>
              <a:t>НОК(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, …,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) </a:t>
            </a:r>
            <a:endParaRPr lang="en-US" dirty="0"/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(struct </a:t>
            </a:r>
            <a:r>
              <a:rPr lang="en-US" dirty="0"/>
              <a:t>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&gt;=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+ … +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</p:txBody>
      </p:sp>
    </p:spTree>
    <p:extLst>
      <p:ext uri="{BB962C8B-B14F-4D97-AF65-F5344CB8AC3E}">
        <p14:creationId xmlns:p14="http://schemas.microsoft.com/office/powerpoint/2010/main" val="16754340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Размер </a:t>
            </a:r>
            <a:r>
              <a:rPr lang="en-US" sz="4000" dirty="0">
                <a:latin typeface="Consolas" panose="020B0609020204030204" pitchFamily="49" charset="0"/>
              </a:rPr>
              <a:t>struct</a:t>
            </a:r>
            <a:r>
              <a:rPr lang="en-US" sz="4000" dirty="0"/>
              <a:t> </a:t>
            </a:r>
            <a:r>
              <a:rPr lang="ru-RU" sz="4000" dirty="0"/>
              <a:t>зависит от порядка элементов</a:t>
            </a:r>
            <a:endParaRPr lang="ru-RU" sz="4000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Пусть 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 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(char) =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alignof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(char) = 1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 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 = </a:t>
            </a:r>
            <a:r>
              <a:rPr lang="en-US" sz="2000" dirty="0" err="1">
                <a:solidFill>
                  <a:srgbClr val="6A9955"/>
                </a:solidFill>
                <a:latin typeface="Consolas" panose="020B0609020204030204" pitchFamily="49" charset="0"/>
              </a:rPr>
              <a:t>align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 = 4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Обозначим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выравнивающий байт 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P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(от «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padding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» - «набивка»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CIC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Y;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Z; };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char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int char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CCI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Y; };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char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int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CIC) ==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CCI) ==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94842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/>
              <a:t>Объединение</a:t>
            </a:r>
            <a:r>
              <a:rPr lang="ru-RU" dirty="0"/>
              <a:t> </a:t>
            </a:r>
            <a:r>
              <a:rPr lang="en-US" sz="3200" dirty="0">
                <a:latin typeface="Consolas" panose="020B0609020204030204" pitchFamily="49" charset="0"/>
              </a:rPr>
              <a:t>union U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</a:t>
            </a:r>
            <a:endParaRPr lang="en-US" dirty="0"/>
          </a:p>
          <a:p>
            <a:pPr lvl="1"/>
            <a:r>
              <a:rPr lang="ru-RU" dirty="0"/>
              <a:t>Объединение множеств значений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…, </a:t>
            </a:r>
            <a:r>
              <a:rPr lang="en-US" dirty="0"/>
              <a:t>T</a:t>
            </a:r>
            <a:r>
              <a:rPr lang="en-US" baseline="-25000" dirty="0"/>
              <a:t>N</a:t>
            </a:r>
            <a:endParaRPr lang="ru-RU" dirty="0"/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Присваивание </a:t>
            </a:r>
            <a:r>
              <a:rPr lang="ru-RU" dirty="0">
                <a:latin typeface="Consolas" panose="020B0609020204030204" pitchFamily="49" charset="0"/>
              </a:rPr>
              <a:t>=</a:t>
            </a:r>
            <a:r>
              <a:rPr lang="ru-RU" dirty="0"/>
              <a:t> </a:t>
            </a:r>
            <a:r>
              <a:rPr lang="en-US" dirty="0"/>
              <a:t>: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-&gt;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</a:t>
            </a:r>
            <a:endParaRPr lang="ru-RU" dirty="0"/>
          </a:p>
          <a:p>
            <a:pPr lvl="1"/>
            <a:r>
              <a:rPr lang="ru-RU" dirty="0"/>
              <a:t>Доступ к элементу по имени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/>
              <a:t>E</a:t>
            </a:r>
            <a:r>
              <a:rPr lang="en-US" baseline="-25000" dirty="0"/>
              <a:t>i</a:t>
            </a:r>
            <a:r>
              <a:rPr lang="en-US" dirty="0"/>
              <a:t> :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-&gt; T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/>
              <a:t>E</a:t>
            </a:r>
            <a:r>
              <a:rPr lang="en-US" baseline="-25000" dirty="0"/>
              <a:t>i 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</a:t>
            </a:r>
            <a:r>
              <a:rPr lang="ru-RU" dirty="0"/>
              <a:t>*</a:t>
            </a:r>
            <a:r>
              <a:rPr lang="en-US" dirty="0"/>
              <a:t> -&gt; T</a:t>
            </a:r>
            <a:r>
              <a:rPr lang="en-US" baseline="-25000" dirty="0"/>
              <a:t>i</a:t>
            </a:r>
            <a:endParaRPr lang="ru-RU" baseline="-25000" dirty="0"/>
          </a:p>
          <a:p>
            <a:endParaRPr lang="ru-RU" dirty="0"/>
          </a:p>
          <a:p>
            <a:r>
              <a:rPr lang="ru-RU" dirty="0"/>
              <a:t>Ограничения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 </a:t>
            </a:r>
            <a:r>
              <a:rPr lang="ru-RU" dirty="0"/>
              <a:t>полные типы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29208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Объединение</a:t>
            </a:r>
            <a:r>
              <a:rPr lang="ru-RU" sz="3200" dirty="0"/>
              <a:t> </a:t>
            </a:r>
            <a:r>
              <a:rPr lang="en-US" sz="3200" dirty="0">
                <a:latin typeface="Consolas" panose="020B0609020204030204" pitchFamily="49" charset="0"/>
              </a:rPr>
              <a:t>union U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sz="3200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Rectangle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Width, Height; };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Circle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Radius; };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Figure {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описание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union, Figure --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тэг объединения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элементы объединения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Rectangle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имя может отличаться от тэга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Circle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тип может отличаться от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Figure f[3];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массив типа объединение из 3 элементов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f[0].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Circle.Radius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элементу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f[0]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f[1].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Rectangle.Width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1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элементу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f[1]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f[1].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Rectangle.Height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2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9884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4800" dirty="0"/>
              <a:t>ДП </a:t>
            </a:r>
            <a:r>
              <a:rPr lang="en-US" sz="4400" dirty="0">
                <a:latin typeface="Consolas" panose="020B0609020204030204" pitchFamily="49" charset="0"/>
              </a:rPr>
              <a:t>union U { T</a:t>
            </a:r>
            <a:r>
              <a:rPr lang="en-US" sz="4400" baseline="-25000" dirty="0">
                <a:latin typeface="Consolas" panose="020B0609020204030204" pitchFamily="49" charset="0"/>
              </a:rPr>
              <a:t>1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1</a:t>
            </a:r>
            <a:r>
              <a:rPr lang="en-US" sz="4400" dirty="0">
                <a:latin typeface="Consolas" panose="020B0609020204030204" pitchFamily="49" charset="0"/>
              </a:rPr>
              <a:t>; T</a:t>
            </a:r>
            <a:r>
              <a:rPr lang="en-US" sz="4400" baseline="-25000" dirty="0">
                <a:latin typeface="Consolas" panose="020B0609020204030204" pitchFamily="49" charset="0"/>
              </a:rPr>
              <a:t>2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2</a:t>
            </a:r>
            <a:r>
              <a:rPr lang="en-US" sz="4400" dirty="0">
                <a:latin typeface="Consolas" panose="020B0609020204030204" pitchFamily="49" charset="0"/>
              </a:rPr>
              <a:t>; … ; T</a:t>
            </a:r>
            <a:r>
              <a:rPr lang="en-US" sz="4400" baseline="-25000" dirty="0">
                <a:latin typeface="Consolas" panose="020B0609020204030204" pitchFamily="49" charset="0"/>
              </a:rPr>
              <a:t>N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N</a:t>
            </a:r>
            <a:r>
              <a:rPr lang="en-US" sz="4400" dirty="0">
                <a:latin typeface="Consolas" panose="020B0609020204030204" pitchFamily="49" charset="0"/>
              </a:rPr>
              <a:t>; }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ДП значения типа </a:t>
            </a:r>
            <a:r>
              <a:rPr lang="en-US" dirty="0"/>
              <a:t>union U </a:t>
            </a:r>
            <a:r>
              <a:rPr lang="ru-RU" dirty="0"/>
              <a:t>состоит из</a:t>
            </a:r>
          </a:p>
          <a:p>
            <a:pPr lvl="1"/>
            <a:r>
              <a:rPr lang="ru-RU" dirty="0"/>
              <a:t>ДП одного из элементов</a:t>
            </a:r>
          </a:p>
          <a:p>
            <a:pPr lvl="1"/>
            <a:r>
              <a:rPr lang="en-US" dirty="0"/>
              <a:t>Undefined </a:t>
            </a:r>
            <a:r>
              <a:rPr lang="ru-RU" dirty="0"/>
              <a:t>выравнивающих байтов</a:t>
            </a:r>
            <a:endParaRPr lang="en-US" dirty="0"/>
          </a:p>
          <a:p>
            <a:pPr lvl="2"/>
            <a:r>
              <a:rPr lang="ru-RU" dirty="0"/>
              <a:t>Чтобы выровнять элементы массива </a:t>
            </a:r>
            <a:r>
              <a:rPr lang="en-US" dirty="0"/>
              <a:t>union U[N]</a:t>
            </a:r>
            <a:endParaRPr lang="ru-RU" dirty="0"/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(union U)</a:t>
            </a:r>
            <a:r>
              <a:rPr lang="en-US" dirty="0"/>
              <a:t> = </a:t>
            </a:r>
            <a:r>
              <a:rPr lang="ru-RU" dirty="0"/>
              <a:t>НОК(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, …,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) </a:t>
            </a:r>
            <a:endParaRPr lang="en-US" dirty="0"/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(union </a:t>
            </a:r>
            <a:r>
              <a:rPr lang="en-US" dirty="0"/>
              <a:t>U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&gt;= max(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>
                <a:latin typeface="Aptos Display" panose="020B0004020202020204" pitchFamily="34" charset="0"/>
              </a:rPr>
              <a:t>,</a:t>
            </a:r>
            <a:r>
              <a:rPr lang="en-US" dirty="0"/>
              <a:t> …,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))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83196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Функциональный тип</a:t>
            </a:r>
            <a:r>
              <a:rPr lang="en-US" dirty="0"/>
              <a:t> 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 </a:t>
            </a:r>
            <a:r>
              <a:rPr lang="ru-RU" dirty="0"/>
              <a:t>и др.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Множество значений типа </a:t>
            </a:r>
          </a:p>
          <a:p>
            <a:pPr lvl="1"/>
            <a:r>
              <a:rPr lang="en-US" dirty="0"/>
              <a:t>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</a:t>
            </a:r>
            <a:r>
              <a:rPr lang="ru-RU" dirty="0"/>
              <a:t> – функции, принимающие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, возвращающие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en-US" dirty="0"/>
              <a:t>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, </a:t>
            </a:r>
            <a:r>
              <a:rPr lang="en-US" dirty="0">
                <a:highlight>
                  <a:srgbClr val="00FFFF"/>
                </a:highlight>
              </a:rPr>
              <a:t>…</a:t>
            </a:r>
            <a:r>
              <a:rPr lang="en-US" dirty="0"/>
              <a:t>)</a:t>
            </a:r>
            <a:r>
              <a:rPr lang="ru-RU" dirty="0"/>
              <a:t> – </a:t>
            </a:r>
            <a:r>
              <a:rPr lang="ru-RU" dirty="0" err="1">
                <a:highlight>
                  <a:srgbClr val="00FFFF"/>
                </a:highlight>
              </a:rPr>
              <a:t>вариадические</a:t>
            </a:r>
            <a:r>
              <a:rPr lang="ru-RU" dirty="0">
                <a:highlight>
                  <a:srgbClr val="00FFFF"/>
                </a:highlight>
              </a:rPr>
              <a:t> функции</a:t>
            </a:r>
            <a:r>
              <a:rPr lang="ru-RU" dirty="0"/>
              <a:t>, принимающие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и после них любые типы, возвращающие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en-US" dirty="0"/>
              <a:t>T()</a:t>
            </a:r>
            <a:r>
              <a:rPr lang="ru-RU" dirty="0"/>
              <a:t> – функции, принимающие любые типы, возвращающие </a:t>
            </a:r>
            <a:r>
              <a:rPr lang="en-US" dirty="0"/>
              <a:t>T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ДП функции – тело функции в виде инструкций процессора</a:t>
            </a:r>
          </a:p>
          <a:p>
            <a:pPr lvl="2"/>
            <a:endParaRPr lang="ru-RU" dirty="0"/>
          </a:p>
          <a:p>
            <a:r>
              <a:rPr lang="ru-RU" dirty="0"/>
              <a:t>Операции</a:t>
            </a:r>
            <a:r>
              <a:rPr lang="en-US" dirty="0"/>
              <a:t> </a:t>
            </a:r>
            <a:r>
              <a:rPr lang="ru-RU" dirty="0"/>
              <a:t>для функционального типа </a:t>
            </a:r>
            <a:r>
              <a:rPr lang="en-US" dirty="0"/>
              <a:t>F</a:t>
            </a:r>
            <a:endParaRPr lang="ru-RU" dirty="0"/>
          </a:p>
          <a:p>
            <a:pPr lvl="1"/>
            <a:r>
              <a:rPr lang="ru-RU" dirty="0"/>
              <a:t>Неявное преобразование в указатель на функцию</a:t>
            </a:r>
            <a:r>
              <a:rPr lang="en-US" dirty="0"/>
              <a:t> F -&gt; F*</a:t>
            </a:r>
            <a:endParaRPr lang="ru-RU" dirty="0"/>
          </a:p>
          <a:p>
            <a:pPr lvl="1"/>
            <a:r>
              <a:rPr lang="ru-RU" dirty="0"/>
              <a:t>Вызов функции в зависимости от вида </a:t>
            </a:r>
            <a:r>
              <a:rPr lang="en-US" dirty="0"/>
              <a:t>F</a:t>
            </a:r>
          </a:p>
          <a:p>
            <a:pPr lvl="2"/>
            <a:r>
              <a:rPr lang="ru-RU" dirty="0"/>
              <a:t>() </a:t>
            </a:r>
            <a:r>
              <a:rPr lang="en-US" dirty="0"/>
              <a:t>: (F*, 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 -&gt; T</a:t>
            </a:r>
          </a:p>
          <a:p>
            <a:pPr lvl="2"/>
            <a:r>
              <a:rPr lang="ru-RU" dirty="0"/>
              <a:t>() </a:t>
            </a:r>
            <a:r>
              <a:rPr lang="en-US" dirty="0"/>
              <a:t>: (F*, 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, </a:t>
            </a:r>
            <a:r>
              <a:rPr lang="en-US" dirty="0"/>
              <a:t>Any) -&gt; T, </a:t>
            </a:r>
            <a:r>
              <a:rPr lang="ru-RU" dirty="0"/>
              <a:t>где </a:t>
            </a:r>
            <a:r>
              <a:rPr lang="en-US" dirty="0"/>
              <a:t>Any – </a:t>
            </a:r>
            <a:r>
              <a:rPr lang="ru-RU" dirty="0"/>
              <a:t>множество кортежей значений произвольных типов</a:t>
            </a:r>
            <a:endParaRPr lang="en-US" dirty="0"/>
          </a:p>
          <a:p>
            <a:pPr lvl="2"/>
            <a:r>
              <a:rPr lang="ru-RU" dirty="0"/>
              <a:t>() :</a:t>
            </a:r>
            <a:r>
              <a:rPr lang="en-US" dirty="0"/>
              <a:t> (F*, TT</a:t>
            </a:r>
            <a:r>
              <a:rPr lang="en-US" baseline="-25000" dirty="0"/>
              <a:t>1</a:t>
            </a:r>
            <a:r>
              <a:rPr lang="en-US" dirty="0"/>
              <a:t>, …, TT</a:t>
            </a:r>
            <a:r>
              <a:rPr lang="en-US" baseline="-25000" dirty="0"/>
              <a:t>NN</a:t>
            </a:r>
            <a:r>
              <a:rPr lang="en-US" dirty="0"/>
              <a:t>) -&gt; T, </a:t>
            </a:r>
            <a:r>
              <a:rPr lang="ru-RU" dirty="0"/>
              <a:t>где </a:t>
            </a:r>
            <a:r>
              <a:rPr lang="en-US" dirty="0"/>
              <a:t>NN </a:t>
            </a:r>
            <a:r>
              <a:rPr lang="ru-RU" dirty="0"/>
              <a:t>произвольное целое </a:t>
            </a:r>
            <a:r>
              <a:rPr lang="en-US" dirty="0"/>
              <a:t>&gt;= 0, </a:t>
            </a:r>
            <a:r>
              <a:rPr lang="en-US" dirty="0" err="1"/>
              <a:t>TT</a:t>
            </a:r>
            <a:r>
              <a:rPr lang="en-US" baseline="-25000" dirty="0" err="1"/>
              <a:t>i</a:t>
            </a:r>
            <a:r>
              <a:rPr lang="en-US" dirty="0"/>
              <a:t> – </a:t>
            </a:r>
            <a:r>
              <a:rPr lang="ru-RU" dirty="0"/>
              <a:t>произвольный тип</a:t>
            </a:r>
            <a:endParaRPr lang="ru-RU" baseline="-25000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7135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D2705-EEC3-2685-298E-966C933D7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 </a:t>
            </a:r>
            <a:r>
              <a:rPr lang="en-US" dirty="0" err="1"/>
              <a:t>fun_fun.c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67C70-B8E8-7867-758A-4E4BDEE6BD6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u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(*)(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)), v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} 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из чего угодно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что угодно 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void,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поэтому нет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()));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ОК для типа функции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🤡🤡🤡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...) { 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+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что угодно 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void ❤️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(k);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ОК для типа функции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Bar 🤡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 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int ❤️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(k, k);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53;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9570028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Неполный тип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600" dirty="0"/>
          </a:p>
          <a:p>
            <a:endParaRPr lang="ru-RU" sz="3600" dirty="0"/>
          </a:p>
          <a:p>
            <a:r>
              <a:rPr lang="ru-RU" sz="3600" dirty="0"/>
              <a:t>Размер </a:t>
            </a:r>
            <a:r>
              <a:rPr lang="ru-RU" sz="3500" dirty="0"/>
              <a:t>значения</a:t>
            </a:r>
            <a:r>
              <a:rPr lang="ru-RU" sz="3600" dirty="0"/>
              <a:t> неполного типа не известен </a:t>
            </a:r>
            <a:r>
              <a:rPr lang="ru-RU" sz="3600" baseline="30000" dirty="0"/>
              <a:t>(*)</a:t>
            </a:r>
            <a:endParaRPr lang="en-US" sz="3600" dirty="0"/>
          </a:p>
          <a:p>
            <a:pPr marL="457200" lvl="1" indent="0">
              <a:buNone/>
            </a:pPr>
            <a:r>
              <a:rPr lang="ru-RU" sz="2000" baseline="30000" dirty="0"/>
              <a:t>(*)</a:t>
            </a:r>
            <a:r>
              <a:rPr lang="ru-RU" sz="2000" dirty="0"/>
              <a:t> В исходном коде </a:t>
            </a:r>
            <a:r>
              <a:rPr lang="ru-RU" sz="2000" dirty="0" err="1"/>
              <a:t>НЕдостаточно</a:t>
            </a:r>
            <a:r>
              <a:rPr lang="ru-RU" sz="2000" dirty="0"/>
              <a:t> информации, чтобы вычислить</a:t>
            </a:r>
            <a:endParaRPr lang="ru-RU" sz="2000" baseline="30000" dirty="0"/>
          </a:p>
          <a:p>
            <a:endParaRPr lang="ru-RU" sz="3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43</a:t>
            </a:fld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3CC92D-3058-B238-2CE8-69928C0BE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11" y="4339192"/>
            <a:ext cx="11227377" cy="168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4880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400" dirty="0"/>
          </a:p>
          <a:p>
            <a:r>
              <a:rPr lang="ru-RU" sz="3400" dirty="0"/>
              <a:t>Множество </a:t>
            </a:r>
            <a:r>
              <a:rPr lang="ru-RU" sz="3200" dirty="0"/>
              <a:t>значений</a:t>
            </a:r>
            <a:r>
              <a:rPr lang="ru-RU" sz="3400" dirty="0"/>
              <a:t> пусто</a:t>
            </a:r>
          </a:p>
          <a:p>
            <a:r>
              <a:rPr lang="ru-RU" sz="3400" dirty="0"/>
              <a:t>Набор операций пуст</a:t>
            </a:r>
          </a:p>
          <a:p>
            <a:endParaRPr lang="ru-RU" sz="3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4F854-36F2-EC8C-7A0C-0C218FE70C47}"/>
              </a:ext>
            </a:extLst>
          </p:cNvPr>
          <p:cNvSpPr txBox="1"/>
          <p:nvPr/>
        </p:nvSpPr>
        <p:spPr>
          <a:xfrm>
            <a:off x="6638306" y="2464130"/>
            <a:ext cx="5123518" cy="120032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none" rtlCol="0">
            <a:spAutoFit/>
          </a:bodyPr>
          <a:lstStyle/>
          <a:p>
            <a:endParaRPr lang="ru-RU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указатель на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нетипизированные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данные</a:t>
            </a:r>
            <a:endParaRPr lang="ru-RU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83705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Неполное перечисление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</a:t>
            </a:r>
            <a:r>
              <a:rPr lang="ru-RU" dirty="0"/>
              <a:t>без списка констант</a:t>
            </a:r>
            <a:r>
              <a:rPr lang="en-US" dirty="0"/>
              <a:t> </a:t>
            </a:r>
            <a:r>
              <a:rPr lang="ru-RU" dirty="0"/>
              <a:t>или с незавершённым списком констант</a:t>
            </a:r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</a:t>
            </a:r>
            <a:r>
              <a:rPr lang="ru-RU" dirty="0"/>
              <a:t>неполный, пока не встретится </a:t>
            </a:r>
            <a:r>
              <a:rPr lang="en-US" dirty="0"/>
              <a:t>} </a:t>
            </a:r>
            <a:r>
              <a:rPr lang="ru-RU" dirty="0"/>
              <a:t>в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{ … }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r>
              <a:rPr lang="ru-RU" dirty="0"/>
              <a:t>Набор операций пуст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86F98-4D11-DD10-19AA-A09E7BD6A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Red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Green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Blue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ru-RU" sz="2000" b="0" dirty="0">
              <a:solidFill>
                <a:srgbClr val="B5CEA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// ошибка:</a:t>
            </a: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pt-BR" sz="2000" dirty="0">
                <a:solidFill>
                  <a:srgbClr val="6A9955"/>
                </a:solidFill>
                <a:latin typeface="Consolas" panose="020B0609020204030204" pitchFamily="49" charset="0"/>
              </a:rPr>
              <a:t>enum E { V = sizeof(enum E) };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4471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Неполный массив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Массив </a:t>
            </a:r>
            <a:r>
              <a:rPr lang="en-US" dirty="0"/>
              <a:t>T[]</a:t>
            </a:r>
            <a:r>
              <a:rPr lang="ru-RU" dirty="0"/>
              <a:t> полного типа </a:t>
            </a:r>
            <a:r>
              <a:rPr lang="en-US" dirty="0"/>
              <a:t>T </a:t>
            </a:r>
            <a:r>
              <a:rPr lang="ru-RU" dirty="0"/>
              <a:t>без указания размера</a:t>
            </a:r>
          </a:p>
          <a:p>
            <a:endParaRPr lang="ru-RU" dirty="0"/>
          </a:p>
          <a:p>
            <a:r>
              <a:rPr lang="ru-RU" dirty="0"/>
              <a:t>Множество значений</a:t>
            </a:r>
            <a:r>
              <a:rPr lang="en-US" dirty="0"/>
              <a:t> </a:t>
            </a:r>
          </a:p>
          <a:p>
            <a:pPr lvl="1"/>
            <a:r>
              <a:rPr lang="ru-RU" dirty="0"/>
              <a:t>Кортежи длины </a:t>
            </a:r>
            <a:r>
              <a:rPr lang="en-US" dirty="0"/>
              <a:t>&gt;= 1</a:t>
            </a:r>
            <a:r>
              <a:rPr lang="ru-RU" dirty="0"/>
              <a:t> значений типа </a:t>
            </a:r>
            <a:r>
              <a:rPr lang="en-US" dirty="0"/>
              <a:t>T</a:t>
            </a:r>
          </a:p>
          <a:p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Неявное преобразование в указатель на нулевой элемент </a:t>
            </a:r>
            <a:r>
              <a:rPr lang="en-US" dirty="0" err="1"/>
              <a:t>pointer_generation</a:t>
            </a:r>
            <a:r>
              <a:rPr lang="en-US" dirty="0"/>
              <a:t>: T[] -&gt; T*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90843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структуры (объединения)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U) </a:t>
            </a:r>
            <a:r>
              <a:rPr lang="ru-RU" dirty="0"/>
              <a:t>без списка элементов или с незавершённым списком элементов</a:t>
            </a:r>
          </a:p>
          <a:p>
            <a:pPr lvl="2"/>
            <a:endParaRPr lang="ru-RU" dirty="0"/>
          </a:p>
          <a:p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</a:t>
            </a:r>
            <a:r>
              <a:rPr lang="ru-RU" dirty="0"/>
              <a:t>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 U</a:t>
            </a:r>
            <a:r>
              <a:rPr lang="ru-RU" dirty="0"/>
              <a:t>) неполный, пока не встретится </a:t>
            </a:r>
            <a:r>
              <a:rPr lang="en-US" dirty="0"/>
              <a:t>} </a:t>
            </a:r>
            <a:r>
              <a:rPr lang="ru-RU" dirty="0"/>
              <a:t>в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{ … }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{ … })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r>
              <a:rPr lang="ru-RU" dirty="0"/>
              <a:t>Набор операций пуст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70AC82-0B2F-6C68-0830-64EF91469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endParaRPr lang="ru-RU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Node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// ОК, т.к.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полный для любого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</a:t>
            </a:r>
            <a:endParaRPr lang="ru-RU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 // в т.ч. Неполного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</a:t>
            </a:r>
            <a:endParaRPr lang="ru-RU" sz="2000" dirty="0"/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Node* Next;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полный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3672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2584B-5176-45E1-FF60-D1E7B2E3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F3EF0-988D-B101-FA9B-C4A06B440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тип, система типов, типизация?</a:t>
            </a:r>
          </a:p>
          <a:p>
            <a:pPr lvl="1"/>
            <a:r>
              <a:rPr lang="ru-RU" dirty="0"/>
              <a:t>Средства самоконтроля при работе с данными</a:t>
            </a:r>
          </a:p>
          <a:p>
            <a:endParaRPr lang="ru-RU" dirty="0"/>
          </a:p>
          <a:p>
            <a:r>
              <a:rPr lang="ru-RU" dirty="0"/>
              <a:t>Классификация и двоичное представление типов языка Си</a:t>
            </a:r>
          </a:p>
          <a:p>
            <a:pPr lvl="1"/>
            <a:r>
              <a:rPr lang="en-US" dirty="0"/>
              <a:t>Fun facts:</a:t>
            </a:r>
            <a:endParaRPr lang="ru-RU" dirty="0"/>
          </a:p>
          <a:p>
            <a:pPr lvl="2"/>
            <a:r>
              <a:rPr lang="ru-RU" dirty="0"/>
              <a:t>По близости к математике: </a:t>
            </a:r>
            <a:r>
              <a:rPr lang="en-US" dirty="0"/>
              <a:t>void, </a:t>
            </a:r>
            <a:r>
              <a:rPr lang="ru-RU" dirty="0"/>
              <a:t>беззнаковые, с плавающей точкой, знаковые</a:t>
            </a:r>
          </a:p>
          <a:p>
            <a:pPr lvl="2"/>
            <a:r>
              <a:rPr lang="ru-RU" dirty="0"/>
              <a:t>Нет строк, </a:t>
            </a:r>
            <a:r>
              <a:rPr lang="en-US" dirty="0"/>
              <a:t>char </a:t>
            </a:r>
            <a:r>
              <a:rPr lang="ru-RU" dirty="0"/>
              <a:t>относится к целым типам</a:t>
            </a:r>
            <a:endParaRPr lang="en-US" dirty="0"/>
          </a:p>
          <a:p>
            <a:pPr lvl="2"/>
            <a:r>
              <a:rPr lang="ru-RU" dirty="0"/>
              <a:t>Размер </a:t>
            </a:r>
            <a:r>
              <a:rPr lang="en-US" dirty="0"/>
              <a:t>struct </a:t>
            </a:r>
            <a:r>
              <a:rPr lang="ru-RU" dirty="0" err="1"/>
              <a:t>м.б.</a:t>
            </a:r>
            <a:r>
              <a:rPr lang="ru-RU" dirty="0"/>
              <a:t> </a:t>
            </a:r>
            <a:r>
              <a:rPr lang="en-US" dirty="0"/>
              <a:t>&gt; </a:t>
            </a:r>
            <a:r>
              <a:rPr lang="ru-RU" dirty="0"/>
              <a:t>суммы размеров элементов</a:t>
            </a:r>
          </a:p>
          <a:p>
            <a:pPr lvl="2"/>
            <a:r>
              <a:rPr lang="ru-RU" dirty="0"/>
              <a:t>Наличие знака у </a:t>
            </a:r>
            <a:r>
              <a:rPr lang="en-US" dirty="0"/>
              <a:t>char</a:t>
            </a:r>
            <a:r>
              <a:rPr lang="ru-RU" dirty="0"/>
              <a:t> </a:t>
            </a:r>
            <a:r>
              <a:rPr lang="en-US" dirty="0"/>
              <a:t>implementation defined</a:t>
            </a:r>
            <a:endParaRPr lang="ru-RU" dirty="0"/>
          </a:p>
          <a:p>
            <a:pPr lvl="2"/>
            <a:r>
              <a:rPr lang="ru-RU" dirty="0"/>
              <a:t>Массив и указатель почти одно и то же</a:t>
            </a:r>
            <a:endParaRPr lang="en-US" dirty="0"/>
          </a:p>
          <a:p>
            <a:pPr lvl="2"/>
            <a:r>
              <a:rPr lang="en-US" dirty="0"/>
              <a:t>void f() </a:t>
            </a:r>
            <a:r>
              <a:rPr lang="ru-RU" dirty="0"/>
              <a:t>можно вызывать с произвольными аргументами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65159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5096</TotalTime>
  <Words>3502</Words>
  <Application>Microsoft Office PowerPoint</Application>
  <PresentationFormat>Widescreen</PresentationFormat>
  <Paragraphs>741</Paragraphs>
  <Slides>48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Aptos Display</vt:lpstr>
      <vt:lpstr>Arial</vt:lpstr>
      <vt:lpstr>Consolas</vt:lpstr>
      <vt:lpstr>Symbol</vt:lpstr>
      <vt:lpstr>Office Theme</vt:lpstr>
      <vt:lpstr>Типы языка Си</vt:lpstr>
      <vt:lpstr>План лекции</vt:lpstr>
      <vt:lpstr>Что такое тип, система типов, типизация?</vt:lpstr>
      <vt:lpstr>Виды типизаций</vt:lpstr>
      <vt:lpstr>Типы в языке Си</vt:lpstr>
      <vt:lpstr>Модель памяти программы</vt:lpstr>
      <vt:lpstr>Модель памяти программы</vt:lpstr>
      <vt:lpstr>Двоичное представление значения ½ </vt:lpstr>
      <vt:lpstr>Двоичное представление значения 2/2</vt:lpstr>
      <vt:lpstr>Выравнивание в памяти</vt:lpstr>
      <vt:lpstr>Типы языка Си</vt:lpstr>
      <vt:lpstr>Типы языка Си</vt:lpstr>
      <vt:lpstr>Полный тип</vt:lpstr>
      <vt:lpstr>Целые типы</vt:lpstr>
      <vt:lpstr>Тип char</vt:lpstr>
      <vt:lpstr>Знаковые типы</vt:lpstr>
      <vt:lpstr>Беззнаковые типы</vt:lpstr>
      <vt:lpstr>Связь знаковых и беззнаковых типов</vt:lpstr>
      <vt:lpstr>ДП беззнаковых типов</vt:lpstr>
      <vt:lpstr>ДП беззнаковых типов</vt:lpstr>
      <vt:lpstr>ДП знаковых типов</vt:lpstr>
      <vt:lpstr>Представления-ловушки vs отрицательный 0</vt:lpstr>
      <vt:lpstr>Представление знаковых типов</vt:lpstr>
      <vt:lpstr>Типы с «плавающей точкой»</vt:lpstr>
      <vt:lpstr>ДП double – стандарт IEEE 754</vt:lpstr>
      <vt:lpstr>ДП float – стандарт IEEE 754</vt:lpstr>
      <vt:lpstr>ДП float – стандарт IEEE 754</vt:lpstr>
      <vt:lpstr>ДП complex float и complex double</vt:lpstr>
      <vt:lpstr>Производные типы</vt:lpstr>
      <vt:lpstr>Перечислимый тип enum</vt:lpstr>
      <vt:lpstr>Указатель на тип T</vt:lpstr>
      <vt:lpstr>Массив T[N] из N элементов типа T</vt:lpstr>
      <vt:lpstr>ДП массива T[N] </vt:lpstr>
      <vt:lpstr>Структура struct S { T1 E1; T2 E2; … ; TN EN; }</vt:lpstr>
      <vt:lpstr>Структура struct S { T1 E1; T2 E2; … ; TN EN; }</vt:lpstr>
      <vt:lpstr>ДП struct S { T1 E1; T2 E2; … ; TN EN; }</vt:lpstr>
      <vt:lpstr>Размер struct зависит от порядка элементов</vt:lpstr>
      <vt:lpstr>Объединение union U { T1 E1; T2 E2; … ; TN EN; }</vt:lpstr>
      <vt:lpstr>Объединение union U { T1 E1; T2 E2; … ; TN EN; }</vt:lpstr>
      <vt:lpstr>ДП union U { T1 E1; T2 E2; … ; TN EN; }</vt:lpstr>
      <vt:lpstr>Функциональный тип T(T1, T2, …, TN) и др.</vt:lpstr>
      <vt:lpstr>Пример fun_fun.c</vt:lpstr>
      <vt:lpstr>Неполный тип</vt:lpstr>
      <vt:lpstr>Тип void</vt:lpstr>
      <vt:lpstr>Неполное перечисление</vt:lpstr>
      <vt:lpstr>Неполный массив</vt:lpstr>
      <vt:lpstr>Неполные структуры (объединения)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Evgenii Petrov</dc:creator>
  <cp:lastModifiedBy>Evgenii Petrov</cp:lastModifiedBy>
  <cp:revision>107</cp:revision>
  <dcterms:created xsi:type="dcterms:W3CDTF">2026-08-30T14:57:46Z</dcterms:created>
  <dcterms:modified xsi:type="dcterms:W3CDTF">2026-09-03T03:54:06Z</dcterms:modified>
</cp:coreProperties>
</file>