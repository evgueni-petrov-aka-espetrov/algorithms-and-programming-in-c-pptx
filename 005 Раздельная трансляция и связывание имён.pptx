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41" r:id="rId4"/>
    <p:sldId id="299" r:id="rId5"/>
    <p:sldId id="315" r:id="rId6"/>
    <p:sldId id="342" r:id="rId7"/>
    <p:sldId id="343" r:id="rId8"/>
    <p:sldId id="275" r:id="rId9"/>
    <p:sldId id="344" r:id="rId10"/>
    <p:sldId id="345" r:id="rId11"/>
    <p:sldId id="317" r:id="rId12"/>
    <p:sldId id="321" r:id="rId13"/>
    <p:sldId id="329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258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E3B4-6E61-B743-E6C2-46964DEEF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E0813-E2DA-09D3-7464-99D7FF090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63B53-A81B-1D09-051B-9E2636632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FC0B1-6D03-E391-1450-03D48715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DFC3B-E1AA-FDC6-5A30-91B1EA3A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176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07C5-D9C4-FD18-BEFC-A594068F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C1F65-44B3-A4C0-95D7-6881829BB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CEA25-4036-AE29-4535-FFA510BA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B0920-21E5-0E90-961C-3884CD65F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58190-74C6-F071-22F7-D83B4958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08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3CB8-2A4E-FA8D-644A-4849F023E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62599-953D-A4D1-FACF-0EFD7110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F5CF4-1A17-6D18-A5C0-C4D18C1B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09B20-58F0-7FF8-F8C3-DB3F7D3B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AB13A-56C5-C513-9A62-9F659759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93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1044-1922-6D72-555F-F4D873E8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E3AD1-F84A-2DD0-2F5F-AB9264067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31F18-D40A-A56C-3723-45CE60968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6798E-E15A-D2E2-2FC8-B813BCA7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D40F2-1E8C-8F3D-1DD1-263BA0BD4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8D9A5-4AE9-E386-6833-DAB6D8AF4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91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F0DC-C0A3-391F-F2CA-34888601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75217-A58F-F571-6890-F49E1AE98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7694C-E775-727F-22F2-553C02CB9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E7E9C-17E2-8D80-CC0C-C9C8F21D3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B332A-08B7-C2B2-057E-BA2B9EC24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609AC0-53EB-7AE4-EF79-3F33F45D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8BD0C-D94B-2BB9-3BD1-4D5174B58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51110A-DF6D-7441-4671-8073C406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75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78DF1-19C3-406B-502C-E3C1F8C6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EB93A-6D37-F406-F078-9407F29C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4578C-626E-9B5C-8514-B921371E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A13AB-A221-5666-9B21-2BF5927F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0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7BE64-05E7-25E3-E303-49D6556E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55187-84B0-B51E-152D-66F50909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9AEDE-477D-BD74-1EF8-B2F1AD8C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36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13CF-CCDD-729E-D2A2-6AA3D393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870A6-EBD9-076E-95E4-000B5BEDB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38A2D-34BF-AFB2-6963-87D203E95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5028-70AE-F27B-0F84-831F6DEB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92939-8C06-5EBD-6BF8-130E1318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27CF7-2C13-16F5-514E-104FE87A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27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BA2F-1046-516C-1446-B563DE7C0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19574-A542-5803-DE4D-17961F6C8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B1898-C410-6094-CD75-8B2B9C73A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278F1-D7B6-E0C2-5EB1-4B2136A27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BDF27-51FD-4503-1AA4-29E2C2A41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B254F-BEE4-276F-6E36-98FC9366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68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A5DF-D9FE-FCBF-721C-5FC71AF7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38D84-0C51-B21A-B518-D287DC22F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3252C-CEF0-2F84-DC9C-408FB08B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62CBE-C137-082F-4ECB-EAB95A6E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B0F63-8A2E-C8BC-F6DD-A6D2F68E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54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08C43-B878-EDDB-0D40-F257D336F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8BB29-C135-6BE6-A35B-AF0C3C950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1332F-7879-22E4-BE6F-FBA6CBCA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178-F3E8-44C7-9F66-EF93E7DFC7F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B7434-E323-C4BC-8CCB-64B4E42F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AABD9-6178-B077-BA8B-D7584603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09AC-6763-4BAE-A856-AEE7F5BDF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03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884E3-4A64-6558-81FF-BFB2E9D76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73723-9644-EDF9-785A-8500D9E64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EBDA5-FB05-7C5A-8EFD-2B990FC8B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667C178-F3E8-44C7-9F66-EF93E7DFC7F8}" type="datetimeFigureOut">
              <a:rPr lang="ru-RU" smtClean="0"/>
              <a:pPr/>
              <a:t>20.10.2026</a:t>
            </a:fld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6CF7F-CC25-4EB8-19BD-BA321D869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1C517-A815-8E18-0F5B-82E809E4C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99409AC-6763-4BAE-A856-AEE7F5BDF2C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93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7C8F-C2F0-94E8-E064-1B103935B9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Раздельная трансляция и связывание имён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E586C-3E2D-2C00-CE09-CFD544B26E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110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14BD5-C28B-861E-6E89-BEB80D4A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C350-1539-918F-AC26-664BC2B0F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Деление исходного кода на части</a:t>
            </a:r>
          </a:p>
          <a:p>
            <a:r>
              <a:rPr lang="ru-RU" dirty="0"/>
              <a:t>Инструменты разработки</a:t>
            </a:r>
          </a:p>
          <a:p>
            <a:pPr lvl="1"/>
            <a:r>
              <a:rPr lang="ru-RU" dirty="0"/>
              <a:t>Компилятор, линкер, этапы работы</a:t>
            </a:r>
            <a:endParaRPr lang="en-US" dirty="0"/>
          </a:p>
          <a:p>
            <a:r>
              <a:rPr lang="ru-RU" dirty="0"/>
              <a:t>Связывание идентификаторов</a:t>
            </a:r>
          </a:p>
          <a:p>
            <a:r>
              <a:rPr lang="ru-RU" dirty="0"/>
              <a:t>Правила связывания идентификаторов</a:t>
            </a:r>
          </a:p>
        </p:txBody>
      </p:sp>
    </p:spTree>
    <p:extLst>
      <p:ext uri="{BB962C8B-B14F-4D97-AF65-F5344CB8AC3E}">
        <p14:creationId xmlns:p14="http://schemas.microsoft.com/office/powerpoint/2010/main" val="344113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 install </a:t>
            </a:r>
            <a:r>
              <a:rPr lang="en-US" dirty="0" err="1"/>
              <a:t>catboost</a:t>
            </a:r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A58FFF-E90F-F167-8A59-67198F858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89" y="1894975"/>
            <a:ext cx="10515600" cy="423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Делим</a:t>
            </a:r>
            <a:r>
              <a:rPr lang="en-US" baseline="30000" dirty="0"/>
              <a:t> </a:t>
            </a:r>
            <a:r>
              <a:rPr lang="ru-RU" dirty="0"/>
              <a:t>исходный код на части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По возрастанию гранулярности</a:t>
            </a:r>
          </a:p>
          <a:p>
            <a:pPr lvl="1"/>
            <a:r>
              <a:rPr lang="ru-RU" dirty="0"/>
              <a:t>Данные и функции для их обработки</a:t>
            </a:r>
          </a:p>
          <a:p>
            <a:pPr lvl="2"/>
            <a:r>
              <a:rPr lang="ru-RU" dirty="0"/>
              <a:t>Изолируем разные логики -</a:t>
            </a:r>
            <a:r>
              <a:rPr lang="en-US" dirty="0"/>
              <a:t>&gt; </a:t>
            </a:r>
            <a:r>
              <a:rPr lang="ru-RU" dirty="0"/>
              <a:t>экономим контекст внимания при работе с кодом</a:t>
            </a:r>
          </a:p>
          <a:p>
            <a:pPr lvl="1"/>
            <a:r>
              <a:rPr lang="ru-RU" dirty="0">
                <a:highlight>
                  <a:srgbClr val="C0C0C0"/>
                </a:highlight>
              </a:rPr>
              <a:t>Файл</a:t>
            </a:r>
          </a:p>
          <a:p>
            <a:pPr lvl="2"/>
            <a:r>
              <a:rPr lang="ru-RU" dirty="0"/>
              <a:t>Изолируем правки в коде -</a:t>
            </a:r>
            <a:r>
              <a:rPr lang="en-US" dirty="0"/>
              <a:t>&gt; </a:t>
            </a:r>
            <a:r>
              <a:rPr lang="ru-RU" dirty="0"/>
              <a:t>повышаем параллельность написания и компиляции кода</a:t>
            </a:r>
          </a:p>
          <a:p>
            <a:pPr lvl="1"/>
            <a:r>
              <a:rPr lang="ru-RU" dirty="0">
                <a:highlight>
                  <a:srgbClr val="C0C0C0"/>
                </a:highlight>
              </a:rPr>
              <a:t>Статическая библиотека</a:t>
            </a:r>
          </a:p>
          <a:p>
            <a:pPr lvl="2"/>
            <a:r>
              <a:rPr lang="ru-RU" dirty="0"/>
              <a:t>Изолируем этапы сборки -</a:t>
            </a:r>
            <a:r>
              <a:rPr lang="en-US" dirty="0"/>
              <a:t>&gt; </a:t>
            </a:r>
            <a:r>
              <a:rPr lang="ru-RU" dirty="0"/>
              <a:t>экономим контекст внимания при работе с описанием сборки</a:t>
            </a:r>
          </a:p>
          <a:p>
            <a:pPr lvl="1"/>
            <a:r>
              <a:rPr lang="ru-RU" dirty="0">
                <a:highlight>
                  <a:srgbClr val="C0C0C0"/>
                </a:highlight>
              </a:rPr>
              <a:t>Приложение или динамическая библиотека</a:t>
            </a:r>
          </a:p>
          <a:p>
            <a:pPr lvl="2"/>
            <a:r>
              <a:rPr lang="ru-RU" dirty="0"/>
              <a:t>Изолируем исполняемый код </a:t>
            </a:r>
            <a:r>
              <a:rPr lang="en-US" dirty="0"/>
              <a:t>-&gt; </a:t>
            </a:r>
            <a:r>
              <a:rPr lang="ru-RU" dirty="0"/>
              <a:t>экономим время сборки, контекст внимания при работе с описанием сборки</a:t>
            </a:r>
          </a:p>
          <a:p>
            <a:pPr lvl="1"/>
            <a:r>
              <a:rPr lang="ru-RU" dirty="0"/>
              <a:t>Сервис</a:t>
            </a:r>
          </a:p>
          <a:p>
            <a:pPr lvl="2"/>
            <a:r>
              <a:rPr lang="ru-RU" dirty="0"/>
              <a:t>Изолируем взаимодействие приложений -</a:t>
            </a:r>
            <a:r>
              <a:rPr lang="en-US" dirty="0"/>
              <a:t>&gt; </a:t>
            </a:r>
            <a:r>
              <a:rPr lang="ru-RU" dirty="0"/>
              <a:t>экономим время развертывания сервисов</a:t>
            </a:r>
          </a:p>
        </p:txBody>
      </p:sp>
    </p:spTree>
    <p:extLst>
      <p:ext uri="{BB962C8B-B14F-4D97-AF65-F5344CB8AC3E}">
        <p14:creationId xmlns:p14="http://schemas.microsoft.com/office/powerpoint/2010/main" val="1271482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Компилятор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A4B69-515F-9135-765D-D98D3048445D}"/>
              </a:ext>
            </a:extLst>
          </p:cNvPr>
          <p:cNvSpPr txBox="1"/>
          <p:nvPr/>
        </p:nvSpPr>
        <p:spPr>
          <a:xfrm>
            <a:off x="3702591" y="2003449"/>
            <a:ext cx="1574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Лексический анализ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925CA-B474-38DF-D75E-BAE2E6A59023}"/>
              </a:ext>
            </a:extLst>
          </p:cNvPr>
          <p:cNvSpPr txBox="1"/>
          <p:nvPr/>
        </p:nvSpPr>
        <p:spPr>
          <a:xfrm>
            <a:off x="9350649" y="2003454"/>
            <a:ext cx="2009274" cy="646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Синтаксический анализ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F8FE2-E81B-EA10-091C-6A6D63D6D9BF}"/>
              </a:ext>
            </a:extLst>
          </p:cNvPr>
          <p:cNvSpPr txBox="1"/>
          <p:nvPr/>
        </p:nvSpPr>
        <p:spPr>
          <a:xfrm>
            <a:off x="6515670" y="3517827"/>
            <a:ext cx="186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Семантический анализ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F1F2A-55AB-C57E-4A38-6886DFCFF1A0}"/>
              </a:ext>
            </a:extLst>
          </p:cNvPr>
          <p:cNvSpPr txBox="1"/>
          <p:nvPr/>
        </p:nvSpPr>
        <p:spPr>
          <a:xfrm>
            <a:off x="832077" y="3379327"/>
            <a:ext cx="1862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Построение внутреннего представления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4E85F-36E3-E49B-BC23-E0B29665AB3C}"/>
              </a:ext>
            </a:extLst>
          </p:cNvPr>
          <p:cNvSpPr txBox="1"/>
          <p:nvPr/>
        </p:nvSpPr>
        <p:spPr>
          <a:xfrm>
            <a:off x="3604647" y="5498401"/>
            <a:ext cx="162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Оптимизация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76A04-EC38-6356-C8E0-6BD84E3F52AA}"/>
              </a:ext>
            </a:extLst>
          </p:cNvPr>
          <p:cNvSpPr txBox="1"/>
          <p:nvPr/>
        </p:nvSpPr>
        <p:spPr>
          <a:xfrm>
            <a:off x="6505234" y="5498401"/>
            <a:ext cx="179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err="1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Кодогенерация</a:t>
            </a:r>
            <a:endParaRPr lang="ru-RU" dirty="0">
              <a:highlight>
                <a:srgbClr val="00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1402C5-18BF-FC2B-DF99-48E95BF0E1BD}"/>
              </a:ext>
            </a:extLst>
          </p:cNvPr>
          <p:cNvSpPr/>
          <p:nvPr/>
        </p:nvSpPr>
        <p:spPr>
          <a:xfrm>
            <a:off x="832077" y="1815670"/>
            <a:ext cx="2437208" cy="102188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Исходный код – единица компиляции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01B076-7F3B-B3A2-9FB0-0EBC0D8BC9E4}"/>
              </a:ext>
            </a:extLst>
          </p:cNvPr>
          <p:cNvSpPr/>
          <p:nvPr/>
        </p:nvSpPr>
        <p:spPr>
          <a:xfrm>
            <a:off x="5709975" y="1815670"/>
            <a:ext cx="3207368" cy="10218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Список лексем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идентификаторы, ключевые слова, константы, операторы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3AF0C6-313B-4340-2AA0-390B5ACCDFA6}"/>
              </a:ext>
            </a:extLst>
          </p:cNvPr>
          <p:cNvSpPr/>
          <p:nvPr/>
        </p:nvSpPr>
        <p:spPr>
          <a:xfrm>
            <a:off x="9255999" y="3160726"/>
            <a:ext cx="2103923" cy="13605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Дерево синтаксического разбора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(Abstract Syntax tree) 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879EE5-98DF-7006-4736-2F8767799EAB}"/>
              </a:ext>
            </a:extLst>
          </p:cNvPr>
          <p:cNvSpPr/>
          <p:nvPr/>
        </p:nvSpPr>
        <p:spPr>
          <a:xfrm>
            <a:off x="3572408" y="3186939"/>
            <a:ext cx="2065820" cy="13081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типы, видимость,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constness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т.п.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36F1D8-B05E-1171-99B8-ABFA24089F10}"/>
              </a:ext>
            </a:extLst>
          </p:cNvPr>
          <p:cNvSpPr/>
          <p:nvPr/>
        </p:nvSpPr>
        <p:spPr>
          <a:xfrm>
            <a:off x="832077" y="5029014"/>
            <a:ext cx="2437208" cy="13081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Промежуточное представление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Intermediate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.)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4F2DBEE-628F-90CF-125D-054287F407E9}"/>
              </a:ext>
            </a:extLst>
          </p:cNvPr>
          <p:cNvSpPr/>
          <p:nvPr/>
        </p:nvSpPr>
        <p:spPr>
          <a:xfrm>
            <a:off x="5517085" y="5029014"/>
            <a:ext cx="696956" cy="13081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</a:t>
            </a:r>
            <a:endParaRPr lang="ru-RU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F83C9F-29CD-24B9-1CB2-178A51A5D4A7}"/>
              </a:ext>
            </a:extLst>
          </p:cNvPr>
          <p:cNvSpPr/>
          <p:nvPr/>
        </p:nvSpPr>
        <p:spPr>
          <a:xfrm>
            <a:off x="8639799" y="5005260"/>
            <a:ext cx="2720124" cy="135561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Объектный код – </a:t>
            </a:r>
            <a:r>
              <a:rPr lang="ru-RU" sz="1800" dirty="0"/>
              <a:t>последовательность машинных инструкций с псевдо-адресами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1CF4B9-20DF-91A1-EEC9-1165426B1AB6}"/>
              </a:ext>
            </a:extLst>
          </p:cNvPr>
          <p:cNvCxnSpPr>
            <a:cxnSpLocks/>
            <a:stCxn id="7" idx="3"/>
            <a:endCxn id="14" idx="3"/>
          </p:cNvCxnSpPr>
          <p:nvPr/>
        </p:nvCxnSpPr>
        <p:spPr>
          <a:xfrm flipH="1">
            <a:off x="11359922" y="2326615"/>
            <a:ext cx="1" cy="1514377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87F2BA-90EE-87E1-215F-5ADB12E0FC40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5276669" y="2326615"/>
            <a:ext cx="433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1F7293-9561-B8BC-DEF2-0DE48E663AD3}"/>
              </a:ext>
            </a:extLst>
          </p:cNvPr>
          <p:cNvCxnSpPr>
            <a:cxnSpLocks/>
            <a:stCxn id="12" idx="3"/>
            <a:endCxn id="6" idx="1"/>
          </p:cNvCxnSpPr>
          <p:nvPr/>
        </p:nvCxnSpPr>
        <p:spPr>
          <a:xfrm>
            <a:off x="3269285" y="2326615"/>
            <a:ext cx="433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9F147D-7215-DC1F-2122-61DE5AEEFB6D}"/>
              </a:ext>
            </a:extLst>
          </p:cNvPr>
          <p:cNvCxnSpPr>
            <a:cxnSpLocks/>
            <a:stCxn id="14" idx="1"/>
            <a:endCxn id="8" idx="3"/>
          </p:cNvCxnSpPr>
          <p:nvPr/>
        </p:nvCxnSpPr>
        <p:spPr>
          <a:xfrm flipH="1">
            <a:off x="8378558" y="3840992"/>
            <a:ext cx="8774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FB911C-F932-E2BB-7041-12A2371B2E89}"/>
              </a:ext>
            </a:extLst>
          </p:cNvPr>
          <p:cNvCxnSpPr>
            <a:cxnSpLocks/>
            <a:stCxn id="8" idx="1"/>
            <a:endCxn id="15" idx="3"/>
          </p:cNvCxnSpPr>
          <p:nvPr/>
        </p:nvCxnSpPr>
        <p:spPr>
          <a:xfrm flipH="1">
            <a:off x="5638228" y="3840993"/>
            <a:ext cx="8774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6B3058-AB8D-0CDF-FEAB-E9A60BCBF5BC}"/>
              </a:ext>
            </a:extLst>
          </p:cNvPr>
          <p:cNvCxnSpPr>
            <a:cxnSpLocks/>
            <a:stCxn id="15" idx="1"/>
            <a:endCxn id="9" idx="3"/>
          </p:cNvCxnSpPr>
          <p:nvPr/>
        </p:nvCxnSpPr>
        <p:spPr>
          <a:xfrm flipH="1" flipV="1">
            <a:off x="2694966" y="3840992"/>
            <a:ext cx="87744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422001-D855-A45A-8D98-7A1886AA79E4}"/>
              </a:ext>
            </a:extLst>
          </p:cNvPr>
          <p:cNvCxnSpPr>
            <a:cxnSpLocks/>
            <a:stCxn id="9" idx="1"/>
            <a:endCxn id="16" idx="1"/>
          </p:cNvCxnSpPr>
          <p:nvPr/>
        </p:nvCxnSpPr>
        <p:spPr>
          <a:xfrm rot="10800000" flipV="1">
            <a:off x="832077" y="3840992"/>
            <a:ext cx="12700" cy="184207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AD7517-7DC3-EEB9-6D6B-1C8AAA9360BA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5225892" y="5683067"/>
            <a:ext cx="2911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350144A-1A6D-D0FD-479D-D230F7EFB389}"/>
              </a:ext>
            </a:extLst>
          </p:cNvPr>
          <p:cNvCxnSpPr>
            <a:cxnSpLocks/>
            <a:stCxn id="17" idx="3"/>
            <a:endCxn id="11" idx="1"/>
          </p:cNvCxnSpPr>
          <p:nvPr/>
        </p:nvCxnSpPr>
        <p:spPr>
          <a:xfrm flipV="1">
            <a:off x="6214041" y="5683067"/>
            <a:ext cx="2911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4F067B-2C35-2C5C-E582-6886079A542C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8917343" y="2326615"/>
            <a:ext cx="433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25A390-6B5B-4C8E-1B87-89CBFDC819DC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>
            <a:off x="8304437" y="5683067"/>
            <a:ext cx="33536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29">
            <a:extLst>
              <a:ext uri="{FF2B5EF4-FFF2-40B4-BE49-F238E27FC236}">
                <a16:creationId xmlns:a16="http://schemas.microsoft.com/office/drawing/2014/main" id="{0D591314-1D47-89B2-3286-AC0BCA9758D9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 flipV="1">
            <a:off x="3269285" y="5683067"/>
            <a:ext cx="33536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104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73A3-ACA8-1247-F806-E59FC331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 </a:t>
            </a:r>
            <a:r>
              <a:rPr lang="ru-RU" dirty="0">
                <a:highlight>
                  <a:srgbClr val="00FFFF"/>
                </a:highlight>
              </a:rPr>
              <a:t>объектного файла</a:t>
            </a:r>
            <a:r>
              <a:rPr lang="ru-RU" dirty="0"/>
              <a:t> .o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5D928-303F-50DE-F57F-AD3031DBF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Заголовок</a:t>
            </a:r>
          </a:p>
          <a:p>
            <a:pPr lvl="1"/>
            <a:r>
              <a:rPr lang="ru-RU" dirty="0"/>
              <a:t>Параметры файла и расположение таблицы заголовков секций</a:t>
            </a:r>
            <a:endParaRPr lang="en-US" dirty="0"/>
          </a:p>
          <a:p>
            <a:r>
              <a:rPr lang="ru-RU" dirty="0"/>
              <a:t>Таблица заголовков секций</a:t>
            </a:r>
          </a:p>
          <a:p>
            <a:pPr lvl="1"/>
            <a:r>
              <a:rPr lang="ru-RU" dirty="0"/>
              <a:t>типы, размеры, расположение и атрибуты секций</a:t>
            </a:r>
            <a:endParaRPr lang="en-US" dirty="0"/>
          </a:p>
          <a:p>
            <a:r>
              <a:rPr lang="ru-RU" dirty="0"/>
              <a:t>Секции</a:t>
            </a:r>
          </a:p>
          <a:p>
            <a:pPr lvl="1"/>
            <a:r>
              <a:rPr lang="ru-RU" dirty="0"/>
              <a:t>код, данные, таблицы символов, строки, записи релокаций и другая информация</a:t>
            </a:r>
          </a:p>
          <a:p>
            <a:pPr lvl="2"/>
            <a:r>
              <a:rPr lang="ru-RU" dirty="0">
                <a:highlight>
                  <a:srgbClr val="00FFFF"/>
                </a:highlight>
              </a:rPr>
              <a:t>символ</a:t>
            </a:r>
            <a:r>
              <a:rPr lang="ru-RU" dirty="0"/>
              <a:t> – функция или переменная со статическим временем хранения</a:t>
            </a:r>
          </a:p>
          <a:p>
            <a:pPr lvl="2"/>
            <a:r>
              <a:rPr lang="ru-RU" dirty="0">
                <a:highlight>
                  <a:srgbClr val="00FFFF"/>
                </a:highlight>
              </a:rPr>
              <a:t>релокация</a:t>
            </a:r>
            <a:r>
              <a:rPr lang="ru-RU" dirty="0"/>
              <a:t> – позиция адреса в коде, вид адреса – абсолютный/относительный</a:t>
            </a:r>
          </a:p>
          <a:p>
            <a:endParaRPr lang="ru-RU" dirty="0"/>
          </a:p>
          <a:p>
            <a:r>
              <a:rPr lang="ru-RU" dirty="0">
                <a:highlight>
                  <a:srgbClr val="00FFFF"/>
                </a:highlight>
              </a:rPr>
              <a:t>Статическая библиотека</a:t>
            </a:r>
            <a:r>
              <a:rPr lang="ru-RU" dirty="0"/>
              <a:t> – архив объектных файлов</a:t>
            </a:r>
          </a:p>
        </p:txBody>
      </p:sp>
    </p:spTree>
    <p:extLst>
      <p:ext uri="{BB962C8B-B14F-4D97-AF65-F5344CB8AC3E}">
        <p14:creationId xmlns:p14="http://schemas.microsoft.com/office/powerpoint/2010/main" val="3722413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73A3-ACA8-1247-F806-E59FC331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Линкер (компоновщик, редактор связей)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5D928-303F-50DE-F57F-AD3031DBF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Разбор входных файлов и построение внутренних представлений секций, символов и релокаций</a:t>
            </a:r>
          </a:p>
          <a:p>
            <a:pPr lvl="2"/>
            <a:endParaRPr lang="ru-RU" dirty="0"/>
          </a:p>
          <a:p>
            <a:r>
              <a:rPr lang="ru-RU" dirty="0"/>
              <a:t>Построение общей таблицы определений символов</a:t>
            </a:r>
            <a:endParaRPr lang="en-US" dirty="0"/>
          </a:p>
          <a:p>
            <a:pPr lvl="1"/>
            <a:r>
              <a:rPr lang="ru-RU" dirty="0"/>
              <a:t>диагностика недопустимых повторных или отсутствующих определений</a:t>
            </a:r>
          </a:p>
          <a:p>
            <a:pPr lvl="1"/>
            <a:r>
              <a:rPr lang="ru-RU" dirty="0"/>
              <a:t>извлечение объектных файлов из статических библиотек</a:t>
            </a:r>
          </a:p>
          <a:p>
            <a:pPr lvl="2"/>
            <a:endParaRPr lang="ru-RU" dirty="0"/>
          </a:p>
          <a:p>
            <a:r>
              <a:rPr lang="ru-RU" dirty="0"/>
              <a:t>Формирование выходного файла</a:t>
            </a:r>
          </a:p>
          <a:p>
            <a:pPr lvl="1"/>
            <a:r>
              <a:rPr lang="ru-RU" dirty="0"/>
              <a:t>вычисление размеров и выравниваний секций</a:t>
            </a:r>
          </a:p>
          <a:p>
            <a:pPr lvl="1"/>
            <a:r>
              <a:rPr lang="ru-RU" dirty="0"/>
              <a:t>вычисление адресов и смещений в файле</a:t>
            </a:r>
          </a:p>
          <a:p>
            <a:pPr lvl="2"/>
            <a:endParaRPr lang="ru-RU" dirty="0"/>
          </a:p>
          <a:p>
            <a:r>
              <a:rPr lang="ru-RU" dirty="0"/>
              <a:t>Подстановка вычисленных адресов и смещений в код в соотв. с релокациями</a:t>
            </a:r>
          </a:p>
          <a:p>
            <a:pPr lvl="2"/>
            <a:endParaRPr lang="ru-RU" dirty="0"/>
          </a:p>
          <a:p>
            <a:r>
              <a:rPr lang="ru-RU" dirty="0"/>
              <a:t>Запись выходного файла</a:t>
            </a:r>
          </a:p>
          <a:p>
            <a:pPr lvl="1"/>
            <a:r>
              <a:rPr lang="ru-RU" dirty="0"/>
              <a:t>заголовки, содержимое секций, служебные таблицы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9129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b="1" dirty="0">
                <a:ea typeface="Calibri" panose="020F0502020204030204" pitchFamily="34" charset="0"/>
                <a:cs typeface="Calibri" panose="020F0502020204030204" pitchFamily="34" charset="0"/>
              </a:rPr>
              <a:t>К</a:t>
            </a:r>
            <a:r>
              <a:rPr lang="ru-RU" dirty="0">
                <a:ea typeface="Calibri" panose="020F0502020204030204" pitchFamily="34" charset="0"/>
                <a:cs typeface="Calibri" panose="020F0502020204030204" pitchFamily="34" charset="0"/>
              </a:rPr>
              <a:t>омпиляция и </a:t>
            </a:r>
            <a:r>
              <a:rPr lang="ru-RU" b="1" dirty="0">
                <a:ea typeface="Calibri" panose="020F0502020204030204" pitchFamily="34" charset="0"/>
                <a:cs typeface="Calibri" panose="020F0502020204030204" pitchFamily="34" charset="0"/>
              </a:rPr>
              <a:t>Л</a:t>
            </a:r>
            <a:r>
              <a:rPr lang="ru-RU" dirty="0">
                <a:ea typeface="Calibri" panose="020F0502020204030204" pitchFamily="34" charset="0"/>
                <a:cs typeface="Calibri" panose="020F0502020204030204" pitchFamily="34" charset="0"/>
              </a:rPr>
              <a:t>инковка == Сборка</a:t>
            </a:r>
          </a:p>
        </p:txBody>
      </p:sp>
      <p:sp>
        <p:nvSpPr>
          <p:cNvPr id="6" name="Oval 5"/>
          <p:cNvSpPr/>
          <p:nvPr/>
        </p:nvSpPr>
        <p:spPr>
          <a:xfrm>
            <a:off x="7248030" y="2084074"/>
            <a:ext cx="914400" cy="914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</a:t>
            </a:r>
          </a:p>
        </p:txBody>
      </p:sp>
      <p:sp>
        <p:nvSpPr>
          <p:cNvPr id="8" name="Oval 7"/>
          <p:cNvSpPr/>
          <p:nvPr/>
        </p:nvSpPr>
        <p:spPr>
          <a:xfrm>
            <a:off x="3881015" y="2091854"/>
            <a:ext cx="914400" cy="914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52241" y="2084074"/>
            <a:ext cx="1728192" cy="9144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Исполняемый файл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52241" y="3718458"/>
            <a:ext cx="1728192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Динамическая библиотека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52242" y="4937710"/>
            <a:ext cx="1728191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Статическая библиотека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3256" y="2094899"/>
            <a:ext cx="1473295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Объектный код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8060" y="2084074"/>
            <a:ext cx="1473295" cy="9144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Свой исходный код</a:t>
            </a:r>
          </a:p>
        </p:txBody>
      </p:sp>
      <p:cxnSp>
        <p:nvCxnSpPr>
          <p:cNvPr id="15" name="Elbow Connector 14"/>
          <p:cNvCxnSpPr>
            <a:cxnSpLocks/>
            <a:stCxn id="13" idx="3"/>
            <a:endCxn id="8" idx="2"/>
          </p:cNvCxnSpPr>
          <p:nvPr/>
        </p:nvCxnSpPr>
        <p:spPr>
          <a:xfrm>
            <a:off x="3391355" y="2541274"/>
            <a:ext cx="489660" cy="778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4"/>
          <p:cNvCxnSpPr>
            <a:stCxn id="8" idx="6"/>
            <a:endCxn id="12" idx="1"/>
          </p:cNvCxnSpPr>
          <p:nvPr/>
        </p:nvCxnSpPr>
        <p:spPr>
          <a:xfrm>
            <a:off x="4795415" y="2549054"/>
            <a:ext cx="527841" cy="304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4"/>
          <p:cNvCxnSpPr>
            <a:cxnSpLocks/>
            <a:stCxn id="6" idx="5"/>
            <a:endCxn id="11" idx="1"/>
          </p:cNvCxnSpPr>
          <p:nvPr/>
        </p:nvCxnSpPr>
        <p:spPr>
          <a:xfrm>
            <a:off x="8028519" y="2864563"/>
            <a:ext cx="623723" cy="2530347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4"/>
          <p:cNvCxnSpPr>
            <a:cxnSpLocks/>
            <a:stCxn id="12" idx="3"/>
            <a:endCxn id="6" idx="2"/>
          </p:cNvCxnSpPr>
          <p:nvPr/>
        </p:nvCxnSpPr>
        <p:spPr>
          <a:xfrm flipV="1">
            <a:off x="6796551" y="2541274"/>
            <a:ext cx="451479" cy="1082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14"/>
          <p:cNvCxnSpPr>
            <a:cxnSpLocks/>
            <a:stCxn id="28" idx="3"/>
            <a:endCxn id="6" idx="3"/>
          </p:cNvCxnSpPr>
          <p:nvPr/>
        </p:nvCxnSpPr>
        <p:spPr>
          <a:xfrm flipV="1">
            <a:off x="6923999" y="2864563"/>
            <a:ext cx="457942" cy="2530347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14"/>
          <p:cNvCxnSpPr>
            <a:cxnSpLocks/>
            <a:stCxn id="6" idx="6"/>
            <a:endCxn id="9" idx="1"/>
          </p:cNvCxnSpPr>
          <p:nvPr/>
        </p:nvCxnSpPr>
        <p:spPr>
          <a:xfrm>
            <a:off x="8162430" y="2541274"/>
            <a:ext cx="489811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14"/>
          <p:cNvCxnSpPr>
            <a:cxnSpLocks/>
            <a:stCxn id="6" idx="5"/>
            <a:endCxn id="10" idx="1"/>
          </p:cNvCxnSpPr>
          <p:nvPr/>
        </p:nvCxnSpPr>
        <p:spPr>
          <a:xfrm>
            <a:off x="8028519" y="2864563"/>
            <a:ext cx="623722" cy="131109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1918060" y="3718458"/>
            <a:ext cx="1473295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Исходный код</a:t>
            </a:r>
            <a:endParaRPr lang="ru-RU" sz="2000" i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3" name="Elbow Connector 14"/>
          <p:cNvCxnSpPr>
            <a:cxnSpLocks/>
            <a:stCxn id="71" idx="3"/>
            <a:endCxn id="8" idx="3"/>
          </p:cNvCxnSpPr>
          <p:nvPr/>
        </p:nvCxnSpPr>
        <p:spPr>
          <a:xfrm flipV="1">
            <a:off x="3391355" y="2872343"/>
            <a:ext cx="623571" cy="130331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cxnSpLocks/>
            <a:stCxn id="4" idx="3"/>
            <a:endCxn id="6" idx="3"/>
          </p:cNvCxnSpPr>
          <p:nvPr/>
        </p:nvCxnSpPr>
        <p:spPr>
          <a:xfrm flipV="1">
            <a:off x="6923999" y="2864563"/>
            <a:ext cx="457942" cy="131109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780C0CD6-1BA1-FA74-D759-4D5CA9542C57}"/>
              </a:ext>
            </a:extLst>
          </p:cNvPr>
          <p:cNvSpPr/>
          <p:nvPr/>
        </p:nvSpPr>
        <p:spPr>
          <a:xfrm>
            <a:off x="5195807" y="3718458"/>
            <a:ext cx="1728192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Динамическая библиотека</a:t>
            </a:r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ED50A954-0720-B68F-669D-4EB874D0A61D}"/>
              </a:ext>
            </a:extLst>
          </p:cNvPr>
          <p:cNvSpPr/>
          <p:nvPr/>
        </p:nvSpPr>
        <p:spPr>
          <a:xfrm>
            <a:off x="5195808" y="4937710"/>
            <a:ext cx="1728191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Статическая библиотека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6C73485-D699-0B7D-3D7C-FEBB0F63C6B4}"/>
              </a:ext>
            </a:extLst>
          </p:cNvPr>
          <p:cNvSpPr txBox="1"/>
          <p:nvPr/>
        </p:nvSpPr>
        <p:spPr>
          <a:xfrm>
            <a:off x="1811567" y="5437076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«Внешние зависимости»</a:t>
            </a:r>
          </a:p>
        </p:txBody>
      </p:sp>
      <p:cxnSp>
        <p:nvCxnSpPr>
          <p:cNvPr id="113" name="Elbow Connector 14">
            <a:extLst>
              <a:ext uri="{FF2B5EF4-FFF2-40B4-BE49-F238E27FC236}">
                <a16:creationId xmlns:a16="http://schemas.microsoft.com/office/drawing/2014/main" id="{73AD0B0D-3FD5-E79D-A975-6E8E2F8BA3D9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2695293" y="4888631"/>
            <a:ext cx="430095" cy="54844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4">
            <a:extLst>
              <a:ext uri="{FF2B5EF4-FFF2-40B4-BE49-F238E27FC236}">
                <a16:creationId xmlns:a16="http://schemas.microsoft.com/office/drawing/2014/main" id="{62992CCD-46DB-945F-0C4A-C175432311A1}"/>
              </a:ext>
            </a:extLst>
          </p:cNvPr>
          <p:cNvCxnSpPr>
            <a:cxnSpLocks/>
            <a:stCxn id="112" idx="0"/>
          </p:cNvCxnSpPr>
          <p:nvPr/>
        </p:nvCxnSpPr>
        <p:spPr>
          <a:xfrm>
            <a:off x="3125388" y="5437076"/>
            <a:ext cx="1808784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4">
            <a:extLst>
              <a:ext uri="{FF2B5EF4-FFF2-40B4-BE49-F238E27FC236}">
                <a16:creationId xmlns:a16="http://schemas.microsoft.com/office/drawing/2014/main" id="{6D878FF0-CA43-47BA-A233-E82162CE8E9A}"/>
              </a:ext>
            </a:extLst>
          </p:cNvPr>
          <p:cNvCxnSpPr>
            <a:cxnSpLocks/>
            <a:stCxn id="112" idx="0"/>
          </p:cNvCxnSpPr>
          <p:nvPr/>
        </p:nvCxnSpPr>
        <p:spPr>
          <a:xfrm flipV="1">
            <a:off x="3125388" y="4228545"/>
            <a:ext cx="1808784" cy="120853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89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360D-80D0-DCA2-D106-6E42EF9B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Деление исходного кода на файлы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C35BC-2ECD-B5E6-17D3-8F0AE1CA3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8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main.c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am foo</a:t>
            </a:r>
            <a:r>
              <a:rPr lang="en-US" sz="1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1370C4B-D15C-9018-4FF6-A576004DCC8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84761390"/>
              </p:ext>
            </p:extLst>
          </p:nvPr>
        </p:nvGraphicFramePr>
        <p:xfrm>
          <a:off x="6172200" y="1825624"/>
          <a:ext cx="5181600" cy="4351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827627022"/>
                    </a:ext>
                  </a:extLst>
                </a:gridCol>
              </a:tblGrid>
              <a:tr h="18372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en-US" sz="1800" b="0" dirty="0" err="1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foo.c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sz="18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800" b="0" dirty="0" err="1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foo.h</a:t>
                      </a:r>
                      <a:r>
                        <a:rPr lang="en-US" sz="1800" b="0" dirty="0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sz="18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1800" b="0" dirty="0" err="1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sz="1800" b="0" dirty="0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FF7B72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1800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D2A8FF"/>
                          </a:solidFill>
                          <a:effectLst/>
                          <a:latin typeface="Consolas" panose="020B0609020204030204" pitchFamily="49" charset="0"/>
                        </a:rPr>
                        <a:t>foo</a:t>
                      </a:r>
                      <a:r>
                        <a:rPr lang="en-US" sz="1800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800" b="0" dirty="0" err="1">
                          <a:solidFill>
                            <a:srgbClr val="D2A8FF"/>
                          </a:solidFill>
                          <a:effectLst/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800" b="0" dirty="0" err="1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0" dirty="0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 am foo</a:t>
                      </a:r>
                      <a:r>
                        <a:rPr lang="en-US" sz="1800" b="0" dirty="0">
                          <a:solidFill>
                            <a:srgbClr val="D7BA7D"/>
                          </a:solidFill>
                          <a:effectLst/>
                          <a:latin typeface="Consolas" panose="020B0609020204030204" pitchFamily="49" charset="0"/>
                        </a:rPr>
                        <a:t>\n</a:t>
                      </a:r>
                      <a:r>
                        <a:rPr lang="en-US" sz="1800" b="0" dirty="0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ru-RU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462589"/>
                  </a:ext>
                </a:extLst>
              </a:tr>
              <a:tr h="6768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en-US" sz="1800" b="0" dirty="0" err="1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foo.h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FF7B72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sz="1800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D2A8FF"/>
                          </a:solidFill>
                          <a:effectLst/>
                          <a:latin typeface="Consolas" panose="020B0609020204030204" pitchFamily="49" charset="0"/>
                        </a:rPr>
                        <a:t>foo</a:t>
                      </a:r>
                      <a:r>
                        <a:rPr lang="en-US" sz="1800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17858"/>
                  </a:ext>
                </a:extLst>
              </a:tr>
              <a:tr h="18372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en-US" sz="1800" b="0" dirty="0" err="1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main.c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sz="18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800" b="0" dirty="0" err="1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foo.h</a:t>
                      </a:r>
                      <a:r>
                        <a:rPr lang="en-US" sz="1800" b="0" dirty="0">
                          <a:solidFill>
                            <a:srgbClr val="A5D6F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FF7B72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D2A8FF"/>
                          </a:solidFill>
                          <a:effectLst/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en-US" sz="1800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800" b="0" dirty="0">
                          <a:solidFill>
                            <a:srgbClr val="D2A8FF"/>
                          </a:solidFill>
                          <a:effectLst/>
                          <a:latin typeface="Consolas" panose="020B0609020204030204" pitchFamily="49" charset="0"/>
                        </a:rPr>
                        <a:t>foo</a:t>
                      </a: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800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ru-RU" dirty="0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80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955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623A8-32E0-3561-D252-2502AF3A6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E447F4-9574-F29D-320B-6BE3FB6F1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Компилятор и линкер – </a:t>
            </a:r>
            <a:r>
              <a:rPr lang="en-US" dirty="0" err="1"/>
              <a:t>gcc</a:t>
            </a:r>
            <a:endParaRPr lang="ru-RU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40B55F1-918E-9A9F-5964-E0BA2B09E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794793"/>
            <a:ext cx="10657755" cy="24376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901857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Связывание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highlight>
                  <a:srgbClr val="00FFFF"/>
                </a:highlight>
              </a:rPr>
              <a:t>Связывание идентификатора </a:t>
            </a:r>
            <a:r>
              <a:rPr lang="ru-RU" sz="3600" dirty="0"/>
              <a:t>– это отождествление различных объявлений идентификатора с одной и той же функцией или значением в памяти</a:t>
            </a:r>
          </a:p>
        </p:txBody>
      </p:sp>
    </p:spTree>
    <p:extLst>
      <p:ext uri="{BB962C8B-B14F-4D97-AF65-F5344CB8AC3E}">
        <p14:creationId xmlns:p14="http://schemas.microsoft.com/office/powerpoint/2010/main" val="6130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связывания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Идентификатор обозначает одно и то же значение или функцию</a:t>
            </a:r>
          </a:p>
          <a:p>
            <a:r>
              <a:rPr lang="ru-RU" dirty="0"/>
              <a:t>во всех единицах компиляции --</a:t>
            </a:r>
            <a:r>
              <a:rPr lang="en-US" dirty="0"/>
              <a:t>&gt; </a:t>
            </a:r>
            <a:r>
              <a:rPr lang="ru-RU" dirty="0">
                <a:highlight>
                  <a:srgbClr val="00FFFF"/>
                </a:highlight>
              </a:rPr>
              <a:t>внешнее связывание</a:t>
            </a:r>
          </a:p>
          <a:p>
            <a:pPr lvl="1"/>
            <a:r>
              <a:rPr lang="en-US" dirty="0"/>
              <a:t>extern</a:t>
            </a:r>
            <a:endParaRPr lang="ru-RU" dirty="0"/>
          </a:p>
          <a:p>
            <a:r>
              <a:rPr lang="ru-RU" dirty="0"/>
              <a:t>в одной единице компиляции --</a:t>
            </a:r>
            <a:r>
              <a:rPr lang="en-US" dirty="0"/>
              <a:t>&gt; </a:t>
            </a:r>
            <a:r>
              <a:rPr lang="ru-RU" dirty="0">
                <a:highlight>
                  <a:srgbClr val="00FFFF"/>
                </a:highlight>
              </a:rPr>
              <a:t>внутреннее связывание</a:t>
            </a:r>
            <a:endParaRPr lang="en-US" dirty="0">
              <a:highlight>
                <a:srgbClr val="00FFFF"/>
              </a:highlight>
            </a:endParaRPr>
          </a:p>
          <a:p>
            <a:pPr lvl="1"/>
            <a:r>
              <a:rPr lang="en-US" dirty="0"/>
              <a:t>static</a:t>
            </a:r>
          </a:p>
          <a:p>
            <a:r>
              <a:rPr lang="ru-RU" dirty="0"/>
              <a:t>в своей области видимости --</a:t>
            </a:r>
            <a:r>
              <a:rPr lang="en-US" dirty="0"/>
              <a:t>&gt;</a:t>
            </a:r>
            <a:r>
              <a:rPr lang="ru-RU" dirty="0"/>
              <a:t> связывание отсутствует</a:t>
            </a:r>
          </a:p>
        </p:txBody>
      </p:sp>
    </p:spTree>
    <p:extLst>
      <p:ext uri="{BB962C8B-B14F-4D97-AF65-F5344CB8AC3E}">
        <p14:creationId xmlns:p14="http://schemas.microsoft.com/office/powerpoint/2010/main" val="4291962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связывания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Разные идентификаторы обозначают разные функции и значения</a:t>
            </a:r>
          </a:p>
          <a:p>
            <a:pPr lvl="1"/>
            <a:endParaRPr lang="ru-RU" dirty="0"/>
          </a:p>
          <a:p>
            <a:r>
              <a:rPr lang="ru-RU" dirty="0"/>
              <a:t>Идентификатор, видимый во всей единице компиляции</a:t>
            </a:r>
          </a:p>
          <a:p>
            <a:pPr lvl="1"/>
            <a:r>
              <a:rPr lang="ru-RU" dirty="0"/>
              <a:t>объявленный </a:t>
            </a:r>
            <a:r>
              <a:rPr lang="en-US" dirty="0"/>
              <a:t>static</a:t>
            </a:r>
            <a:r>
              <a:rPr lang="ru-RU" dirty="0"/>
              <a:t>, имеет внутреннее связывание</a:t>
            </a:r>
          </a:p>
          <a:p>
            <a:pPr lvl="1"/>
            <a:r>
              <a:rPr lang="ru-RU" dirty="0"/>
              <a:t>объявленный </a:t>
            </a:r>
            <a:r>
              <a:rPr lang="en-US" dirty="0"/>
              <a:t>extern</a:t>
            </a:r>
            <a:r>
              <a:rPr lang="ru-RU" dirty="0"/>
              <a:t>, имеет внешнее связывание</a:t>
            </a:r>
          </a:p>
          <a:p>
            <a:pPr lvl="1"/>
            <a:endParaRPr lang="ru-RU" dirty="0"/>
          </a:p>
          <a:p>
            <a:r>
              <a:rPr lang="ru-RU" dirty="0"/>
              <a:t>Объявление функции без </a:t>
            </a:r>
            <a:r>
              <a:rPr lang="ru-RU" dirty="0" err="1"/>
              <a:t>static</a:t>
            </a:r>
            <a:r>
              <a:rPr lang="ru-RU" dirty="0"/>
              <a:t> = объявление </a:t>
            </a:r>
            <a:r>
              <a:rPr lang="ru-RU" dirty="0" err="1"/>
              <a:t>extern</a:t>
            </a:r>
            <a:endParaRPr lang="ru-RU" dirty="0"/>
          </a:p>
          <a:p>
            <a:pPr lvl="1"/>
            <a:endParaRPr lang="ru-RU" dirty="0"/>
          </a:p>
          <a:p>
            <a:r>
              <a:rPr lang="ru-RU" dirty="0"/>
              <a:t>Объявление переменной, видимой во всей единице компиляции, без </a:t>
            </a:r>
            <a:r>
              <a:rPr lang="ru-RU" dirty="0" err="1"/>
              <a:t>static</a:t>
            </a:r>
            <a:r>
              <a:rPr lang="ru-RU" dirty="0"/>
              <a:t> = объявление </a:t>
            </a:r>
            <a:r>
              <a:rPr lang="ru-RU" dirty="0" err="1"/>
              <a:t>extern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Не имеют связывания идентификаторы объявленные</a:t>
            </a:r>
          </a:p>
          <a:p>
            <a:pPr lvl="1"/>
            <a:r>
              <a:rPr lang="ru-RU" dirty="0"/>
              <a:t>В прототипе функции</a:t>
            </a:r>
          </a:p>
          <a:p>
            <a:pPr lvl="1"/>
            <a:r>
              <a:rPr lang="ru-RU" dirty="0"/>
              <a:t>Без </a:t>
            </a:r>
            <a:r>
              <a:rPr lang="ru-RU" dirty="0" err="1"/>
              <a:t>extern</a:t>
            </a:r>
            <a:r>
              <a:rPr lang="ru-RU" dirty="0"/>
              <a:t> внутри блока</a:t>
            </a:r>
          </a:p>
          <a:p>
            <a:endParaRPr lang="en-US" dirty="0"/>
          </a:p>
          <a:p>
            <a:r>
              <a:rPr lang="ru-RU" dirty="0"/>
              <a:t>Объявление </a:t>
            </a:r>
            <a:r>
              <a:rPr lang="en-US" dirty="0"/>
              <a:t>extern</a:t>
            </a:r>
            <a:r>
              <a:rPr lang="ru-RU" dirty="0"/>
              <a:t> в О1 </a:t>
            </a:r>
            <a:r>
              <a:rPr lang="ru-RU" dirty="0">
                <a:sym typeface="Symbol" panose="05050102010706020507" pitchFamily="18" charset="2"/>
              </a:rPr>
              <a:t> О2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ru-RU" dirty="0">
                <a:sym typeface="Symbol" panose="05050102010706020507" pitchFamily="18" charset="2"/>
              </a:rPr>
              <a:t>игнорируется для идентификаторов, имеющих связывание в О2</a:t>
            </a:r>
            <a:endParaRPr lang="en-US" dirty="0">
              <a:sym typeface="Symbol" panose="05050102010706020507" pitchFamily="18" charset="2"/>
            </a:endParaRP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ru-RU" dirty="0"/>
              <a:t>Объявление одного идентификатора с разными связываниями в одной области видимости </a:t>
            </a:r>
            <a:r>
              <a:rPr lang="ru-RU" dirty="0" err="1"/>
              <a:t>undefined</a:t>
            </a:r>
            <a:endParaRPr lang="ru-RU" dirty="0"/>
          </a:p>
          <a:p>
            <a:endParaRPr lang="ru-RU" dirty="0">
              <a:sym typeface="Symbol" panose="05050102010706020507" pitchFamily="18" charset="2"/>
            </a:endParaRP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789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связывания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Разные идентификаторы обозначают разные функции и значения</a:t>
            </a:r>
          </a:p>
          <a:p>
            <a:pPr lvl="1"/>
            <a:endParaRPr lang="ru-RU" dirty="0"/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Идентификатор, видимый во всей единице компиляции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внутреннее связывание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внешнее связывание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функции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переменной, видимой во всей единице компиляции,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 имеют связывания идентификаторы объявленные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прототипе функции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внутри блока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 О1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 О2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игнорируется для идентификаторов, имеющих связывание в О2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одного идентификатора с разными связываниями в одной области видимости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undefined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4E199D-236D-DE09-C38A-61B9857161A4}"/>
              </a:ext>
            </a:extLst>
          </p:cNvPr>
          <p:cNvSpPr/>
          <p:nvPr/>
        </p:nvSpPr>
        <p:spPr>
          <a:xfrm>
            <a:off x="6690817" y="2571610"/>
            <a:ext cx="4662983" cy="24863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sz="2000" dirty="0" err="1">
                <a:solidFill>
                  <a:srgbClr val="6A9955"/>
                </a:solidFill>
                <a:latin typeface="Consolas" panose="020B0609020204030204" pitchFamily="49" charset="0"/>
              </a:rPr>
              <a:t>main.c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math.h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calc_sin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extern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>
                <a:solidFill>
                  <a:srgbClr val="DCDCAA"/>
                </a:solidFill>
                <a:latin typeface="Consolas" panose="020B0609020204030204" pitchFamily="49" charset="0"/>
              </a:rPr>
              <a:t>sin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>
                <a:solidFill>
                  <a:srgbClr val="DCDCAA"/>
                </a:solidFill>
                <a:latin typeface="Consolas" panose="020B0609020204030204" pitchFamily="49" charset="0"/>
              </a:rPr>
              <a:t>sin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35B9C-4B72-D0CB-075D-964F3A8CCE72}"/>
              </a:ext>
            </a:extLst>
          </p:cNvPr>
          <p:cNvSpPr/>
          <p:nvPr/>
        </p:nvSpPr>
        <p:spPr>
          <a:xfrm>
            <a:off x="838201" y="4456460"/>
            <a:ext cx="4662983" cy="15371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math.c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 ...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BAFB969-7768-06D8-511B-455A8A3FBB7F}"/>
              </a:ext>
            </a:extLst>
          </p:cNvPr>
          <p:cNvSpPr/>
          <p:nvPr/>
        </p:nvSpPr>
        <p:spPr>
          <a:xfrm>
            <a:off x="2198474" y="4272035"/>
            <a:ext cx="7261050" cy="857906"/>
          </a:xfrm>
          <a:custGeom>
            <a:avLst/>
            <a:gdLst>
              <a:gd name="connsiteX0" fmla="*/ 0 w 1413648"/>
              <a:gd name="connsiteY0" fmla="*/ 933650 h 933650"/>
              <a:gd name="connsiteX1" fmla="*/ 741145 w 1413648"/>
              <a:gd name="connsiteY1" fmla="*/ 673768 h 933650"/>
              <a:gd name="connsiteX2" fmla="*/ 1337912 w 1413648"/>
              <a:gd name="connsiteY2" fmla="*/ 413886 h 933650"/>
              <a:gd name="connsiteX3" fmla="*/ 1386038 w 1413648"/>
              <a:gd name="connsiteY3" fmla="*/ 0 h 933650"/>
              <a:gd name="connsiteX0" fmla="*/ 0 w 1387595"/>
              <a:gd name="connsiteY0" fmla="*/ 933650 h 933650"/>
              <a:gd name="connsiteX1" fmla="*/ 741145 w 1387595"/>
              <a:gd name="connsiteY1" fmla="*/ 673768 h 933650"/>
              <a:gd name="connsiteX2" fmla="*/ 905350 w 1387595"/>
              <a:gd name="connsiteY2" fmla="*/ 605213 h 933650"/>
              <a:gd name="connsiteX3" fmla="*/ 1386038 w 1387595"/>
              <a:gd name="connsiteY3" fmla="*/ 0 h 933650"/>
              <a:gd name="connsiteX0" fmla="*/ 0 w 1387595"/>
              <a:gd name="connsiteY0" fmla="*/ 933650 h 933650"/>
              <a:gd name="connsiteX1" fmla="*/ 742690 w 1387595"/>
              <a:gd name="connsiteY1" fmla="*/ 813162 h 933650"/>
              <a:gd name="connsiteX2" fmla="*/ 905350 w 1387595"/>
              <a:gd name="connsiteY2" fmla="*/ 605213 h 933650"/>
              <a:gd name="connsiteX3" fmla="*/ 1386038 w 1387595"/>
              <a:gd name="connsiteY3" fmla="*/ 0 h 933650"/>
              <a:gd name="connsiteX0" fmla="*/ 0 w 1387691"/>
              <a:gd name="connsiteY0" fmla="*/ 933650 h 933650"/>
              <a:gd name="connsiteX1" fmla="*/ 742690 w 1387691"/>
              <a:gd name="connsiteY1" fmla="*/ 813162 h 933650"/>
              <a:gd name="connsiteX2" fmla="*/ 930065 w 1387691"/>
              <a:gd name="connsiteY2" fmla="*/ 781778 h 933650"/>
              <a:gd name="connsiteX3" fmla="*/ 1386038 w 1387691"/>
              <a:gd name="connsiteY3" fmla="*/ 0 h 933650"/>
              <a:gd name="connsiteX0" fmla="*/ 0 w 1387691"/>
              <a:gd name="connsiteY0" fmla="*/ 933650 h 933650"/>
              <a:gd name="connsiteX1" fmla="*/ 742690 w 1387691"/>
              <a:gd name="connsiteY1" fmla="*/ 813162 h 933650"/>
              <a:gd name="connsiteX2" fmla="*/ 930065 w 1387691"/>
              <a:gd name="connsiteY2" fmla="*/ 781778 h 933650"/>
              <a:gd name="connsiteX3" fmla="*/ 1386038 w 1387691"/>
              <a:gd name="connsiteY3" fmla="*/ 0 h 933650"/>
              <a:gd name="connsiteX0" fmla="*/ 0 w 1386038"/>
              <a:gd name="connsiteY0" fmla="*/ 933650 h 933650"/>
              <a:gd name="connsiteX1" fmla="*/ 742690 w 1386038"/>
              <a:gd name="connsiteY1" fmla="*/ 813162 h 933650"/>
              <a:gd name="connsiteX2" fmla="*/ 930065 w 1386038"/>
              <a:gd name="connsiteY2" fmla="*/ 781778 h 933650"/>
              <a:gd name="connsiteX3" fmla="*/ 1131181 w 1386038"/>
              <a:gd name="connsiteY3" fmla="*/ 511755 h 933650"/>
              <a:gd name="connsiteX4" fmla="*/ 1386038 w 1386038"/>
              <a:gd name="connsiteY4" fmla="*/ 0 h 933650"/>
              <a:gd name="connsiteX0" fmla="*/ 0 w 1386038"/>
              <a:gd name="connsiteY0" fmla="*/ 933650 h 933650"/>
              <a:gd name="connsiteX1" fmla="*/ 742690 w 1386038"/>
              <a:gd name="connsiteY1" fmla="*/ 813162 h 933650"/>
              <a:gd name="connsiteX2" fmla="*/ 930065 w 1386038"/>
              <a:gd name="connsiteY2" fmla="*/ 781778 h 933650"/>
              <a:gd name="connsiteX3" fmla="*/ 1325808 w 1386038"/>
              <a:gd name="connsiteY3" fmla="*/ 725492 h 933650"/>
              <a:gd name="connsiteX4" fmla="*/ 1386038 w 1386038"/>
              <a:gd name="connsiteY4" fmla="*/ 0 h 933650"/>
              <a:gd name="connsiteX0" fmla="*/ 0 w 1386038"/>
              <a:gd name="connsiteY0" fmla="*/ 933650 h 933650"/>
              <a:gd name="connsiteX1" fmla="*/ 742690 w 1386038"/>
              <a:gd name="connsiteY1" fmla="*/ 813162 h 933650"/>
              <a:gd name="connsiteX2" fmla="*/ 1325808 w 1386038"/>
              <a:gd name="connsiteY2" fmla="*/ 725492 h 933650"/>
              <a:gd name="connsiteX3" fmla="*/ 1386038 w 1386038"/>
              <a:gd name="connsiteY3" fmla="*/ 0 h 933650"/>
              <a:gd name="connsiteX0" fmla="*/ 0 w 1386038"/>
              <a:gd name="connsiteY0" fmla="*/ 933650 h 985224"/>
              <a:gd name="connsiteX1" fmla="*/ 745779 w 1386038"/>
              <a:gd name="connsiteY1" fmla="*/ 980435 h 985224"/>
              <a:gd name="connsiteX2" fmla="*/ 1325808 w 1386038"/>
              <a:gd name="connsiteY2" fmla="*/ 725492 h 985224"/>
              <a:gd name="connsiteX3" fmla="*/ 1386038 w 1386038"/>
              <a:gd name="connsiteY3" fmla="*/ 0 h 98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6038" h="985224">
                <a:moveTo>
                  <a:pt x="0" y="933650"/>
                </a:moveTo>
                <a:cubicBezTo>
                  <a:pt x="259080" y="847022"/>
                  <a:pt x="524811" y="1015128"/>
                  <a:pt x="745779" y="980435"/>
                </a:cubicBezTo>
                <a:cubicBezTo>
                  <a:pt x="966747" y="945742"/>
                  <a:pt x="1218583" y="861019"/>
                  <a:pt x="1325808" y="725492"/>
                </a:cubicBezTo>
                <a:cubicBezTo>
                  <a:pt x="1401803" y="595196"/>
                  <a:pt x="1343562" y="85292"/>
                  <a:pt x="1386038" y="0"/>
                </a:cubicBezTo>
              </a:path>
            </a:pathLst>
          </a:custGeom>
          <a:noFill/>
          <a:ln w="38100">
            <a:solidFill>
              <a:srgbClr val="567C45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89F8A-7EA4-D220-8F7E-B8B88E92E0CE}"/>
              </a:ext>
            </a:extLst>
          </p:cNvPr>
          <p:cNvSpPr/>
          <p:nvPr/>
        </p:nvSpPr>
        <p:spPr>
          <a:xfrm>
            <a:off x="838201" y="2602460"/>
            <a:ext cx="4662983" cy="15371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math.h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FC0C682-0B82-1B44-3F04-01D48722D90F}"/>
              </a:ext>
            </a:extLst>
          </p:cNvPr>
          <p:cNvSpPr/>
          <p:nvPr/>
        </p:nvSpPr>
        <p:spPr>
          <a:xfrm flipH="1">
            <a:off x="2000354" y="3520736"/>
            <a:ext cx="45719" cy="1537176"/>
          </a:xfrm>
          <a:custGeom>
            <a:avLst/>
            <a:gdLst>
              <a:gd name="connsiteX0" fmla="*/ 203200 w 203200"/>
              <a:gd name="connsiteY0" fmla="*/ 0 h 1625600"/>
              <a:gd name="connsiteX1" fmla="*/ 0 w 203200"/>
              <a:gd name="connsiteY1" fmla="*/ 1625600 h 1625600"/>
              <a:gd name="connsiteX2" fmla="*/ 0 w 203200"/>
              <a:gd name="connsiteY2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200" h="1625600">
                <a:moveTo>
                  <a:pt x="203200" y="0"/>
                </a:moveTo>
                <a:lnTo>
                  <a:pt x="0" y="1625600"/>
                </a:lnTo>
                <a:lnTo>
                  <a:pt x="0" y="1625600"/>
                </a:lnTo>
              </a:path>
            </a:pathLst>
          </a:custGeom>
          <a:noFill/>
          <a:ln w="38100">
            <a:solidFill>
              <a:srgbClr val="567C45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7E1637-EBD4-761C-CE81-20DE041CB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399986" y="4990148"/>
            <a:ext cx="1521589" cy="101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91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связывания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Разные идентификаторы обозначают разные функции и значения</a:t>
            </a:r>
          </a:p>
          <a:p>
            <a:pPr lvl="1"/>
            <a:endParaRPr lang="ru-RU" dirty="0"/>
          </a:p>
          <a:p>
            <a:r>
              <a:rPr lang="ru-RU" dirty="0"/>
              <a:t>Идентификатор, видимый во всей единице компиляции</a:t>
            </a:r>
          </a:p>
          <a:p>
            <a:pPr lvl="1"/>
            <a:r>
              <a:rPr lang="ru-RU" dirty="0"/>
              <a:t>объявленный </a:t>
            </a:r>
            <a:r>
              <a:rPr lang="en-US" dirty="0"/>
              <a:t>static</a:t>
            </a:r>
            <a:r>
              <a:rPr lang="ru-RU" dirty="0"/>
              <a:t>, имеет внутреннее связывание</a:t>
            </a:r>
          </a:p>
          <a:p>
            <a:pPr lvl="1"/>
            <a:r>
              <a:rPr lang="ru-RU" dirty="0"/>
              <a:t>объявленный </a:t>
            </a:r>
            <a:r>
              <a:rPr lang="en-US" dirty="0"/>
              <a:t>extern</a:t>
            </a:r>
            <a:r>
              <a:rPr lang="ru-RU" dirty="0"/>
              <a:t>, имеет внешнее связывание</a:t>
            </a:r>
          </a:p>
          <a:p>
            <a:pPr lvl="1"/>
            <a:endParaRPr lang="ru-RU" dirty="0"/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функции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переменной, видимой во всей единице компиляции,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 имеют связывания идентификаторы объявленные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прототипе функции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внутри блока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 О1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 О2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игнорируется для идентификаторов, имеющих связывание в О2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одного идентификатора с разными связываниями в одной области видимости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undefined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ru-RU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5B5CE-62D1-F31B-9B51-BE8FC50D2C40}"/>
              </a:ext>
            </a:extLst>
          </p:cNvPr>
          <p:cNvSpPr/>
          <p:nvPr/>
        </p:nvSpPr>
        <p:spPr>
          <a:xfrm>
            <a:off x="6690817" y="1650795"/>
            <a:ext cx="4662983" cy="24863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sz="2000" dirty="0" err="1">
                <a:solidFill>
                  <a:srgbClr val="6A9955"/>
                </a:solidFill>
                <a:latin typeface="Consolas" panose="020B0609020204030204" pitchFamily="49" charset="0"/>
              </a:rPr>
              <a:t>main.c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math.h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calc_cos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extern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40102-09DE-B52A-37F0-4B08BB9D32AF}"/>
              </a:ext>
            </a:extLst>
          </p:cNvPr>
          <p:cNvSpPr/>
          <p:nvPr/>
        </p:nvSpPr>
        <p:spPr>
          <a:xfrm>
            <a:off x="6699937" y="4639787"/>
            <a:ext cx="4662983" cy="15371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math.c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 ...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092E1F-A97C-6474-2B61-D70D049347EA}"/>
              </a:ext>
            </a:extLst>
          </p:cNvPr>
          <p:cNvSpPr/>
          <p:nvPr/>
        </p:nvSpPr>
        <p:spPr>
          <a:xfrm>
            <a:off x="838200" y="5044378"/>
            <a:ext cx="4662983" cy="111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math.h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C35CB5F-7623-3AEB-4D49-D3F1E2C40750}"/>
              </a:ext>
            </a:extLst>
          </p:cNvPr>
          <p:cNvSpPr/>
          <p:nvPr/>
        </p:nvSpPr>
        <p:spPr>
          <a:xfrm>
            <a:off x="8593742" y="3617140"/>
            <a:ext cx="519676" cy="1715511"/>
          </a:xfrm>
          <a:custGeom>
            <a:avLst/>
            <a:gdLst>
              <a:gd name="connsiteX0" fmla="*/ 0 w 519676"/>
              <a:gd name="connsiteY0" fmla="*/ 0 h 1715511"/>
              <a:gd name="connsiteX1" fmla="*/ 517890 w 519676"/>
              <a:gd name="connsiteY1" fmla="*/ 639271 h 1715511"/>
              <a:gd name="connsiteX2" fmla="*/ 137564 w 519676"/>
              <a:gd name="connsiteY2" fmla="*/ 1715511 h 1715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9676" h="1715511">
                <a:moveTo>
                  <a:pt x="0" y="0"/>
                </a:moveTo>
                <a:cubicBezTo>
                  <a:pt x="247481" y="176676"/>
                  <a:pt x="494963" y="353353"/>
                  <a:pt x="517890" y="639271"/>
                </a:cubicBezTo>
                <a:cubicBezTo>
                  <a:pt x="540817" y="925190"/>
                  <a:pt x="339190" y="1320350"/>
                  <a:pt x="137564" y="1715511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7145044-D45D-C637-F2AD-84B9FAEC7AB5}"/>
              </a:ext>
            </a:extLst>
          </p:cNvPr>
          <p:cNvSpPr/>
          <p:nvPr/>
        </p:nvSpPr>
        <p:spPr>
          <a:xfrm>
            <a:off x="2055377" y="4905382"/>
            <a:ext cx="6675929" cy="880423"/>
          </a:xfrm>
          <a:custGeom>
            <a:avLst/>
            <a:gdLst>
              <a:gd name="connsiteX0" fmla="*/ 0 w 6675929"/>
              <a:gd name="connsiteY0" fmla="*/ 880423 h 880423"/>
              <a:gd name="connsiteX1" fmla="*/ 2670372 w 6675929"/>
              <a:gd name="connsiteY1" fmla="*/ 14576 h 880423"/>
              <a:gd name="connsiteX2" fmla="*/ 6675929 w 6675929"/>
              <a:gd name="connsiteY2" fmla="*/ 419177 h 880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75929" h="880423">
                <a:moveTo>
                  <a:pt x="0" y="880423"/>
                </a:moveTo>
                <a:cubicBezTo>
                  <a:pt x="778858" y="485936"/>
                  <a:pt x="1557717" y="91450"/>
                  <a:pt x="2670372" y="14576"/>
                </a:cubicBezTo>
                <a:cubicBezTo>
                  <a:pt x="3783027" y="-62298"/>
                  <a:pt x="5229478" y="178439"/>
                  <a:pt x="6675929" y="419177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17D19DB-AB58-F2B5-B182-3EF8E444C691}"/>
              </a:ext>
            </a:extLst>
          </p:cNvPr>
          <p:cNvSpPr/>
          <p:nvPr/>
        </p:nvSpPr>
        <p:spPr>
          <a:xfrm>
            <a:off x="2006600" y="3421370"/>
            <a:ext cx="6553200" cy="2382530"/>
          </a:xfrm>
          <a:custGeom>
            <a:avLst/>
            <a:gdLst>
              <a:gd name="connsiteX0" fmla="*/ 6553200 w 6553200"/>
              <a:gd name="connsiteY0" fmla="*/ 236230 h 2382530"/>
              <a:gd name="connsiteX1" fmla="*/ 2641600 w 6553200"/>
              <a:gd name="connsiteY1" fmla="*/ 198130 h 2382530"/>
              <a:gd name="connsiteX2" fmla="*/ 0 w 6553200"/>
              <a:gd name="connsiteY2" fmla="*/ 2382530 h 238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53200" h="2382530">
                <a:moveTo>
                  <a:pt x="6553200" y="236230"/>
                </a:moveTo>
                <a:cubicBezTo>
                  <a:pt x="5143500" y="38321"/>
                  <a:pt x="3733800" y="-159587"/>
                  <a:pt x="2641600" y="198130"/>
                </a:cubicBezTo>
                <a:cubicBezTo>
                  <a:pt x="1549400" y="555847"/>
                  <a:pt x="774700" y="1469188"/>
                  <a:pt x="0" y="2382530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1CE7EC-4FF3-6245-C698-1EBE99AB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335206" y="4825454"/>
            <a:ext cx="1521589" cy="10143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CC26FF-A0D5-58E1-007D-EF3049721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262416">
            <a:off x="8134332" y="3784162"/>
            <a:ext cx="1521589" cy="101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56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связывания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Разные идентификаторы обозначают разные функции и значения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Идентификатор, видимый во всей единице компиляции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внутреннее связывание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внешнее связывание</a:t>
            </a:r>
          </a:p>
          <a:p>
            <a:pPr lvl="1"/>
            <a:endParaRPr lang="ru-RU" dirty="0"/>
          </a:p>
          <a:p>
            <a:r>
              <a:rPr lang="ru-RU" dirty="0"/>
              <a:t>Объявление функции без </a:t>
            </a:r>
            <a:r>
              <a:rPr lang="ru-RU" dirty="0" err="1"/>
              <a:t>static</a:t>
            </a:r>
            <a:r>
              <a:rPr lang="ru-RU" dirty="0"/>
              <a:t> = объявление </a:t>
            </a:r>
            <a:r>
              <a:rPr lang="ru-RU" dirty="0" err="1"/>
              <a:t>extern</a:t>
            </a:r>
            <a:endParaRPr lang="ru-RU" dirty="0"/>
          </a:p>
          <a:p>
            <a:pPr lvl="1"/>
            <a:endParaRPr lang="ru-RU" dirty="0"/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переменной, видимой во всей единице компиляции,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 имеют связывания идентификаторы объявленные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прототипе функции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внутри блока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 О1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 О2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игнорируется для идентификаторов, имеющих связывание в О2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одного идентификатора с разными связываниями в одной области видимости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undefined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6DF71-3C53-D13C-9CC1-5EB338FAAE21}"/>
              </a:ext>
            </a:extLst>
          </p:cNvPr>
          <p:cNvSpPr/>
          <p:nvPr/>
        </p:nvSpPr>
        <p:spPr>
          <a:xfrm>
            <a:off x="6172200" y="1825625"/>
            <a:ext cx="5181600" cy="298470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sz="2000" dirty="0" err="1">
                <a:solidFill>
                  <a:srgbClr val="6A9955"/>
                </a:solidFill>
                <a:latin typeface="Consolas" panose="020B0609020204030204" pitchFamily="49" charset="0"/>
              </a:rPr>
              <a:t>main.c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math.h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569CD6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DCDCAA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cos</a:t>
            </a:r>
            <a:r>
              <a:rPr lang="en-US" sz="2000" dirty="0">
                <a:solidFill>
                  <a:srgbClr val="D4D4D4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) {</a:t>
            </a:r>
          </a:p>
          <a:p>
            <a:r>
              <a:rPr lang="en-US" sz="2000" dirty="0">
                <a:solidFill>
                  <a:srgbClr val="D4D4D4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6A9955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// ...</a:t>
            </a:r>
            <a:endParaRPr lang="en-US" sz="2000" dirty="0">
              <a:solidFill>
                <a:srgbClr val="D4D4D4"/>
              </a:solidFill>
              <a:highlight>
                <a:srgbClr val="800000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D4D4D4"/>
              </a:solidFill>
              <a:effectLst/>
              <a:highlight>
                <a:srgbClr val="800000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calc_cos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F34E4B-7D58-6A84-15D5-7126E5ABE97A}"/>
              </a:ext>
            </a:extLst>
          </p:cNvPr>
          <p:cNvSpPr/>
          <p:nvPr/>
        </p:nvSpPr>
        <p:spPr>
          <a:xfrm>
            <a:off x="914400" y="2163286"/>
            <a:ext cx="5181600" cy="17102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sz="2000" dirty="0" err="1">
                <a:solidFill>
                  <a:srgbClr val="6A9955"/>
                </a:solidFill>
                <a:latin typeface="Consolas" panose="020B0609020204030204" pitchFamily="49" charset="0"/>
              </a:rPr>
              <a:t>math.c</a:t>
            </a:r>
            <a:endParaRPr lang="en-US" sz="20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 ...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54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связывания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Разные идентификаторы обозначают разные функции и значения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Идентификатор, видимый во всей единице компиляции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внутреннее связывание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внешнее связывание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функции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ru-RU" dirty="0"/>
          </a:p>
          <a:p>
            <a:r>
              <a:rPr lang="ru-RU" dirty="0"/>
              <a:t>Объявление переменной, видимой во всей единице компиляции, без </a:t>
            </a:r>
            <a:r>
              <a:rPr lang="ru-RU" dirty="0" err="1"/>
              <a:t>static</a:t>
            </a:r>
            <a:r>
              <a:rPr lang="ru-RU" dirty="0"/>
              <a:t> = объявление </a:t>
            </a:r>
            <a:r>
              <a:rPr lang="ru-RU" dirty="0" err="1"/>
              <a:t>extern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 имеют связывания идентификаторы объявленные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прототипе функции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внутри блока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 О1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 О2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игнорируется для идентификаторов, имеющих связывание в О2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одного идентификатора с разными связываниями в одной области видимости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undefined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CD8001-A703-0538-21EF-AC0819C761BF}"/>
              </a:ext>
            </a:extLst>
          </p:cNvPr>
          <p:cNvSpPr/>
          <p:nvPr/>
        </p:nvSpPr>
        <p:spPr>
          <a:xfrm>
            <a:off x="6091611" y="1651905"/>
            <a:ext cx="5181600" cy="27709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main.c</a:t>
            </a:r>
            <a:endParaRPr lang="en-US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my_stuff.h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make_green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TLine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set_color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attack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my_credentials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my_credentials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69B5F-D609-3CDB-B2B9-6D4524B13A85}"/>
              </a:ext>
            </a:extLst>
          </p:cNvPr>
          <p:cNvSpPr/>
          <p:nvPr/>
        </p:nvSpPr>
        <p:spPr>
          <a:xfrm>
            <a:off x="6181319" y="4972594"/>
            <a:ext cx="5181600" cy="12606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endParaRPr lang="en-US" sz="16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my_stuff.c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const char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DCDCAA"/>
                </a:solidFill>
                <a:latin typeface="Consolas" panose="020B0609020204030204" pitchFamily="49" charset="0"/>
              </a:rPr>
              <a:t>my_credentials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[] = "</a:t>
            </a:r>
            <a:r>
              <a:rPr lang="en-US" sz="16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kONsONserta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";</a:t>
            </a:r>
          </a:p>
          <a:p>
            <a:endParaRPr lang="en-US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 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0x00FF00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59BCEF-89A0-AF4A-BBA9-CCB4EF90A4AF}"/>
              </a:ext>
            </a:extLst>
          </p:cNvPr>
          <p:cNvSpPr/>
          <p:nvPr/>
        </p:nvSpPr>
        <p:spPr>
          <a:xfrm>
            <a:off x="838201" y="3252998"/>
            <a:ext cx="4300242" cy="13867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my_stuff.h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const char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my_credentials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[];</a:t>
            </a: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 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7879BA6-B8A6-7CE4-5FCB-0099AF1AA05C}"/>
              </a:ext>
            </a:extLst>
          </p:cNvPr>
          <p:cNvSpPr/>
          <p:nvPr/>
        </p:nvSpPr>
        <p:spPr>
          <a:xfrm>
            <a:off x="7581042" y="3098279"/>
            <a:ext cx="3853347" cy="2711371"/>
          </a:xfrm>
          <a:custGeom>
            <a:avLst/>
            <a:gdLst>
              <a:gd name="connsiteX0" fmla="*/ 0 w 519676"/>
              <a:gd name="connsiteY0" fmla="*/ 0 h 1715511"/>
              <a:gd name="connsiteX1" fmla="*/ 517890 w 519676"/>
              <a:gd name="connsiteY1" fmla="*/ 639271 h 1715511"/>
              <a:gd name="connsiteX2" fmla="*/ 137564 w 519676"/>
              <a:gd name="connsiteY2" fmla="*/ 1715511 h 1715511"/>
              <a:gd name="connsiteX0" fmla="*/ 570827 w 1089142"/>
              <a:gd name="connsiteY0" fmla="*/ 0 h 1739787"/>
              <a:gd name="connsiteX1" fmla="*/ 1088717 w 1089142"/>
              <a:gd name="connsiteY1" fmla="*/ 639271 h 1739787"/>
              <a:gd name="connsiteX2" fmla="*/ 0 w 1089142"/>
              <a:gd name="connsiteY2" fmla="*/ 1739787 h 1739787"/>
              <a:gd name="connsiteX0" fmla="*/ 1633416 w 2151504"/>
              <a:gd name="connsiteY0" fmla="*/ 0 h 1880088"/>
              <a:gd name="connsiteX1" fmla="*/ 2151306 w 2151504"/>
              <a:gd name="connsiteY1" fmla="*/ 639271 h 1880088"/>
              <a:gd name="connsiteX2" fmla="*/ 0 w 2151504"/>
              <a:gd name="connsiteY2" fmla="*/ 1880088 h 1880088"/>
              <a:gd name="connsiteX0" fmla="*/ 1633416 w 2151537"/>
              <a:gd name="connsiteY0" fmla="*/ 0 h 1880088"/>
              <a:gd name="connsiteX1" fmla="*/ 2151306 w 2151537"/>
              <a:gd name="connsiteY1" fmla="*/ 639271 h 1880088"/>
              <a:gd name="connsiteX2" fmla="*/ 0 w 2151537"/>
              <a:gd name="connsiteY2" fmla="*/ 1880088 h 1880088"/>
              <a:gd name="connsiteX0" fmla="*/ 1633416 w 2151536"/>
              <a:gd name="connsiteY0" fmla="*/ 0 h 1854579"/>
              <a:gd name="connsiteX1" fmla="*/ 2151306 w 2151536"/>
              <a:gd name="connsiteY1" fmla="*/ 639271 h 1854579"/>
              <a:gd name="connsiteX2" fmla="*/ 0 w 2151536"/>
              <a:gd name="connsiteY2" fmla="*/ 1854579 h 1854579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1255595 w 2547598"/>
              <a:gd name="connsiteY0" fmla="*/ 0 h 1891222"/>
              <a:gd name="connsiteX1" fmla="*/ 2547411 w 2547598"/>
              <a:gd name="connsiteY1" fmla="*/ 661888 h 1891222"/>
              <a:gd name="connsiteX2" fmla="*/ 0 w 2547598"/>
              <a:gd name="connsiteY2" fmla="*/ 1891222 h 1891222"/>
              <a:gd name="connsiteX0" fmla="*/ 1255595 w 2815896"/>
              <a:gd name="connsiteY0" fmla="*/ 0 h 1900735"/>
              <a:gd name="connsiteX1" fmla="*/ 2547411 w 2815896"/>
              <a:gd name="connsiteY1" fmla="*/ 661888 h 1900735"/>
              <a:gd name="connsiteX2" fmla="*/ 2645145 w 2815896"/>
              <a:gd name="connsiteY2" fmla="*/ 1809401 h 1900735"/>
              <a:gd name="connsiteX3" fmla="*/ 0 w 2815896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901859"/>
              <a:gd name="connsiteY0" fmla="*/ 0 h 1900735"/>
              <a:gd name="connsiteX1" fmla="*/ 2876482 w 2901859"/>
              <a:gd name="connsiteY1" fmla="*/ 479545 h 1900735"/>
              <a:gd name="connsiteX2" fmla="*/ 2645145 w 2901859"/>
              <a:gd name="connsiteY2" fmla="*/ 1809401 h 1900735"/>
              <a:gd name="connsiteX3" fmla="*/ 0 w 2901859"/>
              <a:gd name="connsiteY3" fmla="*/ 1891222 h 1900735"/>
              <a:gd name="connsiteX0" fmla="*/ 1066684 w 2901859"/>
              <a:gd name="connsiteY0" fmla="*/ 0 h 1853980"/>
              <a:gd name="connsiteX1" fmla="*/ 2876482 w 2901859"/>
              <a:gd name="connsiteY1" fmla="*/ 432790 h 1853980"/>
              <a:gd name="connsiteX2" fmla="*/ 2645145 w 2901859"/>
              <a:gd name="connsiteY2" fmla="*/ 1762646 h 1853980"/>
              <a:gd name="connsiteX3" fmla="*/ 0 w 2901859"/>
              <a:gd name="connsiteY3" fmla="*/ 1844467 h 1853980"/>
              <a:gd name="connsiteX0" fmla="*/ 1066684 w 2901859"/>
              <a:gd name="connsiteY0" fmla="*/ 13761 h 1867741"/>
              <a:gd name="connsiteX1" fmla="*/ 2876482 w 2901859"/>
              <a:gd name="connsiteY1" fmla="*/ 446551 h 1867741"/>
              <a:gd name="connsiteX2" fmla="*/ 2645145 w 2901859"/>
              <a:gd name="connsiteY2" fmla="*/ 1776407 h 1867741"/>
              <a:gd name="connsiteX3" fmla="*/ 0 w 2901859"/>
              <a:gd name="connsiteY3" fmla="*/ 1858228 h 1867741"/>
              <a:gd name="connsiteX0" fmla="*/ 1073242 w 2901859"/>
              <a:gd name="connsiteY0" fmla="*/ 72974 h 1620022"/>
              <a:gd name="connsiteX1" fmla="*/ 2876482 w 2901859"/>
              <a:gd name="connsiteY1" fmla="*/ 198832 h 1620022"/>
              <a:gd name="connsiteX2" fmla="*/ 2645145 w 2901859"/>
              <a:gd name="connsiteY2" fmla="*/ 1528688 h 1620022"/>
              <a:gd name="connsiteX3" fmla="*/ 0 w 2901859"/>
              <a:gd name="connsiteY3" fmla="*/ 1610509 h 1620022"/>
              <a:gd name="connsiteX0" fmla="*/ 1073242 w 2901859"/>
              <a:gd name="connsiteY0" fmla="*/ 19541 h 1566589"/>
              <a:gd name="connsiteX1" fmla="*/ 2876482 w 2901859"/>
              <a:gd name="connsiteY1" fmla="*/ 145399 h 1566589"/>
              <a:gd name="connsiteX2" fmla="*/ 2645145 w 2901859"/>
              <a:gd name="connsiteY2" fmla="*/ 1475255 h 1566589"/>
              <a:gd name="connsiteX3" fmla="*/ 0 w 2901859"/>
              <a:gd name="connsiteY3" fmla="*/ 1557076 h 1566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859" h="1566589">
                <a:moveTo>
                  <a:pt x="1073242" y="19541"/>
                </a:moveTo>
                <a:cubicBezTo>
                  <a:pt x="1607137" y="104439"/>
                  <a:pt x="2743865" y="-145195"/>
                  <a:pt x="2876482" y="145399"/>
                </a:cubicBezTo>
                <a:cubicBezTo>
                  <a:pt x="2900881" y="365925"/>
                  <a:pt x="2978305" y="1200234"/>
                  <a:pt x="2645145" y="1475255"/>
                </a:cubicBezTo>
                <a:cubicBezTo>
                  <a:pt x="2220577" y="1680144"/>
                  <a:pt x="233664" y="1462398"/>
                  <a:pt x="0" y="1557076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A663E71-3CDE-59F8-AF6C-D9DEDEDF4172}"/>
              </a:ext>
            </a:extLst>
          </p:cNvPr>
          <p:cNvSpPr/>
          <p:nvPr/>
        </p:nvSpPr>
        <p:spPr>
          <a:xfrm>
            <a:off x="8376201" y="3726533"/>
            <a:ext cx="2138159" cy="1564918"/>
          </a:xfrm>
          <a:custGeom>
            <a:avLst/>
            <a:gdLst>
              <a:gd name="connsiteX0" fmla="*/ 873940 w 873940"/>
              <a:gd name="connsiteY0" fmla="*/ 0 h 1399923"/>
              <a:gd name="connsiteX1" fmla="*/ 0 w 873940"/>
              <a:gd name="connsiteY1" fmla="*/ 1399923 h 1399923"/>
              <a:gd name="connsiteX0" fmla="*/ 873940 w 2402765"/>
              <a:gd name="connsiteY0" fmla="*/ 0 h 1399923"/>
              <a:gd name="connsiteX1" fmla="*/ 2395243 w 2402765"/>
              <a:gd name="connsiteY1" fmla="*/ 751177 h 1399923"/>
              <a:gd name="connsiteX2" fmla="*/ 0 w 2402765"/>
              <a:gd name="connsiteY2" fmla="*/ 1399923 h 1399923"/>
              <a:gd name="connsiteX0" fmla="*/ 873940 w 2400028"/>
              <a:gd name="connsiteY0" fmla="*/ 0 h 1399923"/>
              <a:gd name="connsiteX1" fmla="*/ 2395243 w 2400028"/>
              <a:gd name="connsiteY1" fmla="*/ 751177 h 1399923"/>
              <a:gd name="connsiteX2" fmla="*/ 0 w 2400028"/>
              <a:gd name="connsiteY2" fmla="*/ 1399923 h 1399923"/>
              <a:gd name="connsiteX0" fmla="*/ 873940 w 2395243"/>
              <a:gd name="connsiteY0" fmla="*/ 0 h 1399923"/>
              <a:gd name="connsiteX1" fmla="*/ 2395243 w 2395243"/>
              <a:gd name="connsiteY1" fmla="*/ 751177 h 1399923"/>
              <a:gd name="connsiteX2" fmla="*/ 0 w 2395243"/>
              <a:gd name="connsiteY2" fmla="*/ 1399923 h 1399923"/>
              <a:gd name="connsiteX0" fmla="*/ 873940 w 2401954"/>
              <a:gd name="connsiteY0" fmla="*/ 0 h 1399923"/>
              <a:gd name="connsiteX1" fmla="*/ 2395243 w 2401954"/>
              <a:gd name="connsiteY1" fmla="*/ 751177 h 1399923"/>
              <a:gd name="connsiteX2" fmla="*/ 0 w 2401954"/>
              <a:gd name="connsiteY2" fmla="*/ 1399923 h 1399923"/>
              <a:gd name="connsiteX0" fmla="*/ 873940 w 2406096"/>
              <a:gd name="connsiteY0" fmla="*/ 0 h 1399923"/>
              <a:gd name="connsiteX1" fmla="*/ 2395243 w 2406096"/>
              <a:gd name="connsiteY1" fmla="*/ 751177 h 1399923"/>
              <a:gd name="connsiteX2" fmla="*/ 0 w 2406096"/>
              <a:gd name="connsiteY2" fmla="*/ 1399923 h 1399923"/>
              <a:gd name="connsiteX0" fmla="*/ 1521303 w 2419092"/>
              <a:gd name="connsiteY0" fmla="*/ 0 h 1604790"/>
              <a:gd name="connsiteX1" fmla="*/ 2395243 w 2419092"/>
              <a:gd name="connsiteY1" fmla="*/ 956044 h 1604790"/>
              <a:gd name="connsiteX2" fmla="*/ 0 w 2419092"/>
              <a:gd name="connsiteY2" fmla="*/ 1604790 h 1604790"/>
              <a:gd name="connsiteX0" fmla="*/ 1545580 w 2420173"/>
              <a:gd name="connsiteY0" fmla="*/ 0 h 1584303"/>
              <a:gd name="connsiteX1" fmla="*/ 2395243 w 2420173"/>
              <a:gd name="connsiteY1" fmla="*/ 935557 h 1584303"/>
              <a:gd name="connsiteX2" fmla="*/ 0 w 2420173"/>
              <a:gd name="connsiteY2" fmla="*/ 1584303 h 1584303"/>
              <a:gd name="connsiteX0" fmla="*/ 1545580 w 2420536"/>
              <a:gd name="connsiteY0" fmla="*/ 56389 h 1640692"/>
              <a:gd name="connsiteX1" fmla="*/ 2395243 w 2420536"/>
              <a:gd name="connsiteY1" fmla="*/ 991946 h 1640692"/>
              <a:gd name="connsiteX2" fmla="*/ 0 w 2420536"/>
              <a:gd name="connsiteY2" fmla="*/ 1640692 h 1640692"/>
              <a:gd name="connsiteX0" fmla="*/ 2530542 w 2790705"/>
              <a:gd name="connsiteY0" fmla="*/ 76230 h 1476646"/>
              <a:gd name="connsiteX1" fmla="*/ 2395243 w 2790705"/>
              <a:gd name="connsiteY1" fmla="*/ 827900 h 1476646"/>
              <a:gd name="connsiteX2" fmla="*/ 0 w 2790705"/>
              <a:gd name="connsiteY2" fmla="*/ 1476646 h 1476646"/>
              <a:gd name="connsiteX0" fmla="*/ 2530542 w 2608564"/>
              <a:gd name="connsiteY0" fmla="*/ 0 h 1400416"/>
              <a:gd name="connsiteX1" fmla="*/ 2395243 w 2608564"/>
              <a:gd name="connsiteY1" fmla="*/ 751670 h 1400416"/>
              <a:gd name="connsiteX2" fmla="*/ 0 w 2608564"/>
              <a:gd name="connsiteY2" fmla="*/ 1400416 h 1400416"/>
              <a:gd name="connsiteX0" fmla="*/ 2413081 w 2525626"/>
              <a:gd name="connsiteY0" fmla="*/ 0 h 1203395"/>
              <a:gd name="connsiteX1" fmla="*/ 2395243 w 2525626"/>
              <a:gd name="connsiteY1" fmla="*/ 554649 h 1203395"/>
              <a:gd name="connsiteX2" fmla="*/ 0 w 2525626"/>
              <a:gd name="connsiteY2" fmla="*/ 1203395 h 1203395"/>
              <a:gd name="connsiteX0" fmla="*/ 2413081 w 2466468"/>
              <a:gd name="connsiteY0" fmla="*/ 0 h 1203395"/>
              <a:gd name="connsiteX1" fmla="*/ 2395243 w 2466468"/>
              <a:gd name="connsiteY1" fmla="*/ 554649 h 1203395"/>
              <a:gd name="connsiteX2" fmla="*/ 0 w 2466468"/>
              <a:gd name="connsiteY2" fmla="*/ 1203395 h 1203395"/>
              <a:gd name="connsiteX0" fmla="*/ 2413081 w 2436484"/>
              <a:gd name="connsiteY0" fmla="*/ 0 h 1203395"/>
              <a:gd name="connsiteX1" fmla="*/ 2395243 w 2436484"/>
              <a:gd name="connsiteY1" fmla="*/ 554649 h 1203395"/>
              <a:gd name="connsiteX2" fmla="*/ 0 w 2436484"/>
              <a:gd name="connsiteY2" fmla="*/ 1203395 h 1203395"/>
              <a:gd name="connsiteX0" fmla="*/ 2413081 w 2431009"/>
              <a:gd name="connsiteY0" fmla="*/ 204768 h 1408163"/>
              <a:gd name="connsiteX1" fmla="*/ 2395243 w 2431009"/>
              <a:gd name="connsiteY1" fmla="*/ 759417 h 1408163"/>
              <a:gd name="connsiteX2" fmla="*/ 0 w 2431009"/>
              <a:gd name="connsiteY2" fmla="*/ 1408163 h 1408163"/>
              <a:gd name="connsiteX0" fmla="*/ 2413081 w 2635900"/>
              <a:gd name="connsiteY0" fmla="*/ 0 h 1203395"/>
              <a:gd name="connsiteX1" fmla="*/ 2395243 w 2635900"/>
              <a:gd name="connsiteY1" fmla="*/ 554649 h 1203395"/>
              <a:gd name="connsiteX2" fmla="*/ 0 w 2635900"/>
              <a:gd name="connsiteY2" fmla="*/ 1203395 h 1203395"/>
              <a:gd name="connsiteX0" fmla="*/ 2413081 w 2421164"/>
              <a:gd name="connsiteY0" fmla="*/ 148733 h 1352128"/>
              <a:gd name="connsiteX1" fmla="*/ 2395243 w 2421164"/>
              <a:gd name="connsiteY1" fmla="*/ 703382 h 1352128"/>
              <a:gd name="connsiteX2" fmla="*/ 0 w 2421164"/>
              <a:gd name="connsiteY2" fmla="*/ 1352128 h 1352128"/>
              <a:gd name="connsiteX0" fmla="*/ 2413081 w 2416507"/>
              <a:gd name="connsiteY0" fmla="*/ 173248 h 1376643"/>
              <a:gd name="connsiteX1" fmla="*/ 2395243 w 2416507"/>
              <a:gd name="connsiteY1" fmla="*/ 727897 h 1376643"/>
              <a:gd name="connsiteX2" fmla="*/ 0 w 2416507"/>
              <a:gd name="connsiteY2" fmla="*/ 1376643 h 1376643"/>
              <a:gd name="connsiteX0" fmla="*/ 2491389 w 2491389"/>
              <a:gd name="connsiteY0" fmla="*/ 131254 h 1539551"/>
              <a:gd name="connsiteX1" fmla="*/ 2395243 w 2491389"/>
              <a:gd name="connsiteY1" fmla="*/ 890805 h 1539551"/>
              <a:gd name="connsiteX2" fmla="*/ 0 w 2491389"/>
              <a:gd name="connsiteY2" fmla="*/ 1539551 h 1539551"/>
              <a:gd name="connsiteX0" fmla="*/ 1776834 w 2405411"/>
              <a:gd name="connsiteY0" fmla="*/ 257055 h 1208263"/>
              <a:gd name="connsiteX1" fmla="*/ 2395243 w 2405411"/>
              <a:gd name="connsiteY1" fmla="*/ 559517 h 1208263"/>
              <a:gd name="connsiteX2" fmla="*/ 0 w 2405411"/>
              <a:gd name="connsiteY2" fmla="*/ 1208263 h 1208263"/>
              <a:gd name="connsiteX0" fmla="*/ 1776834 w 2419167"/>
              <a:gd name="connsiteY0" fmla="*/ 152098 h 1103306"/>
              <a:gd name="connsiteX1" fmla="*/ 2395243 w 2419167"/>
              <a:gd name="connsiteY1" fmla="*/ 454560 h 1103306"/>
              <a:gd name="connsiteX2" fmla="*/ 0 w 2419167"/>
              <a:gd name="connsiteY2" fmla="*/ 1103306 h 1103306"/>
              <a:gd name="connsiteX0" fmla="*/ 2227102 w 2485729"/>
              <a:gd name="connsiteY0" fmla="*/ 58236 h 1245869"/>
              <a:gd name="connsiteX1" fmla="*/ 2395243 w 2485729"/>
              <a:gd name="connsiteY1" fmla="*/ 597123 h 1245869"/>
              <a:gd name="connsiteX2" fmla="*/ 0 w 2485729"/>
              <a:gd name="connsiteY2" fmla="*/ 1245869 h 1245869"/>
              <a:gd name="connsiteX0" fmla="*/ 2227102 w 2488756"/>
              <a:gd name="connsiteY0" fmla="*/ 0 h 1187633"/>
              <a:gd name="connsiteX1" fmla="*/ 2395243 w 2488756"/>
              <a:gd name="connsiteY1" fmla="*/ 538887 h 1187633"/>
              <a:gd name="connsiteX2" fmla="*/ 0 w 2488756"/>
              <a:gd name="connsiteY2" fmla="*/ 1187633 h 1187633"/>
              <a:gd name="connsiteX0" fmla="*/ 2383717 w 2569698"/>
              <a:gd name="connsiteY0" fmla="*/ 0 h 1242799"/>
              <a:gd name="connsiteX1" fmla="*/ 2395243 w 2569698"/>
              <a:gd name="connsiteY1" fmla="*/ 594053 h 1242799"/>
              <a:gd name="connsiteX2" fmla="*/ 0 w 2569698"/>
              <a:gd name="connsiteY2" fmla="*/ 1242799 h 1242799"/>
              <a:gd name="connsiteX0" fmla="*/ 2217313 w 2403293"/>
              <a:gd name="connsiteY0" fmla="*/ 0 h 1416177"/>
              <a:gd name="connsiteX1" fmla="*/ 2228839 w 2403293"/>
              <a:gd name="connsiteY1" fmla="*/ 594053 h 1416177"/>
              <a:gd name="connsiteX2" fmla="*/ 0 w 2403293"/>
              <a:gd name="connsiteY2" fmla="*/ 1416177 h 1416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3293" h="1416177">
                <a:moveTo>
                  <a:pt x="2217313" y="0"/>
                </a:moveTo>
                <a:cubicBezTo>
                  <a:pt x="2551836" y="201438"/>
                  <a:pt x="2358312" y="-132086"/>
                  <a:pt x="2228839" y="594053"/>
                </a:cubicBezTo>
                <a:cubicBezTo>
                  <a:pt x="2091275" y="1040208"/>
                  <a:pt x="291313" y="949536"/>
                  <a:pt x="0" y="1416177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5433A7-FDF8-B5C9-9156-47C2373FB79B}"/>
              </a:ext>
            </a:extLst>
          </p:cNvPr>
          <p:cNvSpPr/>
          <p:nvPr/>
        </p:nvSpPr>
        <p:spPr>
          <a:xfrm>
            <a:off x="9507716" y="3799058"/>
            <a:ext cx="87394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!!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ACB92B5-D4A0-06CD-0EFA-30DD256AB7C4}"/>
              </a:ext>
            </a:extLst>
          </p:cNvPr>
          <p:cNvSpPr/>
          <p:nvPr/>
        </p:nvSpPr>
        <p:spPr>
          <a:xfrm>
            <a:off x="2378206" y="4435321"/>
            <a:ext cx="5201392" cy="1386789"/>
          </a:xfrm>
          <a:custGeom>
            <a:avLst/>
            <a:gdLst>
              <a:gd name="connsiteX0" fmla="*/ 0 w 519676"/>
              <a:gd name="connsiteY0" fmla="*/ 0 h 1715511"/>
              <a:gd name="connsiteX1" fmla="*/ 517890 w 519676"/>
              <a:gd name="connsiteY1" fmla="*/ 639271 h 1715511"/>
              <a:gd name="connsiteX2" fmla="*/ 137564 w 519676"/>
              <a:gd name="connsiteY2" fmla="*/ 1715511 h 1715511"/>
              <a:gd name="connsiteX0" fmla="*/ 570827 w 1089142"/>
              <a:gd name="connsiteY0" fmla="*/ 0 h 1739787"/>
              <a:gd name="connsiteX1" fmla="*/ 1088717 w 1089142"/>
              <a:gd name="connsiteY1" fmla="*/ 639271 h 1739787"/>
              <a:gd name="connsiteX2" fmla="*/ 0 w 1089142"/>
              <a:gd name="connsiteY2" fmla="*/ 1739787 h 1739787"/>
              <a:gd name="connsiteX0" fmla="*/ 1633416 w 2151504"/>
              <a:gd name="connsiteY0" fmla="*/ 0 h 1880088"/>
              <a:gd name="connsiteX1" fmla="*/ 2151306 w 2151504"/>
              <a:gd name="connsiteY1" fmla="*/ 639271 h 1880088"/>
              <a:gd name="connsiteX2" fmla="*/ 0 w 2151504"/>
              <a:gd name="connsiteY2" fmla="*/ 1880088 h 1880088"/>
              <a:gd name="connsiteX0" fmla="*/ 1633416 w 2151537"/>
              <a:gd name="connsiteY0" fmla="*/ 0 h 1880088"/>
              <a:gd name="connsiteX1" fmla="*/ 2151306 w 2151537"/>
              <a:gd name="connsiteY1" fmla="*/ 639271 h 1880088"/>
              <a:gd name="connsiteX2" fmla="*/ 0 w 2151537"/>
              <a:gd name="connsiteY2" fmla="*/ 1880088 h 1880088"/>
              <a:gd name="connsiteX0" fmla="*/ 1633416 w 2151536"/>
              <a:gd name="connsiteY0" fmla="*/ 0 h 1854579"/>
              <a:gd name="connsiteX1" fmla="*/ 2151306 w 2151536"/>
              <a:gd name="connsiteY1" fmla="*/ 639271 h 1854579"/>
              <a:gd name="connsiteX2" fmla="*/ 0 w 2151536"/>
              <a:gd name="connsiteY2" fmla="*/ 1854579 h 1854579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1255595 w 2547598"/>
              <a:gd name="connsiteY0" fmla="*/ 0 h 1891222"/>
              <a:gd name="connsiteX1" fmla="*/ 2547411 w 2547598"/>
              <a:gd name="connsiteY1" fmla="*/ 661888 h 1891222"/>
              <a:gd name="connsiteX2" fmla="*/ 0 w 2547598"/>
              <a:gd name="connsiteY2" fmla="*/ 1891222 h 1891222"/>
              <a:gd name="connsiteX0" fmla="*/ 1255595 w 2815896"/>
              <a:gd name="connsiteY0" fmla="*/ 0 h 1900735"/>
              <a:gd name="connsiteX1" fmla="*/ 2547411 w 2815896"/>
              <a:gd name="connsiteY1" fmla="*/ 661888 h 1900735"/>
              <a:gd name="connsiteX2" fmla="*/ 2645145 w 2815896"/>
              <a:gd name="connsiteY2" fmla="*/ 1809401 h 1900735"/>
              <a:gd name="connsiteX3" fmla="*/ 0 w 2815896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901859"/>
              <a:gd name="connsiteY0" fmla="*/ 0 h 1900735"/>
              <a:gd name="connsiteX1" fmla="*/ 2876482 w 2901859"/>
              <a:gd name="connsiteY1" fmla="*/ 479545 h 1900735"/>
              <a:gd name="connsiteX2" fmla="*/ 2645145 w 2901859"/>
              <a:gd name="connsiteY2" fmla="*/ 1809401 h 1900735"/>
              <a:gd name="connsiteX3" fmla="*/ 0 w 2901859"/>
              <a:gd name="connsiteY3" fmla="*/ 1891222 h 1900735"/>
              <a:gd name="connsiteX0" fmla="*/ 1066684 w 2901859"/>
              <a:gd name="connsiteY0" fmla="*/ 0 h 1853980"/>
              <a:gd name="connsiteX1" fmla="*/ 2876482 w 2901859"/>
              <a:gd name="connsiteY1" fmla="*/ 432790 h 1853980"/>
              <a:gd name="connsiteX2" fmla="*/ 2645145 w 2901859"/>
              <a:gd name="connsiteY2" fmla="*/ 1762646 h 1853980"/>
              <a:gd name="connsiteX3" fmla="*/ 0 w 2901859"/>
              <a:gd name="connsiteY3" fmla="*/ 1844467 h 1853980"/>
              <a:gd name="connsiteX0" fmla="*/ 0 w 3175835"/>
              <a:gd name="connsiteY0" fmla="*/ 446637 h 1491763"/>
              <a:gd name="connsiteX1" fmla="*/ 3150458 w 3175835"/>
              <a:gd name="connsiteY1" fmla="*/ 70573 h 1491763"/>
              <a:gd name="connsiteX2" fmla="*/ 2919121 w 3175835"/>
              <a:gd name="connsiteY2" fmla="*/ 1400429 h 1491763"/>
              <a:gd name="connsiteX3" fmla="*/ 273976 w 3175835"/>
              <a:gd name="connsiteY3" fmla="*/ 1482250 h 1491763"/>
              <a:gd name="connsiteX0" fmla="*/ 0 w 2919121"/>
              <a:gd name="connsiteY0" fmla="*/ 0 h 1045126"/>
              <a:gd name="connsiteX1" fmla="*/ 2919121 w 2919121"/>
              <a:gd name="connsiteY1" fmla="*/ 953792 h 1045126"/>
              <a:gd name="connsiteX2" fmla="*/ 273976 w 2919121"/>
              <a:gd name="connsiteY2" fmla="*/ 1035613 h 1045126"/>
              <a:gd name="connsiteX0" fmla="*/ 0 w 273976"/>
              <a:gd name="connsiteY0" fmla="*/ 0 h 1035613"/>
              <a:gd name="connsiteX1" fmla="*/ 273976 w 273976"/>
              <a:gd name="connsiteY1" fmla="*/ 1035613 h 1035613"/>
              <a:gd name="connsiteX0" fmla="*/ 0 w 3595154"/>
              <a:gd name="connsiteY0" fmla="*/ 0 h 731709"/>
              <a:gd name="connsiteX1" fmla="*/ 3595154 w 3595154"/>
              <a:gd name="connsiteY1" fmla="*/ 731709 h 731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95154" h="731709">
                <a:moveTo>
                  <a:pt x="0" y="0"/>
                </a:moveTo>
                <a:lnTo>
                  <a:pt x="3595154" y="731709"/>
                </a:ln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96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связывания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Разные идентификаторы обозначают разные функции и значения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Идентификатор, видимый во всей единице компиляции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внутреннее связывание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внешнее связывание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функции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переменной, видимой во всей единице компиляции,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Не имеют связывания идентификаторы объявленные</a:t>
            </a:r>
          </a:p>
          <a:p>
            <a:pPr lvl="1"/>
            <a:r>
              <a:rPr lang="ru-RU" dirty="0"/>
              <a:t>В прототипе функции</a:t>
            </a:r>
          </a:p>
          <a:p>
            <a:pPr lvl="1"/>
            <a:r>
              <a:rPr lang="ru-RU" dirty="0"/>
              <a:t>Без </a:t>
            </a:r>
            <a:r>
              <a:rPr lang="ru-RU" dirty="0" err="1"/>
              <a:t>extern</a:t>
            </a:r>
            <a:r>
              <a:rPr lang="ru-RU" dirty="0"/>
              <a:t> внутри блока</a:t>
            </a:r>
          </a:p>
          <a:p>
            <a:endParaRPr lang="en-US" dirty="0"/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 О1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 О2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игнорируется для идентификаторов, имеющих связывание в О2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одного идентификатора с разными связываниями в одной области видимости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undefined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ru-RU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6D552-5D8E-9CA5-4F26-5C19DFD57CFF}"/>
              </a:ext>
            </a:extLst>
          </p:cNvPr>
          <p:cNvSpPr/>
          <p:nvPr/>
        </p:nvSpPr>
        <p:spPr>
          <a:xfrm>
            <a:off x="838200" y="1562085"/>
            <a:ext cx="5181600" cy="2127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sz="2000" dirty="0" err="1">
                <a:solidFill>
                  <a:srgbClr val="6A9955"/>
                </a:solidFill>
                <a:latin typeface="Consolas" panose="020B0609020204030204" pitchFamily="49" charset="0"/>
              </a:rPr>
              <a:t>my_prog.c</a:t>
            </a:r>
            <a:endParaRPr lang="en-US" sz="20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my_stuff.h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print_locals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res,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, 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56DC68-71A3-62CA-3B3C-B9750E6CBBA0}"/>
              </a:ext>
            </a:extLst>
          </p:cNvPr>
          <p:cNvSpPr/>
          <p:nvPr/>
        </p:nvSpPr>
        <p:spPr>
          <a:xfrm>
            <a:off x="838200" y="4070294"/>
            <a:ext cx="5181600" cy="25675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my_stuff.c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calc_factorial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++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*= 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59BED8B-8317-A58D-0E69-545E3A580132}"/>
              </a:ext>
            </a:extLst>
          </p:cNvPr>
          <p:cNvSpPr/>
          <p:nvPr/>
        </p:nvSpPr>
        <p:spPr>
          <a:xfrm>
            <a:off x="3837392" y="3247373"/>
            <a:ext cx="445391" cy="1445391"/>
          </a:xfrm>
          <a:custGeom>
            <a:avLst/>
            <a:gdLst>
              <a:gd name="connsiteX0" fmla="*/ 0 w 519676"/>
              <a:gd name="connsiteY0" fmla="*/ 0 h 1715511"/>
              <a:gd name="connsiteX1" fmla="*/ 517890 w 519676"/>
              <a:gd name="connsiteY1" fmla="*/ 639271 h 1715511"/>
              <a:gd name="connsiteX2" fmla="*/ 137564 w 519676"/>
              <a:gd name="connsiteY2" fmla="*/ 1715511 h 1715511"/>
              <a:gd name="connsiteX0" fmla="*/ 570827 w 1089142"/>
              <a:gd name="connsiteY0" fmla="*/ 0 h 1739787"/>
              <a:gd name="connsiteX1" fmla="*/ 1088717 w 1089142"/>
              <a:gd name="connsiteY1" fmla="*/ 639271 h 1739787"/>
              <a:gd name="connsiteX2" fmla="*/ 0 w 1089142"/>
              <a:gd name="connsiteY2" fmla="*/ 1739787 h 1739787"/>
              <a:gd name="connsiteX0" fmla="*/ 1633416 w 2151504"/>
              <a:gd name="connsiteY0" fmla="*/ 0 h 1880088"/>
              <a:gd name="connsiteX1" fmla="*/ 2151306 w 2151504"/>
              <a:gd name="connsiteY1" fmla="*/ 639271 h 1880088"/>
              <a:gd name="connsiteX2" fmla="*/ 0 w 2151504"/>
              <a:gd name="connsiteY2" fmla="*/ 1880088 h 1880088"/>
              <a:gd name="connsiteX0" fmla="*/ 1633416 w 2151537"/>
              <a:gd name="connsiteY0" fmla="*/ 0 h 1880088"/>
              <a:gd name="connsiteX1" fmla="*/ 2151306 w 2151537"/>
              <a:gd name="connsiteY1" fmla="*/ 639271 h 1880088"/>
              <a:gd name="connsiteX2" fmla="*/ 0 w 2151537"/>
              <a:gd name="connsiteY2" fmla="*/ 1880088 h 1880088"/>
              <a:gd name="connsiteX0" fmla="*/ 1633416 w 2151536"/>
              <a:gd name="connsiteY0" fmla="*/ 0 h 1854579"/>
              <a:gd name="connsiteX1" fmla="*/ 2151306 w 2151536"/>
              <a:gd name="connsiteY1" fmla="*/ 639271 h 1854579"/>
              <a:gd name="connsiteX2" fmla="*/ 0 w 2151536"/>
              <a:gd name="connsiteY2" fmla="*/ 1854579 h 1854579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1255595 w 2547598"/>
              <a:gd name="connsiteY0" fmla="*/ 0 h 1891222"/>
              <a:gd name="connsiteX1" fmla="*/ 2547411 w 2547598"/>
              <a:gd name="connsiteY1" fmla="*/ 661888 h 1891222"/>
              <a:gd name="connsiteX2" fmla="*/ 0 w 2547598"/>
              <a:gd name="connsiteY2" fmla="*/ 1891222 h 1891222"/>
              <a:gd name="connsiteX0" fmla="*/ 1255595 w 2815896"/>
              <a:gd name="connsiteY0" fmla="*/ 0 h 1900735"/>
              <a:gd name="connsiteX1" fmla="*/ 2547411 w 2815896"/>
              <a:gd name="connsiteY1" fmla="*/ 661888 h 1900735"/>
              <a:gd name="connsiteX2" fmla="*/ 2645145 w 2815896"/>
              <a:gd name="connsiteY2" fmla="*/ 1809401 h 1900735"/>
              <a:gd name="connsiteX3" fmla="*/ 0 w 2815896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901859"/>
              <a:gd name="connsiteY0" fmla="*/ 0 h 1900735"/>
              <a:gd name="connsiteX1" fmla="*/ 2876482 w 2901859"/>
              <a:gd name="connsiteY1" fmla="*/ 479545 h 1900735"/>
              <a:gd name="connsiteX2" fmla="*/ 2645145 w 2901859"/>
              <a:gd name="connsiteY2" fmla="*/ 1809401 h 1900735"/>
              <a:gd name="connsiteX3" fmla="*/ 0 w 2901859"/>
              <a:gd name="connsiteY3" fmla="*/ 1891222 h 1900735"/>
              <a:gd name="connsiteX0" fmla="*/ 1066684 w 2901859"/>
              <a:gd name="connsiteY0" fmla="*/ 0 h 1853980"/>
              <a:gd name="connsiteX1" fmla="*/ 2876482 w 2901859"/>
              <a:gd name="connsiteY1" fmla="*/ 432790 h 1853980"/>
              <a:gd name="connsiteX2" fmla="*/ 2645145 w 2901859"/>
              <a:gd name="connsiteY2" fmla="*/ 1762646 h 1853980"/>
              <a:gd name="connsiteX3" fmla="*/ 0 w 2901859"/>
              <a:gd name="connsiteY3" fmla="*/ 1844467 h 1853980"/>
              <a:gd name="connsiteX0" fmla="*/ 0 w 3175835"/>
              <a:gd name="connsiteY0" fmla="*/ 446637 h 1491763"/>
              <a:gd name="connsiteX1" fmla="*/ 3150458 w 3175835"/>
              <a:gd name="connsiteY1" fmla="*/ 70573 h 1491763"/>
              <a:gd name="connsiteX2" fmla="*/ 2919121 w 3175835"/>
              <a:gd name="connsiteY2" fmla="*/ 1400429 h 1491763"/>
              <a:gd name="connsiteX3" fmla="*/ 273976 w 3175835"/>
              <a:gd name="connsiteY3" fmla="*/ 1482250 h 1491763"/>
              <a:gd name="connsiteX0" fmla="*/ 0 w 2919121"/>
              <a:gd name="connsiteY0" fmla="*/ 0 h 1045126"/>
              <a:gd name="connsiteX1" fmla="*/ 2919121 w 2919121"/>
              <a:gd name="connsiteY1" fmla="*/ 953792 h 1045126"/>
              <a:gd name="connsiteX2" fmla="*/ 273976 w 2919121"/>
              <a:gd name="connsiteY2" fmla="*/ 1035613 h 1045126"/>
              <a:gd name="connsiteX0" fmla="*/ 0 w 273976"/>
              <a:gd name="connsiteY0" fmla="*/ 0 h 1035613"/>
              <a:gd name="connsiteX1" fmla="*/ 273976 w 273976"/>
              <a:gd name="connsiteY1" fmla="*/ 1035613 h 1035613"/>
              <a:gd name="connsiteX0" fmla="*/ 0 w 3595154"/>
              <a:gd name="connsiteY0" fmla="*/ 0 h 731709"/>
              <a:gd name="connsiteX1" fmla="*/ 3595154 w 3595154"/>
              <a:gd name="connsiteY1" fmla="*/ 731709 h 731709"/>
              <a:gd name="connsiteX0" fmla="*/ 3385489 w 3554380"/>
              <a:gd name="connsiteY0" fmla="*/ 0 h 714590"/>
              <a:gd name="connsiteX1" fmla="*/ 168890 w 3554380"/>
              <a:gd name="connsiteY1" fmla="*/ 714590 h 714590"/>
              <a:gd name="connsiteX0" fmla="*/ 2593113 w 2787040"/>
              <a:gd name="connsiteY0" fmla="*/ 0 h 710310"/>
              <a:gd name="connsiteX1" fmla="*/ 193927 w 2787040"/>
              <a:gd name="connsiteY1" fmla="*/ 710310 h 710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87040" h="710310">
                <a:moveTo>
                  <a:pt x="2593113" y="0"/>
                </a:moveTo>
                <a:cubicBezTo>
                  <a:pt x="3791498" y="243903"/>
                  <a:pt x="-1004458" y="466407"/>
                  <a:pt x="193927" y="710310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EBAFAE1-3F77-D592-C73F-C0CD18A649D7}"/>
              </a:ext>
            </a:extLst>
          </p:cNvPr>
          <p:cNvSpPr/>
          <p:nvPr/>
        </p:nvSpPr>
        <p:spPr>
          <a:xfrm flipH="1">
            <a:off x="2616815" y="3233732"/>
            <a:ext cx="1152539" cy="1975096"/>
          </a:xfrm>
          <a:custGeom>
            <a:avLst/>
            <a:gdLst>
              <a:gd name="connsiteX0" fmla="*/ 0 w 519676"/>
              <a:gd name="connsiteY0" fmla="*/ 0 h 1715511"/>
              <a:gd name="connsiteX1" fmla="*/ 517890 w 519676"/>
              <a:gd name="connsiteY1" fmla="*/ 639271 h 1715511"/>
              <a:gd name="connsiteX2" fmla="*/ 137564 w 519676"/>
              <a:gd name="connsiteY2" fmla="*/ 1715511 h 1715511"/>
              <a:gd name="connsiteX0" fmla="*/ 570827 w 1089142"/>
              <a:gd name="connsiteY0" fmla="*/ 0 h 1739787"/>
              <a:gd name="connsiteX1" fmla="*/ 1088717 w 1089142"/>
              <a:gd name="connsiteY1" fmla="*/ 639271 h 1739787"/>
              <a:gd name="connsiteX2" fmla="*/ 0 w 1089142"/>
              <a:gd name="connsiteY2" fmla="*/ 1739787 h 1739787"/>
              <a:gd name="connsiteX0" fmla="*/ 1633416 w 2151504"/>
              <a:gd name="connsiteY0" fmla="*/ 0 h 1880088"/>
              <a:gd name="connsiteX1" fmla="*/ 2151306 w 2151504"/>
              <a:gd name="connsiteY1" fmla="*/ 639271 h 1880088"/>
              <a:gd name="connsiteX2" fmla="*/ 0 w 2151504"/>
              <a:gd name="connsiteY2" fmla="*/ 1880088 h 1880088"/>
              <a:gd name="connsiteX0" fmla="*/ 1633416 w 2151537"/>
              <a:gd name="connsiteY0" fmla="*/ 0 h 1880088"/>
              <a:gd name="connsiteX1" fmla="*/ 2151306 w 2151537"/>
              <a:gd name="connsiteY1" fmla="*/ 639271 h 1880088"/>
              <a:gd name="connsiteX2" fmla="*/ 0 w 2151537"/>
              <a:gd name="connsiteY2" fmla="*/ 1880088 h 1880088"/>
              <a:gd name="connsiteX0" fmla="*/ 1633416 w 2151536"/>
              <a:gd name="connsiteY0" fmla="*/ 0 h 1854579"/>
              <a:gd name="connsiteX1" fmla="*/ 2151306 w 2151536"/>
              <a:gd name="connsiteY1" fmla="*/ 639271 h 1854579"/>
              <a:gd name="connsiteX2" fmla="*/ 0 w 2151536"/>
              <a:gd name="connsiteY2" fmla="*/ 1854579 h 1854579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1255595 w 2547598"/>
              <a:gd name="connsiteY0" fmla="*/ 0 h 1891222"/>
              <a:gd name="connsiteX1" fmla="*/ 2547411 w 2547598"/>
              <a:gd name="connsiteY1" fmla="*/ 661888 h 1891222"/>
              <a:gd name="connsiteX2" fmla="*/ 0 w 2547598"/>
              <a:gd name="connsiteY2" fmla="*/ 1891222 h 1891222"/>
              <a:gd name="connsiteX0" fmla="*/ 1255595 w 2815896"/>
              <a:gd name="connsiteY0" fmla="*/ 0 h 1900735"/>
              <a:gd name="connsiteX1" fmla="*/ 2547411 w 2815896"/>
              <a:gd name="connsiteY1" fmla="*/ 661888 h 1900735"/>
              <a:gd name="connsiteX2" fmla="*/ 2645145 w 2815896"/>
              <a:gd name="connsiteY2" fmla="*/ 1809401 h 1900735"/>
              <a:gd name="connsiteX3" fmla="*/ 0 w 2815896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901859"/>
              <a:gd name="connsiteY0" fmla="*/ 0 h 1900735"/>
              <a:gd name="connsiteX1" fmla="*/ 2876482 w 2901859"/>
              <a:gd name="connsiteY1" fmla="*/ 479545 h 1900735"/>
              <a:gd name="connsiteX2" fmla="*/ 2645145 w 2901859"/>
              <a:gd name="connsiteY2" fmla="*/ 1809401 h 1900735"/>
              <a:gd name="connsiteX3" fmla="*/ 0 w 2901859"/>
              <a:gd name="connsiteY3" fmla="*/ 1891222 h 1900735"/>
              <a:gd name="connsiteX0" fmla="*/ 1066684 w 2901859"/>
              <a:gd name="connsiteY0" fmla="*/ 0 h 1853980"/>
              <a:gd name="connsiteX1" fmla="*/ 2876482 w 2901859"/>
              <a:gd name="connsiteY1" fmla="*/ 432790 h 1853980"/>
              <a:gd name="connsiteX2" fmla="*/ 2645145 w 2901859"/>
              <a:gd name="connsiteY2" fmla="*/ 1762646 h 1853980"/>
              <a:gd name="connsiteX3" fmla="*/ 0 w 2901859"/>
              <a:gd name="connsiteY3" fmla="*/ 1844467 h 1853980"/>
              <a:gd name="connsiteX0" fmla="*/ 0 w 3175835"/>
              <a:gd name="connsiteY0" fmla="*/ 446637 h 1491763"/>
              <a:gd name="connsiteX1" fmla="*/ 3150458 w 3175835"/>
              <a:gd name="connsiteY1" fmla="*/ 70573 h 1491763"/>
              <a:gd name="connsiteX2" fmla="*/ 2919121 w 3175835"/>
              <a:gd name="connsiteY2" fmla="*/ 1400429 h 1491763"/>
              <a:gd name="connsiteX3" fmla="*/ 273976 w 3175835"/>
              <a:gd name="connsiteY3" fmla="*/ 1482250 h 1491763"/>
              <a:gd name="connsiteX0" fmla="*/ 0 w 2919121"/>
              <a:gd name="connsiteY0" fmla="*/ 0 h 1045126"/>
              <a:gd name="connsiteX1" fmla="*/ 2919121 w 2919121"/>
              <a:gd name="connsiteY1" fmla="*/ 953792 h 1045126"/>
              <a:gd name="connsiteX2" fmla="*/ 273976 w 2919121"/>
              <a:gd name="connsiteY2" fmla="*/ 1035613 h 1045126"/>
              <a:gd name="connsiteX0" fmla="*/ 0 w 273976"/>
              <a:gd name="connsiteY0" fmla="*/ 0 h 1035613"/>
              <a:gd name="connsiteX1" fmla="*/ 273976 w 273976"/>
              <a:gd name="connsiteY1" fmla="*/ 1035613 h 1035613"/>
              <a:gd name="connsiteX0" fmla="*/ 0 w 3595154"/>
              <a:gd name="connsiteY0" fmla="*/ 0 h 731709"/>
              <a:gd name="connsiteX1" fmla="*/ 3595154 w 3595154"/>
              <a:gd name="connsiteY1" fmla="*/ 731709 h 731709"/>
              <a:gd name="connsiteX0" fmla="*/ 0 w 4994606"/>
              <a:gd name="connsiteY0" fmla="*/ 0 h 747492"/>
              <a:gd name="connsiteX1" fmla="*/ 4994606 w 4994606"/>
              <a:gd name="connsiteY1" fmla="*/ 747492 h 747492"/>
              <a:gd name="connsiteX0" fmla="*/ 0 w 5447372"/>
              <a:gd name="connsiteY0" fmla="*/ 0 h 715925"/>
              <a:gd name="connsiteX1" fmla="*/ 5447372 w 5447372"/>
              <a:gd name="connsiteY1" fmla="*/ 715925 h 71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47372" h="715925">
                <a:moveTo>
                  <a:pt x="0" y="0"/>
                </a:moveTo>
                <a:cubicBezTo>
                  <a:pt x="1198385" y="243903"/>
                  <a:pt x="4248987" y="472022"/>
                  <a:pt x="5447372" y="715925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7A0AEF3-D483-F7BD-57FC-3E7EC62E9E6A}"/>
              </a:ext>
            </a:extLst>
          </p:cNvPr>
          <p:cNvSpPr/>
          <p:nvPr/>
        </p:nvSpPr>
        <p:spPr>
          <a:xfrm flipH="1">
            <a:off x="1998733" y="3206357"/>
            <a:ext cx="1048727" cy="1752889"/>
          </a:xfrm>
          <a:custGeom>
            <a:avLst/>
            <a:gdLst>
              <a:gd name="connsiteX0" fmla="*/ 0 w 519676"/>
              <a:gd name="connsiteY0" fmla="*/ 0 h 1715511"/>
              <a:gd name="connsiteX1" fmla="*/ 517890 w 519676"/>
              <a:gd name="connsiteY1" fmla="*/ 639271 h 1715511"/>
              <a:gd name="connsiteX2" fmla="*/ 137564 w 519676"/>
              <a:gd name="connsiteY2" fmla="*/ 1715511 h 1715511"/>
              <a:gd name="connsiteX0" fmla="*/ 570827 w 1089142"/>
              <a:gd name="connsiteY0" fmla="*/ 0 h 1739787"/>
              <a:gd name="connsiteX1" fmla="*/ 1088717 w 1089142"/>
              <a:gd name="connsiteY1" fmla="*/ 639271 h 1739787"/>
              <a:gd name="connsiteX2" fmla="*/ 0 w 1089142"/>
              <a:gd name="connsiteY2" fmla="*/ 1739787 h 1739787"/>
              <a:gd name="connsiteX0" fmla="*/ 1633416 w 2151504"/>
              <a:gd name="connsiteY0" fmla="*/ 0 h 1880088"/>
              <a:gd name="connsiteX1" fmla="*/ 2151306 w 2151504"/>
              <a:gd name="connsiteY1" fmla="*/ 639271 h 1880088"/>
              <a:gd name="connsiteX2" fmla="*/ 0 w 2151504"/>
              <a:gd name="connsiteY2" fmla="*/ 1880088 h 1880088"/>
              <a:gd name="connsiteX0" fmla="*/ 1633416 w 2151537"/>
              <a:gd name="connsiteY0" fmla="*/ 0 h 1880088"/>
              <a:gd name="connsiteX1" fmla="*/ 2151306 w 2151537"/>
              <a:gd name="connsiteY1" fmla="*/ 639271 h 1880088"/>
              <a:gd name="connsiteX2" fmla="*/ 0 w 2151537"/>
              <a:gd name="connsiteY2" fmla="*/ 1880088 h 1880088"/>
              <a:gd name="connsiteX0" fmla="*/ 1633416 w 2151536"/>
              <a:gd name="connsiteY0" fmla="*/ 0 h 1854579"/>
              <a:gd name="connsiteX1" fmla="*/ 2151306 w 2151536"/>
              <a:gd name="connsiteY1" fmla="*/ 639271 h 1854579"/>
              <a:gd name="connsiteX2" fmla="*/ 0 w 2151536"/>
              <a:gd name="connsiteY2" fmla="*/ 1854579 h 1854579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859490 w 2151536"/>
              <a:gd name="connsiteY0" fmla="*/ 0 h 1877196"/>
              <a:gd name="connsiteX1" fmla="*/ 2151306 w 2151536"/>
              <a:gd name="connsiteY1" fmla="*/ 661888 h 1877196"/>
              <a:gd name="connsiteX2" fmla="*/ 0 w 2151536"/>
              <a:gd name="connsiteY2" fmla="*/ 1877196 h 1877196"/>
              <a:gd name="connsiteX0" fmla="*/ 1255595 w 2547598"/>
              <a:gd name="connsiteY0" fmla="*/ 0 h 1891222"/>
              <a:gd name="connsiteX1" fmla="*/ 2547411 w 2547598"/>
              <a:gd name="connsiteY1" fmla="*/ 661888 h 1891222"/>
              <a:gd name="connsiteX2" fmla="*/ 0 w 2547598"/>
              <a:gd name="connsiteY2" fmla="*/ 1891222 h 1891222"/>
              <a:gd name="connsiteX0" fmla="*/ 1255595 w 2815896"/>
              <a:gd name="connsiteY0" fmla="*/ 0 h 1900735"/>
              <a:gd name="connsiteX1" fmla="*/ 2547411 w 2815896"/>
              <a:gd name="connsiteY1" fmla="*/ 661888 h 1900735"/>
              <a:gd name="connsiteX2" fmla="*/ 2645145 w 2815896"/>
              <a:gd name="connsiteY2" fmla="*/ 1809401 h 1900735"/>
              <a:gd name="connsiteX3" fmla="*/ 0 w 2815896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775741"/>
              <a:gd name="connsiteY0" fmla="*/ 0 h 1900735"/>
              <a:gd name="connsiteX1" fmla="*/ 2547411 w 2775741"/>
              <a:gd name="connsiteY1" fmla="*/ 661888 h 1900735"/>
              <a:gd name="connsiteX2" fmla="*/ 2645145 w 2775741"/>
              <a:gd name="connsiteY2" fmla="*/ 1809401 h 1900735"/>
              <a:gd name="connsiteX3" fmla="*/ 0 w 2775741"/>
              <a:gd name="connsiteY3" fmla="*/ 1891222 h 1900735"/>
              <a:gd name="connsiteX0" fmla="*/ 1255595 w 2901859"/>
              <a:gd name="connsiteY0" fmla="*/ 0 h 1900735"/>
              <a:gd name="connsiteX1" fmla="*/ 2876482 w 2901859"/>
              <a:gd name="connsiteY1" fmla="*/ 479545 h 1900735"/>
              <a:gd name="connsiteX2" fmla="*/ 2645145 w 2901859"/>
              <a:gd name="connsiteY2" fmla="*/ 1809401 h 1900735"/>
              <a:gd name="connsiteX3" fmla="*/ 0 w 2901859"/>
              <a:gd name="connsiteY3" fmla="*/ 1891222 h 1900735"/>
              <a:gd name="connsiteX0" fmla="*/ 1066684 w 2901859"/>
              <a:gd name="connsiteY0" fmla="*/ 0 h 1853980"/>
              <a:gd name="connsiteX1" fmla="*/ 2876482 w 2901859"/>
              <a:gd name="connsiteY1" fmla="*/ 432790 h 1853980"/>
              <a:gd name="connsiteX2" fmla="*/ 2645145 w 2901859"/>
              <a:gd name="connsiteY2" fmla="*/ 1762646 h 1853980"/>
              <a:gd name="connsiteX3" fmla="*/ 0 w 2901859"/>
              <a:gd name="connsiteY3" fmla="*/ 1844467 h 1853980"/>
              <a:gd name="connsiteX0" fmla="*/ 0 w 3175835"/>
              <a:gd name="connsiteY0" fmla="*/ 446637 h 1491763"/>
              <a:gd name="connsiteX1" fmla="*/ 3150458 w 3175835"/>
              <a:gd name="connsiteY1" fmla="*/ 70573 h 1491763"/>
              <a:gd name="connsiteX2" fmla="*/ 2919121 w 3175835"/>
              <a:gd name="connsiteY2" fmla="*/ 1400429 h 1491763"/>
              <a:gd name="connsiteX3" fmla="*/ 273976 w 3175835"/>
              <a:gd name="connsiteY3" fmla="*/ 1482250 h 1491763"/>
              <a:gd name="connsiteX0" fmla="*/ 0 w 2919121"/>
              <a:gd name="connsiteY0" fmla="*/ 0 h 1045126"/>
              <a:gd name="connsiteX1" fmla="*/ 2919121 w 2919121"/>
              <a:gd name="connsiteY1" fmla="*/ 953792 h 1045126"/>
              <a:gd name="connsiteX2" fmla="*/ 273976 w 2919121"/>
              <a:gd name="connsiteY2" fmla="*/ 1035613 h 1045126"/>
              <a:gd name="connsiteX0" fmla="*/ 0 w 273976"/>
              <a:gd name="connsiteY0" fmla="*/ 0 h 1035613"/>
              <a:gd name="connsiteX1" fmla="*/ 273976 w 273976"/>
              <a:gd name="connsiteY1" fmla="*/ 1035613 h 1035613"/>
              <a:gd name="connsiteX0" fmla="*/ 0 w 3595154"/>
              <a:gd name="connsiteY0" fmla="*/ 0 h 731709"/>
              <a:gd name="connsiteX1" fmla="*/ 3595154 w 3595154"/>
              <a:gd name="connsiteY1" fmla="*/ 731709 h 731709"/>
              <a:gd name="connsiteX0" fmla="*/ 0 w 2117872"/>
              <a:gd name="connsiteY0" fmla="*/ 0 h 713973"/>
              <a:gd name="connsiteX1" fmla="*/ 2117872 w 2117872"/>
              <a:gd name="connsiteY1" fmla="*/ 713973 h 713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17872" h="713973">
                <a:moveTo>
                  <a:pt x="0" y="0"/>
                </a:moveTo>
                <a:cubicBezTo>
                  <a:pt x="1198385" y="243903"/>
                  <a:pt x="919487" y="470070"/>
                  <a:pt x="2117872" y="713973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45F438-84FC-F4E4-6AD8-05FC73A2C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256416">
            <a:off x="3802303" y="3616174"/>
            <a:ext cx="1104549" cy="7363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065BFB-910A-4E86-E2B6-376645300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203078">
            <a:off x="2723238" y="3349158"/>
            <a:ext cx="1104549" cy="7363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85DA93-7925-E6CE-9759-A28FFC3AE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563707" flipV="1">
            <a:off x="1765303" y="3349158"/>
            <a:ext cx="1104549" cy="73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87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связывания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Разные идентификаторы обозначают разные функции и значения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Идентификатор, видимый во всей единице компиляции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внутреннее связывание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внешнее связывание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функции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переменной, видимой во всей единице компиляции,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 имеют связывания идентификаторы объявленные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прототипе функции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внутри блока</a:t>
            </a:r>
          </a:p>
          <a:p>
            <a:endParaRPr lang="en-US" dirty="0"/>
          </a:p>
          <a:p>
            <a:r>
              <a:rPr lang="ru-RU" dirty="0"/>
              <a:t>Объявление </a:t>
            </a:r>
            <a:r>
              <a:rPr lang="en-US" dirty="0"/>
              <a:t>extern</a:t>
            </a:r>
            <a:r>
              <a:rPr lang="ru-RU" dirty="0"/>
              <a:t> в О1 </a:t>
            </a:r>
            <a:r>
              <a:rPr lang="ru-RU" dirty="0">
                <a:sym typeface="Symbol" panose="05050102010706020507" pitchFamily="18" charset="2"/>
              </a:rPr>
              <a:t> О2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ru-RU" dirty="0">
                <a:sym typeface="Symbol" panose="05050102010706020507" pitchFamily="18" charset="2"/>
              </a:rPr>
              <a:t>игнорируется для идентификаторов, имеющих связывание в О2</a:t>
            </a:r>
            <a:endParaRPr lang="en-US" dirty="0">
              <a:sym typeface="Symbol" panose="05050102010706020507" pitchFamily="18" charset="2"/>
            </a:endParaRP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одного идентификатора с разными связываниями в одной области видимости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undefined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ru-RU" dirty="0">
              <a:sym typeface="Symbol" panose="05050102010706020507" pitchFamily="18" charset="2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E072FD-18CD-4D89-FF29-45FCD720B747}"/>
              </a:ext>
            </a:extLst>
          </p:cNvPr>
          <p:cNvSpPr/>
          <p:nvPr/>
        </p:nvSpPr>
        <p:spPr>
          <a:xfrm>
            <a:off x="838200" y="4086478"/>
            <a:ext cx="9571209" cy="209048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100500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nested_scope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игнорируется,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имеет статичес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к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ое связывание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не игнорируется,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не имеет связывания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386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связывания идентификаторов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Разные идентификаторы обозначают разные функции и значения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Идентификатор, видимый во всей единице компиляции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внутреннее связывание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объявленный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имеет внешнее связывание</a:t>
            </a: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функции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переменной, видимой во всей единице компиляции, 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объявление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 имеют связывания идентификаторы объявленные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прототипе функции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Без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внутри блока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Объявление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extern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в О1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 О2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sym typeface="Symbol" panose="05050102010706020507" pitchFamily="18" charset="2"/>
              </a:rPr>
              <a:t>игнорируется для идентификаторов, имеющих связывание в О2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sym typeface="Symbol" panose="05050102010706020507" pitchFamily="18" charset="2"/>
            </a:endParaRP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ru-RU" dirty="0"/>
              <a:t>Объявление одного идентификатора с разными связываниями в одной области видимости </a:t>
            </a:r>
            <a:r>
              <a:rPr lang="ru-RU" dirty="0" err="1"/>
              <a:t>undefined</a:t>
            </a:r>
            <a:endParaRPr lang="ru-RU" dirty="0"/>
          </a:p>
          <a:p>
            <a:endParaRPr lang="ru-RU" dirty="0">
              <a:sym typeface="Symbol" panose="05050102010706020507" pitchFamily="18" charset="2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0F9DD-E3CD-5AF3-C0CA-2D04CEDC0B79}"/>
              </a:ext>
            </a:extLst>
          </p:cNvPr>
          <p:cNvSpPr/>
          <p:nvPr/>
        </p:nvSpPr>
        <p:spPr>
          <a:xfrm>
            <a:off x="838200" y="1825625"/>
            <a:ext cx="6540388" cy="22371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my_prog.c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100500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...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undefined -- static? extern?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752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146B3-6AC8-8541-213C-9B759A65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764A7-16FE-68C6-F9CD-4DE663B13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Деление исходного кода на части</a:t>
            </a:r>
          </a:p>
          <a:p>
            <a:pPr lvl="1"/>
            <a:r>
              <a:rPr lang="ru-RU" dirty="0"/>
              <a:t>«Классы», файлы, статические библиотеки, приложения, сервисы</a:t>
            </a:r>
          </a:p>
          <a:p>
            <a:r>
              <a:rPr lang="ru-RU" dirty="0"/>
              <a:t>Инструменты разработки</a:t>
            </a:r>
          </a:p>
          <a:p>
            <a:pPr lvl="1"/>
            <a:r>
              <a:rPr lang="ru-RU" dirty="0"/>
              <a:t>Компилятор – </a:t>
            </a:r>
            <a:r>
              <a:rPr lang="ru-RU" dirty="0" err="1"/>
              <a:t>лекс</a:t>
            </a:r>
            <a:r>
              <a:rPr lang="ru-RU" dirty="0"/>
              <a:t>-, </a:t>
            </a:r>
            <a:r>
              <a:rPr lang="ru-RU" dirty="0" err="1"/>
              <a:t>синтакс</a:t>
            </a:r>
            <a:r>
              <a:rPr lang="ru-RU" dirty="0"/>
              <a:t>-, семантический анализ, оптимизация, </a:t>
            </a:r>
            <a:r>
              <a:rPr lang="ru-RU" dirty="0" err="1"/>
              <a:t>кодогенерация</a:t>
            </a:r>
            <a:endParaRPr lang="ru-RU" dirty="0"/>
          </a:p>
          <a:p>
            <a:pPr lvl="1"/>
            <a:r>
              <a:rPr lang="ru-RU" dirty="0"/>
              <a:t>Линкер – объектные файлы, символы, релокации</a:t>
            </a:r>
            <a:endParaRPr lang="en-US" dirty="0"/>
          </a:p>
          <a:p>
            <a:r>
              <a:rPr lang="ru-RU" dirty="0"/>
              <a:t>Связывание идентификаторов</a:t>
            </a:r>
          </a:p>
          <a:p>
            <a:pPr lvl="1"/>
            <a:r>
              <a:rPr lang="ru-RU" dirty="0"/>
              <a:t>Разные объявления обозначают одно и то же</a:t>
            </a:r>
          </a:p>
          <a:p>
            <a:pPr lvl="1"/>
            <a:r>
              <a:rPr lang="ru-RU" dirty="0"/>
              <a:t>Внутреннее, внешнее, отсутствует</a:t>
            </a:r>
          </a:p>
          <a:p>
            <a:r>
              <a:rPr lang="ru-RU" dirty="0"/>
              <a:t>Правила связывания идентификаторов</a:t>
            </a:r>
          </a:p>
          <a:p>
            <a:pPr lvl="1"/>
            <a:r>
              <a:rPr lang="ru-RU" dirty="0"/>
              <a:t>ключевые слова </a:t>
            </a:r>
            <a:r>
              <a:rPr lang="en-US" dirty="0"/>
              <a:t>extern/static</a:t>
            </a:r>
            <a:endParaRPr lang="ru-RU" dirty="0"/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423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8661</TotalTime>
  <Words>1689</Words>
  <Application>Microsoft Office PowerPoint</Application>
  <PresentationFormat>Widescreen</PresentationFormat>
  <Paragraphs>344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Symbol</vt:lpstr>
      <vt:lpstr>Office Theme</vt:lpstr>
      <vt:lpstr>Раздельная трансляция и связывание имён</vt:lpstr>
      <vt:lpstr>План лекции</vt:lpstr>
      <vt:lpstr>pip install catboost</vt:lpstr>
      <vt:lpstr>Делим исходный код на части</vt:lpstr>
      <vt:lpstr>Компилятор</vt:lpstr>
      <vt:lpstr>Формат объектного файла .o</vt:lpstr>
      <vt:lpstr>Линкер (компоновщик, редактор связей)</vt:lpstr>
      <vt:lpstr>Компиляция и Линковка == Сборка</vt:lpstr>
      <vt:lpstr>Деление исходного кода на файлы</vt:lpstr>
      <vt:lpstr>Сборка</vt:lpstr>
      <vt:lpstr>Связывание идентификаторов</vt:lpstr>
      <vt:lpstr>Виды связывания идентификаторов</vt:lpstr>
      <vt:lpstr>Правила связывания идентификаторов</vt:lpstr>
      <vt:lpstr>Правила связывания идентификаторов</vt:lpstr>
      <vt:lpstr>Правила связывания идентификаторов</vt:lpstr>
      <vt:lpstr>Правила связывания идентификаторов</vt:lpstr>
      <vt:lpstr>Правила связывания идентификаторов</vt:lpstr>
      <vt:lpstr>Правила связывания идентификаторов</vt:lpstr>
      <vt:lpstr>Правила связывания идентификаторов</vt:lpstr>
      <vt:lpstr>Правила связывания идентификаторов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Evgenii Petrov</dc:creator>
  <cp:lastModifiedBy>Evgenii Petrov</cp:lastModifiedBy>
  <cp:revision>66</cp:revision>
  <dcterms:created xsi:type="dcterms:W3CDTF">2026-10-20T10:31:27Z</dcterms:created>
  <dcterms:modified xsi:type="dcterms:W3CDTF">2026-10-26T10:53:16Z</dcterms:modified>
</cp:coreProperties>
</file>