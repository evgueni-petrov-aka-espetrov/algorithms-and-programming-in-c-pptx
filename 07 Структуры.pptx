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sldIdLst>
    <p:sldId id="256" r:id="rId2"/>
    <p:sldId id="257" r:id="rId3"/>
    <p:sldId id="280" r:id="rId4"/>
    <p:sldId id="268" r:id="rId5"/>
    <p:sldId id="282" r:id="rId6"/>
    <p:sldId id="281" r:id="rId7"/>
    <p:sldId id="260" r:id="rId8"/>
    <p:sldId id="271" r:id="rId9"/>
    <p:sldId id="283" r:id="rId10"/>
    <p:sldId id="275" r:id="rId11"/>
    <p:sldId id="276" r:id="rId12"/>
    <p:sldId id="279" r:id="rId13"/>
    <p:sldId id="284" r:id="rId14"/>
    <p:sldId id="285" r:id="rId15"/>
    <p:sldId id="286" r:id="rId16"/>
    <p:sldId id="287" r:id="rId17"/>
    <p:sldId id="258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86" autoAdjust="0"/>
    <p:restoredTop sz="94660"/>
  </p:normalViewPr>
  <p:slideViewPr>
    <p:cSldViewPr>
      <p:cViewPr varScale="1">
        <p:scale>
          <a:sx n="111" d="100"/>
          <a:sy n="111" d="100"/>
        </p:scale>
        <p:origin x="114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9364-41B5-4343-9AE4-547B2BBB7679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C6709-6BC4-4406-A8FB-37D4D1120A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095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234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247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6511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6178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2648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237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5129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404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1129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8035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546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E8346-1AE4-4D18-AE08-A571B45FDA13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095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Структуры</a:t>
            </a:r>
            <a:r>
              <a:rPr lang="en-US" dirty="0"/>
              <a:t> </a:t>
            </a:r>
            <a:r>
              <a:rPr lang="ru-RU" dirty="0"/>
              <a:t>и объединения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Лекция </a:t>
            </a:r>
            <a:r>
              <a:rPr lang="en-US" dirty="0"/>
              <a:t>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1675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Понятие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  <a:p>
            <a:r>
              <a:rPr lang="ru-RU" dirty="0"/>
              <a:t>Описание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  <a:p>
            <a:pPr lvl="1"/>
            <a:r>
              <a:rPr lang="ru-RU" dirty="0"/>
              <a:t>Предописание, неполный тип</a:t>
            </a:r>
          </a:p>
          <a:p>
            <a:pPr lvl="1"/>
            <a:r>
              <a:rPr lang="ru-RU" dirty="0"/>
              <a:t>Анонимные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  <a:p>
            <a:r>
              <a:rPr lang="ru-RU" dirty="0"/>
              <a:t>Инициализация переменных типа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  <a:p>
            <a:r>
              <a:rPr lang="ru-RU" dirty="0"/>
              <a:t>Размещение в памяти</a:t>
            </a:r>
          </a:p>
          <a:p>
            <a:r>
              <a:rPr lang="ru-RU" dirty="0"/>
              <a:t>Примеры использования</a:t>
            </a:r>
          </a:p>
        </p:txBody>
      </p:sp>
    </p:spTree>
    <p:extLst>
      <p:ext uri="{BB962C8B-B14F-4D97-AF65-F5344CB8AC3E}">
        <p14:creationId xmlns:p14="http://schemas.microsoft.com/office/powerpoint/2010/main" val="4170454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и объединения (повтор)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Структура – это последовательно размещенная в памяти непустая последовательность именованных элементов</a:t>
            </a:r>
          </a:p>
          <a:p>
            <a:endParaRPr lang="ru-RU" dirty="0"/>
          </a:p>
          <a:p>
            <a:r>
              <a:rPr lang="ru-RU" dirty="0"/>
              <a:t>Типы элементов</a:t>
            </a:r>
          </a:p>
          <a:p>
            <a:pPr lvl="1"/>
            <a:r>
              <a:rPr lang="ru-RU" dirty="0"/>
              <a:t>Могут быть разными</a:t>
            </a:r>
          </a:p>
          <a:p>
            <a:pPr lvl="1"/>
            <a:r>
              <a:rPr lang="ru-RU" dirty="0"/>
              <a:t>Все кроме последнего должны быть полными</a:t>
            </a:r>
          </a:p>
          <a:p>
            <a:pPr lvl="1"/>
            <a:r>
              <a:rPr lang="ru-RU" dirty="0"/>
              <a:t>Последний может быть полным или неполным типом-массивом</a:t>
            </a:r>
          </a:p>
          <a:p>
            <a:pPr lvl="2"/>
            <a:r>
              <a:rPr lang="ru-RU" dirty="0"/>
              <a:t>Например,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en-US" dirty="0" err="1"/>
              <a:t>TCharBuffer</a:t>
            </a:r>
            <a:r>
              <a:rPr lang="en-US" dirty="0"/>
              <a:t> {</a:t>
            </a:r>
            <a:r>
              <a:rPr lang="ru-RU" dirty="0"/>
              <a:t> </a:t>
            </a:r>
            <a:r>
              <a:rPr lang="en-US" dirty="0" err="1"/>
              <a:t>int</a:t>
            </a:r>
            <a:r>
              <a:rPr lang="en-US" dirty="0"/>
              <a:t> Size; char Data[];</a:t>
            </a:r>
            <a:r>
              <a:rPr lang="ru-RU" dirty="0"/>
              <a:t> </a:t>
            </a:r>
            <a:r>
              <a:rPr lang="en-US" dirty="0"/>
              <a:t>};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Объединение – это набор именованных значений, размещенных в памяти с перекрытием</a:t>
            </a:r>
          </a:p>
          <a:p>
            <a:endParaRPr lang="ru-RU" dirty="0"/>
          </a:p>
          <a:p>
            <a:r>
              <a:rPr lang="ru-RU" dirty="0"/>
              <a:t>Типы элементов </a:t>
            </a:r>
          </a:p>
          <a:p>
            <a:pPr lvl="1"/>
            <a:r>
              <a:rPr lang="ru-RU" dirty="0"/>
              <a:t>Могут быть разными</a:t>
            </a:r>
            <a:endParaRPr lang="en-US" dirty="0"/>
          </a:p>
          <a:p>
            <a:pPr lvl="1"/>
            <a:r>
              <a:rPr lang="ru-RU" dirty="0"/>
              <a:t>Должны быть полными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00714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Описание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ru-RU" dirty="0"/>
              <a:t>и</a:t>
            </a:r>
            <a:r>
              <a:rPr lang="en-US" dirty="0"/>
              <a:t> union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00201"/>
            <a:ext cx="6667500" cy="235267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135439"/>
            <a:ext cx="5695950" cy="1981200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582864"/>
            <a:ext cx="5029200" cy="3533775"/>
          </a:xfrm>
          <a:prstGeom prst="rect">
            <a:avLst/>
          </a:prstGeom>
          <a:ln>
            <a:solidFill>
              <a:srgbClr val="0070C0"/>
            </a:solidFill>
          </a:ln>
        </p:spPr>
      </p:pic>
      <p:sp>
        <p:nvSpPr>
          <p:cNvPr id="8" name="Полилиния 7"/>
          <p:cNvSpPr/>
          <p:nvPr/>
        </p:nvSpPr>
        <p:spPr>
          <a:xfrm>
            <a:off x="760262" y="2071396"/>
            <a:ext cx="312758" cy="755780"/>
          </a:xfrm>
          <a:custGeom>
            <a:avLst/>
            <a:gdLst>
              <a:gd name="connsiteX0" fmla="*/ 312758 w 312758"/>
              <a:gd name="connsiteY0" fmla="*/ 0 h 755780"/>
              <a:gd name="connsiteX1" fmla="*/ 42171 w 312758"/>
              <a:gd name="connsiteY1" fmla="*/ 354563 h 755780"/>
              <a:gd name="connsiteX2" fmla="*/ 4848 w 312758"/>
              <a:gd name="connsiteY2" fmla="*/ 755780 h 755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2758" h="755780">
                <a:moveTo>
                  <a:pt x="312758" y="0"/>
                </a:moveTo>
                <a:cubicBezTo>
                  <a:pt x="203123" y="114300"/>
                  <a:pt x="93489" y="228600"/>
                  <a:pt x="42171" y="354563"/>
                </a:cubicBezTo>
                <a:cubicBezTo>
                  <a:pt x="-9147" y="480526"/>
                  <a:pt x="-2150" y="618153"/>
                  <a:pt x="4848" y="755780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олилиния 8"/>
          <p:cNvSpPr/>
          <p:nvPr/>
        </p:nvSpPr>
        <p:spPr>
          <a:xfrm>
            <a:off x="1894114" y="2220686"/>
            <a:ext cx="3844213" cy="1940767"/>
          </a:xfrm>
          <a:custGeom>
            <a:avLst/>
            <a:gdLst>
              <a:gd name="connsiteX0" fmla="*/ 3844213 w 3844213"/>
              <a:gd name="connsiteY0" fmla="*/ 0 h 1940767"/>
              <a:gd name="connsiteX1" fmla="*/ 802433 w 3844213"/>
              <a:gd name="connsiteY1" fmla="*/ 1203649 h 1940767"/>
              <a:gd name="connsiteX2" fmla="*/ 0 w 3844213"/>
              <a:gd name="connsiteY2" fmla="*/ 1940767 h 1940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4213" h="1940767">
                <a:moveTo>
                  <a:pt x="3844213" y="0"/>
                </a:moveTo>
                <a:cubicBezTo>
                  <a:pt x="2643674" y="440094"/>
                  <a:pt x="1443135" y="880188"/>
                  <a:pt x="802433" y="1203649"/>
                </a:cubicBezTo>
                <a:cubicBezTo>
                  <a:pt x="161731" y="1527110"/>
                  <a:pt x="0" y="1940767"/>
                  <a:pt x="0" y="1940767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олилиния 9"/>
          <p:cNvSpPr/>
          <p:nvPr/>
        </p:nvSpPr>
        <p:spPr>
          <a:xfrm>
            <a:off x="566902" y="4338735"/>
            <a:ext cx="496788" cy="718457"/>
          </a:xfrm>
          <a:custGeom>
            <a:avLst/>
            <a:gdLst>
              <a:gd name="connsiteX0" fmla="*/ 496788 w 496788"/>
              <a:gd name="connsiteY0" fmla="*/ 718457 h 718457"/>
              <a:gd name="connsiteX1" fmla="*/ 2265 w 496788"/>
              <a:gd name="connsiteY1" fmla="*/ 466530 h 718457"/>
              <a:gd name="connsiteX2" fmla="*/ 300845 w 496788"/>
              <a:gd name="connsiteY2" fmla="*/ 0 h 718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6788" h="718457">
                <a:moveTo>
                  <a:pt x="496788" y="718457"/>
                </a:moveTo>
                <a:cubicBezTo>
                  <a:pt x="265855" y="652365"/>
                  <a:pt x="34922" y="586273"/>
                  <a:pt x="2265" y="466530"/>
                </a:cubicBezTo>
                <a:cubicBezTo>
                  <a:pt x="-30392" y="346787"/>
                  <a:pt x="300845" y="0"/>
                  <a:pt x="300845" y="0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олилиния 10"/>
          <p:cNvSpPr/>
          <p:nvPr/>
        </p:nvSpPr>
        <p:spPr>
          <a:xfrm>
            <a:off x="2612571" y="4582276"/>
            <a:ext cx="3478487" cy="921541"/>
          </a:xfrm>
          <a:custGeom>
            <a:avLst/>
            <a:gdLst>
              <a:gd name="connsiteX0" fmla="*/ 447870 w 3799285"/>
              <a:gd name="connsiteY0" fmla="*/ 47864 h 928671"/>
              <a:gd name="connsiteX1" fmla="*/ 3452327 w 3799285"/>
              <a:gd name="connsiteY1" fmla="*/ 85187 h 928671"/>
              <a:gd name="connsiteX2" fmla="*/ 3349690 w 3799285"/>
              <a:gd name="connsiteY2" fmla="*/ 831636 h 928671"/>
              <a:gd name="connsiteX3" fmla="*/ 0 w 3799285"/>
              <a:gd name="connsiteY3" fmla="*/ 896950 h 928671"/>
              <a:gd name="connsiteX0" fmla="*/ 447870 w 3577865"/>
              <a:gd name="connsiteY0" fmla="*/ 58246 h 940109"/>
              <a:gd name="connsiteX1" fmla="*/ 2967136 w 3577865"/>
              <a:gd name="connsiteY1" fmla="*/ 76907 h 940109"/>
              <a:gd name="connsiteX2" fmla="*/ 3349690 w 3577865"/>
              <a:gd name="connsiteY2" fmla="*/ 842018 h 940109"/>
              <a:gd name="connsiteX3" fmla="*/ 0 w 3577865"/>
              <a:gd name="connsiteY3" fmla="*/ 907332 h 940109"/>
              <a:gd name="connsiteX0" fmla="*/ 447870 w 3478487"/>
              <a:gd name="connsiteY0" fmla="*/ 55038 h 921541"/>
              <a:gd name="connsiteX1" fmla="*/ 2967136 w 3478487"/>
              <a:gd name="connsiteY1" fmla="*/ 73699 h 921541"/>
              <a:gd name="connsiteX2" fmla="*/ 3219062 w 3478487"/>
              <a:gd name="connsiteY2" fmla="*/ 792157 h 921541"/>
              <a:gd name="connsiteX3" fmla="*/ 0 w 3478487"/>
              <a:gd name="connsiteY3" fmla="*/ 904124 h 92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78487" h="921541">
                <a:moveTo>
                  <a:pt x="447870" y="55038"/>
                </a:moveTo>
                <a:cubicBezTo>
                  <a:pt x="1708280" y="8385"/>
                  <a:pt x="2505271" y="-49154"/>
                  <a:pt x="2967136" y="73699"/>
                </a:cubicBezTo>
                <a:cubicBezTo>
                  <a:pt x="3429001" y="196552"/>
                  <a:pt x="3713585" y="653753"/>
                  <a:pt x="3219062" y="792157"/>
                </a:cubicBezTo>
                <a:cubicBezTo>
                  <a:pt x="2724539" y="930561"/>
                  <a:pt x="1387151" y="939114"/>
                  <a:pt x="0" y="904124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олилиния 11"/>
          <p:cNvSpPr/>
          <p:nvPr/>
        </p:nvSpPr>
        <p:spPr>
          <a:xfrm>
            <a:off x="2649894" y="5038531"/>
            <a:ext cx="3185492" cy="447869"/>
          </a:xfrm>
          <a:custGeom>
            <a:avLst/>
            <a:gdLst>
              <a:gd name="connsiteX0" fmla="*/ 2911151 w 3185492"/>
              <a:gd name="connsiteY0" fmla="*/ 0 h 447869"/>
              <a:gd name="connsiteX1" fmla="*/ 3172408 w 3185492"/>
              <a:gd name="connsiteY1" fmla="*/ 121298 h 447869"/>
              <a:gd name="connsiteX2" fmla="*/ 2547257 w 3185492"/>
              <a:gd name="connsiteY2" fmla="*/ 363893 h 447869"/>
              <a:gd name="connsiteX3" fmla="*/ 0 w 3185492"/>
              <a:gd name="connsiteY3" fmla="*/ 447869 h 44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85492" h="447869">
                <a:moveTo>
                  <a:pt x="2911151" y="0"/>
                </a:moveTo>
                <a:cubicBezTo>
                  <a:pt x="3072104" y="30324"/>
                  <a:pt x="3233057" y="60649"/>
                  <a:pt x="3172408" y="121298"/>
                </a:cubicBezTo>
                <a:cubicBezTo>
                  <a:pt x="3111759" y="181947"/>
                  <a:pt x="3075992" y="309465"/>
                  <a:pt x="2547257" y="363893"/>
                </a:cubicBezTo>
                <a:cubicBezTo>
                  <a:pt x="2018522" y="418322"/>
                  <a:pt x="1009261" y="433095"/>
                  <a:pt x="0" y="447869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олилиния 13"/>
          <p:cNvSpPr/>
          <p:nvPr/>
        </p:nvSpPr>
        <p:spPr>
          <a:xfrm>
            <a:off x="2556588" y="2688804"/>
            <a:ext cx="3993502" cy="3077514"/>
          </a:xfrm>
          <a:custGeom>
            <a:avLst/>
            <a:gdLst>
              <a:gd name="connsiteX0" fmla="*/ 0 w 3993502"/>
              <a:gd name="connsiteY0" fmla="*/ 3086040 h 3086040"/>
              <a:gd name="connsiteX1" fmla="*/ 121298 w 3993502"/>
              <a:gd name="connsiteY1" fmla="*/ 2946081 h 3086040"/>
              <a:gd name="connsiteX2" fmla="*/ 615820 w 3993502"/>
              <a:gd name="connsiteY2" fmla="*/ 2936751 h 3086040"/>
              <a:gd name="connsiteX3" fmla="*/ 3657600 w 3993502"/>
              <a:gd name="connsiteY3" fmla="*/ 2955412 h 3086040"/>
              <a:gd name="connsiteX4" fmla="*/ 3890865 w 3993502"/>
              <a:gd name="connsiteY4" fmla="*/ 2787461 h 3086040"/>
              <a:gd name="connsiteX5" fmla="*/ 3638939 w 3993502"/>
              <a:gd name="connsiteY5" fmla="*/ 398824 h 3086040"/>
              <a:gd name="connsiteX6" fmla="*/ 3993502 w 3993502"/>
              <a:gd name="connsiteY6" fmla="*/ 25600 h 3086040"/>
              <a:gd name="connsiteX0" fmla="*/ 0 w 3993502"/>
              <a:gd name="connsiteY0" fmla="*/ 3086040 h 3086040"/>
              <a:gd name="connsiteX1" fmla="*/ 121298 w 3993502"/>
              <a:gd name="connsiteY1" fmla="*/ 2946081 h 3086040"/>
              <a:gd name="connsiteX2" fmla="*/ 615820 w 3993502"/>
              <a:gd name="connsiteY2" fmla="*/ 2936751 h 3086040"/>
              <a:gd name="connsiteX3" fmla="*/ 3107094 w 3993502"/>
              <a:gd name="connsiteY3" fmla="*/ 2955412 h 3086040"/>
              <a:gd name="connsiteX4" fmla="*/ 3890865 w 3993502"/>
              <a:gd name="connsiteY4" fmla="*/ 2787461 h 3086040"/>
              <a:gd name="connsiteX5" fmla="*/ 3638939 w 3993502"/>
              <a:gd name="connsiteY5" fmla="*/ 398824 h 3086040"/>
              <a:gd name="connsiteX6" fmla="*/ 3993502 w 3993502"/>
              <a:gd name="connsiteY6" fmla="*/ 25600 h 3086040"/>
              <a:gd name="connsiteX0" fmla="*/ 0 w 3993502"/>
              <a:gd name="connsiteY0" fmla="*/ 3078700 h 3078700"/>
              <a:gd name="connsiteX1" fmla="*/ 121298 w 3993502"/>
              <a:gd name="connsiteY1" fmla="*/ 2938741 h 3078700"/>
              <a:gd name="connsiteX2" fmla="*/ 615820 w 3993502"/>
              <a:gd name="connsiteY2" fmla="*/ 2929411 h 3078700"/>
              <a:gd name="connsiteX3" fmla="*/ 3107094 w 3993502"/>
              <a:gd name="connsiteY3" fmla="*/ 2948072 h 3078700"/>
              <a:gd name="connsiteX4" fmla="*/ 3928188 w 3993502"/>
              <a:gd name="connsiteY4" fmla="*/ 2500202 h 3078700"/>
              <a:gd name="connsiteX5" fmla="*/ 3638939 w 3993502"/>
              <a:gd name="connsiteY5" fmla="*/ 391484 h 3078700"/>
              <a:gd name="connsiteX6" fmla="*/ 3993502 w 3993502"/>
              <a:gd name="connsiteY6" fmla="*/ 18260 h 3078700"/>
              <a:gd name="connsiteX0" fmla="*/ 0 w 3993502"/>
              <a:gd name="connsiteY0" fmla="*/ 3078700 h 3078700"/>
              <a:gd name="connsiteX1" fmla="*/ 121298 w 3993502"/>
              <a:gd name="connsiteY1" fmla="*/ 2938741 h 3078700"/>
              <a:gd name="connsiteX2" fmla="*/ 615820 w 3993502"/>
              <a:gd name="connsiteY2" fmla="*/ 2929411 h 3078700"/>
              <a:gd name="connsiteX3" fmla="*/ 2995127 w 3993502"/>
              <a:gd name="connsiteY3" fmla="*/ 2901419 h 3078700"/>
              <a:gd name="connsiteX4" fmla="*/ 3928188 w 3993502"/>
              <a:gd name="connsiteY4" fmla="*/ 2500202 h 3078700"/>
              <a:gd name="connsiteX5" fmla="*/ 3638939 w 3993502"/>
              <a:gd name="connsiteY5" fmla="*/ 391484 h 3078700"/>
              <a:gd name="connsiteX6" fmla="*/ 3993502 w 3993502"/>
              <a:gd name="connsiteY6" fmla="*/ 18260 h 3078700"/>
              <a:gd name="connsiteX0" fmla="*/ 0 w 3993502"/>
              <a:gd name="connsiteY0" fmla="*/ 3077514 h 3077514"/>
              <a:gd name="connsiteX1" fmla="*/ 121298 w 3993502"/>
              <a:gd name="connsiteY1" fmla="*/ 2937555 h 3077514"/>
              <a:gd name="connsiteX2" fmla="*/ 615820 w 3993502"/>
              <a:gd name="connsiteY2" fmla="*/ 2928225 h 3077514"/>
              <a:gd name="connsiteX3" fmla="*/ 2995127 w 3993502"/>
              <a:gd name="connsiteY3" fmla="*/ 2900233 h 3077514"/>
              <a:gd name="connsiteX4" fmla="*/ 3713584 w 3993502"/>
              <a:gd name="connsiteY4" fmla="*/ 2443032 h 3077514"/>
              <a:gd name="connsiteX5" fmla="*/ 3638939 w 3993502"/>
              <a:gd name="connsiteY5" fmla="*/ 390298 h 3077514"/>
              <a:gd name="connsiteX6" fmla="*/ 3993502 w 3993502"/>
              <a:gd name="connsiteY6" fmla="*/ 17074 h 3077514"/>
              <a:gd name="connsiteX0" fmla="*/ 0 w 3993502"/>
              <a:gd name="connsiteY0" fmla="*/ 3077514 h 3077514"/>
              <a:gd name="connsiteX1" fmla="*/ 121298 w 3993502"/>
              <a:gd name="connsiteY1" fmla="*/ 2937555 h 3077514"/>
              <a:gd name="connsiteX2" fmla="*/ 615820 w 3993502"/>
              <a:gd name="connsiteY2" fmla="*/ 2928225 h 3077514"/>
              <a:gd name="connsiteX3" fmla="*/ 2976466 w 3993502"/>
              <a:gd name="connsiteY3" fmla="*/ 2900233 h 3077514"/>
              <a:gd name="connsiteX4" fmla="*/ 3713584 w 3993502"/>
              <a:gd name="connsiteY4" fmla="*/ 2443032 h 3077514"/>
              <a:gd name="connsiteX5" fmla="*/ 3638939 w 3993502"/>
              <a:gd name="connsiteY5" fmla="*/ 390298 h 3077514"/>
              <a:gd name="connsiteX6" fmla="*/ 3993502 w 3993502"/>
              <a:gd name="connsiteY6" fmla="*/ 17074 h 3077514"/>
              <a:gd name="connsiteX0" fmla="*/ 0 w 3993502"/>
              <a:gd name="connsiteY0" fmla="*/ 3077514 h 3077514"/>
              <a:gd name="connsiteX1" fmla="*/ 121298 w 3993502"/>
              <a:gd name="connsiteY1" fmla="*/ 2937555 h 3077514"/>
              <a:gd name="connsiteX2" fmla="*/ 615820 w 3993502"/>
              <a:gd name="connsiteY2" fmla="*/ 2928225 h 3077514"/>
              <a:gd name="connsiteX3" fmla="*/ 2976466 w 3993502"/>
              <a:gd name="connsiteY3" fmla="*/ 2900233 h 3077514"/>
              <a:gd name="connsiteX4" fmla="*/ 3713584 w 3993502"/>
              <a:gd name="connsiteY4" fmla="*/ 2443032 h 3077514"/>
              <a:gd name="connsiteX5" fmla="*/ 3638939 w 3993502"/>
              <a:gd name="connsiteY5" fmla="*/ 390298 h 3077514"/>
              <a:gd name="connsiteX6" fmla="*/ 3993502 w 3993502"/>
              <a:gd name="connsiteY6" fmla="*/ 17074 h 3077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93502" h="3077514">
                <a:moveTo>
                  <a:pt x="0" y="3077514"/>
                </a:moveTo>
                <a:cubicBezTo>
                  <a:pt x="9330" y="3019975"/>
                  <a:pt x="18661" y="2962436"/>
                  <a:pt x="121298" y="2937555"/>
                </a:cubicBezTo>
                <a:cubicBezTo>
                  <a:pt x="223935" y="2912673"/>
                  <a:pt x="139959" y="2934445"/>
                  <a:pt x="615820" y="2928225"/>
                </a:cubicBezTo>
                <a:lnTo>
                  <a:pt x="2976466" y="2900233"/>
                </a:lnTo>
                <a:cubicBezTo>
                  <a:pt x="3492760" y="2866021"/>
                  <a:pt x="3603172" y="2861355"/>
                  <a:pt x="3713584" y="2443032"/>
                </a:cubicBezTo>
                <a:cubicBezTo>
                  <a:pt x="3823996" y="2024710"/>
                  <a:pt x="3592286" y="794624"/>
                  <a:pt x="3638939" y="390298"/>
                </a:cubicBezTo>
                <a:cubicBezTo>
                  <a:pt x="3685592" y="-14028"/>
                  <a:pt x="3824773" y="-26469"/>
                  <a:pt x="3993502" y="17074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/>
          <p:cNvSpPr/>
          <p:nvPr/>
        </p:nvSpPr>
        <p:spPr>
          <a:xfrm>
            <a:off x="6074229" y="3965510"/>
            <a:ext cx="783771" cy="1912776"/>
          </a:xfrm>
          <a:custGeom>
            <a:avLst/>
            <a:gdLst>
              <a:gd name="connsiteX0" fmla="*/ 0 w 783771"/>
              <a:gd name="connsiteY0" fmla="*/ 1912776 h 1912776"/>
              <a:gd name="connsiteX1" fmla="*/ 382555 w 783771"/>
              <a:gd name="connsiteY1" fmla="*/ 1707502 h 1912776"/>
              <a:gd name="connsiteX2" fmla="*/ 494522 w 783771"/>
              <a:gd name="connsiteY2" fmla="*/ 970384 h 1912776"/>
              <a:gd name="connsiteX3" fmla="*/ 783771 w 783771"/>
              <a:gd name="connsiteY3" fmla="*/ 0 h 1912776"/>
              <a:gd name="connsiteX0" fmla="*/ 0 w 783771"/>
              <a:gd name="connsiteY0" fmla="*/ 1912776 h 1912776"/>
              <a:gd name="connsiteX1" fmla="*/ 382555 w 783771"/>
              <a:gd name="connsiteY1" fmla="*/ 1707502 h 1912776"/>
              <a:gd name="connsiteX2" fmla="*/ 354563 w 783771"/>
              <a:gd name="connsiteY2" fmla="*/ 933061 h 1912776"/>
              <a:gd name="connsiteX3" fmla="*/ 783771 w 783771"/>
              <a:gd name="connsiteY3" fmla="*/ 0 h 1912776"/>
              <a:gd name="connsiteX0" fmla="*/ 0 w 783771"/>
              <a:gd name="connsiteY0" fmla="*/ 1912776 h 1912776"/>
              <a:gd name="connsiteX1" fmla="*/ 270588 w 783771"/>
              <a:gd name="connsiteY1" fmla="*/ 1688841 h 1912776"/>
              <a:gd name="connsiteX2" fmla="*/ 354563 w 783771"/>
              <a:gd name="connsiteY2" fmla="*/ 933061 h 1912776"/>
              <a:gd name="connsiteX3" fmla="*/ 783771 w 783771"/>
              <a:gd name="connsiteY3" fmla="*/ 0 h 1912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771" h="1912776">
                <a:moveTo>
                  <a:pt x="0" y="1912776"/>
                </a:moveTo>
                <a:cubicBezTo>
                  <a:pt x="150067" y="1888671"/>
                  <a:pt x="211494" y="1852127"/>
                  <a:pt x="270588" y="1688841"/>
                </a:cubicBezTo>
                <a:cubicBezTo>
                  <a:pt x="329682" y="1525555"/>
                  <a:pt x="269032" y="1214535"/>
                  <a:pt x="354563" y="933061"/>
                </a:cubicBezTo>
                <a:cubicBezTo>
                  <a:pt x="440094" y="651587"/>
                  <a:pt x="672581" y="342900"/>
                  <a:pt x="783771" y="0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 15"/>
          <p:cNvSpPr/>
          <p:nvPr/>
        </p:nvSpPr>
        <p:spPr>
          <a:xfrm>
            <a:off x="6867331" y="3984171"/>
            <a:ext cx="195942" cy="737119"/>
          </a:xfrm>
          <a:custGeom>
            <a:avLst/>
            <a:gdLst>
              <a:gd name="connsiteX0" fmla="*/ 195942 w 195942"/>
              <a:gd name="connsiteY0" fmla="*/ 737119 h 737119"/>
              <a:gd name="connsiteX1" fmla="*/ 37322 w 195942"/>
              <a:gd name="connsiteY1" fmla="*/ 503853 h 737119"/>
              <a:gd name="connsiteX2" fmla="*/ 0 w 195942"/>
              <a:gd name="connsiteY2" fmla="*/ 0 h 737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5942" h="737119">
                <a:moveTo>
                  <a:pt x="195942" y="737119"/>
                </a:moveTo>
                <a:cubicBezTo>
                  <a:pt x="132960" y="681912"/>
                  <a:pt x="69979" y="626706"/>
                  <a:pt x="37322" y="503853"/>
                </a:cubicBezTo>
                <a:cubicBezTo>
                  <a:pt x="4665" y="381000"/>
                  <a:pt x="2332" y="190500"/>
                  <a:pt x="0" y="0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олилиния 16"/>
          <p:cNvSpPr/>
          <p:nvPr/>
        </p:nvSpPr>
        <p:spPr>
          <a:xfrm>
            <a:off x="8434873" y="4261124"/>
            <a:ext cx="3367352" cy="938834"/>
          </a:xfrm>
          <a:custGeom>
            <a:avLst/>
            <a:gdLst>
              <a:gd name="connsiteX0" fmla="*/ 429209 w 3559479"/>
              <a:gd name="connsiteY0" fmla="*/ 28730 h 927045"/>
              <a:gd name="connsiteX1" fmla="*/ 3013788 w 3559479"/>
              <a:gd name="connsiteY1" fmla="*/ 28730 h 927045"/>
              <a:gd name="connsiteX2" fmla="*/ 3284376 w 3559479"/>
              <a:gd name="connsiteY2" fmla="*/ 327310 h 927045"/>
              <a:gd name="connsiteX3" fmla="*/ 3312368 w 3559479"/>
              <a:gd name="connsiteY3" fmla="*/ 868485 h 927045"/>
              <a:gd name="connsiteX4" fmla="*/ 0 w 3559479"/>
              <a:gd name="connsiteY4" fmla="*/ 887147 h 927045"/>
              <a:gd name="connsiteX0" fmla="*/ 429209 w 3579301"/>
              <a:gd name="connsiteY0" fmla="*/ 27421 h 926982"/>
              <a:gd name="connsiteX1" fmla="*/ 3013788 w 3579301"/>
              <a:gd name="connsiteY1" fmla="*/ 27421 h 926982"/>
              <a:gd name="connsiteX2" fmla="*/ 3340360 w 3579301"/>
              <a:gd name="connsiteY2" fmla="*/ 307340 h 926982"/>
              <a:gd name="connsiteX3" fmla="*/ 3312368 w 3579301"/>
              <a:gd name="connsiteY3" fmla="*/ 867176 h 926982"/>
              <a:gd name="connsiteX4" fmla="*/ 0 w 3579301"/>
              <a:gd name="connsiteY4" fmla="*/ 885838 h 926982"/>
              <a:gd name="connsiteX0" fmla="*/ 429209 w 3374618"/>
              <a:gd name="connsiteY0" fmla="*/ 27421 h 932408"/>
              <a:gd name="connsiteX1" fmla="*/ 3013788 w 3374618"/>
              <a:gd name="connsiteY1" fmla="*/ 27421 h 932408"/>
              <a:gd name="connsiteX2" fmla="*/ 3340360 w 3374618"/>
              <a:gd name="connsiteY2" fmla="*/ 307340 h 932408"/>
              <a:gd name="connsiteX3" fmla="*/ 2883160 w 3374618"/>
              <a:gd name="connsiteY3" fmla="*/ 876506 h 932408"/>
              <a:gd name="connsiteX4" fmla="*/ 0 w 3374618"/>
              <a:gd name="connsiteY4" fmla="*/ 885838 h 932408"/>
              <a:gd name="connsiteX0" fmla="*/ 429209 w 3358691"/>
              <a:gd name="connsiteY0" fmla="*/ 22173 h 927160"/>
              <a:gd name="connsiteX1" fmla="*/ 2724539 w 3358691"/>
              <a:gd name="connsiteY1" fmla="*/ 31504 h 927160"/>
              <a:gd name="connsiteX2" fmla="*/ 3340360 w 3358691"/>
              <a:gd name="connsiteY2" fmla="*/ 302092 h 927160"/>
              <a:gd name="connsiteX3" fmla="*/ 2883160 w 3358691"/>
              <a:gd name="connsiteY3" fmla="*/ 871258 h 927160"/>
              <a:gd name="connsiteX4" fmla="*/ 0 w 3358691"/>
              <a:gd name="connsiteY4" fmla="*/ 880590 h 927160"/>
              <a:gd name="connsiteX0" fmla="*/ 429209 w 3375682"/>
              <a:gd name="connsiteY0" fmla="*/ 33440 h 938427"/>
              <a:gd name="connsiteX1" fmla="*/ 2491273 w 3375682"/>
              <a:gd name="connsiteY1" fmla="*/ 24110 h 938427"/>
              <a:gd name="connsiteX2" fmla="*/ 3340360 w 3375682"/>
              <a:gd name="connsiteY2" fmla="*/ 313359 h 938427"/>
              <a:gd name="connsiteX3" fmla="*/ 2883160 w 3375682"/>
              <a:gd name="connsiteY3" fmla="*/ 882525 h 938427"/>
              <a:gd name="connsiteX4" fmla="*/ 0 w 3375682"/>
              <a:gd name="connsiteY4" fmla="*/ 891857 h 938427"/>
              <a:gd name="connsiteX0" fmla="*/ 429209 w 3375682"/>
              <a:gd name="connsiteY0" fmla="*/ 49914 h 954901"/>
              <a:gd name="connsiteX1" fmla="*/ 2491273 w 3375682"/>
              <a:gd name="connsiteY1" fmla="*/ 40584 h 954901"/>
              <a:gd name="connsiteX2" fmla="*/ 3340360 w 3375682"/>
              <a:gd name="connsiteY2" fmla="*/ 329833 h 954901"/>
              <a:gd name="connsiteX3" fmla="*/ 2883160 w 3375682"/>
              <a:gd name="connsiteY3" fmla="*/ 898999 h 954901"/>
              <a:gd name="connsiteX4" fmla="*/ 0 w 3375682"/>
              <a:gd name="connsiteY4" fmla="*/ 908331 h 954901"/>
              <a:gd name="connsiteX0" fmla="*/ 429209 w 3375682"/>
              <a:gd name="connsiteY0" fmla="*/ 29356 h 934343"/>
              <a:gd name="connsiteX1" fmla="*/ 2491273 w 3375682"/>
              <a:gd name="connsiteY1" fmla="*/ 20026 h 934343"/>
              <a:gd name="connsiteX2" fmla="*/ 3340360 w 3375682"/>
              <a:gd name="connsiteY2" fmla="*/ 309275 h 934343"/>
              <a:gd name="connsiteX3" fmla="*/ 2883160 w 3375682"/>
              <a:gd name="connsiteY3" fmla="*/ 878441 h 934343"/>
              <a:gd name="connsiteX4" fmla="*/ 0 w 3375682"/>
              <a:gd name="connsiteY4" fmla="*/ 887773 h 934343"/>
              <a:gd name="connsiteX0" fmla="*/ 429209 w 3391261"/>
              <a:gd name="connsiteY0" fmla="*/ 40288 h 938834"/>
              <a:gd name="connsiteX1" fmla="*/ 2491273 w 3391261"/>
              <a:gd name="connsiteY1" fmla="*/ 30958 h 938834"/>
              <a:gd name="connsiteX2" fmla="*/ 3359021 w 3391261"/>
              <a:gd name="connsiteY2" fmla="*/ 413513 h 938834"/>
              <a:gd name="connsiteX3" fmla="*/ 2883160 w 3391261"/>
              <a:gd name="connsiteY3" fmla="*/ 889373 h 938834"/>
              <a:gd name="connsiteX4" fmla="*/ 0 w 3391261"/>
              <a:gd name="connsiteY4" fmla="*/ 898705 h 938834"/>
              <a:gd name="connsiteX0" fmla="*/ 429209 w 3367352"/>
              <a:gd name="connsiteY0" fmla="*/ 40288 h 938834"/>
              <a:gd name="connsiteX1" fmla="*/ 2491273 w 3367352"/>
              <a:gd name="connsiteY1" fmla="*/ 30958 h 938834"/>
              <a:gd name="connsiteX2" fmla="*/ 3359021 w 3367352"/>
              <a:gd name="connsiteY2" fmla="*/ 413513 h 938834"/>
              <a:gd name="connsiteX3" fmla="*/ 2883160 w 3367352"/>
              <a:gd name="connsiteY3" fmla="*/ 889373 h 938834"/>
              <a:gd name="connsiteX4" fmla="*/ 0 w 3367352"/>
              <a:gd name="connsiteY4" fmla="*/ 898705 h 938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67352" h="938834">
                <a:moveTo>
                  <a:pt x="429209" y="40288"/>
                </a:moveTo>
                <a:cubicBezTo>
                  <a:pt x="1483568" y="15406"/>
                  <a:pt x="2002971" y="-31246"/>
                  <a:pt x="2491273" y="30958"/>
                </a:cubicBezTo>
                <a:cubicBezTo>
                  <a:pt x="2979575" y="93162"/>
                  <a:pt x="3349691" y="195799"/>
                  <a:pt x="3359021" y="413513"/>
                </a:cubicBezTo>
                <a:cubicBezTo>
                  <a:pt x="3368351" y="631227"/>
                  <a:pt x="3442997" y="808508"/>
                  <a:pt x="2883160" y="889373"/>
                </a:cubicBezTo>
                <a:cubicBezTo>
                  <a:pt x="2323323" y="970238"/>
                  <a:pt x="1382486" y="936027"/>
                  <a:pt x="0" y="898705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олилиния 17"/>
          <p:cNvSpPr/>
          <p:nvPr/>
        </p:nvSpPr>
        <p:spPr>
          <a:xfrm>
            <a:off x="8481527" y="4814596"/>
            <a:ext cx="2127379" cy="345233"/>
          </a:xfrm>
          <a:custGeom>
            <a:avLst/>
            <a:gdLst>
              <a:gd name="connsiteX0" fmla="*/ 2127379 w 2127379"/>
              <a:gd name="connsiteY0" fmla="*/ 0 h 345233"/>
              <a:gd name="connsiteX1" fmla="*/ 942391 w 2127379"/>
              <a:gd name="connsiteY1" fmla="*/ 205273 h 345233"/>
              <a:gd name="connsiteX2" fmla="*/ 0 w 2127379"/>
              <a:gd name="connsiteY2" fmla="*/ 345233 h 345233"/>
              <a:gd name="connsiteX0" fmla="*/ 2127379 w 2127379"/>
              <a:gd name="connsiteY0" fmla="*/ 0 h 345233"/>
              <a:gd name="connsiteX1" fmla="*/ 1530220 w 2127379"/>
              <a:gd name="connsiteY1" fmla="*/ 205273 h 345233"/>
              <a:gd name="connsiteX2" fmla="*/ 0 w 2127379"/>
              <a:gd name="connsiteY2" fmla="*/ 345233 h 345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27379" h="345233">
                <a:moveTo>
                  <a:pt x="2127379" y="0"/>
                </a:moveTo>
                <a:lnTo>
                  <a:pt x="1530220" y="205273"/>
                </a:lnTo>
                <a:cubicBezTo>
                  <a:pt x="1175657" y="262812"/>
                  <a:pt x="293914" y="304022"/>
                  <a:pt x="0" y="345233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0435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Описание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ru-RU" dirty="0"/>
              <a:t>и</a:t>
            </a:r>
            <a:r>
              <a:rPr lang="en-US" dirty="0"/>
              <a:t> union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Спецификатор</a:t>
            </a:r>
            <a:r>
              <a:rPr lang="en-US" dirty="0"/>
              <a:t>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/>
              <a:t>union</a:t>
            </a:r>
            <a:r>
              <a:rPr lang="ru-RU" dirty="0"/>
              <a:t> (</a:t>
            </a:r>
            <a:r>
              <a:rPr lang="en-US" dirty="0" err="1"/>
              <a:t>struct</a:t>
            </a:r>
            <a:r>
              <a:rPr lang="en-US" dirty="0"/>
              <a:t>-or-union-specifier</a:t>
            </a:r>
            <a:r>
              <a:rPr lang="ru-RU" dirty="0"/>
              <a:t>) обозначает тип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/>
              <a:t>union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Если часть </a:t>
            </a:r>
            <a:r>
              <a:rPr lang="en-US" dirty="0"/>
              <a:t>{ </a:t>
            </a:r>
            <a:r>
              <a:rPr lang="en-US" dirty="0" err="1"/>
              <a:t>struct</a:t>
            </a:r>
            <a:r>
              <a:rPr lang="en-US" dirty="0"/>
              <a:t>-declaration-list } </a:t>
            </a:r>
            <a:r>
              <a:rPr lang="ru-RU" dirty="0"/>
              <a:t>присутствует, то этот тип неполный (см. «Типы языка С»), пока не встретится</a:t>
            </a:r>
            <a:r>
              <a:rPr lang="en-US" dirty="0"/>
              <a:t> }</a:t>
            </a:r>
          </a:p>
          <a:p>
            <a:pPr lvl="2"/>
            <a:r>
              <a:rPr lang="ru-RU" dirty="0"/>
              <a:t>После </a:t>
            </a:r>
            <a:r>
              <a:rPr lang="en-US" dirty="0"/>
              <a:t>}</a:t>
            </a:r>
            <a:r>
              <a:rPr lang="ru-RU" dirty="0"/>
              <a:t> этот тип является полным</a:t>
            </a:r>
          </a:p>
          <a:p>
            <a:pPr lvl="1"/>
            <a:r>
              <a:rPr lang="ru-RU" dirty="0"/>
              <a:t>Если часть </a:t>
            </a:r>
            <a:r>
              <a:rPr lang="en-US" dirty="0"/>
              <a:t>{ </a:t>
            </a:r>
            <a:r>
              <a:rPr lang="en-US" dirty="0" err="1"/>
              <a:t>struct</a:t>
            </a:r>
            <a:r>
              <a:rPr lang="en-US" dirty="0"/>
              <a:t>-declaration-list } </a:t>
            </a:r>
            <a:r>
              <a:rPr lang="ru-RU" dirty="0"/>
              <a:t>отсутствует, то этот тип неполный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55803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Предописание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ru-RU" dirty="0"/>
              <a:t>и</a:t>
            </a:r>
            <a:r>
              <a:rPr lang="en-US" dirty="0"/>
              <a:t> union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Конструкция вида </a:t>
            </a:r>
            <a:r>
              <a:rPr lang="en-US" i="1" dirty="0" err="1"/>
              <a:t>struct</a:t>
            </a:r>
            <a:r>
              <a:rPr lang="en-US" i="1" dirty="0"/>
              <a:t>-or-union identifier</a:t>
            </a:r>
            <a:r>
              <a:rPr lang="ru-RU" i="1" dirty="0"/>
              <a:t> ;</a:t>
            </a:r>
            <a:r>
              <a:rPr lang="ru-RU" dirty="0"/>
              <a:t> называется предописанием типа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/>
              <a:t>union</a:t>
            </a:r>
            <a:r>
              <a:rPr lang="ru-RU" dirty="0"/>
              <a:t> с тэгом </a:t>
            </a:r>
            <a:r>
              <a:rPr lang="en-US" dirty="0"/>
              <a:t>identifier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Предописаний с одним и тем же тэгом может быть несколько</a:t>
            </a:r>
          </a:p>
          <a:p>
            <a:pPr lvl="1"/>
            <a:r>
              <a:rPr lang="ru-RU" dirty="0"/>
              <a:t>Тип остается неполным до тех пор, пока компилятор не встретит его описание, содержащее часть </a:t>
            </a:r>
            <a:r>
              <a:rPr lang="en-US" dirty="0"/>
              <a:t>{ </a:t>
            </a:r>
            <a:r>
              <a:rPr lang="en-US" dirty="0" err="1"/>
              <a:t>struct</a:t>
            </a:r>
            <a:r>
              <a:rPr lang="en-US" dirty="0"/>
              <a:t>-declaration-list }</a:t>
            </a:r>
            <a:endParaRPr lang="ru-RU" dirty="0"/>
          </a:p>
          <a:p>
            <a:pPr lvl="2"/>
            <a:r>
              <a:rPr lang="ru-RU" dirty="0"/>
              <a:t>Такое описание должно быть только одно</a:t>
            </a:r>
          </a:p>
        </p:txBody>
      </p:sp>
    </p:spTree>
    <p:extLst>
      <p:ext uri="{BB962C8B-B14F-4D97-AF65-F5344CB8AC3E}">
        <p14:creationId xmlns:p14="http://schemas.microsoft.com/office/powerpoint/2010/main" val="4117015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Анонимные типы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Конструкция вида </a:t>
            </a:r>
            <a:r>
              <a:rPr lang="en-US" dirty="0" err="1"/>
              <a:t>struct</a:t>
            </a:r>
            <a:r>
              <a:rPr lang="en-US" dirty="0"/>
              <a:t>-or-union { </a:t>
            </a:r>
            <a:r>
              <a:rPr lang="en-US" dirty="0" err="1"/>
              <a:t>struct</a:t>
            </a:r>
            <a:r>
              <a:rPr lang="en-US" dirty="0"/>
              <a:t>-declaration-list }</a:t>
            </a:r>
            <a:r>
              <a:rPr lang="ru-RU" dirty="0"/>
              <a:t> обозначает анонимный тип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/>
              <a:t>union</a:t>
            </a:r>
            <a:r>
              <a:rPr lang="ru-RU" dirty="0"/>
              <a:t> </a:t>
            </a:r>
            <a:endParaRPr lang="en-US" dirty="0"/>
          </a:p>
          <a:p>
            <a:pPr lvl="1"/>
            <a:r>
              <a:rPr lang="en-US" dirty="0" err="1"/>
              <a:t>struct</a:t>
            </a:r>
            <a:r>
              <a:rPr lang="en-US" dirty="0"/>
              <a:t> {</a:t>
            </a:r>
            <a:r>
              <a:rPr lang="en-US" dirty="0" err="1"/>
              <a:t>int</a:t>
            </a:r>
            <a:r>
              <a:rPr lang="en-US" dirty="0"/>
              <a:t> x, y;} point;</a:t>
            </a:r>
            <a:r>
              <a:rPr lang="ru-RU" dirty="0"/>
              <a:t> </a:t>
            </a:r>
            <a:r>
              <a:rPr lang="en-US" dirty="0"/>
              <a:t>// point </a:t>
            </a:r>
            <a:r>
              <a:rPr lang="ru-RU" dirty="0"/>
              <a:t>имеет анонимный тип </a:t>
            </a:r>
            <a:r>
              <a:rPr lang="en-US" dirty="0" err="1"/>
              <a:t>struct</a:t>
            </a:r>
            <a:endParaRPr lang="ru-RU" dirty="0"/>
          </a:p>
          <a:p>
            <a:endParaRPr lang="ru-RU" dirty="0"/>
          </a:p>
          <a:p>
            <a:r>
              <a:rPr lang="ru-RU" dirty="0"/>
              <a:t>Анонимный тип </a:t>
            </a:r>
            <a:r>
              <a:rPr lang="en-US" dirty="0" err="1"/>
              <a:t>struct</a:t>
            </a:r>
            <a:r>
              <a:rPr lang="ru-RU" dirty="0"/>
              <a:t> (соотв. </a:t>
            </a:r>
            <a:r>
              <a:rPr lang="en-US" dirty="0"/>
              <a:t>union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не может быть преобразован ни к какому другому типу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ru-RU" dirty="0"/>
              <a:t>(соотв. </a:t>
            </a:r>
            <a:r>
              <a:rPr lang="en-US" dirty="0"/>
              <a:t>union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ru-RU" dirty="0"/>
              <a:t>В том числе анонимному</a:t>
            </a:r>
          </a:p>
          <a:p>
            <a:endParaRPr lang="ru-RU" dirty="0"/>
          </a:p>
          <a:p>
            <a:pPr marL="12573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41282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Примеры использования анонимных </a:t>
            </a:r>
            <a:r>
              <a:rPr lang="en-US" sz="3600" dirty="0" err="1"/>
              <a:t>struct</a:t>
            </a:r>
            <a:endParaRPr lang="ru-R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 } p, q;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p = q;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OK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typedef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 }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TPoint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p;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TPoint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q;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p = q;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ОК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 } p;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 } q;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p = q;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ошибка, т.к.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p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q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имеют разные типы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858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9488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</a:t>
            </a:r>
            <a:r>
              <a:rPr lang="en-US" dirty="0" err="1"/>
              <a:t>struct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Описание переменных типа структура может задавать начальные значения полей структуры</a:t>
            </a:r>
          </a:p>
          <a:p>
            <a:pPr lvl="1"/>
            <a:endParaRPr lang="ru-RU" dirty="0"/>
          </a:p>
          <a:p>
            <a:r>
              <a:rPr lang="ru-RU" dirty="0"/>
              <a:t>С89</a:t>
            </a:r>
            <a:br>
              <a:rPr lang="ru-RU" dirty="0"/>
            </a:br>
            <a:r>
              <a:rPr lang="ru-RU" dirty="0"/>
              <a:t>	</a:t>
            </a:r>
            <a:r>
              <a:rPr lang="en-US" dirty="0" err="1"/>
              <a:t>struct</a:t>
            </a:r>
            <a:r>
              <a:rPr lang="en-US" dirty="0"/>
              <a:t> S { T1 E1; … TN EN; } V</a:t>
            </a:r>
            <a:r>
              <a:rPr lang="ru-RU" dirty="0"/>
              <a:t> = </a:t>
            </a:r>
            <a:r>
              <a:rPr lang="en-US" dirty="0"/>
              <a:t>{</a:t>
            </a:r>
            <a:r>
              <a:rPr lang="ru-RU" dirty="0"/>
              <a:t> И1, </a:t>
            </a:r>
            <a:r>
              <a:rPr lang="en-US" dirty="0"/>
              <a:t>…</a:t>
            </a:r>
            <a:r>
              <a:rPr lang="ru-RU" dirty="0"/>
              <a:t>, ИК </a:t>
            </a:r>
            <a:r>
              <a:rPr lang="en-US" dirty="0"/>
              <a:t>};</a:t>
            </a:r>
          </a:p>
          <a:p>
            <a:pPr lvl="1"/>
            <a:r>
              <a:rPr lang="ru-RU" dirty="0"/>
              <a:t>если </a:t>
            </a:r>
            <a:r>
              <a:rPr lang="en-US" dirty="0"/>
              <a:t>K &gt; N</a:t>
            </a:r>
            <a:r>
              <a:rPr lang="ru-RU" dirty="0"/>
              <a:t>, то ошибка компиляции</a:t>
            </a:r>
            <a:endParaRPr lang="en-US" dirty="0"/>
          </a:p>
          <a:p>
            <a:pPr lvl="1"/>
            <a:r>
              <a:rPr lang="ru-RU" dirty="0"/>
              <a:t>И1 – инициализатор поля Е1 и т.д.</a:t>
            </a:r>
          </a:p>
          <a:p>
            <a:pPr lvl="1"/>
            <a:r>
              <a:rPr lang="ru-RU" dirty="0"/>
              <a:t>Память, отведённая под значения полей после поля </a:t>
            </a:r>
            <a:r>
              <a:rPr lang="en-US" dirty="0"/>
              <a:t>EK</a:t>
            </a:r>
            <a:r>
              <a:rPr lang="ru-RU" dirty="0"/>
              <a:t>, заполняется байтом 0</a:t>
            </a:r>
          </a:p>
          <a:p>
            <a:pPr lvl="1"/>
            <a:endParaRPr lang="ru-RU" dirty="0"/>
          </a:p>
          <a:p>
            <a:r>
              <a:rPr lang="ru-RU" dirty="0"/>
              <a:t>С99</a:t>
            </a:r>
            <a:r>
              <a:rPr lang="en-US" dirty="0"/>
              <a:t> </a:t>
            </a:r>
            <a:r>
              <a:rPr lang="ru-RU" dirty="0"/>
              <a:t>и С11</a:t>
            </a:r>
            <a:br>
              <a:rPr lang="ru-RU" dirty="0"/>
            </a:br>
            <a:r>
              <a:rPr lang="ru-RU" dirty="0"/>
              <a:t>	</a:t>
            </a:r>
            <a:r>
              <a:rPr lang="en-US" dirty="0" err="1"/>
              <a:t>struct</a:t>
            </a:r>
            <a:r>
              <a:rPr lang="en-US" dirty="0"/>
              <a:t> S { T1 E1; … TN EN; } V</a:t>
            </a:r>
            <a:r>
              <a:rPr lang="ru-RU" dirty="0"/>
              <a:t> =</a:t>
            </a:r>
            <a:r>
              <a:rPr lang="en-US" dirty="0"/>
              <a:t> {</a:t>
            </a:r>
            <a:r>
              <a:rPr lang="ru-RU" dirty="0"/>
              <a:t> </a:t>
            </a:r>
            <a:r>
              <a:rPr lang="en-US" dirty="0"/>
              <a:t>.E1 = </a:t>
            </a:r>
            <a:r>
              <a:rPr lang="ru-RU" dirty="0"/>
              <a:t>И1, </a:t>
            </a:r>
            <a:r>
              <a:rPr lang="en-US" dirty="0"/>
              <a:t>…</a:t>
            </a:r>
            <a:r>
              <a:rPr lang="ru-RU" dirty="0"/>
              <a:t>, </a:t>
            </a:r>
            <a:r>
              <a:rPr lang="en-US" dirty="0"/>
              <a:t>.EK = </a:t>
            </a:r>
            <a:r>
              <a:rPr lang="ru-RU" dirty="0"/>
              <a:t>ИК </a:t>
            </a:r>
            <a:r>
              <a:rPr lang="en-US" dirty="0"/>
              <a:t>};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331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Размещение структур в памяти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Адреса элементов структуры возрастают по мере объявления</a:t>
            </a:r>
          </a:p>
          <a:p>
            <a:endParaRPr lang="ru-RU" dirty="0"/>
          </a:p>
          <a:p>
            <a:r>
              <a:rPr lang="ru-RU" dirty="0"/>
              <a:t>Адрес структуры равен адресу первого элемента структуры</a:t>
            </a:r>
          </a:p>
          <a:p>
            <a:endParaRPr lang="ru-RU" dirty="0"/>
          </a:p>
          <a:p>
            <a:r>
              <a:rPr lang="ru-RU" dirty="0"/>
              <a:t>Размер структуры </a:t>
            </a:r>
            <a:r>
              <a:rPr lang="en-US" dirty="0"/>
              <a:t>&gt;= </a:t>
            </a:r>
            <a:r>
              <a:rPr lang="ru-RU" dirty="0"/>
              <a:t>суммы размеров её элементов</a:t>
            </a:r>
          </a:p>
          <a:p>
            <a:pPr lvl="1"/>
            <a:r>
              <a:rPr lang="ru-RU" dirty="0"/>
              <a:t>Элементы и элементы элементов, имеющие встроенный тип (</a:t>
            </a:r>
            <a:r>
              <a:rPr lang="en-US" dirty="0"/>
              <a:t>char, </a:t>
            </a:r>
            <a:r>
              <a:rPr lang="en-US" dirty="0" err="1"/>
              <a:t>int</a:t>
            </a:r>
            <a:r>
              <a:rPr lang="en-US" dirty="0"/>
              <a:t>, float </a:t>
            </a:r>
            <a:r>
              <a:rPr lang="ru-RU" dirty="0"/>
              <a:t>и т.п.), хранятся по адресам, кратным их размеру </a:t>
            </a:r>
          </a:p>
          <a:p>
            <a:pPr lvl="2"/>
            <a:r>
              <a:rPr lang="ru-RU" dirty="0"/>
              <a:t>Для этого может использоваться дополнительное место в памяти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055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Размещение объединений в памяти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Адреса всех элементов объединения совпадают с адресом объединения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LL;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D; }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hackDouble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&amp;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hackDouble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== &amp;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hackDouble.LL</a:t>
            </a:r>
            <a:b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&amp;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hackDouble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== &amp;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hackDouble.D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Элементы и элементы элементов, имеющие встроенный тип (</a:t>
            </a:r>
            <a:r>
              <a:rPr lang="en-US" dirty="0"/>
              <a:t>char, </a:t>
            </a:r>
            <a:r>
              <a:rPr lang="en-US" dirty="0" err="1"/>
              <a:t>int</a:t>
            </a:r>
            <a:r>
              <a:rPr lang="en-US" dirty="0"/>
              <a:t>, float </a:t>
            </a:r>
            <a:r>
              <a:rPr lang="ru-RU" dirty="0"/>
              <a:t>и т.п.), хранятся по адресам, кратным их размеру </a:t>
            </a:r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1663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использования </a:t>
            </a:r>
            <a:r>
              <a:rPr lang="en-US" dirty="0" err="1"/>
              <a:t>struct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2B91AF"/>
                </a:solidFill>
                <a:latin typeface="Consolas" panose="020B0609020204030204" pitchFamily="49" charset="0"/>
              </a:rPr>
              <a:t>blue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ru-RU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2B91AF"/>
                </a:solidFill>
                <a:latin typeface="Consolas" panose="020B0609020204030204" pitchFamily="49" charset="0"/>
              </a:rPr>
              <a:t>red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value;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2B91AF"/>
                </a:solidFill>
                <a:latin typeface="Consolas" panose="020B0609020204030204" pitchFamily="49" charset="0"/>
              </a:rPr>
              <a:t>blue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* next;</a:t>
            </a:r>
          </a:p>
          <a:p>
            <a:pPr marL="0" indent="0">
              <a:buNone/>
            </a:pPr>
            <a:r>
              <a:rPr lang="ru-RU" sz="2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ru-RU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2B91AF"/>
                </a:solidFill>
                <a:latin typeface="Consolas" panose="020B0609020204030204" pitchFamily="49" charset="0"/>
              </a:rPr>
              <a:t>blue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value[16];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2B91AF"/>
                </a:solidFill>
                <a:latin typeface="Consolas" panose="020B0609020204030204" pitchFamily="49" charset="0"/>
              </a:rPr>
              <a:t>red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* next;</a:t>
            </a:r>
          </a:p>
          <a:p>
            <a:pPr marL="0" indent="0">
              <a:buNone/>
            </a:pPr>
            <a:r>
              <a:rPr lang="ru-RU" sz="2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68580" indent="0">
              <a:buNone/>
            </a:pPr>
            <a:endParaRPr lang="en-US" sz="2800" dirty="0"/>
          </a:p>
        </p:txBody>
      </p:sp>
      <p:sp>
        <p:nvSpPr>
          <p:cNvPr id="4" name="Овал 3"/>
          <p:cNvSpPr/>
          <p:nvPr/>
        </p:nvSpPr>
        <p:spPr>
          <a:xfrm>
            <a:off x="5117504" y="3162672"/>
            <a:ext cx="914400" cy="91440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477744" y="316267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/>
          <p:cNvSpPr/>
          <p:nvPr/>
        </p:nvSpPr>
        <p:spPr>
          <a:xfrm>
            <a:off x="7773888" y="3162672"/>
            <a:ext cx="914400" cy="91440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9214048" y="316267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10438184" y="3162672"/>
            <a:ext cx="914400" cy="91440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" name="Прямая соединительная линия 10"/>
          <p:cNvCxnSpPr>
            <a:stCxn id="4" idx="0"/>
            <a:endCxn id="4" idx="4"/>
          </p:cNvCxnSpPr>
          <p:nvPr/>
        </p:nvCxnSpPr>
        <p:spPr>
          <a:xfrm>
            <a:off x="5574704" y="3162672"/>
            <a:ext cx="0" cy="9144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/>
        </p:nvCxnSpPr>
        <p:spPr>
          <a:xfrm>
            <a:off x="6909792" y="3162672"/>
            <a:ext cx="0" cy="9144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8205936" y="3162672"/>
            <a:ext cx="0" cy="9144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/>
          <p:cNvCxnSpPr/>
          <p:nvPr/>
        </p:nvCxnSpPr>
        <p:spPr>
          <a:xfrm>
            <a:off x="9646096" y="3162672"/>
            <a:ext cx="0" cy="9144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10870232" y="3162672"/>
            <a:ext cx="0" cy="9144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олилиния 19"/>
          <p:cNvSpPr/>
          <p:nvPr/>
        </p:nvSpPr>
        <p:spPr>
          <a:xfrm>
            <a:off x="5753540" y="2621606"/>
            <a:ext cx="718457" cy="991167"/>
          </a:xfrm>
          <a:custGeom>
            <a:avLst/>
            <a:gdLst>
              <a:gd name="connsiteX0" fmla="*/ 0 w 718457"/>
              <a:gd name="connsiteY0" fmla="*/ 991167 h 991167"/>
              <a:gd name="connsiteX1" fmla="*/ 223934 w 718457"/>
              <a:gd name="connsiteY1" fmla="*/ 11452 h 991167"/>
              <a:gd name="connsiteX2" fmla="*/ 718457 w 718457"/>
              <a:gd name="connsiteY2" fmla="*/ 543297 h 991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18457" h="991167">
                <a:moveTo>
                  <a:pt x="0" y="991167"/>
                </a:moveTo>
                <a:cubicBezTo>
                  <a:pt x="52095" y="538632"/>
                  <a:pt x="104191" y="86097"/>
                  <a:pt x="223934" y="11452"/>
                </a:cubicBezTo>
                <a:cubicBezTo>
                  <a:pt x="343677" y="-63193"/>
                  <a:pt x="531067" y="240052"/>
                  <a:pt x="718457" y="543297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олилиния 20"/>
          <p:cNvSpPr/>
          <p:nvPr/>
        </p:nvSpPr>
        <p:spPr>
          <a:xfrm>
            <a:off x="7252070" y="2667088"/>
            <a:ext cx="718457" cy="991167"/>
          </a:xfrm>
          <a:custGeom>
            <a:avLst/>
            <a:gdLst>
              <a:gd name="connsiteX0" fmla="*/ 0 w 718457"/>
              <a:gd name="connsiteY0" fmla="*/ 991167 h 991167"/>
              <a:gd name="connsiteX1" fmla="*/ 223934 w 718457"/>
              <a:gd name="connsiteY1" fmla="*/ 11452 h 991167"/>
              <a:gd name="connsiteX2" fmla="*/ 718457 w 718457"/>
              <a:gd name="connsiteY2" fmla="*/ 543297 h 991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18457" h="991167">
                <a:moveTo>
                  <a:pt x="0" y="991167"/>
                </a:moveTo>
                <a:cubicBezTo>
                  <a:pt x="52095" y="538632"/>
                  <a:pt x="104191" y="86097"/>
                  <a:pt x="223934" y="11452"/>
                </a:cubicBezTo>
                <a:cubicBezTo>
                  <a:pt x="343677" y="-63193"/>
                  <a:pt x="531067" y="240052"/>
                  <a:pt x="718457" y="543297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олилиния 21"/>
          <p:cNvSpPr/>
          <p:nvPr/>
        </p:nvSpPr>
        <p:spPr>
          <a:xfrm>
            <a:off x="8487438" y="2575807"/>
            <a:ext cx="718457" cy="991167"/>
          </a:xfrm>
          <a:custGeom>
            <a:avLst/>
            <a:gdLst>
              <a:gd name="connsiteX0" fmla="*/ 0 w 718457"/>
              <a:gd name="connsiteY0" fmla="*/ 991167 h 991167"/>
              <a:gd name="connsiteX1" fmla="*/ 223934 w 718457"/>
              <a:gd name="connsiteY1" fmla="*/ 11452 h 991167"/>
              <a:gd name="connsiteX2" fmla="*/ 718457 w 718457"/>
              <a:gd name="connsiteY2" fmla="*/ 543297 h 991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18457" h="991167">
                <a:moveTo>
                  <a:pt x="0" y="991167"/>
                </a:moveTo>
                <a:cubicBezTo>
                  <a:pt x="52095" y="538632"/>
                  <a:pt x="104191" y="86097"/>
                  <a:pt x="223934" y="11452"/>
                </a:cubicBezTo>
                <a:cubicBezTo>
                  <a:pt x="343677" y="-63193"/>
                  <a:pt x="531067" y="240052"/>
                  <a:pt x="718457" y="543297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олилиния 22"/>
          <p:cNvSpPr/>
          <p:nvPr/>
        </p:nvSpPr>
        <p:spPr>
          <a:xfrm>
            <a:off x="9924088" y="2628705"/>
            <a:ext cx="718457" cy="991167"/>
          </a:xfrm>
          <a:custGeom>
            <a:avLst/>
            <a:gdLst>
              <a:gd name="connsiteX0" fmla="*/ 0 w 718457"/>
              <a:gd name="connsiteY0" fmla="*/ 991167 h 991167"/>
              <a:gd name="connsiteX1" fmla="*/ 223934 w 718457"/>
              <a:gd name="connsiteY1" fmla="*/ 11452 h 991167"/>
              <a:gd name="connsiteX2" fmla="*/ 718457 w 718457"/>
              <a:gd name="connsiteY2" fmla="*/ 543297 h 991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18457" h="991167">
                <a:moveTo>
                  <a:pt x="0" y="991167"/>
                </a:moveTo>
                <a:cubicBezTo>
                  <a:pt x="52095" y="538632"/>
                  <a:pt x="104191" y="86097"/>
                  <a:pt x="223934" y="11452"/>
                </a:cubicBezTo>
                <a:cubicBezTo>
                  <a:pt x="343677" y="-63193"/>
                  <a:pt x="531067" y="240052"/>
                  <a:pt x="718457" y="543297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194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</a:t>
            </a:r>
            <a:r>
              <a:rPr lang="en-US" dirty="0" err="1"/>
              <a:t>oop_main.c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494512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oop_figures.h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oop_circle.h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oop_rectangle.h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stdio.h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CalcMaxArea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fs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[],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maxArea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++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area =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fs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Methods.CalcArea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fs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]);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(area &gt;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maxArea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maxArea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area;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maxArea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6E2536-F2BF-B064-A6B6-989F96FD06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04112" y="1600201"/>
            <a:ext cx="4478288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main()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fs[5];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fs[0].Rectangle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MakeRectangle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/*w*/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5,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/*h*/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3);</a:t>
            </a:r>
          </a:p>
          <a:p>
            <a:pPr marL="0" indent="0">
              <a:buNone/>
            </a:pP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fs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[1].Circle </a:t>
            </a:r>
            <a:r>
              <a:rPr lang="fr-FR" sz="16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MakeCircle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sz="1600" dirty="0">
                <a:solidFill>
                  <a:srgbClr val="008000"/>
                </a:solidFill>
                <a:latin typeface="Consolas" panose="020B0609020204030204" pitchFamily="49" charset="0"/>
              </a:rPr>
              <a:t>/*r*/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3);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fs[2].Rectangle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MakeRectangle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/*w*/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2,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/*h*/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9);</a:t>
            </a:r>
          </a:p>
          <a:p>
            <a:pPr marL="0" indent="0">
              <a:buNone/>
            </a:pP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fs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[3].Circle </a:t>
            </a:r>
            <a:r>
              <a:rPr lang="fr-FR" sz="16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MakeCircle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sz="1600" dirty="0">
                <a:solidFill>
                  <a:srgbClr val="008000"/>
                </a:solidFill>
                <a:latin typeface="Consolas" panose="020B0609020204030204" pitchFamily="49" charset="0"/>
              </a:rPr>
              <a:t>/*r*/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7);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fs[4].Rectangle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MakeRectangle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/*w*/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3,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/*h*/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7);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printf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"Maximum area is %f\n"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CalcMaxArea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(fs,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/*n*/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5));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0;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525780" indent="-457200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85224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</a:t>
            </a:r>
            <a:r>
              <a:rPr lang="en-US" dirty="0" err="1"/>
              <a:t>oop_figures.h</a:t>
            </a:r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sz="half" idx="1"/>
          </p:nvPr>
        </p:nvSpPr>
        <p:spPr>
          <a:xfrm>
            <a:off x="652016" y="1600201"/>
            <a:ext cx="6020048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#pragma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once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typedef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typedef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IFigure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(*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CalcArea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*me);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(*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CalcPerimeter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*me);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IFigure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typedef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TRectangle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IFigure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Methods;</a:t>
            </a: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Width;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Height;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TRectangle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Объект 6"/>
          <p:cNvSpPr>
            <a:spLocks noGrp="1"/>
          </p:cNvSpPr>
          <p:nvPr>
            <p:ph sz="half" idx="2"/>
          </p:nvPr>
        </p:nvSpPr>
        <p:spPr>
          <a:xfrm>
            <a:off x="7680176" y="1600201"/>
            <a:ext cx="3902224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typedef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TCircle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IFigure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Methods;</a:t>
            </a: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Radius;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TCircle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IFigure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Methods;</a:t>
            </a: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TRectangle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Rectangle;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TCircle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Circle;</a:t>
            </a:r>
          </a:p>
          <a:p>
            <a:pPr marL="0" indent="0"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51398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</a:t>
            </a:r>
            <a:r>
              <a:rPr lang="en-US" dirty="0" err="1"/>
              <a:t>oop_circle.h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oop_circle</a:t>
            </a:r>
            <a:r>
              <a:rPr lang="en-US" dirty="0"/>
              <a:t>.</a:t>
            </a:r>
            <a:r>
              <a:rPr lang="ru-RU" dirty="0"/>
              <a:t>с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#pragma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once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oop_figures.h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TCircle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MakeCircle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Объект 6"/>
          <p:cNvSpPr>
            <a:spLocks noGrp="1"/>
          </p:cNvSpPr>
          <p:nvPr>
            <p:ph sz="half" idx="2"/>
          </p:nvPr>
        </p:nvSpPr>
        <p:spPr>
          <a:xfrm>
            <a:off x="5951984" y="1600201"/>
            <a:ext cx="5630416" cy="45259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oop_circle.h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b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math.h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Circle.Radius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r * r * M_PI;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CalcPerimeter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2 * M_PI *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Circle.Radius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TCircle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MakeCircle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TCircle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x = {{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CalcPerimeter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x;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20109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</a:t>
            </a:r>
            <a:r>
              <a:rPr lang="en-US" dirty="0" err="1"/>
              <a:t>oop_rectangle.h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oop_rectangle</a:t>
            </a:r>
            <a:r>
              <a:rPr lang="en-US" dirty="0"/>
              <a:t>.</a:t>
            </a:r>
            <a:r>
              <a:rPr lang="ru-RU" dirty="0"/>
              <a:t>с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4262264" cy="45259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#pragma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once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oop_figures.h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TRectangle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MakeRectangle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Объект 6"/>
          <p:cNvSpPr>
            <a:spLocks noGrp="1"/>
          </p:cNvSpPr>
          <p:nvPr>
            <p:ph sz="half" idx="2"/>
          </p:nvPr>
        </p:nvSpPr>
        <p:spPr>
          <a:xfrm>
            <a:off x="5519936" y="1600201"/>
            <a:ext cx="6062464" cy="45259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oop_rectangle.h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Rectangle.Height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 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Rectangle.Width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CalcPerimeter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TFigure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2 * 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Rectangle.Height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+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Rectangle.Width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TRectangle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MakeRectangle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TRectangle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x = {{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CalcPerimeter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},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x;</a:t>
            </a:r>
          </a:p>
          <a:p>
            <a:pPr marL="0" indent="0"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352971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Понятие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  <a:p>
            <a:r>
              <a:rPr lang="ru-RU" dirty="0"/>
              <a:t>Описание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  <a:p>
            <a:pPr lvl="1"/>
            <a:r>
              <a:rPr lang="ru-RU" dirty="0"/>
              <a:t>Предописание, неполный тип</a:t>
            </a:r>
          </a:p>
          <a:p>
            <a:pPr lvl="1"/>
            <a:r>
              <a:rPr lang="ru-RU" dirty="0"/>
              <a:t>Анонимные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  <a:p>
            <a:r>
              <a:rPr lang="ru-RU" dirty="0"/>
              <a:t>Инициализация переменных типа </a:t>
            </a:r>
            <a:r>
              <a:rPr lang="en-US" dirty="0" err="1"/>
              <a:t>struct</a:t>
            </a:r>
            <a:r>
              <a:rPr lang="ru-RU" dirty="0"/>
              <a:t> и </a:t>
            </a:r>
            <a:r>
              <a:rPr lang="en-US" dirty="0"/>
              <a:t>union</a:t>
            </a:r>
            <a:endParaRPr lang="ru-RU" dirty="0"/>
          </a:p>
          <a:p>
            <a:r>
              <a:rPr lang="ru-RU" dirty="0"/>
              <a:t>Размещение в памяти</a:t>
            </a:r>
          </a:p>
          <a:p>
            <a:r>
              <a:rPr lang="ru-RU" dirty="0"/>
              <a:t>Примеры использования</a:t>
            </a:r>
          </a:p>
        </p:txBody>
      </p:sp>
    </p:spTree>
    <p:extLst>
      <p:ext uri="{BB962C8B-B14F-4D97-AF65-F5344CB8AC3E}">
        <p14:creationId xmlns:p14="http://schemas.microsoft.com/office/powerpoint/2010/main" val="441827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124532</TotalTime>
  <Words>1230</Words>
  <Application>Microsoft Office PowerPoint</Application>
  <PresentationFormat>Widescreen</PresentationFormat>
  <Paragraphs>186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Структуры и объединения</vt:lpstr>
      <vt:lpstr>План лекции</vt:lpstr>
      <vt:lpstr>Структуры и объединения (повтор)</vt:lpstr>
      <vt:lpstr>Описание struct и union</vt:lpstr>
      <vt:lpstr>Описание struct и union</vt:lpstr>
      <vt:lpstr>Предописание struct и union</vt:lpstr>
      <vt:lpstr>Анонимные типы struct и union</vt:lpstr>
      <vt:lpstr>Примеры использования анонимных struct</vt:lpstr>
      <vt:lpstr>Инициализация struct</vt:lpstr>
      <vt:lpstr>Размещение структур в памяти</vt:lpstr>
      <vt:lpstr>Размещение объединений в памяти</vt:lpstr>
      <vt:lpstr>Пример использования struct</vt:lpstr>
      <vt:lpstr>Пример oop_main.c</vt:lpstr>
      <vt:lpstr>Пример oop_figures.h</vt:lpstr>
      <vt:lpstr>Пример oop_circle.h и oop_circle.с</vt:lpstr>
      <vt:lpstr>Пример oop_rectangle.h и oop_rectangle.с</vt:lpstr>
      <vt:lpstr>Заключение</vt:lpstr>
    </vt:vector>
  </TitlesOfParts>
  <Company>Intel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Простые типы данных языка С</dc:title>
  <dc:creator>Petrov, Evgueni S</dc:creator>
  <cp:lastModifiedBy>Evgenii Petrov</cp:lastModifiedBy>
  <cp:revision>571</cp:revision>
  <dcterms:created xsi:type="dcterms:W3CDTF">2012-09-17T07:39:46Z</dcterms:created>
  <dcterms:modified xsi:type="dcterms:W3CDTF">2025-11-11T08:20:19Z</dcterms:modified>
</cp:coreProperties>
</file>