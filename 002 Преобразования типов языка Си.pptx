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8" r:id="rId3"/>
    <p:sldId id="476" r:id="rId4"/>
    <p:sldId id="484" r:id="rId5"/>
    <p:sldId id="396" r:id="rId6"/>
    <p:sldId id="486" r:id="rId7"/>
    <p:sldId id="453" r:id="rId8"/>
    <p:sldId id="456" r:id="rId9"/>
    <p:sldId id="461" r:id="rId10"/>
    <p:sldId id="485" r:id="rId11"/>
    <p:sldId id="406" r:id="rId12"/>
    <p:sldId id="466" r:id="rId13"/>
    <p:sldId id="410" r:id="rId14"/>
    <p:sldId id="415" r:id="rId15"/>
    <p:sldId id="426" r:id="rId16"/>
    <p:sldId id="471" r:id="rId17"/>
    <p:sldId id="430" r:id="rId18"/>
    <p:sldId id="487" r:id="rId19"/>
    <p:sldId id="435" r:id="rId20"/>
    <p:sldId id="440" r:id="rId21"/>
    <p:sldId id="444" r:id="rId22"/>
    <p:sldId id="489" r:id="rId23"/>
    <p:sldId id="490" r:id="rId24"/>
    <p:sldId id="488" r:id="rId25"/>
  </p:sldIdLst>
  <p:sldSz cx="12192000" cy="6858000"/>
  <p:notesSz cx="6858000" cy="9144000"/>
  <p:embeddedFontLst>
    <p:embeddedFont>
      <p:font typeface="Consolas" panose="020B0609020204030204" pitchFamily="49" charset="0"/>
      <p:regular r:id="rId26"/>
      <p:bold r:id="rId27"/>
      <p:italic r:id="rId28"/>
      <p:boldItalic r:id="rId29"/>
    </p:embeddedFont>
  </p:embeddedFontLst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011" autoAdjust="0"/>
    <p:restoredTop sz="94660"/>
  </p:normalViewPr>
  <p:slideViewPr>
    <p:cSldViewPr snapToGrid="0">
      <p:cViewPr>
        <p:scale>
          <a:sx n="100" d="100"/>
          <a:sy n="100" d="100"/>
        </p:scale>
        <p:origin x="296" y="2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1.fntdata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4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font" Target="fonts/font3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font" Target="fonts/font2.fntdata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723C3F-225C-39CA-5917-4A71836DB8F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E80134E-BE1E-A564-4AD8-575AD9C6429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ru-R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077269C-D529-19E5-985E-319A4C8799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9ADDC6-2B9E-48DB-8061-AAB13C191298}" type="datetimeFigureOut">
              <a:rPr lang="ru-RU" smtClean="0"/>
              <a:t>12.09.2026</a:t>
            </a:fld>
            <a:endParaRPr lang="ru-R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EE6303C-215E-0E7D-5A9C-C2CD4F386A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49DA6FB-219B-1498-FAB6-F99B8FA375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5F8E80-7E20-4604-BFC3-BCCCC54CCEF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1207102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8669C6-0DEF-5E58-147D-A3633AB760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B86131-2430-B984-5660-573542C15F3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5813CAA-4807-E02B-A836-E71F169C71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9ADDC6-2B9E-48DB-8061-AAB13C191298}" type="datetimeFigureOut">
              <a:rPr lang="ru-RU" smtClean="0"/>
              <a:t>12.09.2026</a:t>
            </a:fld>
            <a:endParaRPr lang="ru-R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9B1D8C-7906-A815-CDBB-F0CB7AE11C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C6BEA08-3049-CB7B-2002-BB26294DD3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5F8E80-7E20-4604-BFC3-BCCCC54CCEF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3940086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2593BA-28A3-11B1-4EBD-D91FEC2455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1AA633C-65E2-9D2A-05C3-BF45C044C85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BA1BF9E-1AE7-5F0F-6B45-8AD9A68DDE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9ADDC6-2B9E-48DB-8061-AAB13C191298}" type="datetimeFigureOut">
              <a:rPr lang="ru-RU" smtClean="0"/>
              <a:t>12.09.2026</a:t>
            </a:fld>
            <a:endParaRPr lang="ru-R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D9F5181-DD89-A0CB-EE75-132B57CE8B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47B4ED-912B-2132-9984-B29CC8F631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5F8E80-7E20-4604-BFC3-BCCCC54CCEF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644646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35AFDD-D202-5D6B-25F7-61F5B839D4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E374C4-1315-3BFD-28C5-23801309DA4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FA2631A-DC9D-1449-F0E8-03B07F719A0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5602B21-9D03-639B-828D-5D5EF90B29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9ADDC6-2B9E-48DB-8061-AAB13C191298}" type="datetimeFigureOut">
              <a:rPr lang="ru-RU" smtClean="0"/>
              <a:t>12.09.2026</a:t>
            </a:fld>
            <a:endParaRPr lang="ru-R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42D05EA-1D2F-52ED-230D-1EA2455A64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086720E-D925-AEC2-3DDE-6C8202FDC9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5F8E80-7E20-4604-BFC3-BCCCC54CCEF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978464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A2168C-2934-3BAC-7484-5BE2C02F72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0C6ED53-4E36-39D2-58B3-D58D5D8000C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ECB8717-04B6-FB60-BC95-34033636F85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1727247-542F-2538-9A90-05DFD76D017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CB8018B-D12F-0769-1C7B-D3FE17BC2BC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EAF4F31-EC31-61E5-E00F-19E94E0757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9ADDC6-2B9E-48DB-8061-AAB13C191298}" type="datetimeFigureOut">
              <a:rPr lang="ru-RU" smtClean="0"/>
              <a:t>12.09.2026</a:t>
            </a:fld>
            <a:endParaRPr lang="ru-RU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604E311-97E0-9266-AE6B-04FBA4A8D5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AF46CE1-6352-660C-8DCA-CD9692CEFE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5F8E80-7E20-4604-BFC3-BCCCC54CCEF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5064717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6822CF-D679-D6FE-84FF-BBA34C7F8A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1D1CAF3-3405-D46A-6475-38FF88D697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9ADDC6-2B9E-48DB-8061-AAB13C191298}" type="datetimeFigureOut">
              <a:rPr lang="ru-RU" smtClean="0"/>
              <a:t>12.09.2026</a:t>
            </a:fld>
            <a:endParaRPr lang="ru-R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62D4431-EEEF-7542-3757-FB2141A2F6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6C01C14-2968-AFC0-1ACA-1FBC5B6EE0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5F8E80-7E20-4604-BFC3-BCCCC54CCEF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2277571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E797A2F-FD16-3685-4895-7535092DBF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9ADDC6-2B9E-48DB-8061-AAB13C191298}" type="datetimeFigureOut">
              <a:rPr lang="ru-RU" smtClean="0"/>
              <a:t>12.09.2026</a:t>
            </a:fld>
            <a:endParaRPr lang="ru-RU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727DC39-CDB0-9141-F7E6-6930EC9E82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33103DD-923B-C1E4-C42C-443F94646E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5F8E80-7E20-4604-BFC3-BCCCC54CCEF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810480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2D72F7-1524-2FDA-8C85-80DD6BE3AC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E2FB1D-5506-ADCA-02F0-14455676627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F802910-E41A-2100-8F82-EFAA8E9A0F6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E135370-BC1D-6174-1858-B091892FC7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9ADDC6-2B9E-48DB-8061-AAB13C191298}" type="datetimeFigureOut">
              <a:rPr lang="ru-RU" smtClean="0"/>
              <a:t>12.09.2026</a:t>
            </a:fld>
            <a:endParaRPr lang="ru-R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D306D6A-4887-21DF-8D73-1B56C092CA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3AA6E58-4376-1972-9BC9-8D546EF607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5F8E80-7E20-4604-BFC3-BCCCC54CCEF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3602713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C9182C-8964-E998-CE7D-4A62A6B5B8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EC0DA4C-7A50-AAD2-E6C7-988F14D61C7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DB04A8E-B53B-96E2-2E14-984F4544A26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B8A02E9-1260-43F5-ADD1-280A3C3CCE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9ADDC6-2B9E-48DB-8061-AAB13C191298}" type="datetimeFigureOut">
              <a:rPr lang="ru-RU" smtClean="0"/>
              <a:t>12.09.2026</a:t>
            </a:fld>
            <a:endParaRPr lang="ru-R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FC24FA0-581B-6E25-59F5-6DFD60CA73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8841314-6611-D6C2-E9DC-E50EE91D52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5F8E80-7E20-4604-BFC3-BCCCC54CCEF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2763539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C9B097-EFBF-3E40-065E-0ADDC71405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F60C25B-728A-9161-B8BC-6B77AEF9EBB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433DF27-D116-038C-6353-0E8549603F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9ADDC6-2B9E-48DB-8061-AAB13C191298}" type="datetimeFigureOut">
              <a:rPr lang="ru-RU" smtClean="0"/>
              <a:t>12.09.2026</a:t>
            </a:fld>
            <a:endParaRPr lang="ru-R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8B7B950-D38A-3569-25B5-8590F3E8EC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8E44A5-A204-C1DE-E779-98E6755752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5F8E80-7E20-4604-BFC3-BCCCC54CCEF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9322400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F0DDDF7-D744-D684-5D12-C62EEB032CE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12E7F7F-B251-FEA3-1FFC-1C6B0B9F313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C1B5073-B8DE-03E0-8145-5F8EF88F70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9ADDC6-2B9E-48DB-8061-AAB13C191298}" type="datetimeFigureOut">
              <a:rPr lang="ru-RU" smtClean="0"/>
              <a:t>12.09.2026</a:t>
            </a:fld>
            <a:endParaRPr lang="ru-R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277F74B-5A34-C506-074D-AA90DDD3CA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0E56852-BE69-32E2-A20C-3FC2C02FF1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5F8E80-7E20-4604-BFC3-BCCCC54CCEF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62592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EDFDDBE-17B4-A621-49B8-78447DA5F7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22FC22A-7357-6918-E48C-2432C286740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7FE1706-60C3-520C-801A-0DF5B92B342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29ADDC6-2B9E-48DB-8061-AAB13C191298}" type="datetimeFigureOut">
              <a:rPr lang="ru-RU" smtClean="0"/>
              <a:t>12.09.2026</a:t>
            </a:fld>
            <a:endParaRPr lang="ru-R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89E6F7-F4C8-75E5-B0EF-1EB88A9C9C0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EDE4A81-B40B-098D-C64D-D654741606D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F5F8E80-7E20-4604-BFC3-BCCCC54CCEF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053324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hyperlink" Target="https://en.cppreference.com/c/language/type" TargetMode="External"/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AC4938-6E85-C4D5-C6A6-0DE1EE8E9D2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pPr algn="l"/>
            <a:r>
              <a:rPr lang="ru-RU" sz="4800" dirty="0"/>
              <a:t>Преобразования типов языка Си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9720326-43EE-FAD5-2E4A-C591FBDD488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8213549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План лекции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-RU" dirty="0"/>
              <a:t>Понятие преобразования типа</a:t>
            </a:r>
          </a:p>
          <a:p>
            <a:r>
              <a:rPr lang="ru-RU" dirty="0"/>
              <a:t>Преобразования</a:t>
            </a:r>
            <a:endParaRPr lang="en-US" dirty="0"/>
          </a:p>
          <a:p>
            <a:pPr lvl="1"/>
            <a:r>
              <a:rPr lang="ru-RU" dirty="0"/>
              <a:t>Целых и типов с плавающей точкой</a:t>
            </a:r>
          </a:p>
          <a:p>
            <a:pPr lvl="1"/>
            <a:r>
              <a:rPr lang="ru-RU" dirty="0"/>
              <a:t>Массивов</a:t>
            </a:r>
          </a:p>
          <a:p>
            <a:pPr lvl="1"/>
            <a:r>
              <a:rPr lang="ru-RU" dirty="0"/>
              <a:t>Функциональных типов</a:t>
            </a:r>
          </a:p>
          <a:p>
            <a:pPr lvl="1"/>
            <a:r>
              <a:rPr lang="ru-RU" dirty="0"/>
              <a:t>С типом </a:t>
            </a:r>
            <a:r>
              <a:rPr lang="en-US" dirty="0"/>
              <a:t>void</a:t>
            </a:r>
          </a:p>
          <a:p>
            <a:pPr lvl="1"/>
            <a:r>
              <a:rPr lang="ru-RU" dirty="0"/>
              <a:t>Указателей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0E2822-3F92-4355-B47E-F2E8C9595EE5}" type="slidenum">
              <a:rPr lang="ru-RU" smtClean="0"/>
              <a:t>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7045471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/>
              <a:t>Преобразование типа 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-RU" dirty="0"/>
              <a:t>Преобразование одного типа в другой тип</a:t>
            </a:r>
            <a:endParaRPr lang="en-US" dirty="0"/>
          </a:p>
          <a:p>
            <a:pPr lvl="1"/>
            <a:endParaRPr lang="en-US" dirty="0"/>
          </a:p>
          <a:p>
            <a:r>
              <a:rPr lang="ru-RU" dirty="0"/>
              <a:t>Признак «слабой» типизации языка программирования</a:t>
            </a:r>
          </a:p>
          <a:p>
            <a:endParaRPr lang="ru-RU" dirty="0"/>
          </a:p>
          <a:p>
            <a:r>
              <a:rPr lang="ru-RU" dirty="0"/>
              <a:t>Виды</a:t>
            </a:r>
            <a:endParaRPr lang="en-US" dirty="0"/>
          </a:p>
          <a:p>
            <a:pPr lvl="1"/>
            <a:r>
              <a:rPr lang="ru-RU" dirty="0">
                <a:highlight>
                  <a:srgbClr val="00FFFF"/>
                </a:highlight>
              </a:rPr>
              <a:t>Явное</a:t>
            </a:r>
            <a:r>
              <a:rPr lang="ru-RU" dirty="0"/>
              <a:t> (</a:t>
            </a:r>
            <a:r>
              <a:rPr lang="en-US" dirty="0"/>
              <a:t>explicit</a:t>
            </a:r>
            <a:r>
              <a:rPr lang="ru-RU" dirty="0"/>
              <a:t>)</a:t>
            </a:r>
            <a:r>
              <a:rPr lang="en-US" dirty="0"/>
              <a:t> </a:t>
            </a:r>
            <a:endParaRPr lang="ru-RU" dirty="0"/>
          </a:p>
          <a:p>
            <a:pPr lvl="2"/>
            <a:r>
              <a:rPr lang="ru-RU" dirty="0"/>
              <a:t>Присутствует в исходном коде</a:t>
            </a:r>
          </a:p>
          <a:p>
            <a:pPr lvl="1"/>
            <a:r>
              <a:rPr lang="ru-RU" dirty="0">
                <a:highlight>
                  <a:srgbClr val="00FFFF"/>
                </a:highlight>
              </a:rPr>
              <a:t>Неявное</a:t>
            </a:r>
            <a:r>
              <a:rPr lang="en-US" dirty="0"/>
              <a:t> (implicit)</a:t>
            </a:r>
            <a:endParaRPr lang="ru-RU" dirty="0"/>
          </a:p>
          <a:p>
            <a:pPr lvl="2"/>
            <a:r>
              <a:rPr lang="ru-RU" dirty="0"/>
              <a:t>Добавляется компилятором/интерпретатором в соответствии со стандартом языка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0E2822-3F92-4355-B47E-F2E8C9595EE5}" type="slidenum">
              <a:rPr lang="ru-RU" smtClean="0"/>
              <a:t>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3822424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/>
              <a:t>Явное и неявное преобразование типа в Си</a:t>
            </a:r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/>
        <p:txBody>
          <a:bodyPr>
            <a:normAutofit lnSpcReduction="10000"/>
          </a:bodyPr>
          <a:lstStyle/>
          <a:p>
            <a:r>
              <a:rPr lang="ru-RU" dirty="0"/>
              <a:t>Явное</a:t>
            </a:r>
          </a:p>
          <a:p>
            <a:endParaRPr lang="ru-RU" dirty="0"/>
          </a:p>
          <a:p>
            <a:r>
              <a:rPr lang="ru-RU" dirty="0">
                <a:highlight>
                  <a:srgbClr val="00FFFF"/>
                </a:highlight>
              </a:rPr>
              <a:t>Операция </a:t>
            </a:r>
            <a:r>
              <a:rPr lang="en-US" dirty="0">
                <a:highlight>
                  <a:srgbClr val="00FFFF"/>
                </a:highlight>
              </a:rPr>
              <a:t>(T) </a:t>
            </a:r>
            <a:r>
              <a:rPr lang="ru-RU" dirty="0">
                <a:highlight>
                  <a:srgbClr val="00FFFF"/>
                </a:highlight>
              </a:rPr>
              <a:t>преобразует свой операнд к типу </a:t>
            </a:r>
            <a:r>
              <a:rPr lang="en-US" dirty="0">
                <a:highlight>
                  <a:srgbClr val="00FFFF"/>
                </a:highlight>
              </a:rPr>
              <a:t>T</a:t>
            </a:r>
            <a:endParaRPr lang="ru-RU" dirty="0">
              <a:highlight>
                <a:srgbClr val="00FFFF"/>
              </a:highlight>
            </a:endParaRPr>
          </a:p>
          <a:p>
            <a:endParaRPr lang="ru-RU" dirty="0"/>
          </a:p>
          <a:p>
            <a:endParaRPr lang="ru-RU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DA136DC5-2B3B-42BD-AB96-A627B56BD5D2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lnSpcReduction="10000"/>
          </a:bodyPr>
          <a:lstStyle/>
          <a:p>
            <a:r>
              <a:rPr lang="ru-RU" dirty="0"/>
              <a:t>Неявное</a:t>
            </a:r>
          </a:p>
          <a:p>
            <a:endParaRPr lang="ru-RU" dirty="0"/>
          </a:p>
          <a:p>
            <a:r>
              <a:rPr lang="ru-RU" dirty="0"/>
              <a:t>К числу, или указателю, или </a:t>
            </a:r>
            <a:r>
              <a:rPr lang="en-US" dirty="0">
                <a:latin typeface="Consolas" panose="020B0609020204030204" pitchFamily="49" charset="0"/>
              </a:rPr>
              <a:t>void</a:t>
            </a:r>
            <a:endParaRPr lang="ru-RU" dirty="0">
              <a:latin typeface="Consolas" panose="020B0609020204030204" pitchFamily="49" charset="0"/>
            </a:endParaRPr>
          </a:p>
          <a:p>
            <a:pPr lvl="1"/>
            <a:r>
              <a:rPr lang="ru-RU" dirty="0"/>
              <a:t>Разнотипные операнды бинарных операций</a:t>
            </a:r>
          </a:p>
          <a:p>
            <a:pPr lvl="1"/>
            <a:r>
              <a:rPr lang="ru-RU" dirty="0"/>
              <a:t>Аргументы и возвращаемое значение функции</a:t>
            </a:r>
          </a:p>
          <a:p>
            <a:pPr lvl="1"/>
            <a:r>
              <a:rPr lang="ru-RU" dirty="0"/>
              <a:t>Массив, функция, «навешивание» </a:t>
            </a:r>
            <a:r>
              <a:rPr lang="en-US" dirty="0">
                <a:latin typeface="Consolas" panose="020B0609020204030204" pitchFamily="49" charset="0"/>
              </a:rPr>
              <a:t>const</a:t>
            </a:r>
            <a:r>
              <a:rPr lang="en-US" dirty="0"/>
              <a:t>/</a:t>
            </a:r>
            <a:r>
              <a:rPr lang="en-US" dirty="0">
                <a:latin typeface="Consolas" panose="020B0609020204030204" pitchFamily="49" charset="0"/>
              </a:rPr>
              <a:t>volatile</a:t>
            </a:r>
            <a:endParaRPr lang="ru-RU" dirty="0">
              <a:latin typeface="Consolas" panose="020B0609020204030204" pitchFamily="49" charset="0"/>
            </a:endParaRPr>
          </a:p>
          <a:p>
            <a:pPr lvl="1"/>
            <a:r>
              <a:rPr lang="en-US" dirty="0">
                <a:latin typeface="Consolas" panose="020B0609020204030204" pitchFamily="49" charset="0"/>
              </a:rPr>
              <a:t>if</a:t>
            </a:r>
            <a:r>
              <a:rPr lang="en-US" dirty="0"/>
              <a:t>, </a:t>
            </a:r>
            <a:r>
              <a:rPr lang="en-US" dirty="0">
                <a:latin typeface="Consolas" panose="020B0609020204030204" pitchFamily="49" charset="0"/>
              </a:rPr>
              <a:t>while</a:t>
            </a:r>
            <a:r>
              <a:rPr lang="en-US" dirty="0"/>
              <a:t>, </a:t>
            </a:r>
            <a:r>
              <a:rPr lang="en-US" dirty="0">
                <a:latin typeface="Consolas" panose="020B0609020204030204" pitchFamily="49" charset="0"/>
              </a:rPr>
              <a:t>for</a:t>
            </a:r>
            <a:r>
              <a:rPr lang="en-US" dirty="0"/>
              <a:t>, </a:t>
            </a:r>
            <a:r>
              <a:rPr lang="en-US" dirty="0">
                <a:latin typeface="Consolas" panose="020B0609020204030204" pitchFamily="49" charset="0"/>
              </a:rPr>
              <a:t>switch</a:t>
            </a:r>
            <a:r>
              <a:rPr lang="en-US" dirty="0"/>
              <a:t>, </a:t>
            </a:r>
            <a:r>
              <a:rPr lang="en-US" dirty="0">
                <a:highlight>
                  <a:srgbClr val="C0C0C0"/>
                </a:highlight>
                <a:latin typeface="Consolas" panose="020B0609020204030204" pitchFamily="49" charset="0"/>
              </a:rPr>
              <a:t>;</a:t>
            </a:r>
            <a:endParaRPr lang="ru-RU" dirty="0">
              <a:highlight>
                <a:srgbClr val="C0C0C0"/>
              </a:highlight>
              <a:latin typeface="Consolas" panose="020B0609020204030204" pitchFamily="49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0E2822-3F92-4355-B47E-F2E8C9595EE5}" type="slidenum">
              <a:rPr lang="ru-RU" smtClean="0"/>
              <a:t>4</a:t>
            </a:fld>
            <a:endParaRPr lang="ru-RU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C0A8186-3C6E-4114-B5F1-76807E58CB4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68412" y="3863182"/>
            <a:ext cx="4067175" cy="18002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250004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/>
              <a:t>Общий тип, целочисленное повышение</a:t>
            </a:r>
          </a:p>
        </p:txBody>
      </p:sp>
      <p:sp>
        <p:nvSpPr>
          <p:cNvPr id="95" name="Объект 94"/>
          <p:cNvSpPr>
            <a:spLocks noGrp="1"/>
          </p:cNvSpPr>
          <p:nvPr>
            <p:ph sz="half" idx="2"/>
          </p:nvPr>
        </p:nvSpPr>
        <p:spPr/>
        <p:txBody>
          <a:bodyPr>
            <a:normAutofit lnSpcReduction="10000"/>
          </a:bodyPr>
          <a:lstStyle/>
          <a:p>
            <a:r>
              <a:rPr lang="ru-RU" sz="2000" dirty="0">
                <a:highlight>
                  <a:srgbClr val="00FFFF"/>
                </a:highlight>
              </a:rPr>
              <a:t>Общий тип </a:t>
            </a:r>
            <a:r>
              <a:rPr lang="ru-RU" sz="2000" dirty="0"/>
              <a:t>типов </a:t>
            </a:r>
            <a:r>
              <a:rPr lang="en-US" sz="2000" dirty="0"/>
              <a:t>T1 </a:t>
            </a:r>
            <a:r>
              <a:rPr lang="ru-RU" sz="2000" dirty="0"/>
              <a:t>и </a:t>
            </a:r>
            <a:r>
              <a:rPr lang="en-US" sz="2000" dirty="0"/>
              <a:t>T2</a:t>
            </a:r>
            <a:r>
              <a:rPr lang="ru-RU" sz="2000" dirty="0"/>
              <a:t> – это тип </a:t>
            </a:r>
            <a:r>
              <a:rPr lang="en-US" sz="2000" dirty="0"/>
              <a:t>T</a:t>
            </a:r>
            <a:r>
              <a:rPr lang="ru-RU" sz="2000" dirty="0"/>
              <a:t>, являющийся их наименьшим</a:t>
            </a:r>
            <a:r>
              <a:rPr lang="ru-RU" sz="2000" baseline="30000" dirty="0"/>
              <a:t>*</a:t>
            </a:r>
            <a:r>
              <a:rPr lang="ru-RU" sz="2000" dirty="0"/>
              <a:t> общим потомком (НОП) в графе слева</a:t>
            </a:r>
            <a:endParaRPr lang="en-US" sz="2000" dirty="0"/>
          </a:p>
          <a:p>
            <a:pPr lvl="1"/>
            <a:r>
              <a:rPr lang="ru-RU" sz="1600" baseline="30000" dirty="0"/>
              <a:t>(*)</a:t>
            </a:r>
            <a:r>
              <a:rPr lang="ru-RU" sz="1600" dirty="0"/>
              <a:t> </a:t>
            </a:r>
            <a:r>
              <a:rPr lang="ru-RU" sz="1600" b="1" dirty="0"/>
              <a:t>Ловушка</a:t>
            </a:r>
            <a:r>
              <a:rPr lang="ru-RU" sz="1600" dirty="0"/>
              <a:t>: из дуг </a:t>
            </a:r>
            <a:r>
              <a:rPr lang="en-US" sz="1600" dirty="0"/>
              <a:t>A ---&gt; L</a:t>
            </a:r>
            <a:r>
              <a:rPr lang="ru-RU" sz="1600" dirty="0"/>
              <a:t> и </a:t>
            </a:r>
            <a:r>
              <a:rPr lang="en-US" sz="1600" dirty="0"/>
              <a:t>A -&gt; R</a:t>
            </a:r>
            <a:r>
              <a:rPr lang="ru-RU" sz="1600" dirty="0"/>
              <a:t> компилятор берет пунктирную </a:t>
            </a:r>
            <a:r>
              <a:rPr lang="en-US" sz="1600" dirty="0"/>
              <a:t>A -</a:t>
            </a:r>
            <a:r>
              <a:rPr lang="ru-RU" sz="1600" dirty="0"/>
              <a:t>--</a:t>
            </a:r>
            <a:r>
              <a:rPr lang="en-US" sz="1600" dirty="0"/>
              <a:t>&gt; L</a:t>
            </a:r>
            <a:r>
              <a:rPr lang="ru-RU" sz="1600" dirty="0"/>
              <a:t>, если </a:t>
            </a:r>
            <a:r>
              <a:rPr lang="en-US" sz="1600" dirty="0">
                <a:highlight>
                  <a:srgbClr val="C0C0C0"/>
                </a:highlight>
              </a:rPr>
              <a:t>A </a:t>
            </a:r>
            <a:r>
              <a:rPr lang="ru-RU" sz="1600" dirty="0">
                <a:highlight>
                  <a:srgbClr val="C0C0C0"/>
                </a:highlight>
                <a:sym typeface="Symbol" panose="05050102010706020507" pitchFamily="18" charset="2"/>
              </a:rPr>
              <a:t> </a:t>
            </a:r>
            <a:r>
              <a:rPr lang="en-US" sz="1600" dirty="0">
                <a:highlight>
                  <a:srgbClr val="C0C0C0"/>
                </a:highlight>
                <a:sym typeface="Symbol" panose="05050102010706020507" pitchFamily="18" charset="2"/>
              </a:rPr>
              <a:t>L</a:t>
            </a:r>
            <a:r>
              <a:rPr lang="ru-RU" sz="1600" dirty="0"/>
              <a:t>, и сплошную </a:t>
            </a:r>
            <a:r>
              <a:rPr lang="en-US" sz="1600" dirty="0"/>
              <a:t>A -&gt; R</a:t>
            </a:r>
            <a:r>
              <a:rPr lang="ru-RU" sz="1600" dirty="0"/>
              <a:t> иначе</a:t>
            </a:r>
            <a:endParaRPr lang="en-US" sz="1600" dirty="0"/>
          </a:p>
          <a:p>
            <a:pPr lvl="1"/>
            <a:r>
              <a:rPr lang="ru-RU" sz="1600" dirty="0"/>
              <a:t>Упражнение: выразите «быть общим типом» через «есть путь» в графе слева</a:t>
            </a:r>
          </a:p>
          <a:p>
            <a:pPr lvl="3"/>
            <a:endParaRPr lang="en-US" sz="1400" dirty="0"/>
          </a:p>
          <a:p>
            <a:r>
              <a:rPr lang="ru-RU" sz="2000" dirty="0"/>
              <a:t>Общий тип </a:t>
            </a:r>
            <a:r>
              <a:rPr lang="en-US" sz="2000" dirty="0"/>
              <a:t>implementation defined</a:t>
            </a:r>
            <a:endParaRPr lang="ru-RU" sz="2000" dirty="0"/>
          </a:p>
          <a:p>
            <a:pPr lvl="1"/>
            <a:r>
              <a:rPr lang="ru-RU" sz="1600" dirty="0"/>
              <a:t>Условие </a:t>
            </a:r>
            <a:r>
              <a:rPr lang="en-US" sz="1600" dirty="0">
                <a:highlight>
                  <a:srgbClr val="C0C0C0"/>
                </a:highlight>
              </a:rPr>
              <a:t>A </a:t>
            </a:r>
            <a:r>
              <a:rPr lang="ru-RU" sz="1600" dirty="0">
                <a:highlight>
                  <a:srgbClr val="C0C0C0"/>
                </a:highlight>
                <a:sym typeface="Symbol" panose="05050102010706020507" pitchFamily="18" charset="2"/>
              </a:rPr>
              <a:t> </a:t>
            </a:r>
            <a:r>
              <a:rPr lang="en-US" sz="1600" dirty="0">
                <a:highlight>
                  <a:srgbClr val="C0C0C0"/>
                </a:highlight>
                <a:sym typeface="Symbol" panose="05050102010706020507" pitchFamily="18" charset="2"/>
              </a:rPr>
              <a:t>L</a:t>
            </a:r>
            <a:r>
              <a:rPr lang="en-US" sz="1600" dirty="0">
                <a:sym typeface="Symbol" panose="05050102010706020507" pitchFamily="18" charset="2"/>
              </a:rPr>
              <a:t> </a:t>
            </a:r>
            <a:r>
              <a:rPr lang="ru-RU" sz="1600" dirty="0">
                <a:sym typeface="Symbol" panose="05050102010706020507" pitchFamily="18" charset="2"/>
              </a:rPr>
              <a:t>выше </a:t>
            </a:r>
            <a:r>
              <a:rPr lang="en-US" sz="1600" dirty="0"/>
              <a:t>implementation defined</a:t>
            </a:r>
            <a:endParaRPr lang="ru-RU" sz="1600" dirty="0"/>
          </a:p>
          <a:p>
            <a:pPr lvl="3"/>
            <a:endParaRPr lang="ru-RU" sz="1000" dirty="0">
              <a:sym typeface="Symbol" panose="05050102010706020507" pitchFamily="18" charset="2"/>
            </a:endParaRPr>
          </a:p>
          <a:p>
            <a:r>
              <a:rPr lang="ru-RU" sz="2000" dirty="0">
                <a:highlight>
                  <a:srgbClr val="00FFFF"/>
                </a:highlight>
              </a:rPr>
              <a:t>Целочисленное повышение </a:t>
            </a:r>
            <a:r>
              <a:rPr lang="ru-RU" sz="2000" dirty="0"/>
              <a:t>– это неявное преобразование битового поля, </a:t>
            </a:r>
            <a:r>
              <a:rPr lang="en-US" sz="2000" dirty="0"/>
              <a:t>char, unsigned char, short, unsigned short </a:t>
            </a:r>
            <a:r>
              <a:rPr lang="ru-RU" sz="2000" dirty="0"/>
              <a:t>к </a:t>
            </a:r>
            <a:r>
              <a:rPr lang="en-US" sz="2000" dirty="0" err="1"/>
              <a:t>int</a:t>
            </a:r>
            <a:r>
              <a:rPr lang="en-US" sz="2000" dirty="0"/>
              <a:t> </a:t>
            </a:r>
            <a:r>
              <a:rPr lang="ru-RU" sz="2000" dirty="0"/>
              <a:t>или </a:t>
            </a:r>
            <a:r>
              <a:rPr lang="en-US" sz="2000" dirty="0"/>
              <a:t>unsigned </a:t>
            </a:r>
            <a:r>
              <a:rPr lang="en-US" sz="2000" dirty="0" err="1"/>
              <a:t>int</a:t>
            </a:r>
            <a:endParaRPr lang="ru-RU" sz="2000" dirty="0"/>
          </a:p>
        </p:txBody>
      </p:sp>
      <p:sp>
        <p:nvSpPr>
          <p:cNvPr id="4" name="TextBox 3"/>
          <p:cNvSpPr txBox="1"/>
          <p:nvPr/>
        </p:nvSpPr>
        <p:spPr>
          <a:xfrm>
            <a:off x="762432" y="5628328"/>
            <a:ext cx="59503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char</a:t>
            </a:r>
            <a:endParaRPr lang="ru-RU" dirty="0"/>
          </a:p>
        </p:txBody>
      </p:sp>
      <p:sp>
        <p:nvSpPr>
          <p:cNvPr id="5" name="TextBox 4"/>
          <p:cNvSpPr txBox="1"/>
          <p:nvPr/>
        </p:nvSpPr>
        <p:spPr>
          <a:xfrm>
            <a:off x="1515625" y="5628328"/>
            <a:ext cx="15023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unsigned char</a:t>
            </a:r>
            <a:endParaRPr lang="ru-RU" dirty="0"/>
          </a:p>
        </p:txBody>
      </p:sp>
      <p:sp>
        <p:nvSpPr>
          <p:cNvPr id="6" name="TextBox 5"/>
          <p:cNvSpPr txBox="1"/>
          <p:nvPr/>
        </p:nvSpPr>
        <p:spPr>
          <a:xfrm>
            <a:off x="3176117" y="5628328"/>
            <a:ext cx="6751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short</a:t>
            </a:r>
            <a:endParaRPr lang="ru-RU" dirty="0"/>
          </a:p>
        </p:txBody>
      </p:sp>
      <p:sp>
        <p:nvSpPr>
          <p:cNvPr id="7" name="TextBox 6"/>
          <p:cNvSpPr txBox="1"/>
          <p:nvPr/>
        </p:nvSpPr>
        <p:spPr>
          <a:xfrm>
            <a:off x="4009460" y="5628328"/>
            <a:ext cx="15824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unsigned short</a:t>
            </a:r>
            <a:endParaRPr lang="ru-RU" dirty="0"/>
          </a:p>
        </p:txBody>
      </p:sp>
      <p:sp>
        <p:nvSpPr>
          <p:cNvPr id="8" name="TextBox 7"/>
          <p:cNvSpPr txBox="1"/>
          <p:nvPr/>
        </p:nvSpPr>
        <p:spPr>
          <a:xfrm>
            <a:off x="1848755" y="4065094"/>
            <a:ext cx="5902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long</a:t>
            </a:r>
            <a:endParaRPr lang="ru-RU" dirty="0"/>
          </a:p>
        </p:txBody>
      </p:sp>
      <p:sp>
        <p:nvSpPr>
          <p:cNvPr id="9" name="TextBox 8"/>
          <p:cNvSpPr txBox="1"/>
          <p:nvPr/>
        </p:nvSpPr>
        <p:spPr>
          <a:xfrm>
            <a:off x="3361132" y="4065094"/>
            <a:ext cx="14975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unsigned long</a:t>
            </a:r>
            <a:endParaRPr lang="ru-RU" dirty="0"/>
          </a:p>
        </p:txBody>
      </p:sp>
      <p:sp>
        <p:nvSpPr>
          <p:cNvPr id="10" name="TextBox 9"/>
          <p:cNvSpPr txBox="1"/>
          <p:nvPr/>
        </p:nvSpPr>
        <p:spPr>
          <a:xfrm>
            <a:off x="1926758" y="4610657"/>
            <a:ext cx="43422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int</a:t>
            </a:r>
            <a:endParaRPr lang="ru-RU" dirty="0"/>
          </a:p>
        </p:txBody>
      </p:sp>
      <p:sp>
        <p:nvSpPr>
          <p:cNvPr id="11" name="TextBox 10"/>
          <p:cNvSpPr txBox="1"/>
          <p:nvPr/>
        </p:nvSpPr>
        <p:spPr>
          <a:xfrm>
            <a:off x="3439135" y="4610657"/>
            <a:ext cx="134152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unsigned </a:t>
            </a:r>
            <a:r>
              <a:rPr lang="en-US" dirty="0" err="1"/>
              <a:t>int</a:t>
            </a:r>
            <a:endParaRPr lang="ru-RU" dirty="0"/>
          </a:p>
        </p:txBody>
      </p:sp>
      <p:sp>
        <p:nvSpPr>
          <p:cNvPr id="12" name="TextBox 11"/>
          <p:cNvSpPr txBox="1"/>
          <p:nvPr/>
        </p:nvSpPr>
        <p:spPr>
          <a:xfrm>
            <a:off x="2744350" y="2852936"/>
            <a:ext cx="61536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float</a:t>
            </a:r>
            <a:endParaRPr lang="ru-RU" dirty="0"/>
          </a:p>
        </p:txBody>
      </p:sp>
      <p:sp>
        <p:nvSpPr>
          <p:cNvPr id="13" name="TextBox 12"/>
          <p:cNvSpPr txBox="1"/>
          <p:nvPr/>
        </p:nvSpPr>
        <p:spPr>
          <a:xfrm>
            <a:off x="2626736" y="2240868"/>
            <a:ext cx="84029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double</a:t>
            </a:r>
            <a:endParaRPr lang="ru-RU" dirty="0"/>
          </a:p>
        </p:txBody>
      </p:sp>
      <p:sp>
        <p:nvSpPr>
          <p:cNvPr id="14" name="TextBox 13"/>
          <p:cNvSpPr txBox="1"/>
          <p:nvPr/>
        </p:nvSpPr>
        <p:spPr>
          <a:xfrm>
            <a:off x="1618656" y="3528467"/>
            <a:ext cx="10486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long </a:t>
            </a:r>
            <a:r>
              <a:rPr lang="en-US" dirty="0" err="1"/>
              <a:t>long</a:t>
            </a:r>
            <a:endParaRPr lang="ru-RU" dirty="0"/>
          </a:p>
        </p:txBody>
      </p:sp>
      <p:sp>
        <p:nvSpPr>
          <p:cNvPr id="15" name="TextBox 14"/>
          <p:cNvSpPr txBox="1"/>
          <p:nvPr/>
        </p:nvSpPr>
        <p:spPr>
          <a:xfrm>
            <a:off x="3131903" y="3528467"/>
            <a:ext cx="19559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unsigned long </a:t>
            </a:r>
            <a:r>
              <a:rPr lang="en-US" dirty="0" err="1"/>
              <a:t>long</a:t>
            </a:r>
            <a:endParaRPr lang="ru-RU" dirty="0"/>
          </a:p>
        </p:txBody>
      </p:sp>
      <p:sp>
        <p:nvSpPr>
          <p:cNvPr id="17" name="TextBox 16"/>
          <p:cNvSpPr txBox="1"/>
          <p:nvPr/>
        </p:nvSpPr>
        <p:spPr>
          <a:xfrm>
            <a:off x="2398083" y="1628800"/>
            <a:ext cx="12987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long double</a:t>
            </a:r>
            <a:endParaRPr lang="ru-RU" dirty="0"/>
          </a:p>
        </p:txBody>
      </p:sp>
      <p:cxnSp>
        <p:nvCxnSpPr>
          <p:cNvPr id="35" name="Соединительная линия уступом 18"/>
          <p:cNvCxnSpPr>
            <a:stCxn id="4" idx="0"/>
            <a:endCxn id="10" idx="2"/>
          </p:cNvCxnSpPr>
          <p:nvPr/>
        </p:nvCxnSpPr>
        <p:spPr>
          <a:xfrm flipV="1">
            <a:off x="1059950" y="4979989"/>
            <a:ext cx="1083919" cy="648339"/>
          </a:xfrm>
          <a:prstGeom prst="straightConnector1">
            <a:avLst/>
          </a:prstGeom>
          <a:ln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Соединительная линия уступом 18"/>
          <p:cNvCxnSpPr>
            <a:stCxn id="5" idx="0"/>
            <a:endCxn id="10" idx="2"/>
          </p:cNvCxnSpPr>
          <p:nvPr/>
        </p:nvCxnSpPr>
        <p:spPr>
          <a:xfrm flipH="1" flipV="1">
            <a:off x="2143869" y="4979989"/>
            <a:ext cx="122923" cy="648339"/>
          </a:xfrm>
          <a:prstGeom prst="straightConnector1">
            <a:avLst/>
          </a:prstGeom>
          <a:ln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Соединительная линия уступом 18"/>
          <p:cNvCxnSpPr>
            <a:stCxn id="7" idx="0"/>
            <a:endCxn id="10" idx="2"/>
          </p:cNvCxnSpPr>
          <p:nvPr/>
        </p:nvCxnSpPr>
        <p:spPr>
          <a:xfrm flipH="1" flipV="1">
            <a:off x="2143869" y="4979989"/>
            <a:ext cx="2656833" cy="648339"/>
          </a:xfrm>
          <a:prstGeom prst="straightConnector1">
            <a:avLst/>
          </a:prstGeom>
          <a:ln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Соединительная линия уступом 18"/>
          <p:cNvCxnSpPr>
            <a:stCxn id="10" idx="3"/>
            <a:endCxn id="11" idx="1"/>
          </p:cNvCxnSpPr>
          <p:nvPr/>
        </p:nvCxnSpPr>
        <p:spPr>
          <a:xfrm>
            <a:off x="2360979" y="4795323"/>
            <a:ext cx="1078156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Соединительная линия уступом 18"/>
          <p:cNvCxnSpPr>
            <a:stCxn id="10" idx="0"/>
            <a:endCxn id="8" idx="2"/>
          </p:cNvCxnSpPr>
          <p:nvPr/>
        </p:nvCxnSpPr>
        <p:spPr>
          <a:xfrm flipH="1" flipV="1">
            <a:off x="2143868" y="4434426"/>
            <a:ext cx="1" cy="17623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Соединительная линия уступом 18"/>
          <p:cNvCxnSpPr>
            <a:stCxn id="11" idx="0"/>
            <a:endCxn id="9" idx="2"/>
          </p:cNvCxnSpPr>
          <p:nvPr/>
        </p:nvCxnSpPr>
        <p:spPr>
          <a:xfrm flipH="1" flipV="1">
            <a:off x="4109895" y="4434426"/>
            <a:ext cx="1" cy="17623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Соединительная линия уступом 18"/>
          <p:cNvCxnSpPr>
            <a:stCxn id="6" idx="0"/>
            <a:endCxn id="10" idx="2"/>
          </p:cNvCxnSpPr>
          <p:nvPr/>
        </p:nvCxnSpPr>
        <p:spPr>
          <a:xfrm flipH="1" flipV="1">
            <a:off x="2143869" y="4979989"/>
            <a:ext cx="1369841" cy="648339"/>
          </a:xfrm>
          <a:prstGeom prst="straightConnector1">
            <a:avLst/>
          </a:prstGeom>
          <a:ln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Соединительная линия уступом 18"/>
          <p:cNvCxnSpPr>
            <a:stCxn id="8" idx="3"/>
            <a:endCxn id="9" idx="1"/>
          </p:cNvCxnSpPr>
          <p:nvPr/>
        </p:nvCxnSpPr>
        <p:spPr>
          <a:xfrm>
            <a:off x="2438981" y="4249760"/>
            <a:ext cx="922151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Соединительная линия уступом 18"/>
          <p:cNvCxnSpPr>
            <a:stCxn id="8" idx="0"/>
            <a:endCxn id="14" idx="2"/>
          </p:cNvCxnSpPr>
          <p:nvPr/>
        </p:nvCxnSpPr>
        <p:spPr>
          <a:xfrm flipH="1" flipV="1">
            <a:off x="2142999" y="3897799"/>
            <a:ext cx="869" cy="16729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Соединительная линия уступом 18"/>
          <p:cNvCxnSpPr>
            <a:stCxn id="9" idx="0"/>
            <a:endCxn id="15" idx="2"/>
          </p:cNvCxnSpPr>
          <p:nvPr/>
        </p:nvCxnSpPr>
        <p:spPr>
          <a:xfrm flipV="1">
            <a:off x="4109895" y="3897799"/>
            <a:ext cx="1" cy="16729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Соединительная линия уступом 18"/>
          <p:cNvCxnSpPr>
            <a:stCxn id="14" idx="0"/>
            <a:endCxn id="12" idx="2"/>
          </p:cNvCxnSpPr>
          <p:nvPr/>
        </p:nvCxnSpPr>
        <p:spPr>
          <a:xfrm flipV="1">
            <a:off x="2142999" y="3222268"/>
            <a:ext cx="909032" cy="30619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Соединительная линия уступом 18"/>
          <p:cNvCxnSpPr>
            <a:stCxn id="15" idx="0"/>
            <a:endCxn id="12" idx="2"/>
          </p:cNvCxnSpPr>
          <p:nvPr/>
        </p:nvCxnSpPr>
        <p:spPr>
          <a:xfrm flipH="1" flipV="1">
            <a:off x="3052031" y="3222268"/>
            <a:ext cx="1057865" cy="30619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Соединительная линия уступом 18"/>
          <p:cNvCxnSpPr>
            <a:stCxn id="14" idx="3"/>
            <a:endCxn id="15" idx="1"/>
          </p:cNvCxnSpPr>
          <p:nvPr/>
        </p:nvCxnSpPr>
        <p:spPr>
          <a:xfrm>
            <a:off x="2667341" y="3713133"/>
            <a:ext cx="464562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Соединительная линия уступом 18"/>
          <p:cNvCxnSpPr>
            <a:stCxn id="13" idx="0"/>
            <a:endCxn id="17" idx="2"/>
          </p:cNvCxnSpPr>
          <p:nvPr/>
        </p:nvCxnSpPr>
        <p:spPr>
          <a:xfrm flipV="1">
            <a:off x="3046884" y="1998132"/>
            <a:ext cx="576" cy="24273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Соединительная линия уступом 18"/>
          <p:cNvCxnSpPr>
            <a:stCxn id="12" idx="0"/>
            <a:endCxn id="13" idx="2"/>
          </p:cNvCxnSpPr>
          <p:nvPr/>
        </p:nvCxnSpPr>
        <p:spPr>
          <a:xfrm flipH="1" flipV="1">
            <a:off x="3046884" y="2610200"/>
            <a:ext cx="5147" cy="24273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7" name="Соединительная линия уступом 96"/>
          <p:cNvCxnSpPr>
            <a:stCxn id="11" idx="0"/>
          </p:cNvCxnSpPr>
          <p:nvPr/>
        </p:nvCxnSpPr>
        <p:spPr>
          <a:xfrm flipH="1" flipV="1">
            <a:off x="2142999" y="4434426"/>
            <a:ext cx="1966897" cy="176231"/>
          </a:xfrm>
          <a:prstGeom prst="straightConnector1">
            <a:avLst/>
          </a:prstGeom>
          <a:ln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0" name="Соединительная линия уступом 96"/>
          <p:cNvCxnSpPr>
            <a:stCxn id="9" idx="0"/>
            <a:endCxn id="14" idx="2"/>
          </p:cNvCxnSpPr>
          <p:nvPr/>
        </p:nvCxnSpPr>
        <p:spPr>
          <a:xfrm flipH="1" flipV="1">
            <a:off x="2142999" y="3897799"/>
            <a:ext cx="1966896" cy="167295"/>
          </a:xfrm>
          <a:prstGeom prst="straightConnector1">
            <a:avLst/>
          </a:prstGeom>
          <a:ln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6" name="Соединительная линия уступом 18"/>
          <p:cNvCxnSpPr>
            <a:stCxn id="4" idx="0"/>
          </p:cNvCxnSpPr>
          <p:nvPr/>
        </p:nvCxnSpPr>
        <p:spPr>
          <a:xfrm flipV="1">
            <a:off x="1059950" y="4979989"/>
            <a:ext cx="3049945" cy="648339"/>
          </a:xfrm>
          <a:prstGeom prst="straightConnector1">
            <a:avLst/>
          </a:prstGeom>
          <a:ln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7" name="Соединительная линия уступом 18"/>
          <p:cNvCxnSpPr>
            <a:stCxn id="5" idx="0"/>
            <a:endCxn id="11" idx="2"/>
          </p:cNvCxnSpPr>
          <p:nvPr/>
        </p:nvCxnSpPr>
        <p:spPr>
          <a:xfrm flipV="1">
            <a:off x="2266792" y="4979989"/>
            <a:ext cx="1843104" cy="648339"/>
          </a:xfrm>
          <a:prstGeom prst="straightConnector1">
            <a:avLst/>
          </a:prstGeom>
          <a:ln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8" name="Соединительная линия уступом 18"/>
          <p:cNvCxnSpPr>
            <a:stCxn id="7" idx="0"/>
            <a:endCxn id="11" idx="2"/>
          </p:cNvCxnSpPr>
          <p:nvPr/>
        </p:nvCxnSpPr>
        <p:spPr>
          <a:xfrm flipH="1" flipV="1">
            <a:off x="4109896" y="4979989"/>
            <a:ext cx="690806" cy="648339"/>
          </a:xfrm>
          <a:prstGeom prst="straightConnector1">
            <a:avLst/>
          </a:prstGeom>
          <a:ln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9" name="Соединительная линия уступом 18"/>
          <p:cNvCxnSpPr>
            <a:stCxn id="6" idx="0"/>
            <a:endCxn id="11" idx="2"/>
          </p:cNvCxnSpPr>
          <p:nvPr/>
        </p:nvCxnSpPr>
        <p:spPr>
          <a:xfrm flipV="1">
            <a:off x="3513710" y="4979989"/>
            <a:ext cx="596186" cy="648339"/>
          </a:xfrm>
          <a:prstGeom prst="straightConnector1">
            <a:avLst/>
          </a:prstGeom>
          <a:ln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0" name="Группа 19"/>
          <p:cNvGrpSpPr/>
          <p:nvPr/>
        </p:nvGrpSpPr>
        <p:grpSpPr>
          <a:xfrm>
            <a:off x="309531" y="3570850"/>
            <a:ext cx="584775" cy="2697598"/>
            <a:chOff x="76435" y="3062408"/>
            <a:chExt cx="584775" cy="3032096"/>
          </a:xfrm>
        </p:grpSpPr>
        <p:sp>
          <p:nvSpPr>
            <p:cNvPr id="16" name="TextBox 15"/>
            <p:cNvSpPr txBox="1"/>
            <p:nvPr/>
          </p:nvSpPr>
          <p:spPr>
            <a:xfrm rot="16200000">
              <a:off x="-1147225" y="4286068"/>
              <a:ext cx="3032096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ru-RU" sz="1600" dirty="0">
                  <a:highlight>
                    <a:srgbClr val="00FFFF"/>
                  </a:highlight>
                </a:rPr>
                <a:t>ранг целого типа</a:t>
              </a:r>
            </a:p>
            <a:p>
              <a:pPr algn="ctr"/>
              <a:r>
                <a:rPr lang="ru-RU" sz="1600" dirty="0"/>
                <a:t>меньше		больше</a:t>
              </a:r>
            </a:p>
          </p:txBody>
        </p:sp>
        <p:cxnSp>
          <p:nvCxnSpPr>
            <p:cNvPr id="19" name="Прямая со стрелкой 18"/>
            <p:cNvCxnSpPr>
              <a:endCxn id="16" idx="3"/>
            </p:cNvCxnSpPr>
            <p:nvPr/>
          </p:nvCxnSpPr>
          <p:spPr>
            <a:xfrm flipV="1">
              <a:off x="363692" y="3062408"/>
              <a:ext cx="5131" cy="2504943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8" name="Slide Number Placeholder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0E2822-3F92-4355-B47E-F2E8C9595EE5}" type="slidenum">
              <a:rPr lang="ru-RU" smtClean="0"/>
              <a:t>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7923616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/>
              <a:t>Ранг </a:t>
            </a:r>
            <a:r>
              <a:rPr lang="en-US" dirty="0" err="1"/>
              <a:t>enum</a:t>
            </a:r>
            <a:r>
              <a:rPr lang="en-US" dirty="0"/>
              <a:t> </a:t>
            </a:r>
            <a:r>
              <a:rPr lang="ru-RU" dirty="0"/>
              <a:t>и </a:t>
            </a:r>
            <a:r>
              <a:rPr lang="en-US" dirty="0"/>
              <a:t>bool</a:t>
            </a:r>
            <a:endParaRPr lang="ru-RU" dirty="0"/>
          </a:p>
        </p:txBody>
      </p:sp>
      <p:sp>
        <p:nvSpPr>
          <p:cNvPr id="95" name="Объект 94"/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r>
              <a:rPr lang="ru-RU" dirty="0"/>
              <a:t>Ранг </a:t>
            </a:r>
            <a:r>
              <a:rPr lang="en-US" dirty="0" err="1"/>
              <a:t>enum</a:t>
            </a:r>
            <a:r>
              <a:rPr lang="en-US" dirty="0"/>
              <a:t> </a:t>
            </a:r>
            <a:r>
              <a:rPr lang="ru-RU" dirty="0"/>
              <a:t>равен рангу целого типа, используемого для хранения значений </a:t>
            </a:r>
            <a:r>
              <a:rPr lang="en-US" dirty="0" err="1"/>
              <a:t>enum</a:t>
            </a:r>
            <a:endParaRPr lang="ru-RU" dirty="0"/>
          </a:p>
          <a:p>
            <a:endParaRPr lang="en-US" dirty="0"/>
          </a:p>
          <a:p>
            <a:r>
              <a:rPr lang="ru-RU" dirty="0"/>
              <a:t>Ранг </a:t>
            </a:r>
            <a:r>
              <a:rPr lang="en-US" dirty="0"/>
              <a:t>bool</a:t>
            </a:r>
            <a:r>
              <a:rPr lang="ru-RU" dirty="0"/>
              <a:t> ниже ранга любого другого целого типа</a:t>
            </a:r>
          </a:p>
          <a:p>
            <a:endParaRPr lang="ru-RU" dirty="0"/>
          </a:p>
        </p:txBody>
      </p:sp>
      <p:sp>
        <p:nvSpPr>
          <p:cNvPr id="4" name="TextBox 3"/>
          <p:cNvSpPr txBox="1"/>
          <p:nvPr/>
        </p:nvSpPr>
        <p:spPr>
          <a:xfrm>
            <a:off x="762432" y="5628328"/>
            <a:ext cx="59503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char</a:t>
            </a:r>
            <a:endParaRPr lang="ru-RU" dirty="0"/>
          </a:p>
        </p:txBody>
      </p:sp>
      <p:sp>
        <p:nvSpPr>
          <p:cNvPr id="5" name="TextBox 4"/>
          <p:cNvSpPr txBox="1"/>
          <p:nvPr/>
        </p:nvSpPr>
        <p:spPr>
          <a:xfrm>
            <a:off x="1515625" y="5628328"/>
            <a:ext cx="15023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unsigned char</a:t>
            </a:r>
            <a:endParaRPr lang="ru-RU" dirty="0"/>
          </a:p>
        </p:txBody>
      </p:sp>
      <p:sp>
        <p:nvSpPr>
          <p:cNvPr id="6" name="TextBox 5"/>
          <p:cNvSpPr txBox="1"/>
          <p:nvPr/>
        </p:nvSpPr>
        <p:spPr>
          <a:xfrm>
            <a:off x="3176117" y="5628328"/>
            <a:ext cx="6751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short</a:t>
            </a:r>
            <a:endParaRPr lang="ru-RU" dirty="0"/>
          </a:p>
        </p:txBody>
      </p:sp>
      <p:sp>
        <p:nvSpPr>
          <p:cNvPr id="7" name="TextBox 6"/>
          <p:cNvSpPr txBox="1"/>
          <p:nvPr/>
        </p:nvSpPr>
        <p:spPr>
          <a:xfrm>
            <a:off x="4009460" y="5628328"/>
            <a:ext cx="15824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unsigned short</a:t>
            </a:r>
            <a:endParaRPr lang="ru-RU" dirty="0"/>
          </a:p>
        </p:txBody>
      </p:sp>
      <p:sp>
        <p:nvSpPr>
          <p:cNvPr id="8" name="TextBox 7"/>
          <p:cNvSpPr txBox="1"/>
          <p:nvPr/>
        </p:nvSpPr>
        <p:spPr>
          <a:xfrm>
            <a:off x="1848755" y="4065094"/>
            <a:ext cx="5902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long</a:t>
            </a:r>
            <a:endParaRPr lang="ru-RU" dirty="0"/>
          </a:p>
        </p:txBody>
      </p:sp>
      <p:sp>
        <p:nvSpPr>
          <p:cNvPr id="9" name="TextBox 8"/>
          <p:cNvSpPr txBox="1"/>
          <p:nvPr/>
        </p:nvSpPr>
        <p:spPr>
          <a:xfrm>
            <a:off x="3361132" y="4065094"/>
            <a:ext cx="14975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unsigned long</a:t>
            </a:r>
            <a:endParaRPr lang="ru-RU" dirty="0"/>
          </a:p>
        </p:txBody>
      </p:sp>
      <p:sp>
        <p:nvSpPr>
          <p:cNvPr id="10" name="TextBox 9"/>
          <p:cNvSpPr txBox="1"/>
          <p:nvPr/>
        </p:nvSpPr>
        <p:spPr>
          <a:xfrm>
            <a:off x="1926758" y="4610657"/>
            <a:ext cx="43422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int</a:t>
            </a:r>
            <a:endParaRPr lang="ru-RU" dirty="0"/>
          </a:p>
        </p:txBody>
      </p:sp>
      <p:sp>
        <p:nvSpPr>
          <p:cNvPr id="11" name="TextBox 10"/>
          <p:cNvSpPr txBox="1"/>
          <p:nvPr/>
        </p:nvSpPr>
        <p:spPr>
          <a:xfrm>
            <a:off x="3439135" y="4610657"/>
            <a:ext cx="134152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unsigned </a:t>
            </a:r>
            <a:r>
              <a:rPr lang="en-US" dirty="0" err="1"/>
              <a:t>int</a:t>
            </a:r>
            <a:endParaRPr lang="ru-RU" dirty="0"/>
          </a:p>
        </p:txBody>
      </p:sp>
      <p:sp>
        <p:nvSpPr>
          <p:cNvPr id="12" name="TextBox 11"/>
          <p:cNvSpPr txBox="1"/>
          <p:nvPr/>
        </p:nvSpPr>
        <p:spPr>
          <a:xfrm>
            <a:off x="2744350" y="2852936"/>
            <a:ext cx="61536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float</a:t>
            </a:r>
            <a:endParaRPr lang="ru-RU" dirty="0"/>
          </a:p>
        </p:txBody>
      </p:sp>
      <p:sp>
        <p:nvSpPr>
          <p:cNvPr id="13" name="TextBox 12"/>
          <p:cNvSpPr txBox="1"/>
          <p:nvPr/>
        </p:nvSpPr>
        <p:spPr>
          <a:xfrm>
            <a:off x="2626736" y="2240868"/>
            <a:ext cx="84029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double</a:t>
            </a:r>
            <a:endParaRPr lang="ru-RU" dirty="0"/>
          </a:p>
        </p:txBody>
      </p:sp>
      <p:sp>
        <p:nvSpPr>
          <p:cNvPr id="14" name="TextBox 13"/>
          <p:cNvSpPr txBox="1"/>
          <p:nvPr/>
        </p:nvSpPr>
        <p:spPr>
          <a:xfrm>
            <a:off x="1618656" y="3528467"/>
            <a:ext cx="10486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long </a:t>
            </a:r>
            <a:r>
              <a:rPr lang="en-US" dirty="0" err="1"/>
              <a:t>long</a:t>
            </a:r>
            <a:endParaRPr lang="ru-RU" dirty="0"/>
          </a:p>
        </p:txBody>
      </p:sp>
      <p:sp>
        <p:nvSpPr>
          <p:cNvPr id="15" name="TextBox 14"/>
          <p:cNvSpPr txBox="1"/>
          <p:nvPr/>
        </p:nvSpPr>
        <p:spPr>
          <a:xfrm>
            <a:off x="3131903" y="3528467"/>
            <a:ext cx="19559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unsigned long </a:t>
            </a:r>
            <a:r>
              <a:rPr lang="en-US" dirty="0" err="1"/>
              <a:t>long</a:t>
            </a:r>
            <a:endParaRPr lang="ru-RU" dirty="0"/>
          </a:p>
        </p:txBody>
      </p:sp>
      <p:sp>
        <p:nvSpPr>
          <p:cNvPr id="17" name="TextBox 16"/>
          <p:cNvSpPr txBox="1"/>
          <p:nvPr/>
        </p:nvSpPr>
        <p:spPr>
          <a:xfrm>
            <a:off x="2398083" y="1628800"/>
            <a:ext cx="12987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long double</a:t>
            </a:r>
            <a:endParaRPr lang="ru-RU" dirty="0"/>
          </a:p>
        </p:txBody>
      </p:sp>
      <p:cxnSp>
        <p:nvCxnSpPr>
          <p:cNvPr id="35" name="Соединительная линия уступом 18"/>
          <p:cNvCxnSpPr>
            <a:stCxn id="4" idx="0"/>
            <a:endCxn id="10" idx="2"/>
          </p:cNvCxnSpPr>
          <p:nvPr/>
        </p:nvCxnSpPr>
        <p:spPr>
          <a:xfrm flipV="1">
            <a:off x="1059950" y="4979989"/>
            <a:ext cx="1083919" cy="648339"/>
          </a:xfrm>
          <a:prstGeom prst="straightConnector1">
            <a:avLst/>
          </a:prstGeom>
          <a:ln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Соединительная линия уступом 18"/>
          <p:cNvCxnSpPr>
            <a:stCxn id="5" idx="0"/>
            <a:endCxn id="10" idx="2"/>
          </p:cNvCxnSpPr>
          <p:nvPr/>
        </p:nvCxnSpPr>
        <p:spPr>
          <a:xfrm flipH="1" flipV="1">
            <a:off x="2143869" y="4979989"/>
            <a:ext cx="122923" cy="648339"/>
          </a:xfrm>
          <a:prstGeom prst="straightConnector1">
            <a:avLst/>
          </a:prstGeom>
          <a:ln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Соединительная линия уступом 18"/>
          <p:cNvCxnSpPr>
            <a:stCxn id="7" idx="0"/>
            <a:endCxn id="10" idx="2"/>
          </p:cNvCxnSpPr>
          <p:nvPr/>
        </p:nvCxnSpPr>
        <p:spPr>
          <a:xfrm flipH="1" flipV="1">
            <a:off x="2143869" y="4979989"/>
            <a:ext cx="2656833" cy="648339"/>
          </a:xfrm>
          <a:prstGeom prst="straightConnector1">
            <a:avLst/>
          </a:prstGeom>
          <a:ln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Соединительная линия уступом 18"/>
          <p:cNvCxnSpPr>
            <a:stCxn id="10" idx="3"/>
            <a:endCxn id="11" idx="1"/>
          </p:cNvCxnSpPr>
          <p:nvPr/>
        </p:nvCxnSpPr>
        <p:spPr>
          <a:xfrm>
            <a:off x="2360979" y="4795323"/>
            <a:ext cx="1078156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Соединительная линия уступом 18"/>
          <p:cNvCxnSpPr>
            <a:stCxn id="10" idx="0"/>
            <a:endCxn id="8" idx="2"/>
          </p:cNvCxnSpPr>
          <p:nvPr/>
        </p:nvCxnSpPr>
        <p:spPr>
          <a:xfrm flipH="1" flipV="1">
            <a:off x="2143868" y="4434426"/>
            <a:ext cx="1" cy="17623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Соединительная линия уступом 18"/>
          <p:cNvCxnSpPr>
            <a:stCxn id="11" idx="0"/>
            <a:endCxn id="9" idx="2"/>
          </p:cNvCxnSpPr>
          <p:nvPr/>
        </p:nvCxnSpPr>
        <p:spPr>
          <a:xfrm flipH="1" flipV="1">
            <a:off x="4109895" y="4434426"/>
            <a:ext cx="1" cy="17623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Соединительная линия уступом 18"/>
          <p:cNvCxnSpPr>
            <a:stCxn id="6" idx="0"/>
            <a:endCxn id="10" idx="2"/>
          </p:cNvCxnSpPr>
          <p:nvPr/>
        </p:nvCxnSpPr>
        <p:spPr>
          <a:xfrm flipH="1" flipV="1">
            <a:off x="2143869" y="4979989"/>
            <a:ext cx="1369841" cy="648339"/>
          </a:xfrm>
          <a:prstGeom prst="straightConnector1">
            <a:avLst/>
          </a:prstGeom>
          <a:ln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Соединительная линия уступом 18"/>
          <p:cNvCxnSpPr>
            <a:stCxn id="8" idx="3"/>
            <a:endCxn id="9" idx="1"/>
          </p:cNvCxnSpPr>
          <p:nvPr/>
        </p:nvCxnSpPr>
        <p:spPr>
          <a:xfrm>
            <a:off x="2438981" y="4249760"/>
            <a:ext cx="922151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Соединительная линия уступом 18"/>
          <p:cNvCxnSpPr>
            <a:stCxn id="8" idx="0"/>
            <a:endCxn id="14" idx="2"/>
          </p:cNvCxnSpPr>
          <p:nvPr/>
        </p:nvCxnSpPr>
        <p:spPr>
          <a:xfrm flipH="1" flipV="1">
            <a:off x="2142999" y="3897799"/>
            <a:ext cx="869" cy="16729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Соединительная линия уступом 18"/>
          <p:cNvCxnSpPr>
            <a:stCxn id="9" idx="0"/>
            <a:endCxn id="15" idx="2"/>
          </p:cNvCxnSpPr>
          <p:nvPr/>
        </p:nvCxnSpPr>
        <p:spPr>
          <a:xfrm flipV="1">
            <a:off x="4109895" y="3897799"/>
            <a:ext cx="1" cy="16729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Соединительная линия уступом 18"/>
          <p:cNvCxnSpPr>
            <a:stCxn id="14" idx="0"/>
            <a:endCxn id="12" idx="2"/>
          </p:cNvCxnSpPr>
          <p:nvPr/>
        </p:nvCxnSpPr>
        <p:spPr>
          <a:xfrm flipV="1">
            <a:off x="2142999" y="3222268"/>
            <a:ext cx="909032" cy="30619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Соединительная линия уступом 18"/>
          <p:cNvCxnSpPr>
            <a:stCxn id="15" idx="0"/>
            <a:endCxn id="12" idx="2"/>
          </p:cNvCxnSpPr>
          <p:nvPr/>
        </p:nvCxnSpPr>
        <p:spPr>
          <a:xfrm flipH="1" flipV="1">
            <a:off x="3052031" y="3222268"/>
            <a:ext cx="1057865" cy="30619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Соединительная линия уступом 18"/>
          <p:cNvCxnSpPr>
            <a:stCxn id="14" idx="3"/>
            <a:endCxn id="15" idx="1"/>
          </p:cNvCxnSpPr>
          <p:nvPr/>
        </p:nvCxnSpPr>
        <p:spPr>
          <a:xfrm>
            <a:off x="2667341" y="3713133"/>
            <a:ext cx="464562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Соединительная линия уступом 18"/>
          <p:cNvCxnSpPr>
            <a:stCxn id="13" idx="0"/>
            <a:endCxn id="17" idx="2"/>
          </p:cNvCxnSpPr>
          <p:nvPr/>
        </p:nvCxnSpPr>
        <p:spPr>
          <a:xfrm flipV="1">
            <a:off x="3046884" y="1998132"/>
            <a:ext cx="576" cy="24273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Соединительная линия уступом 18"/>
          <p:cNvCxnSpPr>
            <a:stCxn id="12" idx="0"/>
            <a:endCxn id="13" idx="2"/>
          </p:cNvCxnSpPr>
          <p:nvPr/>
        </p:nvCxnSpPr>
        <p:spPr>
          <a:xfrm flipH="1" flipV="1">
            <a:off x="3046884" y="2610200"/>
            <a:ext cx="5147" cy="24273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7" name="Соединительная линия уступом 96"/>
          <p:cNvCxnSpPr>
            <a:stCxn id="11" idx="0"/>
          </p:cNvCxnSpPr>
          <p:nvPr/>
        </p:nvCxnSpPr>
        <p:spPr>
          <a:xfrm flipH="1" flipV="1">
            <a:off x="2142999" y="4434426"/>
            <a:ext cx="1966897" cy="176231"/>
          </a:xfrm>
          <a:prstGeom prst="straightConnector1">
            <a:avLst/>
          </a:prstGeom>
          <a:ln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0" name="Соединительная линия уступом 96"/>
          <p:cNvCxnSpPr>
            <a:stCxn id="9" idx="0"/>
            <a:endCxn id="14" idx="2"/>
          </p:cNvCxnSpPr>
          <p:nvPr/>
        </p:nvCxnSpPr>
        <p:spPr>
          <a:xfrm flipH="1" flipV="1">
            <a:off x="2142999" y="3897799"/>
            <a:ext cx="1966896" cy="167295"/>
          </a:xfrm>
          <a:prstGeom prst="straightConnector1">
            <a:avLst/>
          </a:prstGeom>
          <a:ln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6" name="Соединительная линия уступом 18"/>
          <p:cNvCxnSpPr>
            <a:stCxn id="4" idx="0"/>
          </p:cNvCxnSpPr>
          <p:nvPr/>
        </p:nvCxnSpPr>
        <p:spPr>
          <a:xfrm flipV="1">
            <a:off x="1059950" y="4979989"/>
            <a:ext cx="3049945" cy="648339"/>
          </a:xfrm>
          <a:prstGeom prst="straightConnector1">
            <a:avLst/>
          </a:prstGeom>
          <a:ln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7" name="Соединительная линия уступом 18"/>
          <p:cNvCxnSpPr>
            <a:stCxn id="5" idx="0"/>
            <a:endCxn id="11" idx="2"/>
          </p:cNvCxnSpPr>
          <p:nvPr/>
        </p:nvCxnSpPr>
        <p:spPr>
          <a:xfrm flipV="1">
            <a:off x="2266792" y="4979989"/>
            <a:ext cx="1843104" cy="648339"/>
          </a:xfrm>
          <a:prstGeom prst="straightConnector1">
            <a:avLst/>
          </a:prstGeom>
          <a:ln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8" name="Соединительная линия уступом 18"/>
          <p:cNvCxnSpPr>
            <a:stCxn id="7" idx="0"/>
            <a:endCxn id="11" idx="2"/>
          </p:cNvCxnSpPr>
          <p:nvPr/>
        </p:nvCxnSpPr>
        <p:spPr>
          <a:xfrm flipH="1" flipV="1">
            <a:off x="4109896" y="4979989"/>
            <a:ext cx="690806" cy="648339"/>
          </a:xfrm>
          <a:prstGeom prst="straightConnector1">
            <a:avLst/>
          </a:prstGeom>
          <a:ln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9" name="Соединительная линия уступом 18"/>
          <p:cNvCxnSpPr>
            <a:stCxn id="6" idx="0"/>
            <a:endCxn id="11" idx="2"/>
          </p:cNvCxnSpPr>
          <p:nvPr/>
        </p:nvCxnSpPr>
        <p:spPr>
          <a:xfrm flipV="1">
            <a:off x="3513710" y="4979989"/>
            <a:ext cx="596186" cy="648339"/>
          </a:xfrm>
          <a:prstGeom prst="straightConnector1">
            <a:avLst/>
          </a:prstGeom>
          <a:ln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0" name="Группа 19"/>
          <p:cNvGrpSpPr/>
          <p:nvPr/>
        </p:nvGrpSpPr>
        <p:grpSpPr>
          <a:xfrm>
            <a:off x="309531" y="3570850"/>
            <a:ext cx="584775" cy="2697598"/>
            <a:chOff x="76435" y="3062408"/>
            <a:chExt cx="584775" cy="3032096"/>
          </a:xfrm>
        </p:grpSpPr>
        <p:sp>
          <p:nvSpPr>
            <p:cNvPr id="16" name="TextBox 15"/>
            <p:cNvSpPr txBox="1"/>
            <p:nvPr/>
          </p:nvSpPr>
          <p:spPr>
            <a:xfrm rot="16200000">
              <a:off x="-1147225" y="4286068"/>
              <a:ext cx="3032096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ru-RU" sz="1600" dirty="0"/>
                <a:t>ранг целого типа</a:t>
              </a:r>
            </a:p>
            <a:p>
              <a:pPr algn="ctr"/>
              <a:r>
                <a:rPr lang="ru-RU" sz="1600" dirty="0"/>
                <a:t>меньше		больше</a:t>
              </a:r>
            </a:p>
          </p:txBody>
        </p:sp>
        <p:cxnSp>
          <p:nvCxnSpPr>
            <p:cNvPr id="19" name="Прямая со стрелкой 18"/>
            <p:cNvCxnSpPr>
              <a:endCxn id="16" idx="3"/>
            </p:cNvCxnSpPr>
            <p:nvPr/>
          </p:nvCxnSpPr>
          <p:spPr>
            <a:xfrm flipV="1">
              <a:off x="363692" y="3062408"/>
              <a:ext cx="5131" cy="2504943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8" name="Slide Number Placeholder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0E2822-3F92-4355-B47E-F2E8C9595EE5}" type="slidenum">
              <a:rPr lang="ru-RU" smtClean="0"/>
              <a:t>6</a:t>
            </a:fld>
            <a:endParaRPr lang="ru-RU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BBE0C14-1C7A-A29A-133A-506AB3498A55}"/>
              </a:ext>
            </a:extLst>
          </p:cNvPr>
          <p:cNvSpPr txBox="1"/>
          <p:nvPr/>
        </p:nvSpPr>
        <p:spPr>
          <a:xfrm>
            <a:off x="2608700" y="6199792"/>
            <a:ext cx="62709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bool</a:t>
            </a:r>
            <a:endParaRPr lang="ru-RU" dirty="0"/>
          </a:p>
        </p:txBody>
      </p:sp>
      <p:cxnSp>
        <p:nvCxnSpPr>
          <p:cNvPr id="23" name="Соединительная линия уступом 18">
            <a:extLst>
              <a:ext uri="{FF2B5EF4-FFF2-40B4-BE49-F238E27FC236}">
                <a16:creationId xmlns:a16="http://schemas.microsoft.com/office/drawing/2014/main" id="{378DC9F6-CB7B-AD63-AC57-8D797CAD9558}"/>
              </a:ext>
            </a:extLst>
          </p:cNvPr>
          <p:cNvCxnSpPr>
            <a:cxnSpLocks/>
            <a:stCxn id="3" idx="0"/>
            <a:endCxn id="5" idx="2"/>
          </p:cNvCxnSpPr>
          <p:nvPr/>
        </p:nvCxnSpPr>
        <p:spPr>
          <a:xfrm flipH="1" flipV="1">
            <a:off x="2266792" y="5997660"/>
            <a:ext cx="655456" cy="202132"/>
          </a:xfrm>
          <a:prstGeom prst="straightConnector1">
            <a:avLst/>
          </a:prstGeom>
          <a:ln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Соединительная линия уступом 18">
            <a:extLst>
              <a:ext uri="{FF2B5EF4-FFF2-40B4-BE49-F238E27FC236}">
                <a16:creationId xmlns:a16="http://schemas.microsoft.com/office/drawing/2014/main" id="{7551D331-1C05-8930-4999-2C16F73FF5E7}"/>
              </a:ext>
            </a:extLst>
          </p:cNvPr>
          <p:cNvCxnSpPr>
            <a:cxnSpLocks/>
            <a:stCxn id="3" idx="0"/>
            <a:endCxn id="7" idx="2"/>
          </p:cNvCxnSpPr>
          <p:nvPr/>
        </p:nvCxnSpPr>
        <p:spPr>
          <a:xfrm flipV="1">
            <a:off x="2922248" y="5997660"/>
            <a:ext cx="1878454" cy="202132"/>
          </a:xfrm>
          <a:prstGeom prst="straightConnector1">
            <a:avLst/>
          </a:prstGeom>
          <a:ln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Соединительная линия уступом 18">
            <a:extLst>
              <a:ext uri="{FF2B5EF4-FFF2-40B4-BE49-F238E27FC236}">
                <a16:creationId xmlns:a16="http://schemas.microsoft.com/office/drawing/2014/main" id="{90D8C64F-E3E4-BEFB-5483-B5E07BFA2BF6}"/>
              </a:ext>
            </a:extLst>
          </p:cNvPr>
          <p:cNvCxnSpPr>
            <a:cxnSpLocks/>
            <a:stCxn id="3" idx="0"/>
            <a:endCxn id="6" idx="2"/>
          </p:cNvCxnSpPr>
          <p:nvPr/>
        </p:nvCxnSpPr>
        <p:spPr>
          <a:xfrm flipV="1">
            <a:off x="2922248" y="5997660"/>
            <a:ext cx="591462" cy="202132"/>
          </a:xfrm>
          <a:prstGeom prst="straightConnector1">
            <a:avLst/>
          </a:prstGeom>
          <a:ln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Соединительная линия уступом 18">
            <a:extLst>
              <a:ext uri="{FF2B5EF4-FFF2-40B4-BE49-F238E27FC236}">
                <a16:creationId xmlns:a16="http://schemas.microsoft.com/office/drawing/2014/main" id="{1DBAF3BF-E8F3-51B6-2073-0FE858753E7F}"/>
              </a:ext>
            </a:extLst>
          </p:cNvPr>
          <p:cNvCxnSpPr>
            <a:cxnSpLocks/>
            <a:stCxn id="3" idx="0"/>
            <a:endCxn id="4" idx="2"/>
          </p:cNvCxnSpPr>
          <p:nvPr/>
        </p:nvCxnSpPr>
        <p:spPr>
          <a:xfrm flipH="1" flipV="1">
            <a:off x="1059950" y="5997660"/>
            <a:ext cx="1862298" cy="202132"/>
          </a:xfrm>
          <a:prstGeom prst="straightConnector1">
            <a:avLst/>
          </a:prstGeom>
          <a:ln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8661624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Объект 94"/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r>
              <a:rPr lang="ru-RU" sz="2400" dirty="0"/>
              <a:t>Пусть 1, 2, 4, 8, 8 – размер в байтах </a:t>
            </a:r>
            <a:r>
              <a:rPr lang="en-US" sz="2400" dirty="0"/>
              <a:t>char</a:t>
            </a:r>
            <a:r>
              <a:rPr lang="ru-RU" sz="2400" dirty="0"/>
              <a:t>, </a:t>
            </a:r>
            <a:r>
              <a:rPr lang="en-US" sz="2400" dirty="0"/>
              <a:t>short, </a:t>
            </a:r>
            <a:r>
              <a:rPr lang="en-US" sz="2400" dirty="0" err="1"/>
              <a:t>int</a:t>
            </a:r>
            <a:r>
              <a:rPr lang="en-US" sz="2400" dirty="0"/>
              <a:t>, long, long </a:t>
            </a:r>
            <a:r>
              <a:rPr lang="en-US" sz="2400" dirty="0" err="1"/>
              <a:t>long</a:t>
            </a:r>
            <a:endParaRPr lang="en-US" sz="2400" dirty="0"/>
          </a:p>
          <a:p>
            <a:pPr lvl="1"/>
            <a:r>
              <a:rPr lang="ru-RU" sz="1800" dirty="0"/>
              <a:t>Случай </a:t>
            </a:r>
            <a:r>
              <a:rPr lang="en-US" sz="1800" dirty="0"/>
              <a:t>Unix/Linux</a:t>
            </a:r>
          </a:p>
          <a:p>
            <a:endParaRPr lang="en-US" sz="2400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/>
              <a:t>Примеры определения общего типа</a:t>
            </a:r>
          </a:p>
        </p:txBody>
      </p:sp>
      <p:graphicFrame>
        <p:nvGraphicFramePr>
          <p:cNvPr id="18" name="Content Placeholder 17"/>
          <p:cNvGraphicFramePr>
            <a:graphicFrameLocks noGrp="1"/>
          </p:cNvGraphicFramePr>
          <p:nvPr>
            <p:ph sz="half" idx="1"/>
          </p:nvPr>
        </p:nvGraphicFramePr>
        <p:xfrm>
          <a:off x="6197601" y="2996952"/>
          <a:ext cx="5384799" cy="312921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9493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9493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9493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21535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T1</a:t>
                      </a:r>
                      <a:endParaRPr lang="ru-RU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T2</a:t>
                      </a:r>
                      <a:endParaRPr lang="ru-RU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общий </a:t>
                      </a:r>
                      <a:r>
                        <a:rPr lang="en-US" dirty="0"/>
                        <a:t>T1 </a:t>
                      </a:r>
                      <a:r>
                        <a:rPr lang="ru-RU" dirty="0"/>
                        <a:t>и </a:t>
                      </a:r>
                      <a:r>
                        <a:rPr lang="en-US" dirty="0"/>
                        <a:t>T2</a:t>
                      </a:r>
                      <a:endParaRPr lang="ru-RU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21535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char</a:t>
                      </a:r>
                      <a:endParaRPr lang="ru-RU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unsigned char</a:t>
                      </a:r>
                      <a:endParaRPr lang="ru-RU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err="1"/>
                        <a:t>int</a:t>
                      </a:r>
                      <a:endParaRPr lang="ru-RU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21535">
                <a:tc>
                  <a:txBody>
                    <a:bodyPr/>
                    <a:lstStyle/>
                    <a:p>
                      <a:pPr algn="ctr"/>
                      <a:r>
                        <a:rPr lang="en-US" dirty="0" err="1"/>
                        <a:t>int</a:t>
                      </a:r>
                      <a:endParaRPr lang="ru-RU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unsigned</a:t>
                      </a:r>
                      <a:r>
                        <a:rPr lang="en-US" baseline="0" dirty="0"/>
                        <a:t> </a:t>
                      </a:r>
                      <a:r>
                        <a:rPr lang="en-US" baseline="0" dirty="0" err="1"/>
                        <a:t>int</a:t>
                      </a:r>
                      <a:endParaRPr lang="ru-RU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unsigned </a:t>
                      </a:r>
                      <a:r>
                        <a:rPr lang="en-US" dirty="0" err="1"/>
                        <a:t>int</a:t>
                      </a:r>
                      <a:endParaRPr lang="ru-RU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21535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long</a:t>
                      </a:r>
                      <a:endParaRPr lang="ru-RU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unsinged </a:t>
                      </a:r>
                      <a:r>
                        <a:rPr lang="en-US" dirty="0" err="1"/>
                        <a:t>int</a:t>
                      </a:r>
                      <a:endParaRPr lang="ru-RU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long</a:t>
                      </a:r>
                      <a:endParaRPr lang="ru-RU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21535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float</a:t>
                      </a:r>
                      <a:endParaRPr lang="ru-RU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err="1"/>
                        <a:t>int</a:t>
                      </a:r>
                      <a:endParaRPr lang="ru-RU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float</a:t>
                      </a:r>
                      <a:endParaRPr lang="ru-RU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21535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float</a:t>
                      </a:r>
                      <a:endParaRPr lang="ru-RU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double</a:t>
                      </a:r>
                      <a:endParaRPr lang="ru-RU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double</a:t>
                      </a:r>
                      <a:endParaRPr lang="ru-RU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762432" y="5628328"/>
            <a:ext cx="59503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char</a:t>
            </a:r>
            <a:endParaRPr lang="ru-RU" dirty="0"/>
          </a:p>
        </p:txBody>
      </p:sp>
      <p:sp>
        <p:nvSpPr>
          <p:cNvPr id="5" name="TextBox 4"/>
          <p:cNvSpPr txBox="1"/>
          <p:nvPr/>
        </p:nvSpPr>
        <p:spPr>
          <a:xfrm>
            <a:off x="1515625" y="5628328"/>
            <a:ext cx="15023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unsigned char</a:t>
            </a:r>
            <a:endParaRPr lang="ru-RU" dirty="0"/>
          </a:p>
        </p:txBody>
      </p:sp>
      <p:sp>
        <p:nvSpPr>
          <p:cNvPr id="6" name="TextBox 5"/>
          <p:cNvSpPr txBox="1"/>
          <p:nvPr/>
        </p:nvSpPr>
        <p:spPr>
          <a:xfrm>
            <a:off x="3176117" y="5628328"/>
            <a:ext cx="6751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short</a:t>
            </a:r>
            <a:endParaRPr lang="ru-RU" dirty="0"/>
          </a:p>
        </p:txBody>
      </p:sp>
      <p:sp>
        <p:nvSpPr>
          <p:cNvPr id="7" name="TextBox 6"/>
          <p:cNvSpPr txBox="1"/>
          <p:nvPr/>
        </p:nvSpPr>
        <p:spPr>
          <a:xfrm>
            <a:off x="4009460" y="5628328"/>
            <a:ext cx="15824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unsigned short</a:t>
            </a:r>
            <a:endParaRPr lang="ru-RU" dirty="0"/>
          </a:p>
        </p:txBody>
      </p:sp>
      <p:sp>
        <p:nvSpPr>
          <p:cNvPr id="8" name="TextBox 7"/>
          <p:cNvSpPr txBox="1"/>
          <p:nvPr/>
        </p:nvSpPr>
        <p:spPr>
          <a:xfrm>
            <a:off x="1848755" y="4065094"/>
            <a:ext cx="5902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long</a:t>
            </a:r>
            <a:endParaRPr lang="ru-RU" dirty="0"/>
          </a:p>
        </p:txBody>
      </p:sp>
      <p:sp>
        <p:nvSpPr>
          <p:cNvPr id="9" name="TextBox 8"/>
          <p:cNvSpPr txBox="1"/>
          <p:nvPr/>
        </p:nvSpPr>
        <p:spPr>
          <a:xfrm>
            <a:off x="3361132" y="4065094"/>
            <a:ext cx="14975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unsigned long</a:t>
            </a:r>
            <a:endParaRPr lang="ru-RU" dirty="0"/>
          </a:p>
        </p:txBody>
      </p:sp>
      <p:sp>
        <p:nvSpPr>
          <p:cNvPr id="10" name="TextBox 9"/>
          <p:cNvSpPr txBox="1"/>
          <p:nvPr/>
        </p:nvSpPr>
        <p:spPr>
          <a:xfrm>
            <a:off x="1926758" y="4610657"/>
            <a:ext cx="43422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int</a:t>
            </a:r>
            <a:endParaRPr lang="ru-RU" dirty="0"/>
          </a:p>
        </p:txBody>
      </p:sp>
      <p:sp>
        <p:nvSpPr>
          <p:cNvPr id="11" name="TextBox 10"/>
          <p:cNvSpPr txBox="1"/>
          <p:nvPr/>
        </p:nvSpPr>
        <p:spPr>
          <a:xfrm>
            <a:off x="3439135" y="4610657"/>
            <a:ext cx="134152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unsigned </a:t>
            </a:r>
            <a:r>
              <a:rPr lang="en-US" dirty="0" err="1"/>
              <a:t>int</a:t>
            </a:r>
            <a:endParaRPr lang="ru-RU" dirty="0"/>
          </a:p>
        </p:txBody>
      </p:sp>
      <p:sp>
        <p:nvSpPr>
          <p:cNvPr id="12" name="TextBox 11"/>
          <p:cNvSpPr txBox="1"/>
          <p:nvPr/>
        </p:nvSpPr>
        <p:spPr>
          <a:xfrm>
            <a:off x="2744350" y="2852936"/>
            <a:ext cx="61536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float</a:t>
            </a:r>
            <a:endParaRPr lang="ru-RU" dirty="0"/>
          </a:p>
        </p:txBody>
      </p:sp>
      <p:sp>
        <p:nvSpPr>
          <p:cNvPr id="13" name="TextBox 12"/>
          <p:cNvSpPr txBox="1"/>
          <p:nvPr/>
        </p:nvSpPr>
        <p:spPr>
          <a:xfrm>
            <a:off x="2626736" y="2240868"/>
            <a:ext cx="84029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double</a:t>
            </a:r>
            <a:endParaRPr lang="ru-RU" dirty="0"/>
          </a:p>
        </p:txBody>
      </p:sp>
      <p:sp>
        <p:nvSpPr>
          <p:cNvPr id="14" name="TextBox 13"/>
          <p:cNvSpPr txBox="1"/>
          <p:nvPr/>
        </p:nvSpPr>
        <p:spPr>
          <a:xfrm>
            <a:off x="1618656" y="3528467"/>
            <a:ext cx="10486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long </a:t>
            </a:r>
            <a:r>
              <a:rPr lang="en-US" dirty="0" err="1"/>
              <a:t>long</a:t>
            </a:r>
            <a:endParaRPr lang="ru-RU" dirty="0"/>
          </a:p>
        </p:txBody>
      </p:sp>
      <p:sp>
        <p:nvSpPr>
          <p:cNvPr id="15" name="TextBox 14"/>
          <p:cNvSpPr txBox="1"/>
          <p:nvPr/>
        </p:nvSpPr>
        <p:spPr>
          <a:xfrm>
            <a:off x="3131903" y="3528467"/>
            <a:ext cx="19559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unsigned long </a:t>
            </a:r>
            <a:r>
              <a:rPr lang="en-US" dirty="0" err="1"/>
              <a:t>long</a:t>
            </a:r>
            <a:endParaRPr lang="ru-RU" dirty="0"/>
          </a:p>
        </p:txBody>
      </p:sp>
      <p:sp>
        <p:nvSpPr>
          <p:cNvPr id="17" name="TextBox 16"/>
          <p:cNvSpPr txBox="1"/>
          <p:nvPr/>
        </p:nvSpPr>
        <p:spPr>
          <a:xfrm>
            <a:off x="2398083" y="1628800"/>
            <a:ext cx="12987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long double</a:t>
            </a:r>
            <a:endParaRPr lang="ru-RU" dirty="0"/>
          </a:p>
        </p:txBody>
      </p:sp>
      <p:cxnSp>
        <p:nvCxnSpPr>
          <p:cNvPr id="35" name="Соединительная линия уступом 18"/>
          <p:cNvCxnSpPr>
            <a:stCxn id="4" idx="0"/>
            <a:endCxn id="10" idx="2"/>
          </p:cNvCxnSpPr>
          <p:nvPr/>
        </p:nvCxnSpPr>
        <p:spPr>
          <a:xfrm flipV="1">
            <a:off x="1059950" y="4979989"/>
            <a:ext cx="1083919" cy="648339"/>
          </a:xfrm>
          <a:prstGeom prst="straightConnector1">
            <a:avLst/>
          </a:prstGeom>
          <a:ln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Соединительная линия уступом 18"/>
          <p:cNvCxnSpPr>
            <a:stCxn id="5" idx="0"/>
            <a:endCxn id="10" idx="2"/>
          </p:cNvCxnSpPr>
          <p:nvPr/>
        </p:nvCxnSpPr>
        <p:spPr>
          <a:xfrm flipH="1" flipV="1">
            <a:off x="2143869" y="4979989"/>
            <a:ext cx="122923" cy="648339"/>
          </a:xfrm>
          <a:prstGeom prst="straightConnector1">
            <a:avLst/>
          </a:prstGeom>
          <a:ln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Соединительная линия уступом 18"/>
          <p:cNvCxnSpPr>
            <a:stCxn id="7" idx="0"/>
            <a:endCxn id="10" idx="2"/>
          </p:cNvCxnSpPr>
          <p:nvPr/>
        </p:nvCxnSpPr>
        <p:spPr>
          <a:xfrm flipH="1" flipV="1">
            <a:off x="2143869" y="4979989"/>
            <a:ext cx="2656833" cy="648339"/>
          </a:xfrm>
          <a:prstGeom prst="straightConnector1">
            <a:avLst/>
          </a:prstGeom>
          <a:ln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Соединительная линия уступом 18"/>
          <p:cNvCxnSpPr>
            <a:stCxn id="10" idx="3"/>
            <a:endCxn id="11" idx="1"/>
          </p:cNvCxnSpPr>
          <p:nvPr/>
        </p:nvCxnSpPr>
        <p:spPr>
          <a:xfrm>
            <a:off x="2360979" y="4795323"/>
            <a:ext cx="1078156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Соединительная линия уступом 18"/>
          <p:cNvCxnSpPr>
            <a:stCxn id="10" idx="0"/>
            <a:endCxn id="8" idx="2"/>
          </p:cNvCxnSpPr>
          <p:nvPr/>
        </p:nvCxnSpPr>
        <p:spPr>
          <a:xfrm flipH="1" flipV="1">
            <a:off x="2143868" y="4434426"/>
            <a:ext cx="1" cy="17623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Соединительная линия уступом 18"/>
          <p:cNvCxnSpPr>
            <a:stCxn id="6" idx="0"/>
            <a:endCxn id="10" idx="2"/>
          </p:cNvCxnSpPr>
          <p:nvPr/>
        </p:nvCxnSpPr>
        <p:spPr>
          <a:xfrm flipH="1" flipV="1">
            <a:off x="2143869" y="4979989"/>
            <a:ext cx="1369841" cy="648339"/>
          </a:xfrm>
          <a:prstGeom prst="straightConnector1">
            <a:avLst/>
          </a:prstGeom>
          <a:ln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Соединительная линия уступом 18"/>
          <p:cNvCxnSpPr>
            <a:stCxn id="8" idx="3"/>
            <a:endCxn id="9" idx="1"/>
          </p:cNvCxnSpPr>
          <p:nvPr/>
        </p:nvCxnSpPr>
        <p:spPr>
          <a:xfrm>
            <a:off x="2438981" y="4249760"/>
            <a:ext cx="922151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Соединительная линия уступом 18"/>
          <p:cNvCxnSpPr>
            <a:stCxn id="8" idx="0"/>
            <a:endCxn id="14" idx="2"/>
          </p:cNvCxnSpPr>
          <p:nvPr/>
        </p:nvCxnSpPr>
        <p:spPr>
          <a:xfrm flipH="1" flipV="1">
            <a:off x="2142999" y="3897799"/>
            <a:ext cx="869" cy="16729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Соединительная линия уступом 18"/>
          <p:cNvCxnSpPr>
            <a:stCxn id="9" idx="0"/>
            <a:endCxn id="15" idx="2"/>
          </p:cNvCxnSpPr>
          <p:nvPr/>
        </p:nvCxnSpPr>
        <p:spPr>
          <a:xfrm flipV="1">
            <a:off x="4109895" y="3897799"/>
            <a:ext cx="1" cy="16729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Соединительная линия уступом 18"/>
          <p:cNvCxnSpPr>
            <a:stCxn id="14" idx="0"/>
            <a:endCxn id="12" idx="2"/>
          </p:cNvCxnSpPr>
          <p:nvPr/>
        </p:nvCxnSpPr>
        <p:spPr>
          <a:xfrm flipV="1">
            <a:off x="2142999" y="3222268"/>
            <a:ext cx="909032" cy="30619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Соединительная линия уступом 18"/>
          <p:cNvCxnSpPr>
            <a:stCxn id="15" idx="0"/>
            <a:endCxn id="12" idx="2"/>
          </p:cNvCxnSpPr>
          <p:nvPr/>
        </p:nvCxnSpPr>
        <p:spPr>
          <a:xfrm flipH="1" flipV="1">
            <a:off x="3052031" y="3222268"/>
            <a:ext cx="1057865" cy="30619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Соединительная линия уступом 18"/>
          <p:cNvCxnSpPr>
            <a:stCxn id="14" idx="3"/>
            <a:endCxn id="15" idx="1"/>
          </p:cNvCxnSpPr>
          <p:nvPr/>
        </p:nvCxnSpPr>
        <p:spPr>
          <a:xfrm>
            <a:off x="2667341" y="3713133"/>
            <a:ext cx="464562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Соединительная линия уступом 18"/>
          <p:cNvCxnSpPr>
            <a:stCxn id="13" idx="0"/>
            <a:endCxn id="17" idx="2"/>
          </p:cNvCxnSpPr>
          <p:nvPr/>
        </p:nvCxnSpPr>
        <p:spPr>
          <a:xfrm flipV="1">
            <a:off x="3046884" y="1998132"/>
            <a:ext cx="576" cy="24273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Соединительная линия уступом 18"/>
          <p:cNvCxnSpPr>
            <a:stCxn id="12" idx="0"/>
            <a:endCxn id="13" idx="2"/>
          </p:cNvCxnSpPr>
          <p:nvPr/>
        </p:nvCxnSpPr>
        <p:spPr>
          <a:xfrm flipH="1" flipV="1">
            <a:off x="3046884" y="2610200"/>
            <a:ext cx="5147" cy="24273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7" name="Соединительная линия уступом 96"/>
          <p:cNvCxnSpPr>
            <a:stCxn id="11" idx="0"/>
          </p:cNvCxnSpPr>
          <p:nvPr/>
        </p:nvCxnSpPr>
        <p:spPr>
          <a:xfrm flipH="1" flipV="1">
            <a:off x="2142999" y="4434426"/>
            <a:ext cx="1966897" cy="176231"/>
          </a:xfrm>
          <a:prstGeom prst="straightConnector1">
            <a:avLst/>
          </a:prstGeom>
          <a:ln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0" name="Группа 19"/>
          <p:cNvGrpSpPr/>
          <p:nvPr/>
        </p:nvGrpSpPr>
        <p:grpSpPr>
          <a:xfrm>
            <a:off x="309531" y="3570850"/>
            <a:ext cx="584775" cy="2697598"/>
            <a:chOff x="76435" y="3062408"/>
            <a:chExt cx="584775" cy="3032096"/>
          </a:xfrm>
        </p:grpSpPr>
        <p:sp>
          <p:nvSpPr>
            <p:cNvPr id="16" name="TextBox 15"/>
            <p:cNvSpPr txBox="1"/>
            <p:nvPr/>
          </p:nvSpPr>
          <p:spPr>
            <a:xfrm rot="16200000">
              <a:off x="-1147225" y="4286068"/>
              <a:ext cx="3032096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ru-RU" sz="1600" dirty="0"/>
                <a:t>ранг целого типа</a:t>
              </a:r>
            </a:p>
            <a:p>
              <a:pPr algn="ctr"/>
              <a:r>
                <a:rPr lang="ru-RU" sz="1600" dirty="0"/>
                <a:t>меньше		больше</a:t>
              </a:r>
            </a:p>
          </p:txBody>
        </p:sp>
        <p:cxnSp>
          <p:nvCxnSpPr>
            <p:cNvPr id="19" name="Прямая со стрелкой 18"/>
            <p:cNvCxnSpPr>
              <a:endCxn id="16" idx="3"/>
            </p:cNvCxnSpPr>
            <p:nvPr/>
          </p:nvCxnSpPr>
          <p:spPr>
            <a:xfrm flipV="1">
              <a:off x="363692" y="3062408"/>
              <a:ext cx="5131" cy="2504943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0E2822-3F92-4355-B47E-F2E8C9595EE5}" type="slidenum">
              <a:rPr lang="ru-RU" smtClean="0"/>
              <a:t>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0611082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/>
              <a:t>Неявные арифметические преобразования</a:t>
            </a:r>
          </a:p>
        </p:txBody>
      </p:sp>
      <p:sp>
        <p:nvSpPr>
          <p:cNvPr id="95" name="Объект 94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-RU" sz="2400" dirty="0"/>
              <a:t>Над операндами любой операции выполняется неявное целочисленное повышение</a:t>
            </a:r>
          </a:p>
          <a:p>
            <a:pPr lvl="1"/>
            <a:endParaRPr lang="ru-RU" sz="2000" dirty="0"/>
          </a:p>
          <a:p>
            <a:r>
              <a:rPr lang="ru-RU" sz="2400" dirty="0"/>
              <a:t>Операнды бинарной операции</a:t>
            </a:r>
            <a:r>
              <a:rPr lang="en-US" sz="2400" dirty="0"/>
              <a:t>,</a:t>
            </a:r>
            <a:r>
              <a:rPr lang="ru-RU" sz="2400" dirty="0"/>
              <a:t> имеющие целые или вещественные типы Т1 и Т2</a:t>
            </a:r>
            <a:r>
              <a:rPr lang="en-US" sz="2400" dirty="0"/>
              <a:t>,</a:t>
            </a:r>
            <a:r>
              <a:rPr lang="ru-RU" sz="2400" dirty="0"/>
              <a:t> неявно преобразуются </a:t>
            </a:r>
            <a:r>
              <a:rPr lang="ru-RU" sz="2400" b="1" baseline="30000" dirty="0"/>
              <a:t>(*)</a:t>
            </a:r>
            <a:r>
              <a:rPr lang="ru-RU" sz="2400" dirty="0"/>
              <a:t> к общему типу Т1 и Т2</a:t>
            </a:r>
          </a:p>
          <a:p>
            <a:pPr lvl="1"/>
            <a:endParaRPr lang="ru-RU" sz="2000" dirty="0"/>
          </a:p>
          <a:p>
            <a:pPr marL="457200" lvl="1" indent="0">
              <a:buNone/>
            </a:pPr>
            <a:r>
              <a:rPr lang="ru-RU" sz="2000" b="1" baseline="30000" dirty="0"/>
              <a:t>(*)</a:t>
            </a:r>
            <a:r>
              <a:rPr lang="ru-RU" sz="2000" dirty="0"/>
              <a:t> </a:t>
            </a:r>
            <a:r>
              <a:rPr lang="ru-RU" sz="2000" b="1" dirty="0"/>
              <a:t>Кроме </a:t>
            </a:r>
            <a:r>
              <a:rPr lang="ru-RU" sz="2000" dirty="0"/>
              <a:t>операций присваивания и сдвига: правый операнд присваивания и сдвига неявно преобразуется к типу левого операнда</a:t>
            </a:r>
          </a:p>
          <a:p>
            <a:endParaRPr lang="ru-RU" sz="2400" dirty="0"/>
          </a:p>
          <a:p>
            <a:r>
              <a:rPr lang="ru-RU" sz="2400" dirty="0"/>
              <a:t>Условия </a:t>
            </a:r>
            <a:r>
              <a:rPr lang="en-US" sz="2400" dirty="0">
                <a:latin typeface="Consolas" panose="020B0609020204030204" pitchFamily="49" charset="0"/>
              </a:rPr>
              <a:t>if</a:t>
            </a:r>
            <a:r>
              <a:rPr lang="en-US" sz="2400" dirty="0"/>
              <a:t>, </a:t>
            </a:r>
            <a:r>
              <a:rPr lang="en-US" sz="2400" dirty="0">
                <a:latin typeface="Consolas" panose="020B0609020204030204" pitchFamily="49" charset="0"/>
              </a:rPr>
              <a:t>while</a:t>
            </a:r>
            <a:r>
              <a:rPr lang="en-US" sz="2400" dirty="0"/>
              <a:t>, </a:t>
            </a:r>
            <a:r>
              <a:rPr lang="en-US" sz="2400" dirty="0">
                <a:latin typeface="Consolas" panose="020B0609020204030204" pitchFamily="49" charset="0"/>
              </a:rPr>
              <a:t>for</a:t>
            </a:r>
            <a:r>
              <a:rPr lang="en-US" sz="2400" dirty="0"/>
              <a:t>, </a:t>
            </a:r>
            <a:r>
              <a:rPr lang="en-US" sz="2400" dirty="0">
                <a:latin typeface="Consolas" panose="020B0609020204030204" pitchFamily="49" charset="0"/>
              </a:rPr>
              <a:t>switch</a:t>
            </a:r>
            <a:r>
              <a:rPr lang="en-US" sz="2400" dirty="0"/>
              <a:t> ,</a:t>
            </a:r>
            <a:r>
              <a:rPr lang="ru-RU" sz="2400" dirty="0"/>
              <a:t> операнды </a:t>
            </a:r>
            <a:r>
              <a:rPr lang="en-US" sz="2400" dirty="0">
                <a:latin typeface="Consolas" panose="020B0609020204030204" pitchFamily="49" charset="0"/>
              </a:rPr>
              <a:t>&amp;&amp;</a:t>
            </a:r>
            <a:r>
              <a:rPr lang="en-US" sz="2400" dirty="0"/>
              <a:t>, </a:t>
            </a:r>
            <a:r>
              <a:rPr lang="en-US" sz="2400" dirty="0">
                <a:latin typeface="Consolas" panose="020B0609020204030204" pitchFamily="49" charset="0"/>
              </a:rPr>
              <a:t>||</a:t>
            </a:r>
            <a:r>
              <a:rPr lang="en-US" sz="2400" dirty="0"/>
              <a:t>,  </a:t>
            </a:r>
            <a:r>
              <a:rPr lang="en-US" sz="2400" dirty="0">
                <a:latin typeface="Consolas" panose="020B0609020204030204" pitchFamily="49" charset="0"/>
              </a:rPr>
              <a:t>!</a:t>
            </a:r>
            <a:r>
              <a:rPr lang="en-US" sz="2400" dirty="0"/>
              <a:t> </a:t>
            </a:r>
            <a:r>
              <a:rPr lang="ru-RU" sz="2400" dirty="0"/>
              <a:t>неявно преобразуются к </a:t>
            </a:r>
            <a:r>
              <a:rPr lang="en-US" sz="2400" dirty="0">
                <a:latin typeface="Consolas" panose="020B0609020204030204" pitchFamily="49" charset="0"/>
              </a:rPr>
              <a:t>int</a:t>
            </a:r>
            <a:endParaRPr lang="ru-RU" sz="2400" dirty="0">
              <a:latin typeface="Consolas" panose="020B0609020204030204" pitchFamily="49" charset="0"/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0E2822-3F92-4355-B47E-F2E8C9595EE5}" type="slidenum">
              <a:rPr lang="ru-RU" smtClean="0"/>
              <a:t>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5021089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/>
              <a:t>Неявное целочисленное повышение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solidFill>
            <a:schemeClr val="tx1"/>
          </a:solidFill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800" b="0" dirty="0">
                <a:solidFill>
                  <a:srgbClr val="9B9B9B"/>
                </a:solidFill>
                <a:effectLst/>
                <a:latin typeface="Consolas" panose="020B0609020204030204" pitchFamily="49" charset="0"/>
              </a:rPr>
              <a:t>#include</a:t>
            </a:r>
            <a:r>
              <a:rPr lang="en-US" sz="18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8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sz="1800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stdio.h</a:t>
            </a:r>
            <a:r>
              <a:rPr lang="en-US" sz="18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&gt;</a:t>
            </a:r>
            <a:endParaRPr lang="en-US" sz="18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br>
              <a:rPr lang="en-US" sz="1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</a:br>
            <a:r>
              <a:rPr lang="en-US" sz="18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800" b="0" dirty="0">
                <a:solidFill>
                  <a:srgbClr val="C8C8C8"/>
                </a:solidFill>
                <a:effectLst/>
                <a:latin typeface="Consolas" panose="020B0609020204030204" pitchFamily="49" charset="0"/>
              </a:rPr>
              <a:t>main</a:t>
            </a:r>
            <a:r>
              <a:rPr lang="en-US" sz="1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() {</a:t>
            </a:r>
          </a:p>
          <a:p>
            <a:pPr marL="0" indent="0">
              <a:buNone/>
            </a:pPr>
            <a:r>
              <a:rPr lang="en-US" sz="1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800" b="0" dirty="0" err="1">
                <a:solidFill>
                  <a:srgbClr val="C8C8C8"/>
                </a:solidFill>
                <a:effectLst/>
                <a:latin typeface="Consolas" panose="020B0609020204030204" pitchFamily="49" charset="0"/>
              </a:rPr>
              <a:t>printf</a:t>
            </a:r>
            <a:r>
              <a:rPr lang="en-US" sz="1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8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1800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sizeof</a:t>
            </a:r>
            <a:r>
              <a:rPr lang="en-US" sz="18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 char %</a:t>
            </a:r>
            <a:r>
              <a:rPr lang="en-US" sz="1800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lu</a:t>
            </a:r>
            <a:r>
              <a:rPr lang="en-US" sz="18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\n"</a:t>
            </a:r>
            <a:r>
              <a:rPr lang="en-US" sz="1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800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sizeof</a:t>
            </a:r>
            <a:r>
              <a:rPr lang="en-US" sz="1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8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char</a:t>
            </a:r>
            <a:r>
              <a:rPr lang="en-US" sz="1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));</a:t>
            </a:r>
            <a:r>
              <a:rPr lang="ru-RU" sz="1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8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1</a:t>
            </a:r>
            <a:endParaRPr lang="en-US" sz="18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1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800" b="0" dirty="0" err="1">
                <a:solidFill>
                  <a:srgbClr val="C8C8C8"/>
                </a:solidFill>
                <a:effectLst/>
                <a:latin typeface="Consolas" panose="020B0609020204030204" pitchFamily="49" charset="0"/>
              </a:rPr>
              <a:t>printf</a:t>
            </a:r>
            <a:r>
              <a:rPr lang="en-US" sz="1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8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1800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sizeof</a:t>
            </a:r>
            <a:r>
              <a:rPr lang="en-US" sz="18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 'a' %</a:t>
            </a:r>
            <a:r>
              <a:rPr lang="en-US" sz="1800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lu</a:t>
            </a:r>
            <a:r>
              <a:rPr lang="en-US" sz="18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\n"</a:t>
            </a:r>
            <a:r>
              <a:rPr lang="en-US" sz="1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800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sizeof</a:t>
            </a:r>
            <a:r>
              <a:rPr lang="en-US" sz="1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8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'a'</a:t>
            </a:r>
            <a:r>
              <a:rPr lang="en-US" sz="1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));</a:t>
            </a:r>
            <a:r>
              <a:rPr lang="ru-RU" sz="1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  </a:t>
            </a:r>
            <a:r>
              <a:rPr lang="en-US" sz="18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4 </a:t>
            </a:r>
            <a:r>
              <a:rPr lang="ru-RU" sz="18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т.к. </a:t>
            </a:r>
            <a:r>
              <a:rPr lang="en-US" sz="1800" dirty="0">
                <a:solidFill>
                  <a:srgbClr val="6A9955"/>
                </a:solidFill>
                <a:latin typeface="Consolas" panose="020B0609020204030204" pitchFamily="49" charset="0"/>
              </a:rPr>
              <a:t>'a' </a:t>
            </a:r>
            <a:r>
              <a:rPr lang="ru-RU" sz="1800" dirty="0">
                <a:solidFill>
                  <a:srgbClr val="6A9955"/>
                </a:solidFill>
                <a:latin typeface="Consolas" panose="020B0609020204030204" pitchFamily="49" charset="0"/>
              </a:rPr>
              <a:t>неявно</a:t>
            </a:r>
            <a:endParaRPr lang="en-US" sz="1800" b="0" dirty="0">
              <a:solidFill>
                <a:srgbClr val="6A9955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1800" dirty="0">
                <a:solidFill>
                  <a:srgbClr val="6A9955"/>
                </a:solidFill>
                <a:latin typeface="Consolas" panose="020B0609020204030204" pitchFamily="49" charset="0"/>
              </a:rPr>
              <a:t>                                                   // </a:t>
            </a:r>
            <a:r>
              <a:rPr lang="ru-RU" sz="1800" dirty="0">
                <a:solidFill>
                  <a:srgbClr val="6A9955"/>
                </a:solidFill>
                <a:latin typeface="Consolas" panose="020B0609020204030204" pitchFamily="49" charset="0"/>
              </a:rPr>
              <a:t>повышается до </a:t>
            </a:r>
            <a:r>
              <a:rPr lang="en-US" sz="1800" dirty="0">
                <a:solidFill>
                  <a:srgbClr val="6A9955"/>
                </a:solidFill>
                <a:latin typeface="Consolas" panose="020B0609020204030204" pitchFamily="49" charset="0"/>
              </a:rPr>
              <a:t>int</a:t>
            </a:r>
            <a:endParaRPr lang="en-US" sz="18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1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8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sz="1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8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sz="1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marL="0" indent="0">
              <a:buNone/>
            </a:pPr>
            <a:r>
              <a:rPr lang="en-US" sz="1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0E2822-3F92-4355-B47E-F2E8C9595EE5}" type="slidenum">
              <a:rPr lang="ru-RU" smtClean="0"/>
              <a:t>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9719965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/>
              <a:t>Неявное преобразование к общему типу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solidFill>
            <a:schemeClr val="tx1"/>
          </a:solidFill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569CD6"/>
                </a:solidFill>
                <a:latin typeface="Consolas" panose="020B0609020204030204" pitchFamily="49" charset="0"/>
              </a:rPr>
              <a:t>bool</a:t>
            </a:r>
            <a:r>
              <a:rPr lang="en-US" sz="1600" dirty="0">
                <a:solidFill>
                  <a:srgbClr val="D4D4D4"/>
                </a:solidFill>
                <a:latin typeface="Consolas" panose="020B0609020204030204" pitchFamily="49" charset="0"/>
              </a:rPr>
              <a:t> </a:t>
            </a:r>
            <a:r>
              <a:rPr lang="en-US" sz="1600" dirty="0" err="1">
                <a:solidFill>
                  <a:srgbClr val="DCDCAA"/>
                </a:solidFill>
                <a:latin typeface="Consolas" panose="020B0609020204030204" pitchFamily="49" charset="0"/>
              </a:rPr>
              <a:t>CheckOrder</a:t>
            </a:r>
            <a:r>
              <a:rPr lang="en-US" sz="1600" dirty="0">
                <a:solidFill>
                  <a:srgbClr val="D4D4D4"/>
                </a:solidFill>
                <a:latin typeface="Consolas" panose="020B0609020204030204" pitchFamily="49" charset="0"/>
              </a:rPr>
              <a:t>(</a:t>
            </a:r>
            <a:r>
              <a:rPr lang="en-US" sz="1600" dirty="0">
                <a:solidFill>
                  <a:srgbClr val="569CD6"/>
                </a:solidFill>
                <a:latin typeface="Consolas" panose="020B0609020204030204" pitchFamily="49" charset="0"/>
              </a:rPr>
              <a:t>unsigned</a:t>
            </a:r>
            <a:r>
              <a:rPr lang="en-US" sz="1600" dirty="0">
                <a:solidFill>
                  <a:srgbClr val="D4D4D4"/>
                </a:solidFill>
                <a:latin typeface="Consolas" panose="020B0609020204030204" pitchFamily="49" charset="0"/>
              </a:rPr>
              <a:t> </a:t>
            </a:r>
            <a:r>
              <a:rPr lang="en-US" sz="1600" dirty="0">
                <a:solidFill>
                  <a:srgbClr val="9CDCFE"/>
                </a:solidFill>
                <a:latin typeface="Consolas" panose="020B0609020204030204" pitchFamily="49" charset="0"/>
              </a:rPr>
              <a:t>count</a:t>
            </a:r>
            <a:r>
              <a:rPr lang="en-US" sz="1600" dirty="0">
                <a:solidFill>
                  <a:srgbClr val="D4D4D4"/>
                </a:solidFill>
                <a:latin typeface="Consolas" panose="020B0609020204030204" pitchFamily="49" charset="0"/>
              </a:rPr>
              <a:t>, </a:t>
            </a:r>
            <a:r>
              <a:rPr lang="en-US" sz="1600" dirty="0" err="1">
                <a:solidFill>
                  <a:srgbClr val="569CD6"/>
                </a:solidFill>
                <a:latin typeface="Consolas" panose="020B0609020204030204" pitchFamily="49" charset="0"/>
              </a:rPr>
              <a:t>int</a:t>
            </a:r>
            <a:r>
              <a:rPr lang="en-US" sz="1600" dirty="0">
                <a:solidFill>
                  <a:srgbClr val="D4D4D4"/>
                </a:solidFill>
                <a:latin typeface="Consolas" panose="020B0609020204030204" pitchFamily="49" charset="0"/>
              </a:rPr>
              <a:t>* </a:t>
            </a:r>
            <a:r>
              <a:rPr lang="en-US" sz="1600" dirty="0">
                <a:solidFill>
                  <a:srgbClr val="9CDCFE"/>
                </a:solidFill>
                <a:latin typeface="Consolas" panose="020B0609020204030204" pitchFamily="49" charset="0"/>
              </a:rPr>
              <a:t>a</a:t>
            </a:r>
            <a:r>
              <a:rPr lang="en-US" sz="1600" dirty="0">
                <a:solidFill>
                  <a:srgbClr val="D4D4D4"/>
                </a:solidFill>
                <a:latin typeface="Consolas" panose="020B0609020204030204" pitchFamily="49" charset="0"/>
              </a:rPr>
              <a:t>) {</a:t>
            </a:r>
          </a:p>
          <a:p>
            <a:pPr marL="0" indent="0">
              <a:buNone/>
            </a:pPr>
            <a:r>
              <a:rPr lang="en-US" sz="1600" dirty="0">
                <a:solidFill>
                  <a:srgbClr val="D4D4D4"/>
                </a:solidFill>
                <a:latin typeface="Consolas" panose="020B0609020204030204" pitchFamily="49" charset="0"/>
              </a:rPr>
              <a:t>    </a:t>
            </a:r>
            <a:r>
              <a:rPr lang="en-US" sz="1600" dirty="0">
                <a:solidFill>
                  <a:srgbClr val="C586C0"/>
                </a:solidFill>
                <a:latin typeface="Consolas" panose="020B0609020204030204" pitchFamily="49" charset="0"/>
              </a:rPr>
              <a:t>for</a:t>
            </a:r>
            <a:r>
              <a:rPr lang="en-US" sz="1600" dirty="0">
                <a:solidFill>
                  <a:srgbClr val="D4D4D4"/>
                </a:solidFill>
                <a:latin typeface="Consolas" panose="020B0609020204030204" pitchFamily="49" charset="0"/>
              </a:rPr>
              <a:t> (</a:t>
            </a:r>
            <a:r>
              <a:rPr lang="en-US" sz="1600" dirty="0" err="1">
                <a:solidFill>
                  <a:srgbClr val="569CD6"/>
                </a:solidFill>
                <a:latin typeface="Consolas" panose="020B0609020204030204" pitchFamily="49" charset="0"/>
              </a:rPr>
              <a:t>int</a:t>
            </a:r>
            <a:r>
              <a:rPr lang="en-US" sz="1600" dirty="0">
                <a:solidFill>
                  <a:srgbClr val="D4D4D4"/>
                </a:solidFill>
                <a:latin typeface="Consolas" panose="020B0609020204030204" pitchFamily="49" charset="0"/>
              </a:rPr>
              <a:t> i = </a:t>
            </a:r>
            <a:r>
              <a:rPr lang="en-US" sz="1600" dirty="0">
                <a:solidFill>
                  <a:srgbClr val="B5CEA8"/>
                </a:solidFill>
                <a:latin typeface="Consolas" panose="020B0609020204030204" pitchFamily="49" charset="0"/>
              </a:rPr>
              <a:t>0</a:t>
            </a:r>
            <a:r>
              <a:rPr lang="en-US" sz="1600" dirty="0">
                <a:solidFill>
                  <a:srgbClr val="D4D4D4"/>
                </a:solidFill>
                <a:latin typeface="Consolas" panose="020B0609020204030204" pitchFamily="49" charset="0"/>
              </a:rPr>
              <a:t>; i &lt; count - </a:t>
            </a:r>
            <a:r>
              <a:rPr lang="en-US" sz="1600" dirty="0">
                <a:solidFill>
                  <a:srgbClr val="B5CEA8"/>
                </a:solidFill>
                <a:latin typeface="Consolas" panose="020B0609020204030204" pitchFamily="49" charset="0"/>
              </a:rPr>
              <a:t>1</a:t>
            </a:r>
            <a:r>
              <a:rPr lang="en-US" sz="1600" dirty="0">
                <a:solidFill>
                  <a:srgbClr val="D4D4D4"/>
                </a:solidFill>
                <a:latin typeface="Consolas" panose="020B0609020204030204" pitchFamily="49" charset="0"/>
              </a:rPr>
              <a:t>; ++i) {</a:t>
            </a:r>
          </a:p>
          <a:p>
            <a:pPr marL="0" indent="0">
              <a:buNone/>
            </a:pPr>
            <a:r>
              <a:rPr lang="en-US" sz="1600" dirty="0">
                <a:solidFill>
                  <a:srgbClr val="D4D4D4"/>
                </a:solidFill>
                <a:latin typeface="Consolas" panose="020B0609020204030204" pitchFamily="49" charset="0"/>
              </a:rPr>
              <a:t>        </a:t>
            </a:r>
            <a:r>
              <a:rPr lang="en-US" sz="1600" dirty="0">
                <a:solidFill>
                  <a:srgbClr val="C586C0"/>
                </a:solidFill>
                <a:latin typeface="Consolas" panose="020B0609020204030204" pitchFamily="49" charset="0"/>
              </a:rPr>
              <a:t>if</a:t>
            </a:r>
            <a:r>
              <a:rPr lang="en-US" sz="1600" dirty="0">
                <a:solidFill>
                  <a:srgbClr val="D4D4D4"/>
                </a:solidFill>
                <a:latin typeface="Consolas" panose="020B0609020204030204" pitchFamily="49" charset="0"/>
              </a:rPr>
              <a:t> (</a:t>
            </a:r>
            <a:r>
              <a:rPr lang="en-US" sz="1600" dirty="0">
                <a:solidFill>
                  <a:srgbClr val="9CDCFE"/>
                </a:solidFill>
                <a:latin typeface="Consolas" panose="020B0609020204030204" pitchFamily="49" charset="0"/>
              </a:rPr>
              <a:t>a</a:t>
            </a:r>
            <a:r>
              <a:rPr lang="en-US" sz="1600" dirty="0">
                <a:solidFill>
                  <a:srgbClr val="D4D4D4"/>
                </a:solidFill>
                <a:latin typeface="Consolas" panose="020B0609020204030204" pitchFamily="49" charset="0"/>
              </a:rPr>
              <a:t>[i] &gt; </a:t>
            </a:r>
            <a:r>
              <a:rPr lang="en-US" sz="1600" dirty="0">
                <a:solidFill>
                  <a:srgbClr val="9CDCFE"/>
                </a:solidFill>
                <a:latin typeface="Consolas" panose="020B0609020204030204" pitchFamily="49" charset="0"/>
              </a:rPr>
              <a:t>a</a:t>
            </a:r>
            <a:r>
              <a:rPr lang="en-US" sz="1600" dirty="0">
                <a:solidFill>
                  <a:srgbClr val="D4D4D4"/>
                </a:solidFill>
                <a:latin typeface="Consolas" panose="020B0609020204030204" pitchFamily="49" charset="0"/>
              </a:rPr>
              <a:t>[i + </a:t>
            </a:r>
            <a:r>
              <a:rPr lang="en-US" sz="1600" dirty="0">
                <a:solidFill>
                  <a:srgbClr val="B5CEA8"/>
                </a:solidFill>
                <a:latin typeface="Consolas" panose="020B0609020204030204" pitchFamily="49" charset="0"/>
              </a:rPr>
              <a:t>1</a:t>
            </a:r>
            <a:r>
              <a:rPr lang="en-US" sz="1600" dirty="0">
                <a:solidFill>
                  <a:srgbClr val="D4D4D4"/>
                </a:solidFill>
                <a:latin typeface="Consolas" panose="020B0609020204030204" pitchFamily="49" charset="0"/>
              </a:rPr>
              <a:t>]) {</a:t>
            </a:r>
          </a:p>
          <a:p>
            <a:pPr marL="0" indent="0">
              <a:buNone/>
            </a:pPr>
            <a:r>
              <a:rPr lang="en-US" sz="1600" dirty="0">
                <a:solidFill>
                  <a:srgbClr val="D4D4D4"/>
                </a:solidFill>
                <a:latin typeface="Consolas" panose="020B0609020204030204" pitchFamily="49" charset="0"/>
              </a:rPr>
              <a:t>            </a:t>
            </a:r>
            <a:r>
              <a:rPr lang="en-US" sz="1600" dirty="0">
                <a:solidFill>
                  <a:srgbClr val="C586C0"/>
                </a:solidFill>
                <a:latin typeface="Consolas" panose="020B0609020204030204" pitchFamily="49" charset="0"/>
              </a:rPr>
              <a:t>return</a:t>
            </a:r>
            <a:r>
              <a:rPr lang="en-US" sz="1600" dirty="0">
                <a:solidFill>
                  <a:srgbClr val="D4D4D4"/>
                </a:solidFill>
                <a:latin typeface="Consolas" panose="020B0609020204030204" pitchFamily="49" charset="0"/>
              </a:rPr>
              <a:t> </a:t>
            </a:r>
            <a:r>
              <a:rPr lang="en-US" sz="1600" dirty="0">
                <a:solidFill>
                  <a:srgbClr val="569CD6"/>
                </a:solidFill>
                <a:latin typeface="Consolas" panose="020B0609020204030204" pitchFamily="49" charset="0"/>
              </a:rPr>
              <a:t>false</a:t>
            </a:r>
            <a:r>
              <a:rPr lang="en-US" sz="1600" dirty="0">
                <a:solidFill>
                  <a:srgbClr val="D4D4D4"/>
                </a:solidFill>
                <a:latin typeface="Consolas" panose="020B0609020204030204" pitchFamily="49" charset="0"/>
              </a:rPr>
              <a:t>;</a:t>
            </a:r>
          </a:p>
          <a:p>
            <a:pPr marL="0" indent="0">
              <a:buNone/>
            </a:pPr>
            <a:r>
              <a:rPr lang="en-US" sz="1600" dirty="0">
                <a:solidFill>
                  <a:srgbClr val="D4D4D4"/>
                </a:solidFill>
                <a:latin typeface="Consolas" panose="020B0609020204030204" pitchFamily="49" charset="0"/>
              </a:rPr>
              <a:t>        }</a:t>
            </a:r>
          </a:p>
          <a:p>
            <a:pPr marL="0" indent="0">
              <a:buNone/>
            </a:pPr>
            <a:r>
              <a:rPr lang="en-US" sz="1600" dirty="0">
                <a:solidFill>
                  <a:srgbClr val="D4D4D4"/>
                </a:solidFill>
                <a:latin typeface="Consolas" panose="020B0609020204030204" pitchFamily="49" charset="0"/>
              </a:rPr>
              <a:t>    }</a:t>
            </a:r>
          </a:p>
          <a:p>
            <a:pPr marL="0" indent="0">
              <a:buNone/>
            </a:pPr>
            <a:r>
              <a:rPr lang="en-US" sz="1600" dirty="0">
                <a:solidFill>
                  <a:srgbClr val="D4D4D4"/>
                </a:solidFill>
                <a:latin typeface="Consolas" panose="020B0609020204030204" pitchFamily="49" charset="0"/>
              </a:rPr>
              <a:t>    </a:t>
            </a:r>
            <a:r>
              <a:rPr lang="en-US" sz="1600" dirty="0">
                <a:solidFill>
                  <a:srgbClr val="C586C0"/>
                </a:solidFill>
                <a:latin typeface="Consolas" panose="020B0609020204030204" pitchFamily="49" charset="0"/>
              </a:rPr>
              <a:t>return</a:t>
            </a:r>
            <a:r>
              <a:rPr lang="en-US" sz="1600" dirty="0">
                <a:solidFill>
                  <a:srgbClr val="D4D4D4"/>
                </a:solidFill>
                <a:latin typeface="Consolas" panose="020B0609020204030204" pitchFamily="49" charset="0"/>
              </a:rPr>
              <a:t> </a:t>
            </a:r>
            <a:r>
              <a:rPr lang="en-US" sz="1600" dirty="0">
                <a:solidFill>
                  <a:srgbClr val="569CD6"/>
                </a:solidFill>
                <a:latin typeface="Consolas" panose="020B0609020204030204" pitchFamily="49" charset="0"/>
              </a:rPr>
              <a:t>true</a:t>
            </a:r>
            <a:r>
              <a:rPr lang="en-US" sz="1600" dirty="0">
                <a:solidFill>
                  <a:srgbClr val="D4D4D4"/>
                </a:solidFill>
                <a:latin typeface="Consolas" panose="020B0609020204030204" pitchFamily="49" charset="0"/>
              </a:rPr>
              <a:t>;</a:t>
            </a:r>
          </a:p>
          <a:p>
            <a:pPr marL="0" indent="0">
              <a:buNone/>
            </a:pPr>
            <a:r>
              <a:rPr lang="en-US" sz="1600" dirty="0">
                <a:solidFill>
                  <a:srgbClr val="D4D4D4"/>
                </a:solidFill>
                <a:latin typeface="Consolas" panose="020B0609020204030204" pitchFamily="49" charset="0"/>
              </a:rPr>
              <a:t>}</a:t>
            </a:r>
            <a:endParaRPr lang="ru-RU" sz="1600" dirty="0">
              <a:solidFill>
                <a:srgbClr val="D4D4D4"/>
              </a:solidFill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ru-RU" sz="1600" dirty="0">
                <a:solidFill>
                  <a:srgbClr val="6A9955"/>
                </a:solidFill>
                <a:latin typeface="Consolas" panose="020B0609020204030204" pitchFamily="49" charset="0"/>
              </a:rPr>
              <a:t>// общий тип в i &lt; </a:t>
            </a:r>
            <a:r>
              <a:rPr lang="ru-RU" sz="1600" dirty="0" err="1">
                <a:solidFill>
                  <a:srgbClr val="6A9955"/>
                </a:solidFill>
                <a:latin typeface="Consolas" panose="020B0609020204030204" pitchFamily="49" charset="0"/>
              </a:rPr>
              <a:t>count</a:t>
            </a:r>
            <a:r>
              <a:rPr lang="ru-RU" sz="1600" dirty="0">
                <a:solidFill>
                  <a:srgbClr val="6A9955"/>
                </a:solidFill>
                <a:latin typeface="Consolas" panose="020B0609020204030204" pitchFamily="49" charset="0"/>
              </a:rPr>
              <a:t> - 1 -- </a:t>
            </a:r>
            <a:r>
              <a:rPr lang="ru-RU" sz="1600" dirty="0" err="1">
                <a:solidFill>
                  <a:srgbClr val="6A9955"/>
                </a:solidFill>
                <a:latin typeface="Consolas" panose="020B0609020204030204" pitchFamily="49" charset="0"/>
              </a:rPr>
              <a:t>unsigned</a:t>
            </a:r>
            <a:endParaRPr lang="ru-RU" sz="1600" dirty="0">
              <a:solidFill>
                <a:srgbClr val="D4D4D4"/>
              </a:solidFill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ru-RU" sz="1600" dirty="0">
                <a:solidFill>
                  <a:srgbClr val="6A9955"/>
                </a:solidFill>
                <a:latin typeface="Consolas" panose="020B0609020204030204" pitchFamily="49" charset="0"/>
              </a:rPr>
              <a:t>// если </a:t>
            </a:r>
            <a:r>
              <a:rPr lang="ru-RU" sz="1600" dirty="0" err="1">
                <a:solidFill>
                  <a:srgbClr val="6A9955"/>
                </a:solidFill>
                <a:latin typeface="Consolas" panose="020B0609020204030204" pitchFamily="49" charset="0"/>
              </a:rPr>
              <a:t>count</a:t>
            </a:r>
            <a:r>
              <a:rPr lang="ru-RU" sz="1600" dirty="0">
                <a:solidFill>
                  <a:srgbClr val="6A9955"/>
                </a:solidFill>
                <a:latin typeface="Consolas" panose="020B0609020204030204" pitchFamily="49" charset="0"/>
              </a:rPr>
              <a:t> == 0, то </a:t>
            </a:r>
          </a:p>
          <a:p>
            <a:pPr marL="0" indent="0">
              <a:buNone/>
            </a:pPr>
            <a:r>
              <a:rPr lang="ru-RU" sz="1600" dirty="0">
                <a:solidFill>
                  <a:srgbClr val="6A9955"/>
                </a:solidFill>
                <a:latin typeface="Consolas" panose="020B0609020204030204" pitchFamily="49" charset="0"/>
              </a:rPr>
              <a:t>// </a:t>
            </a:r>
            <a:r>
              <a:rPr lang="ru-RU" sz="1600" dirty="0" err="1">
                <a:solidFill>
                  <a:srgbClr val="6A9955"/>
                </a:solidFill>
                <a:latin typeface="Consolas" panose="020B0609020204030204" pitchFamily="49" charset="0"/>
              </a:rPr>
              <a:t>count</a:t>
            </a:r>
            <a:r>
              <a:rPr lang="ru-RU" sz="1600" dirty="0">
                <a:solidFill>
                  <a:srgbClr val="6A9955"/>
                </a:solidFill>
                <a:latin typeface="Consolas" panose="020B0609020204030204" pitchFamily="49" charset="0"/>
              </a:rPr>
              <a:t> - 1 == 2</a:t>
            </a:r>
            <a:r>
              <a:rPr lang="en-US" sz="1600" dirty="0">
                <a:solidFill>
                  <a:srgbClr val="6A9955"/>
                </a:solidFill>
                <a:latin typeface="Consolas" panose="020B0609020204030204" pitchFamily="49" charset="0"/>
              </a:rPr>
              <a:t>**</a:t>
            </a:r>
            <a:r>
              <a:rPr lang="ru-RU" sz="1600" dirty="0">
                <a:solidFill>
                  <a:srgbClr val="6A9955"/>
                </a:solidFill>
                <a:latin typeface="Consolas" panose="020B0609020204030204" pitchFamily="49" charset="0"/>
              </a:rPr>
              <a:t>32 - 1 </a:t>
            </a:r>
          </a:p>
          <a:p>
            <a:pPr marL="0" indent="0">
              <a:buNone/>
            </a:pPr>
            <a:r>
              <a:rPr lang="ru-RU" sz="1600" dirty="0">
                <a:solidFill>
                  <a:srgbClr val="6A9955"/>
                </a:solidFill>
                <a:latin typeface="Consolas" panose="020B0609020204030204" pitchFamily="49" charset="0"/>
              </a:rPr>
              <a:t>// и выход за границу массива</a:t>
            </a:r>
          </a:p>
          <a:p>
            <a:pPr marL="0" indent="0">
              <a:buNone/>
            </a:pPr>
            <a:r>
              <a:rPr lang="ru-RU" sz="1600" dirty="0">
                <a:solidFill>
                  <a:srgbClr val="6A9955"/>
                </a:solidFill>
                <a:latin typeface="Consolas" panose="020B0609020204030204" pitchFamily="49" charset="0"/>
              </a:rPr>
              <a:t>// правильно -- i + 1 &lt; </a:t>
            </a:r>
            <a:r>
              <a:rPr lang="ru-RU" sz="1600" dirty="0" err="1">
                <a:solidFill>
                  <a:srgbClr val="6A9955"/>
                </a:solidFill>
                <a:latin typeface="Consolas" panose="020B0609020204030204" pitchFamily="49" charset="0"/>
              </a:rPr>
              <a:t>count</a:t>
            </a:r>
            <a:endParaRPr lang="ru-RU" sz="1600" dirty="0"/>
          </a:p>
        </p:txBody>
      </p:sp>
      <p:sp>
        <p:nvSpPr>
          <p:cNvPr id="6" name="Content Placeholder 5"/>
          <p:cNvSpPr>
            <a:spLocks noGrp="1"/>
          </p:cNvSpPr>
          <p:nvPr>
            <p:ph sz="half" idx="2"/>
          </p:nvPr>
        </p:nvSpPr>
        <p:spPr>
          <a:solidFill>
            <a:schemeClr val="tx1"/>
          </a:solidFill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sz="1800" dirty="0">
                <a:solidFill>
                  <a:srgbClr val="569CD6"/>
                </a:solidFill>
                <a:latin typeface="Consolas" panose="020B0609020204030204" pitchFamily="49" charset="0"/>
              </a:rPr>
              <a:t>double</a:t>
            </a:r>
            <a:r>
              <a:rPr lang="en-US" sz="1800" dirty="0">
                <a:solidFill>
                  <a:srgbClr val="D4D4D4"/>
                </a:solidFill>
                <a:latin typeface="Consolas" panose="020B0609020204030204" pitchFamily="49" charset="0"/>
              </a:rPr>
              <a:t> </a:t>
            </a:r>
            <a:r>
              <a:rPr lang="en-US" sz="1800" dirty="0" err="1">
                <a:solidFill>
                  <a:srgbClr val="DCDCAA"/>
                </a:solidFill>
                <a:latin typeface="Consolas" panose="020B0609020204030204" pitchFamily="49" charset="0"/>
              </a:rPr>
              <a:t>CalcE</a:t>
            </a:r>
            <a:r>
              <a:rPr lang="en-US" sz="1800" dirty="0">
                <a:solidFill>
                  <a:srgbClr val="D4D4D4"/>
                </a:solidFill>
                <a:latin typeface="Consolas" panose="020B0609020204030204" pitchFamily="49" charset="0"/>
              </a:rPr>
              <a:t>(</a:t>
            </a:r>
            <a:r>
              <a:rPr lang="en-US" sz="1800" dirty="0" err="1">
                <a:solidFill>
                  <a:srgbClr val="569CD6"/>
                </a:solidFill>
                <a:latin typeface="Consolas" panose="020B0609020204030204" pitchFamily="49" charset="0"/>
              </a:rPr>
              <a:t>int</a:t>
            </a:r>
            <a:r>
              <a:rPr lang="en-US" sz="1800" dirty="0">
                <a:solidFill>
                  <a:srgbClr val="D4D4D4"/>
                </a:solidFill>
                <a:latin typeface="Consolas" panose="020B0609020204030204" pitchFamily="49" charset="0"/>
              </a:rPr>
              <a:t> </a:t>
            </a:r>
            <a:r>
              <a:rPr lang="en-US" sz="1800" dirty="0">
                <a:solidFill>
                  <a:srgbClr val="9CDCFE"/>
                </a:solidFill>
                <a:latin typeface="Consolas" panose="020B0609020204030204" pitchFamily="49" charset="0"/>
              </a:rPr>
              <a:t>n</a:t>
            </a:r>
            <a:r>
              <a:rPr lang="en-US" sz="1800" dirty="0">
                <a:solidFill>
                  <a:srgbClr val="D4D4D4"/>
                </a:solidFill>
                <a:latin typeface="Consolas" panose="020B0609020204030204" pitchFamily="49" charset="0"/>
              </a:rPr>
              <a:t>) {</a:t>
            </a:r>
          </a:p>
          <a:p>
            <a:pPr marL="0" indent="0">
              <a:buNone/>
            </a:pPr>
            <a:r>
              <a:rPr lang="en-US" sz="1800" dirty="0">
                <a:solidFill>
                  <a:srgbClr val="D4D4D4"/>
                </a:solidFill>
                <a:latin typeface="Consolas" panose="020B0609020204030204" pitchFamily="49" charset="0"/>
              </a:rPr>
              <a:t>    </a:t>
            </a:r>
            <a:r>
              <a:rPr lang="en-US" sz="1800" dirty="0">
                <a:solidFill>
                  <a:srgbClr val="569CD6"/>
                </a:solidFill>
                <a:latin typeface="Consolas" panose="020B0609020204030204" pitchFamily="49" charset="0"/>
              </a:rPr>
              <a:t>double</a:t>
            </a:r>
            <a:r>
              <a:rPr lang="en-US" sz="1800" dirty="0">
                <a:solidFill>
                  <a:srgbClr val="D4D4D4"/>
                </a:solidFill>
                <a:latin typeface="Consolas" panose="020B0609020204030204" pitchFamily="49" charset="0"/>
              </a:rPr>
              <a:t> e = </a:t>
            </a:r>
            <a:r>
              <a:rPr lang="en-US" sz="1800" dirty="0">
                <a:solidFill>
                  <a:srgbClr val="B5CEA8"/>
                </a:solidFill>
                <a:latin typeface="Consolas" panose="020B0609020204030204" pitchFamily="49" charset="0"/>
              </a:rPr>
              <a:t>1</a:t>
            </a:r>
            <a:r>
              <a:rPr lang="en-US" sz="1800" dirty="0">
                <a:solidFill>
                  <a:srgbClr val="D4D4D4"/>
                </a:solidFill>
                <a:latin typeface="Consolas" panose="020B0609020204030204" pitchFamily="49" charset="0"/>
              </a:rPr>
              <a:t>;</a:t>
            </a:r>
          </a:p>
          <a:p>
            <a:pPr marL="0" indent="0">
              <a:buNone/>
            </a:pPr>
            <a:r>
              <a:rPr lang="en-US" sz="1800" dirty="0">
                <a:solidFill>
                  <a:srgbClr val="D4D4D4"/>
                </a:solidFill>
                <a:latin typeface="Consolas" panose="020B0609020204030204" pitchFamily="49" charset="0"/>
              </a:rPr>
              <a:t>    </a:t>
            </a:r>
            <a:r>
              <a:rPr lang="en-US" sz="1800" dirty="0" err="1">
                <a:solidFill>
                  <a:srgbClr val="569CD6"/>
                </a:solidFill>
                <a:latin typeface="Consolas" panose="020B0609020204030204" pitchFamily="49" charset="0"/>
              </a:rPr>
              <a:t>int</a:t>
            </a:r>
            <a:r>
              <a:rPr lang="en-US" sz="1800" dirty="0">
                <a:solidFill>
                  <a:srgbClr val="D4D4D4"/>
                </a:solidFill>
                <a:latin typeface="Consolas" panose="020B0609020204030204" pitchFamily="49" charset="0"/>
              </a:rPr>
              <a:t> factorial = </a:t>
            </a:r>
            <a:r>
              <a:rPr lang="en-US" sz="1800" dirty="0">
                <a:solidFill>
                  <a:srgbClr val="B5CEA8"/>
                </a:solidFill>
                <a:latin typeface="Consolas" panose="020B0609020204030204" pitchFamily="49" charset="0"/>
              </a:rPr>
              <a:t>1</a:t>
            </a:r>
            <a:r>
              <a:rPr lang="en-US" sz="1800" dirty="0">
                <a:solidFill>
                  <a:srgbClr val="D4D4D4"/>
                </a:solidFill>
                <a:latin typeface="Consolas" panose="020B0609020204030204" pitchFamily="49" charset="0"/>
              </a:rPr>
              <a:t>;</a:t>
            </a:r>
          </a:p>
          <a:p>
            <a:pPr marL="0" indent="0">
              <a:buNone/>
            </a:pPr>
            <a:r>
              <a:rPr lang="en-US" sz="1800" dirty="0">
                <a:solidFill>
                  <a:srgbClr val="D4D4D4"/>
                </a:solidFill>
                <a:latin typeface="Consolas" panose="020B0609020204030204" pitchFamily="49" charset="0"/>
              </a:rPr>
              <a:t>    </a:t>
            </a:r>
            <a:r>
              <a:rPr lang="en-US" sz="1800" dirty="0">
                <a:solidFill>
                  <a:srgbClr val="C586C0"/>
                </a:solidFill>
                <a:latin typeface="Consolas" panose="020B0609020204030204" pitchFamily="49" charset="0"/>
              </a:rPr>
              <a:t>for</a:t>
            </a:r>
            <a:r>
              <a:rPr lang="en-US" sz="1800" dirty="0">
                <a:solidFill>
                  <a:srgbClr val="D4D4D4"/>
                </a:solidFill>
                <a:latin typeface="Consolas" panose="020B0609020204030204" pitchFamily="49" charset="0"/>
              </a:rPr>
              <a:t> (</a:t>
            </a:r>
            <a:r>
              <a:rPr lang="en-US" sz="1800" dirty="0" err="1">
                <a:solidFill>
                  <a:srgbClr val="569CD6"/>
                </a:solidFill>
                <a:latin typeface="Consolas" panose="020B0609020204030204" pitchFamily="49" charset="0"/>
              </a:rPr>
              <a:t>int</a:t>
            </a:r>
            <a:r>
              <a:rPr lang="en-US" sz="1800" dirty="0">
                <a:solidFill>
                  <a:srgbClr val="D4D4D4"/>
                </a:solidFill>
                <a:latin typeface="Consolas" panose="020B0609020204030204" pitchFamily="49" charset="0"/>
              </a:rPr>
              <a:t> i = </a:t>
            </a:r>
            <a:r>
              <a:rPr lang="en-US" sz="1800" dirty="0">
                <a:solidFill>
                  <a:srgbClr val="B5CEA8"/>
                </a:solidFill>
                <a:latin typeface="Consolas" panose="020B0609020204030204" pitchFamily="49" charset="0"/>
              </a:rPr>
              <a:t>1</a:t>
            </a:r>
            <a:r>
              <a:rPr lang="en-US" sz="1800" dirty="0">
                <a:solidFill>
                  <a:srgbClr val="D4D4D4"/>
                </a:solidFill>
                <a:latin typeface="Consolas" panose="020B0609020204030204" pitchFamily="49" charset="0"/>
              </a:rPr>
              <a:t>; i &lt; n; ++i) {</a:t>
            </a:r>
          </a:p>
          <a:p>
            <a:pPr marL="0" indent="0">
              <a:buNone/>
            </a:pPr>
            <a:r>
              <a:rPr lang="en-US" sz="1800" dirty="0">
                <a:solidFill>
                  <a:srgbClr val="D4D4D4"/>
                </a:solidFill>
                <a:latin typeface="Consolas" panose="020B0609020204030204" pitchFamily="49" charset="0"/>
              </a:rPr>
              <a:t>        e += </a:t>
            </a:r>
            <a:r>
              <a:rPr lang="en-US" sz="1800" dirty="0">
                <a:solidFill>
                  <a:srgbClr val="B5CEA8"/>
                </a:solidFill>
                <a:latin typeface="Consolas" panose="020B0609020204030204" pitchFamily="49" charset="0"/>
              </a:rPr>
              <a:t>1</a:t>
            </a:r>
            <a:r>
              <a:rPr lang="en-US" sz="1800" dirty="0">
                <a:solidFill>
                  <a:srgbClr val="D4D4D4"/>
                </a:solidFill>
                <a:latin typeface="Consolas" panose="020B0609020204030204" pitchFamily="49" charset="0"/>
              </a:rPr>
              <a:t> / factorial;</a:t>
            </a:r>
          </a:p>
          <a:p>
            <a:pPr marL="0" indent="0">
              <a:buNone/>
            </a:pPr>
            <a:r>
              <a:rPr lang="en-US" sz="1800" dirty="0">
                <a:solidFill>
                  <a:srgbClr val="D4D4D4"/>
                </a:solidFill>
                <a:latin typeface="Consolas" panose="020B0609020204030204" pitchFamily="49" charset="0"/>
              </a:rPr>
              <a:t>        factorial *= i;</a:t>
            </a:r>
          </a:p>
          <a:p>
            <a:pPr marL="0" indent="0">
              <a:buNone/>
            </a:pPr>
            <a:r>
              <a:rPr lang="en-US" sz="1800" dirty="0">
                <a:solidFill>
                  <a:srgbClr val="D4D4D4"/>
                </a:solidFill>
                <a:latin typeface="Consolas" panose="020B0609020204030204" pitchFamily="49" charset="0"/>
              </a:rPr>
              <a:t>    }</a:t>
            </a:r>
          </a:p>
          <a:p>
            <a:pPr marL="0" indent="0">
              <a:buNone/>
            </a:pPr>
            <a:r>
              <a:rPr lang="en-US" sz="1800" dirty="0">
                <a:solidFill>
                  <a:srgbClr val="D4D4D4"/>
                </a:solidFill>
                <a:latin typeface="Consolas" panose="020B0609020204030204" pitchFamily="49" charset="0"/>
              </a:rPr>
              <a:t>    </a:t>
            </a:r>
            <a:r>
              <a:rPr lang="en-US" sz="1800" dirty="0">
                <a:solidFill>
                  <a:srgbClr val="C586C0"/>
                </a:solidFill>
                <a:latin typeface="Consolas" panose="020B0609020204030204" pitchFamily="49" charset="0"/>
              </a:rPr>
              <a:t>return</a:t>
            </a:r>
            <a:r>
              <a:rPr lang="en-US" sz="1800" dirty="0">
                <a:solidFill>
                  <a:srgbClr val="D4D4D4"/>
                </a:solidFill>
                <a:latin typeface="Consolas" panose="020B0609020204030204" pitchFamily="49" charset="0"/>
              </a:rPr>
              <a:t> e;</a:t>
            </a:r>
          </a:p>
          <a:p>
            <a:pPr marL="0" indent="0">
              <a:buNone/>
            </a:pPr>
            <a:r>
              <a:rPr lang="en-US" sz="1800" dirty="0">
                <a:solidFill>
                  <a:srgbClr val="D4D4D4"/>
                </a:solidFill>
                <a:latin typeface="Consolas" panose="020B0609020204030204" pitchFamily="49" charset="0"/>
              </a:rPr>
              <a:t>}</a:t>
            </a:r>
          </a:p>
          <a:p>
            <a:pPr marL="0" indent="0">
              <a:buNone/>
            </a:pPr>
            <a:r>
              <a:rPr lang="ru-RU" sz="1800" dirty="0">
                <a:solidFill>
                  <a:srgbClr val="6A9955"/>
                </a:solidFill>
                <a:latin typeface="Consolas" panose="020B0609020204030204" pitchFamily="49" charset="0"/>
              </a:rPr>
              <a:t>// общий тип в 1 / </a:t>
            </a:r>
            <a:r>
              <a:rPr lang="ru-RU" sz="1800" dirty="0" err="1">
                <a:solidFill>
                  <a:srgbClr val="6A9955"/>
                </a:solidFill>
                <a:latin typeface="Consolas" panose="020B0609020204030204" pitchFamily="49" charset="0"/>
              </a:rPr>
              <a:t>factorial</a:t>
            </a:r>
            <a:r>
              <a:rPr lang="ru-RU" sz="1800" dirty="0">
                <a:solidFill>
                  <a:srgbClr val="6A9955"/>
                </a:solidFill>
                <a:latin typeface="Consolas" panose="020B0609020204030204" pitchFamily="49" charset="0"/>
              </a:rPr>
              <a:t> -- </a:t>
            </a:r>
            <a:r>
              <a:rPr lang="ru-RU" sz="1800" dirty="0" err="1">
                <a:solidFill>
                  <a:srgbClr val="6A9955"/>
                </a:solidFill>
                <a:latin typeface="Consolas" panose="020B0609020204030204" pitchFamily="49" charset="0"/>
              </a:rPr>
              <a:t>int</a:t>
            </a:r>
            <a:endParaRPr lang="ru-RU" sz="1800" dirty="0">
              <a:solidFill>
                <a:srgbClr val="D4D4D4"/>
              </a:solidFill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ru-RU" sz="1800" dirty="0">
                <a:solidFill>
                  <a:srgbClr val="6A9955"/>
                </a:solidFill>
                <a:latin typeface="Consolas" panose="020B0609020204030204" pitchFamily="49" charset="0"/>
              </a:rPr>
              <a:t>// поэтому деление целочисленное</a:t>
            </a:r>
            <a:endParaRPr lang="ru-RU" sz="1800" dirty="0">
              <a:solidFill>
                <a:srgbClr val="D4D4D4"/>
              </a:solidFill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ru-RU" sz="1800" dirty="0">
                <a:solidFill>
                  <a:srgbClr val="6A9955"/>
                </a:solidFill>
                <a:latin typeface="Consolas" panose="020B0609020204030204" pitchFamily="49" charset="0"/>
              </a:rPr>
              <a:t>// правильно </a:t>
            </a:r>
            <a:r>
              <a:rPr lang="en-US" sz="1800" dirty="0">
                <a:solidFill>
                  <a:srgbClr val="6A9955"/>
                </a:solidFill>
                <a:latin typeface="Consolas" panose="020B0609020204030204" pitchFamily="49" charset="0"/>
              </a:rPr>
              <a:t>-- </a:t>
            </a:r>
            <a:r>
              <a:rPr lang="ru-RU" sz="1800" dirty="0">
                <a:solidFill>
                  <a:srgbClr val="6A9955"/>
                </a:solidFill>
                <a:latin typeface="Consolas" panose="020B0609020204030204" pitchFamily="49" charset="0"/>
              </a:rPr>
              <a:t>1.0 / </a:t>
            </a:r>
            <a:r>
              <a:rPr lang="ru-RU" sz="1800" dirty="0" err="1">
                <a:solidFill>
                  <a:srgbClr val="6A9955"/>
                </a:solidFill>
                <a:latin typeface="Consolas" panose="020B0609020204030204" pitchFamily="49" charset="0"/>
              </a:rPr>
              <a:t>factorial</a:t>
            </a:r>
            <a:endParaRPr lang="ru-RU" sz="18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0E2822-3F92-4355-B47E-F2E8C9595EE5}" type="slidenum">
              <a:rPr lang="ru-RU" smtClean="0"/>
              <a:t>10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4887095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Преобразование целый тип </a:t>
            </a:r>
            <a:r>
              <a:rPr lang="en-US" dirty="0"/>
              <a:t>&lt;-&gt;</a:t>
            </a:r>
            <a:r>
              <a:rPr lang="ru-RU" dirty="0"/>
              <a:t> целый тип</a:t>
            </a:r>
          </a:p>
        </p:txBody>
      </p:sp>
      <p:sp>
        <p:nvSpPr>
          <p:cNvPr id="5" name="Объект 4"/>
          <p:cNvSpPr>
            <a:spLocks noGrp="1"/>
          </p:cNvSpPr>
          <p:nvPr>
            <p:ph idx="1"/>
          </p:nvPr>
        </p:nvSpPr>
        <p:spPr>
          <a:xfrm>
            <a:off x="838200" y="1777497"/>
            <a:ext cx="10515600" cy="4351338"/>
          </a:xfrm>
        </p:spPr>
        <p:txBody>
          <a:bodyPr>
            <a:normAutofit fontScale="70000" lnSpcReduction="20000"/>
          </a:bodyPr>
          <a:lstStyle/>
          <a:p>
            <a:r>
              <a:rPr lang="en-US" dirty="0"/>
              <a:t>T – </a:t>
            </a:r>
            <a:r>
              <a:rPr lang="ru-RU" dirty="0"/>
              <a:t>целый тип</a:t>
            </a:r>
            <a:r>
              <a:rPr lang="en-US" dirty="0"/>
              <a:t>, Z – </a:t>
            </a:r>
            <a:r>
              <a:rPr lang="ru-RU" dirty="0"/>
              <a:t>его множество значений, </a:t>
            </a:r>
            <a:r>
              <a:rPr lang="en-US" dirty="0"/>
              <a:t>x – </a:t>
            </a:r>
            <a:r>
              <a:rPr lang="ru-RU" dirty="0"/>
              <a:t>значение целого типа </a:t>
            </a:r>
            <a:r>
              <a:rPr lang="en-US" dirty="0"/>
              <a:t>V</a:t>
            </a:r>
            <a:endParaRPr lang="ru-RU" dirty="0"/>
          </a:p>
          <a:p>
            <a:pPr lvl="1"/>
            <a:endParaRPr lang="ru-RU" dirty="0"/>
          </a:p>
          <a:p>
            <a:r>
              <a:rPr lang="ru-RU" dirty="0"/>
              <a:t>Если Т беззнаковый, то </a:t>
            </a:r>
          </a:p>
          <a:p>
            <a:pPr lvl="1"/>
            <a:r>
              <a:rPr lang="en-US" dirty="0"/>
              <a:t>(T)x = y </a:t>
            </a:r>
            <a:r>
              <a:rPr lang="ru-RU" dirty="0">
                <a:sym typeface="Symbol" panose="05050102010706020507" pitchFamily="18" charset="2"/>
              </a:rPr>
              <a:t></a:t>
            </a:r>
            <a:r>
              <a:rPr lang="en-US" dirty="0">
                <a:sym typeface="Symbol" panose="05050102010706020507" pitchFamily="18" charset="2"/>
              </a:rPr>
              <a:t> Z </a:t>
            </a:r>
            <a:r>
              <a:rPr lang="ru-RU" dirty="0">
                <a:sym typeface="Symbol" panose="05050102010706020507" pitchFamily="18" charset="2"/>
              </a:rPr>
              <a:t>такое, что (</a:t>
            </a:r>
            <a:r>
              <a:rPr lang="en-US" dirty="0">
                <a:sym typeface="Symbol" panose="05050102010706020507" pitchFamily="18" charset="2"/>
              </a:rPr>
              <a:t>x – y</a:t>
            </a:r>
            <a:r>
              <a:rPr lang="ru-RU" dirty="0">
                <a:sym typeface="Symbol" panose="05050102010706020507" pitchFamily="18" charset="2"/>
              </a:rPr>
              <a:t>)</a:t>
            </a:r>
            <a:r>
              <a:rPr lang="en-US" dirty="0">
                <a:sym typeface="Symbol" panose="05050102010706020507" pitchFamily="18" charset="2"/>
              </a:rPr>
              <a:t> </a:t>
            </a:r>
            <a:r>
              <a:rPr lang="ru-RU" dirty="0">
                <a:sym typeface="Symbol" panose="05050102010706020507" pitchFamily="18" charset="2"/>
              </a:rPr>
              <a:t>нацело делится на </a:t>
            </a:r>
            <a:r>
              <a:rPr lang="en-US" dirty="0"/>
              <a:t>(</a:t>
            </a:r>
            <a:r>
              <a:rPr lang="ru-RU" dirty="0"/>
              <a:t>1 + </a:t>
            </a:r>
            <a:r>
              <a:rPr lang="en-US" dirty="0"/>
              <a:t>max(Z))</a:t>
            </a:r>
            <a:endParaRPr lang="ru-RU" dirty="0"/>
          </a:p>
          <a:p>
            <a:r>
              <a:rPr lang="ru-RU" dirty="0"/>
              <a:t>Иначе если </a:t>
            </a:r>
            <a:r>
              <a:rPr lang="en-US" dirty="0"/>
              <a:t>x </a:t>
            </a:r>
            <a:r>
              <a:rPr lang="ru-RU" dirty="0">
                <a:sym typeface="Symbol" panose="05050102010706020507" pitchFamily="18" charset="2"/>
              </a:rPr>
              <a:t></a:t>
            </a:r>
            <a:r>
              <a:rPr lang="en-US" dirty="0">
                <a:sym typeface="Symbol" panose="05050102010706020507" pitchFamily="18" charset="2"/>
              </a:rPr>
              <a:t> Z</a:t>
            </a:r>
            <a:r>
              <a:rPr lang="ru-RU" dirty="0"/>
              <a:t>, то </a:t>
            </a:r>
          </a:p>
          <a:p>
            <a:pPr lvl="1"/>
            <a:r>
              <a:rPr lang="ru-RU" dirty="0">
                <a:sym typeface="Symbol" panose="05050102010706020507" pitchFamily="18" charset="2"/>
              </a:rPr>
              <a:t>Обязательно </a:t>
            </a:r>
            <a:r>
              <a:rPr lang="en-US" dirty="0" err="1"/>
              <a:t>sizeof</a:t>
            </a:r>
            <a:r>
              <a:rPr lang="en-US" dirty="0"/>
              <a:t>(V) &lt;= </a:t>
            </a:r>
            <a:r>
              <a:rPr lang="en-US" dirty="0" err="1"/>
              <a:t>sizeof</a:t>
            </a:r>
            <a:r>
              <a:rPr lang="en-US" dirty="0"/>
              <a:t> (T)</a:t>
            </a:r>
            <a:r>
              <a:rPr lang="ru-RU" dirty="0"/>
              <a:t> и</a:t>
            </a:r>
          </a:p>
          <a:p>
            <a:pPr lvl="1"/>
            <a:r>
              <a:rPr lang="ru-RU" dirty="0"/>
              <a:t>(</a:t>
            </a:r>
            <a:r>
              <a:rPr lang="en-US" dirty="0"/>
              <a:t>T</a:t>
            </a:r>
            <a:r>
              <a:rPr lang="ru-RU" dirty="0"/>
              <a:t>)</a:t>
            </a:r>
            <a:r>
              <a:rPr lang="en-US" dirty="0"/>
              <a:t>x </a:t>
            </a:r>
            <a:r>
              <a:rPr lang="ru-RU" dirty="0"/>
              <a:t>= </a:t>
            </a:r>
            <a:r>
              <a:rPr lang="ru-RU" dirty="0">
                <a:highlight>
                  <a:srgbClr val="00FFFF"/>
                </a:highlight>
              </a:rPr>
              <a:t>Протяжка-знака</a:t>
            </a:r>
            <a:r>
              <a:rPr lang="ru-RU" dirty="0"/>
              <a:t>(</a:t>
            </a:r>
            <a:r>
              <a:rPr lang="en-US" dirty="0"/>
              <a:t>x, V, T)</a:t>
            </a:r>
            <a:r>
              <a:rPr lang="ru-RU" dirty="0"/>
              <a:t> – синонимы «</a:t>
            </a:r>
            <a:r>
              <a:rPr lang="en-US" dirty="0"/>
              <a:t>sign propagation</a:t>
            </a:r>
            <a:r>
              <a:rPr lang="ru-RU" dirty="0"/>
              <a:t>»</a:t>
            </a:r>
            <a:r>
              <a:rPr lang="en-US" dirty="0"/>
              <a:t>, </a:t>
            </a:r>
            <a:r>
              <a:rPr lang="ru-RU" dirty="0"/>
              <a:t>«</a:t>
            </a:r>
            <a:r>
              <a:rPr lang="en-US" dirty="0"/>
              <a:t>sign extension</a:t>
            </a:r>
            <a:r>
              <a:rPr lang="ru-RU" dirty="0"/>
              <a:t>»</a:t>
            </a:r>
            <a:endParaRPr lang="en-US" dirty="0"/>
          </a:p>
          <a:p>
            <a:r>
              <a:rPr lang="ru-RU" dirty="0"/>
              <a:t>Иначе (т.е. </a:t>
            </a:r>
            <a:r>
              <a:rPr lang="en-US" dirty="0"/>
              <a:t>T </a:t>
            </a:r>
            <a:r>
              <a:rPr lang="ru-RU" dirty="0"/>
              <a:t>знаковый и </a:t>
            </a:r>
            <a:r>
              <a:rPr lang="en-US" dirty="0"/>
              <a:t>x </a:t>
            </a:r>
            <a:r>
              <a:rPr lang="ru-RU" dirty="0">
                <a:sym typeface="Symbol" panose="05050102010706020507" pitchFamily="18" charset="2"/>
              </a:rPr>
              <a:t></a:t>
            </a:r>
            <a:r>
              <a:rPr lang="en-US" dirty="0">
                <a:sym typeface="Symbol" panose="05050102010706020507" pitchFamily="18" charset="2"/>
              </a:rPr>
              <a:t> Z</a:t>
            </a:r>
            <a:r>
              <a:rPr lang="ru-RU" dirty="0">
                <a:sym typeface="Symbol" panose="05050102010706020507" pitchFamily="18" charset="2"/>
              </a:rPr>
              <a:t>) </a:t>
            </a:r>
          </a:p>
          <a:p>
            <a:pPr lvl="1"/>
            <a:r>
              <a:rPr lang="ru-RU" dirty="0"/>
              <a:t>значение (</a:t>
            </a:r>
            <a:r>
              <a:rPr lang="en-US" dirty="0"/>
              <a:t>T</a:t>
            </a:r>
            <a:r>
              <a:rPr lang="ru-RU" dirty="0"/>
              <a:t>)</a:t>
            </a:r>
            <a:r>
              <a:rPr lang="en-US" dirty="0"/>
              <a:t>x implementation-defined</a:t>
            </a:r>
            <a:endParaRPr lang="ru-RU" dirty="0"/>
          </a:p>
          <a:p>
            <a:pPr lvl="1"/>
            <a:endParaRPr lang="en-US" dirty="0"/>
          </a:p>
          <a:p>
            <a:r>
              <a:rPr lang="en-US" dirty="0"/>
              <a:t>def </a:t>
            </a:r>
            <a:r>
              <a:rPr lang="ru-RU" dirty="0"/>
              <a:t>ПЗ(</a:t>
            </a:r>
            <a:r>
              <a:rPr lang="en-US" dirty="0"/>
              <a:t>x, V, T):</a:t>
            </a:r>
          </a:p>
          <a:p>
            <a:pPr lvl="1"/>
            <a:r>
              <a:rPr lang="ru-RU" dirty="0"/>
              <a:t>Младшие разряды ПЗ(</a:t>
            </a:r>
            <a:r>
              <a:rPr lang="en-US" dirty="0"/>
              <a:t>x, V, T) </a:t>
            </a:r>
            <a:r>
              <a:rPr lang="ru-RU" dirty="0"/>
              <a:t>берём из </a:t>
            </a:r>
            <a:r>
              <a:rPr lang="en-US" dirty="0"/>
              <a:t>x</a:t>
            </a:r>
            <a:endParaRPr lang="ru-RU" dirty="0"/>
          </a:p>
          <a:p>
            <a:pPr lvl="1"/>
            <a:r>
              <a:rPr lang="ru-RU" dirty="0"/>
              <a:t>Если </a:t>
            </a:r>
            <a:r>
              <a:rPr lang="en-US" dirty="0" err="1"/>
              <a:t>sizeof</a:t>
            </a:r>
            <a:r>
              <a:rPr lang="en-US" dirty="0"/>
              <a:t>(V) &lt; </a:t>
            </a:r>
            <a:r>
              <a:rPr lang="en-US" dirty="0" err="1"/>
              <a:t>sizeof</a:t>
            </a:r>
            <a:r>
              <a:rPr lang="en-US" dirty="0"/>
              <a:t> (T), </a:t>
            </a:r>
            <a:r>
              <a:rPr lang="ru-RU" dirty="0"/>
              <a:t>то</a:t>
            </a:r>
            <a:r>
              <a:rPr lang="en-US" dirty="0"/>
              <a:t> </a:t>
            </a:r>
            <a:r>
              <a:rPr lang="ru-RU" dirty="0"/>
              <a:t>старшие заполняем так, чтобы обеспечить ПЗ(</a:t>
            </a:r>
            <a:r>
              <a:rPr lang="en-US" dirty="0"/>
              <a:t>x, V, T) == x</a:t>
            </a:r>
            <a:endParaRPr lang="ru-RU" dirty="0"/>
          </a:p>
          <a:p>
            <a:pPr lvl="2"/>
            <a:r>
              <a:rPr lang="ru-RU" dirty="0"/>
              <a:t>Нулями (если </a:t>
            </a:r>
            <a:r>
              <a:rPr lang="en-US" dirty="0"/>
              <a:t>x &gt;= 0</a:t>
            </a:r>
            <a:r>
              <a:rPr lang="ru-RU" dirty="0"/>
              <a:t>)</a:t>
            </a:r>
          </a:p>
          <a:p>
            <a:pPr lvl="2"/>
            <a:r>
              <a:rPr lang="en-US" dirty="0"/>
              <a:t>Implementation-defined</a:t>
            </a:r>
            <a:r>
              <a:rPr lang="ru-RU" dirty="0"/>
              <a:t> в зависимости от способа хранения отрицательных чисел (если </a:t>
            </a:r>
            <a:r>
              <a:rPr lang="en-US" dirty="0"/>
              <a:t>x &lt; 0</a:t>
            </a:r>
            <a:r>
              <a:rPr lang="ru-RU" dirty="0"/>
              <a:t>)</a:t>
            </a:r>
            <a:endParaRPr lang="en-US" dirty="0"/>
          </a:p>
          <a:p>
            <a:pPr lvl="3"/>
            <a:r>
              <a:rPr lang="ru-RU" dirty="0"/>
              <a:t>Например, для дополнительного кода заполняем единицами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0E2822-3F92-4355-B47E-F2E8C9595EE5}" type="slidenum">
              <a:rPr lang="ru-RU" smtClean="0"/>
              <a:t>11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7791979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Примеры преобразования целых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solidFill>
            <a:schemeClr val="tx1"/>
          </a:solidFill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sz="2800" dirty="0">
                <a:solidFill>
                  <a:srgbClr val="569CD6"/>
                </a:solidFill>
                <a:latin typeface="Consolas" panose="020B0609020204030204" pitchFamily="49" charset="0"/>
              </a:rPr>
              <a:t>char</a:t>
            </a:r>
            <a:r>
              <a:rPr lang="en-US" sz="2800" dirty="0">
                <a:solidFill>
                  <a:srgbClr val="D4D4D4"/>
                </a:solidFill>
                <a:latin typeface="Consolas" panose="020B0609020204030204" pitchFamily="49" charset="0"/>
              </a:rPr>
              <a:t> x0 = </a:t>
            </a:r>
            <a:r>
              <a:rPr lang="en-US" sz="2800" dirty="0">
                <a:solidFill>
                  <a:srgbClr val="B5CEA8"/>
                </a:solidFill>
                <a:latin typeface="Consolas" panose="020B0609020204030204" pitchFamily="49" charset="0"/>
              </a:rPr>
              <a:t>0x30</a:t>
            </a:r>
            <a:r>
              <a:rPr lang="en-US" sz="2800" dirty="0">
                <a:solidFill>
                  <a:srgbClr val="D4D4D4"/>
                </a:solidFill>
                <a:latin typeface="Consolas" panose="020B0609020204030204" pitchFamily="49" charset="0"/>
              </a:rPr>
              <a:t>; </a:t>
            </a:r>
            <a:r>
              <a:rPr lang="en-US" sz="2800" dirty="0">
                <a:solidFill>
                  <a:srgbClr val="6A9955"/>
                </a:solidFill>
                <a:latin typeface="Consolas" panose="020B0609020204030204" pitchFamily="49" charset="0"/>
              </a:rPr>
              <a:t>// 00110000</a:t>
            </a:r>
            <a:endParaRPr lang="en-US" sz="2800" dirty="0">
              <a:solidFill>
                <a:srgbClr val="D4D4D4"/>
              </a:solidFill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2800" dirty="0" err="1">
                <a:solidFill>
                  <a:srgbClr val="569CD6"/>
                </a:solidFill>
                <a:latin typeface="Consolas" panose="020B0609020204030204" pitchFamily="49" charset="0"/>
              </a:rPr>
              <a:t>int</a:t>
            </a:r>
            <a:r>
              <a:rPr lang="en-US" sz="2800" dirty="0">
                <a:solidFill>
                  <a:srgbClr val="D4D4D4"/>
                </a:solidFill>
                <a:latin typeface="Consolas" panose="020B0609020204030204" pitchFamily="49" charset="0"/>
              </a:rPr>
              <a:t> y0 = x0; </a:t>
            </a:r>
            <a:r>
              <a:rPr lang="en-US" sz="2800" dirty="0">
                <a:solidFill>
                  <a:srgbClr val="6A9955"/>
                </a:solidFill>
                <a:latin typeface="Consolas" panose="020B0609020204030204" pitchFamily="49" charset="0"/>
              </a:rPr>
              <a:t>// 00000000 00000000 00000000 00110000</a:t>
            </a:r>
            <a:endParaRPr lang="en-US" sz="2800" dirty="0">
              <a:solidFill>
                <a:srgbClr val="D4D4D4"/>
              </a:solidFill>
              <a:latin typeface="Consolas" panose="020B0609020204030204" pitchFamily="49" charset="0"/>
            </a:endParaRPr>
          </a:p>
          <a:p>
            <a:pPr marL="0" indent="0">
              <a:buNone/>
            </a:pPr>
            <a:endParaRPr lang="en-US" sz="2800" dirty="0">
              <a:solidFill>
                <a:srgbClr val="569CD6"/>
              </a:solidFill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2800" dirty="0">
                <a:solidFill>
                  <a:srgbClr val="569CD6"/>
                </a:solidFill>
                <a:latin typeface="Consolas" panose="020B0609020204030204" pitchFamily="49" charset="0"/>
              </a:rPr>
              <a:t>char</a:t>
            </a:r>
            <a:r>
              <a:rPr lang="en-US" sz="2800" dirty="0">
                <a:solidFill>
                  <a:srgbClr val="D4D4D4"/>
                </a:solidFill>
                <a:latin typeface="Consolas" panose="020B0609020204030204" pitchFamily="49" charset="0"/>
              </a:rPr>
              <a:t> x1 = -</a:t>
            </a:r>
            <a:r>
              <a:rPr lang="en-US" sz="2800" dirty="0">
                <a:solidFill>
                  <a:srgbClr val="B5CEA8"/>
                </a:solidFill>
                <a:latin typeface="Consolas" panose="020B0609020204030204" pitchFamily="49" charset="0"/>
              </a:rPr>
              <a:t>5</a:t>
            </a:r>
            <a:r>
              <a:rPr lang="en-US" sz="2800" dirty="0">
                <a:solidFill>
                  <a:srgbClr val="D4D4D4"/>
                </a:solidFill>
                <a:latin typeface="Consolas" panose="020B0609020204030204" pitchFamily="49" charset="0"/>
              </a:rPr>
              <a:t>; </a:t>
            </a:r>
            <a:r>
              <a:rPr lang="en-US" sz="2800" dirty="0">
                <a:solidFill>
                  <a:srgbClr val="6A9955"/>
                </a:solidFill>
                <a:latin typeface="Consolas" panose="020B0609020204030204" pitchFamily="49" charset="0"/>
              </a:rPr>
              <a:t>// 11111011</a:t>
            </a:r>
            <a:endParaRPr lang="en-US" sz="2800" dirty="0">
              <a:solidFill>
                <a:srgbClr val="D4D4D4"/>
              </a:solidFill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2800" dirty="0" err="1">
                <a:solidFill>
                  <a:srgbClr val="569CD6"/>
                </a:solidFill>
                <a:latin typeface="Consolas" panose="020B0609020204030204" pitchFamily="49" charset="0"/>
              </a:rPr>
              <a:t>int</a:t>
            </a:r>
            <a:r>
              <a:rPr lang="en-US" sz="2800" dirty="0">
                <a:solidFill>
                  <a:srgbClr val="D4D4D4"/>
                </a:solidFill>
                <a:latin typeface="Consolas" panose="020B0609020204030204" pitchFamily="49" charset="0"/>
              </a:rPr>
              <a:t> y1 = x1; </a:t>
            </a:r>
            <a:r>
              <a:rPr lang="en-US" sz="2800" dirty="0">
                <a:solidFill>
                  <a:srgbClr val="6A9955"/>
                </a:solidFill>
                <a:latin typeface="Consolas" panose="020B0609020204030204" pitchFamily="49" charset="0"/>
              </a:rPr>
              <a:t>// 11111111 11111111 11111111 11111011</a:t>
            </a:r>
            <a:endParaRPr lang="en-US" sz="2800" dirty="0">
              <a:solidFill>
                <a:srgbClr val="D4D4D4"/>
              </a:solidFill>
              <a:latin typeface="Consolas" panose="020B0609020204030204" pitchFamily="49" charset="0"/>
            </a:endParaRPr>
          </a:p>
          <a:p>
            <a:pPr marL="0" indent="0">
              <a:buNone/>
            </a:pPr>
            <a:endParaRPr lang="en-US" sz="2800" dirty="0">
              <a:solidFill>
                <a:srgbClr val="569CD6"/>
              </a:solidFill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2800" dirty="0">
                <a:solidFill>
                  <a:srgbClr val="569CD6"/>
                </a:solidFill>
                <a:latin typeface="Consolas" panose="020B0609020204030204" pitchFamily="49" charset="0"/>
              </a:rPr>
              <a:t>char</a:t>
            </a:r>
            <a:r>
              <a:rPr lang="en-US" sz="2800" dirty="0">
                <a:solidFill>
                  <a:srgbClr val="D4D4D4"/>
                </a:solidFill>
                <a:latin typeface="Consolas" panose="020B0609020204030204" pitchFamily="49" charset="0"/>
              </a:rPr>
              <a:t> x2 = -</a:t>
            </a:r>
            <a:r>
              <a:rPr lang="en-US" sz="2800" dirty="0">
                <a:solidFill>
                  <a:srgbClr val="B5CEA8"/>
                </a:solidFill>
                <a:latin typeface="Consolas" panose="020B0609020204030204" pitchFamily="49" charset="0"/>
              </a:rPr>
              <a:t>1</a:t>
            </a:r>
            <a:r>
              <a:rPr lang="en-US" sz="2800" dirty="0">
                <a:solidFill>
                  <a:srgbClr val="D4D4D4"/>
                </a:solidFill>
                <a:latin typeface="Consolas" panose="020B0609020204030204" pitchFamily="49" charset="0"/>
              </a:rPr>
              <a:t>;</a:t>
            </a:r>
          </a:p>
          <a:p>
            <a:pPr marL="0" indent="0">
              <a:buNone/>
            </a:pPr>
            <a:r>
              <a:rPr lang="en-US" sz="2800" dirty="0">
                <a:solidFill>
                  <a:srgbClr val="569CD6"/>
                </a:solidFill>
                <a:latin typeface="Consolas" panose="020B0609020204030204" pitchFamily="49" charset="0"/>
              </a:rPr>
              <a:t>unsigned</a:t>
            </a:r>
            <a:r>
              <a:rPr lang="en-US" sz="2800" dirty="0">
                <a:solidFill>
                  <a:srgbClr val="D4D4D4"/>
                </a:solidFill>
                <a:latin typeface="Consolas" panose="020B0609020204030204" pitchFamily="49" charset="0"/>
              </a:rPr>
              <a:t> y2 = x2; </a:t>
            </a:r>
            <a:r>
              <a:rPr lang="en-US" sz="2800" dirty="0">
                <a:solidFill>
                  <a:srgbClr val="6A9955"/>
                </a:solidFill>
                <a:latin typeface="Consolas" panose="020B0609020204030204" pitchFamily="49" charset="0"/>
              </a:rPr>
              <a:t>// y == -1 + (UINT_MAX + 1)</a:t>
            </a:r>
            <a:endParaRPr lang="en-US" sz="2800" dirty="0">
              <a:solidFill>
                <a:srgbClr val="D4D4D4"/>
              </a:solidFill>
              <a:latin typeface="Consolas" panose="020B0609020204030204" pitchFamily="49" charset="0"/>
            </a:endParaRPr>
          </a:p>
          <a:p>
            <a:pPr marL="0" indent="0">
              <a:buNone/>
            </a:pPr>
            <a:endParaRPr lang="en-US" sz="2800" dirty="0"/>
          </a:p>
          <a:p>
            <a:pPr marL="0" indent="0">
              <a:buNone/>
            </a:pPr>
            <a:r>
              <a:rPr lang="en-US" sz="2800" dirty="0">
                <a:solidFill>
                  <a:srgbClr val="569CD6"/>
                </a:solidFill>
                <a:latin typeface="Consolas" panose="020B0609020204030204" pitchFamily="49" charset="0"/>
              </a:rPr>
              <a:t>unsigned</a:t>
            </a:r>
            <a:r>
              <a:rPr lang="en-US" sz="2800" dirty="0">
                <a:solidFill>
                  <a:srgbClr val="D4D4D4"/>
                </a:solidFill>
                <a:latin typeface="Consolas" panose="020B0609020204030204" pitchFamily="49" charset="0"/>
              </a:rPr>
              <a:t> x3 = 511;</a:t>
            </a:r>
          </a:p>
          <a:p>
            <a:pPr marL="0" indent="0">
              <a:buNone/>
            </a:pPr>
            <a:r>
              <a:rPr lang="en-US" sz="2800" dirty="0">
                <a:solidFill>
                  <a:srgbClr val="569CD6"/>
                </a:solidFill>
                <a:latin typeface="Consolas" panose="020B0609020204030204" pitchFamily="49" charset="0"/>
              </a:rPr>
              <a:t>unsigned char</a:t>
            </a:r>
            <a:r>
              <a:rPr lang="en-US" sz="2800" dirty="0">
                <a:solidFill>
                  <a:srgbClr val="D4D4D4"/>
                </a:solidFill>
                <a:latin typeface="Consolas" panose="020B0609020204030204" pitchFamily="49" charset="0"/>
              </a:rPr>
              <a:t> y3 = x3; </a:t>
            </a:r>
            <a:r>
              <a:rPr lang="en-US" sz="2800" dirty="0">
                <a:solidFill>
                  <a:srgbClr val="6A9955"/>
                </a:solidFill>
                <a:latin typeface="Consolas" panose="020B0609020204030204" pitchFamily="49" charset="0"/>
              </a:rPr>
              <a:t>// y == 511 - (UCHAR_MAX + 1)</a:t>
            </a:r>
            <a:endParaRPr lang="en-US" sz="2800" dirty="0">
              <a:solidFill>
                <a:srgbClr val="D4D4D4"/>
              </a:solidFill>
              <a:latin typeface="Consolas" panose="020B0609020204030204" pitchFamily="49" charset="0"/>
            </a:endParaRPr>
          </a:p>
          <a:p>
            <a:endParaRPr lang="ru-RU" sz="2800" dirty="0"/>
          </a:p>
          <a:p>
            <a:pPr marL="0" indent="0">
              <a:buNone/>
            </a:pPr>
            <a:endParaRPr lang="ru-RU" sz="28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0E2822-3F92-4355-B47E-F2E8C9595EE5}" type="slidenum">
              <a:rPr lang="ru-RU" smtClean="0"/>
              <a:t>12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7558353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3600" dirty="0"/>
              <a:t>Преобразования целый тип </a:t>
            </a:r>
            <a:r>
              <a:rPr lang="en-US" sz="3600" dirty="0"/>
              <a:t>&lt;-&gt;</a:t>
            </a:r>
            <a:r>
              <a:rPr lang="ru-RU" sz="3600" dirty="0"/>
              <a:t> вещественный тип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T –</a:t>
            </a:r>
            <a:r>
              <a:rPr lang="ru-RU" dirty="0"/>
              <a:t> вещественный тип</a:t>
            </a:r>
            <a:r>
              <a:rPr lang="en-US" dirty="0"/>
              <a:t>, R – </a:t>
            </a:r>
            <a:r>
              <a:rPr lang="ru-RU" dirty="0"/>
              <a:t>его множество значений, </a:t>
            </a:r>
            <a:r>
              <a:rPr lang="en-US" dirty="0"/>
              <a:t>x – </a:t>
            </a:r>
            <a:r>
              <a:rPr lang="ru-RU" dirty="0"/>
              <a:t>значение целого типа</a:t>
            </a:r>
          </a:p>
          <a:p>
            <a:pPr lvl="1"/>
            <a:r>
              <a:rPr lang="ru-RU" dirty="0"/>
              <a:t>Если </a:t>
            </a:r>
            <a:r>
              <a:rPr lang="en-US" dirty="0"/>
              <a:t>x </a:t>
            </a:r>
            <a:r>
              <a:rPr lang="ru-RU" dirty="0">
                <a:sym typeface="Symbol" panose="05050102010706020507" pitchFamily="18" charset="2"/>
              </a:rPr>
              <a:t> </a:t>
            </a:r>
            <a:r>
              <a:rPr lang="en-US" dirty="0">
                <a:sym typeface="Symbol" panose="05050102010706020507" pitchFamily="18" charset="2"/>
              </a:rPr>
              <a:t>R, </a:t>
            </a:r>
            <a:r>
              <a:rPr lang="ru-RU" dirty="0"/>
              <a:t>то </a:t>
            </a:r>
            <a:r>
              <a:rPr lang="en-US" dirty="0"/>
              <a:t>(T)x == x</a:t>
            </a:r>
            <a:r>
              <a:rPr lang="en-US" dirty="0">
                <a:sym typeface="Symbol" panose="05050102010706020507" pitchFamily="18" charset="2"/>
              </a:rPr>
              <a:t> </a:t>
            </a:r>
            <a:endParaRPr lang="ru-RU" dirty="0">
              <a:sym typeface="Symbol" panose="05050102010706020507" pitchFamily="18" charset="2"/>
            </a:endParaRPr>
          </a:p>
          <a:p>
            <a:pPr lvl="1"/>
            <a:r>
              <a:rPr lang="ru-RU" dirty="0"/>
              <a:t>Иначе если </a:t>
            </a:r>
            <a:r>
              <a:rPr lang="en-US" dirty="0"/>
              <a:t>x </a:t>
            </a:r>
            <a:r>
              <a:rPr lang="ru-RU" dirty="0">
                <a:sym typeface="Symbol" panose="05050102010706020507" pitchFamily="18" charset="2"/>
              </a:rPr>
              <a:t> </a:t>
            </a:r>
            <a:r>
              <a:rPr lang="en-US" dirty="0">
                <a:sym typeface="Symbol" panose="05050102010706020507" pitchFamily="18" charset="2"/>
              </a:rPr>
              <a:t>[min(R), max(R)]</a:t>
            </a:r>
            <a:r>
              <a:rPr lang="ru-RU" dirty="0"/>
              <a:t>, то </a:t>
            </a:r>
            <a:r>
              <a:rPr lang="en-US" dirty="0"/>
              <a:t>(T)x == (</a:t>
            </a:r>
            <a:r>
              <a:rPr lang="ru-RU" dirty="0"/>
              <a:t>одно из двух значений </a:t>
            </a:r>
            <a:r>
              <a:rPr lang="ru-RU" dirty="0">
                <a:sym typeface="Symbol" panose="05050102010706020507" pitchFamily="18" charset="2"/>
              </a:rPr>
              <a:t> </a:t>
            </a:r>
            <a:r>
              <a:rPr lang="en-US" dirty="0">
                <a:sym typeface="Symbol" panose="05050102010706020507" pitchFamily="18" charset="2"/>
              </a:rPr>
              <a:t>R</a:t>
            </a:r>
            <a:r>
              <a:rPr lang="ru-RU" dirty="0">
                <a:sym typeface="Symbol" panose="05050102010706020507" pitchFamily="18" charset="2"/>
              </a:rPr>
              <a:t>, </a:t>
            </a:r>
            <a:r>
              <a:rPr lang="ru-RU" dirty="0"/>
              <a:t>ближайших к </a:t>
            </a:r>
            <a:r>
              <a:rPr lang="en-US" dirty="0"/>
              <a:t>x</a:t>
            </a:r>
            <a:r>
              <a:rPr lang="en-US" dirty="0">
                <a:sym typeface="Symbol" panose="05050102010706020507" pitchFamily="18" charset="2"/>
              </a:rPr>
              <a:t>)</a:t>
            </a:r>
            <a:endParaRPr lang="ru-RU" dirty="0"/>
          </a:p>
          <a:p>
            <a:pPr lvl="2"/>
            <a:r>
              <a:rPr lang="en-US" dirty="0"/>
              <a:t>Implementation defined</a:t>
            </a:r>
            <a:endParaRPr lang="ru-RU" dirty="0"/>
          </a:p>
          <a:p>
            <a:pPr lvl="1"/>
            <a:r>
              <a:rPr lang="ru-RU" dirty="0"/>
              <a:t>Иначе </a:t>
            </a:r>
            <a:r>
              <a:rPr lang="en-US" dirty="0"/>
              <a:t>(T)x</a:t>
            </a:r>
            <a:r>
              <a:rPr lang="ru-RU" dirty="0"/>
              <a:t> </a:t>
            </a:r>
            <a:r>
              <a:rPr lang="en-US" dirty="0"/>
              <a:t>undefined</a:t>
            </a:r>
            <a:endParaRPr lang="ru-RU" dirty="0"/>
          </a:p>
          <a:p>
            <a:pPr lvl="2"/>
            <a:r>
              <a:rPr lang="ru-RU" dirty="0"/>
              <a:t>Экзотика</a:t>
            </a:r>
            <a:endParaRPr lang="en-US" dirty="0"/>
          </a:p>
          <a:p>
            <a:pPr lvl="2"/>
            <a:r>
              <a:rPr lang="ru-RU" dirty="0"/>
              <a:t>Обязательно будет -</a:t>
            </a:r>
            <a:r>
              <a:rPr lang="ru-RU" dirty="0">
                <a:sym typeface="Symbol" panose="05050102010706020507" pitchFamily="18" charset="2"/>
              </a:rPr>
              <a:t> </a:t>
            </a:r>
            <a:r>
              <a:rPr lang="en-US" dirty="0">
                <a:sym typeface="Symbol" panose="05050102010706020507" pitchFamily="18" charset="2"/>
              </a:rPr>
              <a:t>R </a:t>
            </a:r>
            <a:r>
              <a:rPr lang="ru-RU" dirty="0">
                <a:sym typeface="Symbol" panose="05050102010706020507" pitchFamily="18" charset="2"/>
              </a:rPr>
              <a:t>и/или  </a:t>
            </a:r>
            <a:r>
              <a:rPr lang="en-US" dirty="0">
                <a:sym typeface="Symbol" panose="05050102010706020507" pitchFamily="18" charset="2"/>
              </a:rPr>
              <a:t>R</a:t>
            </a:r>
            <a:endParaRPr lang="ru-RU" dirty="0"/>
          </a:p>
          <a:p>
            <a:endParaRPr lang="en-US" dirty="0"/>
          </a:p>
          <a:p>
            <a:r>
              <a:rPr lang="en-US" dirty="0"/>
              <a:t>T –</a:t>
            </a:r>
            <a:r>
              <a:rPr lang="ru-RU" dirty="0"/>
              <a:t> целый тип</a:t>
            </a:r>
            <a:r>
              <a:rPr lang="en-US" dirty="0"/>
              <a:t>, Z – </a:t>
            </a:r>
            <a:r>
              <a:rPr lang="ru-RU" dirty="0"/>
              <a:t>его множество значений, </a:t>
            </a:r>
            <a:r>
              <a:rPr lang="en-US" dirty="0"/>
              <a:t>x – </a:t>
            </a:r>
            <a:r>
              <a:rPr lang="ru-RU" dirty="0"/>
              <a:t>значение вещественного типа</a:t>
            </a:r>
          </a:p>
          <a:p>
            <a:pPr lvl="1"/>
            <a:r>
              <a:rPr lang="ru-RU" dirty="0"/>
              <a:t>Если округлить</a:t>
            </a:r>
            <a:r>
              <a:rPr lang="en-US" dirty="0"/>
              <a:t>-</a:t>
            </a:r>
            <a:r>
              <a:rPr lang="ru-RU" dirty="0"/>
              <a:t>к</a:t>
            </a:r>
            <a:r>
              <a:rPr lang="en-US" dirty="0"/>
              <a:t>-</a:t>
            </a:r>
            <a:r>
              <a:rPr lang="ru-RU" dirty="0"/>
              <a:t>нулю</a:t>
            </a:r>
            <a:r>
              <a:rPr lang="en-US" dirty="0"/>
              <a:t>(x) </a:t>
            </a:r>
            <a:r>
              <a:rPr lang="ru-RU" dirty="0">
                <a:sym typeface="Symbol" panose="05050102010706020507" pitchFamily="18" charset="2"/>
              </a:rPr>
              <a:t> </a:t>
            </a:r>
            <a:r>
              <a:rPr lang="en-US" dirty="0">
                <a:sym typeface="Symbol" panose="05050102010706020507" pitchFamily="18" charset="2"/>
              </a:rPr>
              <a:t>Z</a:t>
            </a:r>
            <a:r>
              <a:rPr lang="ru-RU" dirty="0">
                <a:sym typeface="Symbol" panose="05050102010706020507" pitchFamily="18" charset="2"/>
              </a:rPr>
              <a:t>, то </a:t>
            </a:r>
            <a:r>
              <a:rPr lang="en-US" dirty="0">
                <a:sym typeface="Symbol" panose="05050102010706020507" pitchFamily="18" charset="2"/>
              </a:rPr>
              <a:t>(T)x = </a:t>
            </a:r>
            <a:r>
              <a:rPr lang="ru-RU" dirty="0"/>
              <a:t>округлить</a:t>
            </a:r>
            <a:r>
              <a:rPr lang="en-US" dirty="0"/>
              <a:t>-</a:t>
            </a:r>
            <a:r>
              <a:rPr lang="ru-RU" dirty="0"/>
              <a:t>к</a:t>
            </a:r>
            <a:r>
              <a:rPr lang="en-US" dirty="0"/>
              <a:t>-</a:t>
            </a:r>
            <a:r>
              <a:rPr lang="ru-RU" dirty="0"/>
              <a:t>нулю</a:t>
            </a:r>
            <a:r>
              <a:rPr lang="en-US" dirty="0"/>
              <a:t>(x)</a:t>
            </a:r>
            <a:endParaRPr lang="ru-RU" dirty="0"/>
          </a:p>
          <a:p>
            <a:pPr lvl="1"/>
            <a:r>
              <a:rPr lang="ru-RU" dirty="0"/>
              <a:t>Иначе </a:t>
            </a:r>
            <a:r>
              <a:rPr lang="en-US" dirty="0"/>
              <a:t>(T)x</a:t>
            </a:r>
            <a:r>
              <a:rPr lang="ru-RU" dirty="0"/>
              <a:t> </a:t>
            </a:r>
            <a:r>
              <a:rPr lang="en-US" dirty="0"/>
              <a:t>undefined</a:t>
            </a:r>
            <a:endParaRPr lang="ru-RU" dirty="0"/>
          </a:p>
          <a:p>
            <a:endParaRPr lang="ru-RU" dirty="0"/>
          </a:p>
          <a:p>
            <a:endParaRPr lang="ru-R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0E2822-3F92-4355-B47E-F2E8C9595EE5}" type="slidenum">
              <a:rPr lang="ru-RU" smtClean="0"/>
              <a:t>13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0161236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/>
              <a:t>Преобразования вещественных типов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/>
              <a:t>T –</a:t>
            </a:r>
            <a:r>
              <a:rPr lang="ru-RU" dirty="0"/>
              <a:t> вещественный тип</a:t>
            </a:r>
            <a:r>
              <a:rPr lang="en-US" dirty="0"/>
              <a:t>, R – </a:t>
            </a:r>
            <a:r>
              <a:rPr lang="ru-RU" dirty="0"/>
              <a:t>его множество значений, </a:t>
            </a:r>
            <a:r>
              <a:rPr lang="en-US" dirty="0"/>
              <a:t>x – </a:t>
            </a:r>
            <a:r>
              <a:rPr lang="ru-RU" dirty="0"/>
              <a:t>значение вещественного типа</a:t>
            </a:r>
          </a:p>
          <a:p>
            <a:pPr lvl="1"/>
            <a:endParaRPr lang="ru-RU" dirty="0"/>
          </a:p>
          <a:p>
            <a:r>
              <a:rPr lang="ru-RU" dirty="0"/>
              <a:t>Преобразование к большему типу </a:t>
            </a:r>
            <a:r>
              <a:rPr lang="en-US" dirty="0"/>
              <a:t>float -&gt; double -&gt; long double</a:t>
            </a:r>
            <a:endParaRPr lang="ru-RU" dirty="0"/>
          </a:p>
          <a:p>
            <a:pPr lvl="1"/>
            <a:r>
              <a:rPr lang="en-US" dirty="0"/>
              <a:t>(T)x == x</a:t>
            </a:r>
            <a:endParaRPr lang="ru-RU" dirty="0"/>
          </a:p>
          <a:p>
            <a:pPr lvl="1"/>
            <a:r>
              <a:rPr lang="ru-RU" dirty="0"/>
              <a:t>Двоичное представление изменяется</a:t>
            </a:r>
          </a:p>
          <a:p>
            <a:pPr lvl="1"/>
            <a:endParaRPr lang="ru-RU" dirty="0"/>
          </a:p>
          <a:p>
            <a:r>
              <a:rPr lang="ru-RU" dirty="0"/>
              <a:t>Преобразование к меньшему типу </a:t>
            </a:r>
            <a:r>
              <a:rPr lang="en-US" dirty="0"/>
              <a:t>float &lt;- double &lt;- long double</a:t>
            </a:r>
            <a:endParaRPr lang="ru-RU" dirty="0"/>
          </a:p>
          <a:p>
            <a:pPr lvl="1"/>
            <a:r>
              <a:rPr lang="ru-RU" dirty="0"/>
              <a:t>Если </a:t>
            </a:r>
            <a:r>
              <a:rPr lang="en-US" dirty="0"/>
              <a:t>x </a:t>
            </a:r>
            <a:r>
              <a:rPr lang="ru-RU" dirty="0">
                <a:sym typeface="Symbol" panose="05050102010706020507" pitchFamily="18" charset="2"/>
              </a:rPr>
              <a:t> </a:t>
            </a:r>
            <a:r>
              <a:rPr lang="en-US" dirty="0">
                <a:sym typeface="Symbol" panose="05050102010706020507" pitchFamily="18" charset="2"/>
              </a:rPr>
              <a:t>R, </a:t>
            </a:r>
            <a:r>
              <a:rPr lang="ru-RU" dirty="0"/>
              <a:t>то </a:t>
            </a:r>
            <a:r>
              <a:rPr lang="en-US" dirty="0"/>
              <a:t>(T)x == x</a:t>
            </a:r>
            <a:r>
              <a:rPr lang="en-US" dirty="0">
                <a:sym typeface="Symbol" panose="05050102010706020507" pitchFamily="18" charset="2"/>
              </a:rPr>
              <a:t> </a:t>
            </a:r>
            <a:endParaRPr lang="ru-RU" dirty="0"/>
          </a:p>
          <a:p>
            <a:pPr lvl="1"/>
            <a:r>
              <a:rPr lang="ru-RU" dirty="0"/>
              <a:t>Иначе если </a:t>
            </a:r>
            <a:r>
              <a:rPr lang="en-US" dirty="0"/>
              <a:t>x </a:t>
            </a:r>
            <a:r>
              <a:rPr lang="ru-RU" dirty="0">
                <a:sym typeface="Symbol" panose="05050102010706020507" pitchFamily="18" charset="2"/>
              </a:rPr>
              <a:t> </a:t>
            </a:r>
            <a:r>
              <a:rPr lang="en-US" dirty="0">
                <a:sym typeface="Symbol" panose="05050102010706020507" pitchFamily="18" charset="2"/>
              </a:rPr>
              <a:t>[min(R), max(R)]</a:t>
            </a:r>
            <a:r>
              <a:rPr lang="ru-RU" dirty="0"/>
              <a:t>, то </a:t>
            </a:r>
            <a:r>
              <a:rPr lang="en-US" dirty="0"/>
              <a:t>(T)x == (</a:t>
            </a:r>
            <a:r>
              <a:rPr lang="ru-RU" dirty="0"/>
              <a:t>одно из двух значений </a:t>
            </a:r>
            <a:r>
              <a:rPr lang="ru-RU" dirty="0">
                <a:sym typeface="Symbol" panose="05050102010706020507" pitchFamily="18" charset="2"/>
              </a:rPr>
              <a:t> </a:t>
            </a:r>
            <a:r>
              <a:rPr lang="en-US" dirty="0">
                <a:sym typeface="Symbol" panose="05050102010706020507" pitchFamily="18" charset="2"/>
              </a:rPr>
              <a:t>R</a:t>
            </a:r>
            <a:r>
              <a:rPr lang="ru-RU" dirty="0">
                <a:sym typeface="Symbol" panose="05050102010706020507" pitchFamily="18" charset="2"/>
              </a:rPr>
              <a:t>, </a:t>
            </a:r>
            <a:r>
              <a:rPr lang="ru-RU" dirty="0"/>
              <a:t>ближайших к </a:t>
            </a:r>
            <a:r>
              <a:rPr lang="en-US" dirty="0"/>
              <a:t>x</a:t>
            </a:r>
            <a:r>
              <a:rPr lang="en-US" dirty="0">
                <a:sym typeface="Symbol" panose="05050102010706020507" pitchFamily="18" charset="2"/>
              </a:rPr>
              <a:t>)</a:t>
            </a:r>
            <a:endParaRPr lang="ru-RU" dirty="0"/>
          </a:p>
          <a:p>
            <a:pPr lvl="2"/>
            <a:r>
              <a:rPr lang="en-US" dirty="0"/>
              <a:t>Implementation defined</a:t>
            </a:r>
            <a:endParaRPr lang="ru-RU" dirty="0"/>
          </a:p>
          <a:p>
            <a:pPr lvl="1"/>
            <a:r>
              <a:rPr lang="ru-RU" dirty="0"/>
              <a:t>Иначе </a:t>
            </a:r>
            <a:r>
              <a:rPr lang="en-US" dirty="0"/>
              <a:t>(T)x undefined</a:t>
            </a:r>
            <a:endParaRPr lang="ru-RU" dirty="0"/>
          </a:p>
          <a:p>
            <a:pPr lvl="2"/>
            <a:r>
              <a:rPr lang="ru-RU" dirty="0"/>
              <a:t>Экзотика</a:t>
            </a:r>
          </a:p>
          <a:p>
            <a:pPr lvl="2"/>
            <a:r>
              <a:rPr lang="ru-RU" dirty="0"/>
              <a:t>Обязательно будет -</a:t>
            </a:r>
            <a:r>
              <a:rPr lang="ru-RU" dirty="0">
                <a:sym typeface="Symbol" panose="05050102010706020507" pitchFamily="18" charset="2"/>
              </a:rPr>
              <a:t> </a:t>
            </a:r>
            <a:r>
              <a:rPr lang="en-US" dirty="0">
                <a:sym typeface="Symbol" panose="05050102010706020507" pitchFamily="18" charset="2"/>
              </a:rPr>
              <a:t>R </a:t>
            </a:r>
            <a:r>
              <a:rPr lang="ru-RU" dirty="0">
                <a:sym typeface="Symbol" panose="05050102010706020507" pitchFamily="18" charset="2"/>
              </a:rPr>
              <a:t>и/или  </a:t>
            </a:r>
            <a:r>
              <a:rPr lang="en-US" dirty="0">
                <a:sym typeface="Symbol" panose="05050102010706020507" pitchFamily="18" charset="2"/>
              </a:rPr>
              <a:t>R</a:t>
            </a:r>
            <a:endParaRPr lang="ru-R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0E2822-3F92-4355-B47E-F2E8C9595EE5}" type="slidenum">
              <a:rPr lang="ru-RU" smtClean="0"/>
              <a:t>14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6525304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/>
              <a:t>Генерация указателя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ru-RU" dirty="0"/>
              <a:t>Массив типа Т неявно преобразуется </a:t>
            </a:r>
            <a:r>
              <a:rPr lang="ru-RU" b="1" baseline="30000" dirty="0"/>
              <a:t>(*)</a:t>
            </a:r>
            <a:r>
              <a:rPr lang="ru-RU" dirty="0"/>
              <a:t> в указатель </a:t>
            </a:r>
            <a:r>
              <a:rPr lang="en-US" dirty="0"/>
              <a:t>T* </a:t>
            </a:r>
            <a:endParaRPr lang="ru-RU" dirty="0"/>
          </a:p>
          <a:p>
            <a:pPr lvl="1"/>
            <a:r>
              <a:rPr lang="ru-RU" dirty="0"/>
              <a:t>Получим адрес нулевого элемента</a:t>
            </a:r>
          </a:p>
          <a:p>
            <a:pPr lvl="1"/>
            <a:r>
              <a:rPr lang="ru-RU" dirty="0"/>
              <a:t>Потеряем информацию о размере массива</a:t>
            </a:r>
          </a:p>
          <a:p>
            <a:pPr lvl="1"/>
            <a:r>
              <a:rPr lang="ru-RU" dirty="0"/>
              <a:t>Это преобразование называется </a:t>
            </a:r>
            <a:r>
              <a:rPr lang="ru-RU" dirty="0">
                <a:highlight>
                  <a:srgbClr val="00FFFF"/>
                </a:highlight>
              </a:rPr>
              <a:t>генерация указателя </a:t>
            </a:r>
            <a:r>
              <a:rPr lang="ru-RU" dirty="0"/>
              <a:t>(</a:t>
            </a:r>
            <a:r>
              <a:rPr lang="en-US" dirty="0"/>
              <a:t>pointer generation</a:t>
            </a:r>
            <a:r>
              <a:rPr lang="ru-RU" dirty="0"/>
              <a:t>)</a:t>
            </a:r>
          </a:p>
          <a:p>
            <a:pPr lvl="1"/>
            <a:endParaRPr lang="en-US" dirty="0"/>
          </a:p>
          <a:p>
            <a:pPr marL="457200" lvl="1" indent="0">
              <a:buNone/>
            </a:pPr>
            <a:r>
              <a:rPr lang="ru-RU" b="1" baseline="30000" dirty="0"/>
              <a:t>(*)</a:t>
            </a:r>
            <a:r>
              <a:rPr lang="ru-RU" b="1" dirty="0"/>
              <a:t> Кроме</a:t>
            </a:r>
            <a:r>
              <a:rPr lang="ru-RU" dirty="0"/>
              <a:t> случая, когда массив является</a:t>
            </a:r>
            <a:r>
              <a:rPr lang="en-US" dirty="0"/>
              <a:t> </a:t>
            </a:r>
            <a:endParaRPr lang="ru-RU" dirty="0"/>
          </a:p>
          <a:p>
            <a:pPr lvl="2"/>
            <a:r>
              <a:rPr lang="ru-RU" dirty="0"/>
              <a:t>Операндом </a:t>
            </a:r>
            <a:r>
              <a:rPr lang="en-US" dirty="0" err="1">
                <a:latin typeface="Consolas" panose="020B0609020204030204" pitchFamily="49" charset="0"/>
              </a:rPr>
              <a:t>sizeof</a:t>
            </a:r>
            <a:endParaRPr lang="ru-RU" dirty="0">
              <a:latin typeface="Consolas" panose="020B0609020204030204" pitchFamily="49" charset="0"/>
            </a:endParaRPr>
          </a:p>
          <a:p>
            <a:pPr lvl="3"/>
            <a:r>
              <a:rPr lang="ru-RU" dirty="0">
                <a:latin typeface="Consolas" panose="020B0609020204030204" pitchFamily="49" charset="0"/>
              </a:rPr>
              <a:t>Получим размер именно массива, а не указателя</a:t>
            </a:r>
            <a:endParaRPr lang="en-US" dirty="0"/>
          </a:p>
          <a:p>
            <a:pPr lvl="2"/>
            <a:r>
              <a:rPr lang="ru-RU" dirty="0"/>
              <a:t>Операндом унарного </a:t>
            </a:r>
            <a:r>
              <a:rPr lang="en-US" dirty="0">
                <a:latin typeface="Consolas" panose="020B0609020204030204" pitchFamily="49" charset="0"/>
              </a:rPr>
              <a:t>&amp;</a:t>
            </a:r>
            <a:endParaRPr lang="ru-RU" dirty="0">
              <a:latin typeface="Consolas" panose="020B0609020204030204" pitchFamily="49" charset="0"/>
            </a:endParaRPr>
          </a:p>
          <a:p>
            <a:pPr lvl="3"/>
            <a:r>
              <a:rPr lang="ru-RU" dirty="0">
                <a:latin typeface="Consolas" panose="020B0609020204030204" pitchFamily="49" charset="0"/>
              </a:rPr>
              <a:t>Получим указатель именно на массив, а не указатель на указатель</a:t>
            </a:r>
            <a:endParaRPr lang="en-US" dirty="0"/>
          </a:p>
          <a:p>
            <a:pPr lvl="2"/>
            <a:r>
              <a:rPr lang="ru-RU" dirty="0"/>
              <a:t>Строковым литералом, инициализирующим массив</a:t>
            </a:r>
          </a:p>
          <a:p>
            <a:endParaRPr lang="ru-R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0E2822-3F92-4355-B47E-F2E8C9595EE5}" type="slidenum">
              <a:rPr lang="ru-RU" smtClean="0"/>
              <a:t>15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4567408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Пример генерации указателя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solidFill>
            <a:schemeClr val="tx1">
              <a:lumMod val="95000"/>
              <a:lumOff val="5000"/>
            </a:schemeClr>
          </a:solidFill>
        </p:spPr>
        <p:txBody>
          <a:bodyPr/>
          <a:lstStyle/>
          <a:p>
            <a:pPr marL="0" indent="0">
              <a:buNone/>
            </a:pPr>
            <a:r>
              <a:rPr lang="ru-RU" dirty="0" err="1">
                <a:solidFill>
                  <a:srgbClr val="569CD6"/>
                </a:solidFill>
                <a:latin typeface="Consolas" panose="020B0609020204030204" pitchFamily="49" charset="0"/>
              </a:rPr>
              <a:t>int</a:t>
            </a:r>
            <a:r>
              <a:rPr lang="ru-RU" dirty="0">
                <a:solidFill>
                  <a:srgbClr val="D4D4D4"/>
                </a:solidFill>
                <a:latin typeface="Consolas" panose="020B0609020204030204" pitchFamily="49" charset="0"/>
              </a:rPr>
              <a:t> </a:t>
            </a:r>
            <a:r>
              <a:rPr lang="ru-RU" dirty="0">
                <a:solidFill>
                  <a:srgbClr val="9CDCFE"/>
                </a:solidFill>
                <a:latin typeface="Consolas" panose="020B0609020204030204" pitchFamily="49" charset="0"/>
              </a:rPr>
              <a:t>a</a:t>
            </a:r>
            <a:r>
              <a:rPr lang="ru-RU" dirty="0">
                <a:solidFill>
                  <a:srgbClr val="D4D4D4"/>
                </a:solidFill>
                <a:latin typeface="Consolas" panose="020B0609020204030204" pitchFamily="49" charset="0"/>
              </a:rPr>
              <a:t>[</a:t>
            </a:r>
            <a:r>
              <a:rPr lang="ru-RU" dirty="0">
                <a:solidFill>
                  <a:srgbClr val="B5CEA8"/>
                </a:solidFill>
                <a:latin typeface="Consolas" panose="020B0609020204030204" pitchFamily="49" charset="0"/>
              </a:rPr>
              <a:t>10</a:t>
            </a:r>
            <a:r>
              <a:rPr lang="ru-RU" dirty="0">
                <a:solidFill>
                  <a:srgbClr val="D4D4D4"/>
                </a:solidFill>
                <a:latin typeface="Consolas" panose="020B0609020204030204" pitchFamily="49" charset="0"/>
              </a:rPr>
              <a:t>] = {</a:t>
            </a:r>
            <a:r>
              <a:rPr lang="ru-RU" dirty="0">
                <a:solidFill>
                  <a:srgbClr val="B5CEA8"/>
                </a:solidFill>
                <a:latin typeface="Consolas" panose="020B0609020204030204" pitchFamily="49" charset="0"/>
              </a:rPr>
              <a:t>0</a:t>
            </a:r>
            <a:r>
              <a:rPr lang="ru-RU" dirty="0">
                <a:solidFill>
                  <a:srgbClr val="D4D4D4"/>
                </a:solidFill>
                <a:latin typeface="Consolas" panose="020B0609020204030204" pitchFamily="49" charset="0"/>
              </a:rPr>
              <a:t>};</a:t>
            </a:r>
          </a:p>
          <a:p>
            <a:pPr marL="0" indent="0">
              <a:buNone/>
            </a:pPr>
            <a:r>
              <a:rPr lang="ru-RU" dirty="0">
                <a:solidFill>
                  <a:srgbClr val="6A9955"/>
                </a:solidFill>
                <a:latin typeface="Consolas" panose="020B0609020204030204" pitchFamily="49" charset="0"/>
              </a:rPr>
              <a:t>// </a:t>
            </a:r>
            <a:r>
              <a:rPr lang="ru-RU" dirty="0" err="1">
                <a:solidFill>
                  <a:srgbClr val="6A9955"/>
                </a:solidFill>
                <a:latin typeface="Consolas" panose="020B0609020204030204" pitchFamily="49" charset="0"/>
              </a:rPr>
              <a:t>sizeof</a:t>
            </a:r>
            <a:r>
              <a:rPr lang="ru-RU" dirty="0">
                <a:solidFill>
                  <a:srgbClr val="6A9955"/>
                </a:solidFill>
                <a:latin typeface="Consolas" panose="020B0609020204030204" pitchFamily="49" charset="0"/>
              </a:rPr>
              <a:t>(a) == </a:t>
            </a:r>
            <a:r>
              <a:rPr lang="ru-RU" dirty="0" err="1">
                <a:solidFill>
                  <a:srgbClr val="6A9955"/>
                </a:solidFill>
                <a:latin typeface="Consolas" panose="020B0609020204030204" pitchFamily="49" charset="0"/>
              </a:rPr>
              <a:t>sizeof</a:t>
            </a:r>
            <a:r>
              <a:rPr lang="ru-RU" dirty="0">
                <a:solidFill>
                  <a:srgbClr val="6A9955"/>
                </a:solidFill>
                <a:latin typeface="Consolas" panose="020B0609020204030204" pitchFamily="49" charset="0"/>
              </a:rPr>
              <a:t>(</a:t>
            </a:r>
            <a:r>
              <a:rPr lang="ru-RU" dirty="0" err="1">
                <a:solidFill>
                  <a:srgbClr val="6A9955"/>
                </a:solidFill>
                <a:latin typeface="Consolas" panose="020B0609020204030204" pitchFamily="49" charset="0"/>
              </a:rPr>
              <a:t>int</a:t>
            </a:r>
            <a:r>
              <a:rPr lang="ru-RU" dirty="0">
                <a:solidFill>
                  <a:srgbClr val="6A9955"/>
                </a:solidFill>
                <a:latin typeface="Consolas" panose="020B0609020204030204" pitchFamily="49" charset="0"/>
              </a:rPr>
              <a:t>) * 10</a:t>
            </a:r>
            <a:endParaRPr lang="ru-RU" dirty="0">
              <a:solidFill>
                <a:srgbClr val="D4D4D4"/>
              </a:solidFill>
              <a:latin typeface="Consolas" panose="020B0609020204030204" pitchFamily="49" charset="0"/>
            </a:endParaRPr>
          </a:p>
          <a:p>
            <a:pPr marL="0" indent="0">
              <a:buNone/>
            </a:pPr>
            <a:endParaRPr lang="ru-RU" dirty="0">
              <a:solidFill>
                <a:srgbClr val="6A9955"/>
              </a:solidFill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ru-RU" dirty="0">
                <a:solidFill>
                  <a:srgbClr val="6A9955"/>
                </a:solidFill>
                <a:latin typeface="Consolas" panose="020B0609020204030204" pitchFamily="49" charset="0"/>
              </a:rPr>
              <a:t>// Тип &amp;a -- «указатель на массив из 10 </a:t>
            </a:r>
            <a:r>
              <a:rPr lang="en-US" dirty="0">
                <a:solidFill>
                  <a:srgbClr val="6A9955"/>
                </a:solidFill>
                <a:latin typeface="Consolas" panose="020B0609020204030204" pitchFamily="49" charset="0"/>
              </a:rPr>
              <a:t>int</a:t>
            </a:r>
            <a:r>
              <a:rPr lang="ru-RU" dirty="0">
                <a:solidFill>
                  <a:srgbClr val="6A9955"/>
                </a:solidFill>
                <a:latin typeface="Consolas" panose="020B0609020204030204" pitchFamily="49" charset="0"/>
              </a:rPr>
              <a:t>»</a:t>
            </a:r>
          </a:p>
          <a:p>
            <a:pPr marL="0" indent="0">
              <a:buNone/>
            </a:pPr>
            <a:endParaRPr lang="ru-RU" dirty="0">
              <a:solidFill>
                <a:srgbClr val="6A9955"/>
              </a:solidFill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ru-RU" dirty="0">
                <a:solidFill>
                  <a:srgbClr val="6A9955"/>
                </a:solidFill>
                <a:latin typeface="Consolas" panose="020B0609020204030204" pitchFamily="49" charset="0"/>
              </a:rPr>
              <a:t>// Запись на Си -- </a:t>
            </a:r>
            <a:r>
              <a:rPr lang="ru-RU" dirty="0" err="1">
                <a:solidFill>
                  <a:srgbClr val="6A9955"/>
                </a:solidFill>
                <a:latin typeface="Consolas" panose="020B0609020204030204" pitchFamily="49" charset="0"/>
              </a:rPr>
              <a:t>int</a:t>
            </a:r>
            <a:r>
              <a:rPr lang="ru-RU" dirty="0">
                <a:solidFill>
                  <a:srgbClr val="6A9955"/>
                </a:solidFill>
                <a:latin typeface="Consolas" panose="020B0609020204030204" pitchFamily="49" charset="0"/>
              </a:rPr>
              <a:t> (*)[10]</a:t>
            </a:r>
            <a:endParaRPr lang="ru-RU" dirty="0">
              <a:solidFill>
                <a:srgbClr val="D4D4D4"/>
              </a:solidFill>
              <a:latin typeface="Consolas" panose="020B0609020204030204" pitchFamily="49" charset="0"/>
            </a:endParaRPr>
          </a:p>
          <a:p>
            <a:pPr marL="0" indent="0">
              <a:buNone/>
            </a:pPr>
            <a:endParaRPr lang="ru-RU" dirty="0">
              <a:solidFill>
                <a:srgbClr val="6A9955"/>
              </a:solidFill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ru-RU" dirty="0">
                <a:solidFill>
                  <a:srgbClr val="6A9955"/>
                </a:solidFill>
                <a:latin typeface="Consolas" panose="020B0609020204030204" pitchFamily="49" charset="0"/>
              </a:rPr>
              <a:t>// С точностью до типа верно &amp;a + 1 == a + 10</a:t>
            </a:r>
            <a:endParaRPr lang="ru-RU" dirty="0">
              <a:solidFill>
                <a:srgbClr val="D4D4D4"/>
              </a:solidFill>
              <a:latin typeface="Consolas" panose="020B0609020204030204" pitchFamily="49" charset="0"/>
            </a:endParaRPr>
          </a:p>
          <a:p>
            <a:endParaRPr lang="ru-R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0E2822-3F92-4355-B47E-F2E8C9595EE5}" type="slidenum">
              <a:rPr lang="ru-RU" smtClean="0"/>
              <a:t>16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8185947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/>
              <a:t>Преобразование функции в указатель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lang="ru-RU" dirty="0"/>
          </a:p>
          <a:p>
            <a:r>
              <a:rPr lang="ru-RU" dirty="0"/>
              <a:t>Тип «функция» неявно преобразуется</a:t>
            </a:r>
            <a:r>
              <a:rPr lang="en-US" dirty="0"/>
              <a:t> </a:t>
            </a:r>
            <a:r>
              <a:rPr lang="ru-RU" b="1" baseline="30000" dirty="0"/>
              <a:t>(*)</a:t>
            </a:r>
            <a:r>
              <a:rPr lang="ru-RU" dirty="0"/>
              <a:t> к типу «указатель на функцию»</a:t>
            </a:r>
          </a:p>
          <a:p>
            <a:endParaRPr lang="ru-RU" dirty="0"/>
          </a:p>
          <a:p>
            <a:pPr marL="457200" lvl="1" indent="0">
              <a:buNone/>
            </a:pPr>
            <a:r>
              <a:rPr lang="ru-RU" b="1" baseline="30000" dirty="0"/>
              <a:t>(*)</a:t>
            </a:r>
            <a:r>
              <a:rPr lang="ru-RU" b="1" dirty="0"/>
              <a:t> Кроме</a:t>
            </a:r>
            <a:endParaRPr lang="ru-RU" dirty="0"/>
          </a:p>
          <a:p>
            <a:pPr lvl="2"/>
            <a:r>
              <a:rPr lang="ru-RU" dirty="0"/>
              <a:t>Операнда </a:t>
            </a:r>
            <a:r>
              <a:rPr lang="en-US" dirty="0" err="1">
                <a:latin typeface="Consolas" panose="020B0609020204030204" pitchFamily="49" charset="0"/>
              </a:rPr>
              <a:t>sizeof</a:t>
            </a:r>
            <a:endParaRPr lang="ru-RU" dirty="0">
              <a:latin typeface="Consolas" panose="020B0609020204030204" pitchFamily="49" charset="0"/>
            </a:endParaRPr>
          </a:p>
          <a:p>
            <a:pPr lvl="3"/>
            <a:r>
              <a:rPr lang="ru-RU" dirty="0"/>
              <a:t>Операнду </a:t>
            </a:r>
            <a:r>
              <a:rPr lang="en-US" sz="2000" dirty="0" err="1">
                <a:latin typeface="Consolas" panose="020B0609020204030204" pitchFamily="49" charset="0"/>
              </a:rPr>
              <a:t>sizeof</a:t>
            </a:r>
            <a:r>
              <a:rPr lang="ru-RU" dirty="0"/>
              <a:t> запрещено иметь тип «функция»</a:t>
            </a:r>
          </a:p>
          <a:p>
            <a:pPr lvl="2"/>
            <a:r>
              <a:rPr lang="ru-RU" dirty="0"/>
              <a:t>Операнда унарного </a:t>
            </a:r>
            <a:r>
              <a:rPr lang="en-US" dirty="0">
                <a:latin typeface="Consolas" panose="020B0609020204030204" pitchFamily="49" charset="0"/>
              </a:rPr>
              <a:t>&amp;</a:t>
            </a:r>
            <a:endParaRPr lang="ru-RU" dirty="0">
              <a:latin typeface="Consolas" panose="020B0609020204030204" pitchFamily="49" charset="0"/>
            </a:endParaRPr>
          </a:p>
          <a:p>
            <a:pPr lvl="3"/>
            <a:r>
              <a:rPr lang="ru-RU" dirty="0"/>
              <a:t>Получим адрес первой инструкции функции, а не указатель на указатель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0E2822-3F92-4355-B47E-F2E8C9595EE5}" type="slidenum">
              <a:rPr lang="ru-RU" smtClean="0"/>
              <a:t>17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5797405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D94355-4839-9A48-F1F0-2A5430FB10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4000" dirty="0"/>
              <a:t>Пример преобразования функции в указатель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B963A0-69B7-9D9D-73D2-9E0D7506CBAB}"/>
              </a:ext>
            </a:extLst>
          </p:cNvPr>
          <p:cNvSpPr>
            <a:spLocks noGrp="1"/>
          </p:cNvSpPr>
          <p:nvPr>
            <p:ph idx="1"/>
          </p:nvPr>
        </p:nvSpPr>
        <p:spPr>
          <a:solidFill>
            <a:schemeClr val="tx1">
              <a:lumMod val="95000"/>
              <a:lumOff val="5000"/>
            </a:schemeClr>
          </a:solidFill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sz="1800" b="0" dirty="0">
                <a:solidFill>
                  <a:srgbClr val="9B9B9B"/>
                </a:solidFill>
                <a:effectLst/>
                <a:latin typeface="Consolas" panose="020B0609020204030204" pitchFamily="49" charset="0"/>
              </a:rPr>
              <a:t>#include</a:t>
            </a:r>
            <a:r>
              <a:rPr lang="en-US" sz="18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8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sz="1800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stdio.h</a:t>
            </a:r>
            <a:r>
              <a:rPr lang="en-US" sz="18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&gt;</a:t>
            </a:r>
            <a:endParaRPr lang="en-US" sz="18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18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sz="1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800" b="0" dirty="0" err="1">
                <a:solidFill>
                  <a:srgbClr val="C8C8C8"/>
                </a:solidFill>
                <a:effectLst/>
                <a:latin typeface="Consolas" panose="020B0609020204030204" pitchFamily="49" charset="0"/>
              </a:rPr>
              <a:t>i_am_function</a:t>
            </a:r>
            <a:r>
              <a:rPr lang="en-US" sz="1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() {</a:t>
            </a:r>
          </a:p>
          <a:p>
            <a:pPr marL="0" indent="0">
              <a:buNone/>
            </a:pPr>
            <a:r>
              <a:rPr lang="en-US" sz="1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800" b="0" dirty="0" err="1">
                <a:solidFill>
                  <a:srgbClr val="C8C8C8"/>
                </a:solidFill>
                <a:effectLst/>
                <a:latin typeface="Consolas" panose="020B0609020204030204" pitchFamily="49" charset="0"/>
              </a:rPr>
              <a:t>printf</a:t>
            </a:r>
            <a:r>
              <a:rPr lang="en-US" sz="1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8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"why do you call me?\n"</a:t>
            </a:r>
            <a:r>
              <a:rPr lang="en-US" sz="1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 marL="0" indent="0">
              <a:buNone/>
            </a:pPr>
            <a:r>
              <a:rPr lang="en-US" sz="1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pPr marL="0" indent="0">
              <a:buNone/>
            </a:pPr>
            <a:r>
              <a:rPr lang="en-US" sz="18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800" b="0" dirty="0">
                <a:solidFill>
                  <a:srgbClr val="C8C8C8"/>
                </a:solidFill>
                <a:effectLst/>
                <a:latin typeface="Consolas" panose="020B0609020204030204" pitchFamily="49" charset="0"/>
              </a:rPr>
              <a:t>main</a:t>
            </a:r>
            <a:r>
              <a:rPr lang="en-US" sz="1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() {</a:t>
            </a:r>
          </a:p>
          <a:p>
            <a:pPr marL="0" indent="0">
              <a:buNone/>
            </a:pPr>
            <a:r>
              <a:rPr lang="en-US" sz="1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8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sz="1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sz="1800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i_am_function</a:t>
            </a:r>
            <a:r>
              <a:rPr lang="en-US" sz="1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== &amp;</a:t>
            </a:r>
            <a:r>
              <a:rPr lang="en-US" sz="1800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i_am_function</a:t>
            </a:r>
            <a:r>
              <a:rPr lang="en-US" sz="1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pPr marL="0" indent="0">
              <a:buNone/>
            </a:pPr>
            <a:r>
              <a:rPr lang="en-US" sz="1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        </a:t>
            </a:r>
            <a:r>
              <a:rPr lang="en-US" sz="18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sz="1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(*</a:t>
            </a:r>
            <a:r>
              <a:rPr lang="en-US" sz="1800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i_point_to_function</a:t>
            </a:r>
            <a:r>
              <a:rPr lang="en-US" sz="1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)() = </a:t>
            </a:r>
            <a:r>
              <a:rPr lang="en-US" sz="1800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i_am_function</a:t>
            </a:r>
            <a:r>
              <a:rPr lang="en-US" sz="1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marL="0" indent="0">
              <a:buNone/>
            </a:pPr>
            <a:r>
              <a:rPr lang="en-US" sz="1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        </a:t>
            </a:r>
            <a:r>
              <a:rPr lang="en-US" sz="1800" b="0" dirty="0" err="1">
                <a:solidFill>
                  <a:srgbClr val="C8C8C8"/>
                </a:solidFill>
                <a:effectLst/>
                <a:latin typeface="Consolas" panose="020B0609020204030204" pitchFamily="49" charset="0"/>
              </a:rPr>
              <a:t>i_point_to_function</a:t>
            </a:r>
            <a:r>
              <a:rPr lang="en-US" sz="1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();</a:t>
            </a:r>
          </a:p>
          <a:p>
            <a:pPr marL="0" indent="0">
              <a:buNone/>
            </a:pPr>
            <a:r>
              <a:rPr lang="en-US" sz="1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        (&amp;</a:t>
            </a:r>
            <a:r>
              <a:rPr lang="en-US" sz="1800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i_am_function</a:t>
            </a:r>
            <a:r>
              <a:rPr lang="en-US" sz="1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)();</a:t>
            </a:r>
          </a:p>
          <a:p>
            <a:pPr marL="0" indent="0">
              <a:buNone/>
            </a:pPr>
            <a:r>
              <a:rPr lang="en-US" sz="1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        (*</a:t>
            </a:r>
            <a:r>
              <a:rPr lang="en-US" sz="1800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i_am_function</a:t>
            </a:r>
            <a:r>
              <a:rPr lang="en-US" sz="1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)();</a:t>
            </a:r>
          </a:p>
          <a:p>
            <a:pPr marL="0" indent="0">
              <a:buNone/>
            </a:pPr>
            <a:r>
              <a:rPr lang="en-US" sz="1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        </a:t>
            </a:r>
            <a:r>
              <a:rPr lang="en-US" sz="1800" b="0" dirty="0" err="1">
                <a:solidFill>
                  <a:srgbClr val="C8C8C8"/>
                </a:solidFill>
                <a:effectLst/>
                <a:latin typeface="Consolas" panose="020B0609020204030204" pitchFamily="49" charset="0"/>
              </a:rPr>
              <a:t>i_am_function</a:t>
            </a:r>
            <a:r>
              <a:rPr lang="en-US" sz="1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();</a:t>
            </a:r>
          </a:p>
          <a:p>
            <a:pPr marL="0" indent="0">
              <a:buNone/>
            </a:pPr>
            <a:r>
              <a:rPr lang="en-US" sz="1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}</a:t>
            </a:r>
          </a:p>
          <a:p>
            <a:pPr marL="0" indent="0">
              <a:buNone/>
            </a:pPr>
            <a:r>
              <a:rPr lang="en-US" sz="1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8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sz="1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8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sz="1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marL="0" indent="0">
              <a:buNone/>
            </a:pPr>
            <a:r>
              <a:rPr lang="en-US" sz="1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}</a:t>
            </a:r>
            <a:endParaRPr lang="ru-RU" sz="1800" dirty="0"/>
          </a:p>
        </p:txBody>
      </p:sp>
    </p:spTree>
    <p:extLst>
      <p:ext uri="{BB962C8B-B14F-4D97-AF65-F5344CB8AC3E}">
        <p14:creationId xmlns:p14="http://schemas.microsoft.com/office/powerpoint/2010/main" val="404787151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/>
              <a:t>Преобразование к </a:t>
            </a:r>
            <a:r>
              <a:rPr lang="en-US" dirty="0">
                <a:latin typeface="Consolas" panose="020B0609020204030204" pitchFamily="49" charset="0"/>
              </a:rPr>
              <a:t>void</a:t>
            </a:r>
            <a:endParaRPr lang="ru-RU" dirty="0">
              <a:latin typeface="Consolas" panose="020B0609020204030204" pitchFamily="49" charset="0"/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-RU" dirty="0"/>
              <a:t>Любой тип можно преобразовать к </a:t>
            </a:r>
            <a:r>
              <a:rPr lang="en-US" sz="2400" dirty="0">
                <a:latin typeface="Consolas" panose="020B0609020204030204" pitchFamily="49" charset="0"/>
              </a:rPr>
              <a:t>void</a:t>
            </a:r>
            <a:r>
              <a:rPr lang="ru-RU" dirty="0"/>
              <a:t> </a:t>
            </a:r>
          </a:p>
          <a:p>
            <a:pPr lvl="1"/>
            <a:r>
              <a:rPr lang="ru-RU" dirty="0"/>
              <a:t>При выполнении </a:t>
            </a:r>
            <a:r>
              <a:rPr lang="en-US" dirty="0">
                <a:latin typeface="Consolas" panose="020B0609020204030204" pitchFamily="49" charset="0"/>
              </a:rPr>
              <a:t>(void)x </a:t>
            </a:r>
            <a:r>
              <a:rPr lang="ru-RU" dirty="0"/>
              <a:t>выражение </a:t>
            </a:r>
            <a:r>
              <a:rPr lang="en-US" dirty="0">
                <a:latin typeface="Consolas" panose="020B0609020204030204" pitchFamily="49" charset="0"/>
              </a:rPr>
              <a:t>x</a:t>
            </a:r>
            <a:r>
              <a:rPr lang="en-US" dirty="0"/>
              <a:t> </a:t>
            </a:r>
            <a:r>
              <a:rPr lang="ru-RU" dirty="0"/>
              <a:t>вычисляется</a:t>
            </a:r>
          </a:p>
          <a:p>
            <a:pPr lvl="1"/>
            <a:r>
              <a:rPr lang="ru-RU" dirty="0"/>
              <a:t>Значение </a:t>
            </a:r>
            <a:r>
              <a:rPr lang="en-US" dirty="0">
                <a:latin typeface="Consolas" panose="020B0609020204030204" pitchFamily="49" charset="0"/>
              </a:rPr>
              <a:t>(void)x </a:t>
            </a:r>
            <a:r>
              <a:rPr lang="ru-RU" dirty="0"/>
              <a:t>имеет тип </a:t>
            </a:r>
            <a:r>
              <a:rPr lang="en-US" dirty="0">
                <a:latin typeface="Consolas" panose="020B0609020204030204" pitchFamily="49" charset="0"/>
              </a:rPr>
              <a:t>void</a:t>
            </a:r>
          </a:p>
          <a:p>
            <a:pPr lvl="1"/>
            <a:endParaRPr lang="en-US" dirty="0"/>
          </a:p>
          <a:p>
            <a:r>
              <a:rPr lang="ru-RU" dirty="0"/>
              <a:t>Выражение верхнего уровня неявно преобразуется к </a:t>
            </a:r>
            <a:r>
              <a:rPr lang="en-US" sz="2400" dirty="0">
                <a:latin typeface="Consolas" panose="020B0609020204030204" pitchFamily="49" charset="0"/>
              </a:rPr>
              <a:t>void</a:t>
            </a:r>
            <a:endParaRPr lang="ru-RU" sz="2400" dirty="0">
              <a:latin typeface="Consolas" panose="020B0609020204030204" pitchFamily="49" charset="0"/>
            </a:endParaRPr>
          </a:p>
          <a:p>
            <a:pPr lvl="1"/>
            <a:r>
              <a:rPr lang="en-US" dirty="0">
                <a:highlight>
                  <a:srgbClr val="C0C0C0"/>
                </a:highlight>
                <a:latin typeface="Consolas" panose="020B0609020204030204" pitchFamily="49" charset="0"/>
              </a:rPr>
              <a:t>x;</a:t>
            </a:r>
            <a:r>
              <a:rPr lang="en-US" dirty="0"/>
              <a:t> </a:t>
            </a:r>
            <a:r>
              <a:rPr lang="ru-RU" dirty="0"/>
              <a:t>имеет смысл </a:t>
            </a:r>
            <a:r>
              <a:rPr lang="ru-RU" dirty="0">
                <a:highlight>
                  <a:srgbClr val="C0C0C0"/>
                </a:highlight>
                <a:latin typeface="Consolas" panose="020B0609020204030204" pitchFamily="49" charset="0"/>
              </a:rPr>
              <a:t>(</a:t>
            </a:r>
            <a:r>
              <a:rPr lang="en-US" dirty="0">
                <a:highlight>
                  <a:srgbClr val="C0C0C0"/>
                </a:highlight>
                <a:latin typeface="Consolas" panose="020B0609020204030204" pitchFamily="49" charset="0"/>
              </a:rPr>
              <a:t>void</a:t>
            </a:r>
            <a:r>
              <a:rPr lang="ru-RU" dirty="0">
                <a:highlight>
                  <a:srgbClr val="C0C0C0"/>
                </a:highlight>
                <a:latin typeface="Consolas" panose="020B0609020204030204" pitchFamily="49" charset="0"/>
              </a:rPr>
              <a:t>)</a:t>
            </a:r>
            <a:r>
              <a:rPr lang="en-US" dirty="0">
                <a:highlight>
                  <a:srgbClr val="C0C0C0"/>
                </a:highlight>
                <a:latin typeface="Consolas" panose="020B0609020204030204" pitchFamily="49" charset="0"/>
              </a:rPr>
              <a:t>x;</a:t>
            </a:r>
            <a:endParaRPr lang="ru-RU" dirty="0">
              <a:highlight>
                <a:srgbClr val="C0C0C0"/>
              </a:highlight>
              <a:latin typeface="Consolas" panose="020B0609020204030204" pitchFamily="49" charset="0"/>
            </a:endParaRPr>
          </a:p>
          <a:p>
            <a:endParaRPr lang="ru-RU" dirty="0"/>
          </a:p>
          <a:p>
            <a:r>
              <a:rPr lang="ru-RU" dirty="0"/>
              <a:t>Сам </a:t>
            </a:r>
            <a:r>
              <a:rPr lang="en-US" sz="2400" dirty="0">
                <a:latin typeface="Consolas" panose="020B0609020204030204" pitchFamily="49" charset="0"/>
              </a:rPr>
              <a:t>void</a:t>
            </a:r>
            <a:r>
              <a:rPr lang="en-US" dirty="0"/>
              <a:t> </a:t>
            </a:r>
            <a:r>
              <a:rPr lang="ru-RU" dirty="0"/>
              <a:t>можно преобразовать только к </a:t>
            </a:r>
            <a:r>
              <a:rPr lang="en-US" sz="2400" dirty="0">
                <a:latin typeface="Consolas" panose="020B0609020204030204" pitchFamily="49" charset="0"/>
              </a:rPr>
              <a:t>void</a:t>
            </a:r>
            <a:endParaRPr lang="ru-RU" sz="2400" dirty="0">
              <a:latin typeface="Consolas" panose="020B0609020204030204" pitchFamily="49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0E2822-3F92-4355-B47E-F2E8C9595EE5}" type="slidenum">
              <a:rPr lang="ru-RU" smtClean="0"/>
              <a:t>19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0701345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/>
              <a:t>Неявные преобразования указателей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ru-RU" sz="2800" dirty="0"/>
              <a:t>Целое 0 в любой </a:t>
            </a:r>
            <a:r>
              <a:rPr lang="en-US" dirty="0">
                <a:latin typeface="Consolas" panose="020B0609020204030204" pitchFamily="49" charset="0"/>
              </a:rPr>
              <a:t>T*</a:t>
            </a:r>
            <a:endParaRPr lang="ru-RU" dirty="0">
              <a:latin typeface="Consolas" panose="020B0609020204030204" pitchFamily="49" charset="0"/>
            </a:endParaRPr>
          </a:p>
          <a:p>
            <a:pPr lvl="1"/>
            <a:r>
              <a:rPr lang="ru-RU" sz="2400" dirty="0"/>
              <a:t>Получается указатель</a:t>
            </a:r>
            <a:r>
              <a:rPr lang="en-US" sz="2400" dirty="0"/>
              <a:t> </a:t>
            </a:r>
            <a:r>
              <a:rPr lang="en-US" dirty="0">
                <a:latin typeface="Consolas" panose="020B0609020204030204" pitchFamily="49" charset="0"/>
              </a:rPr>
              <a:t>NULL</a:t>
            </a:r>
            <a:endParaRPr lang="ru-RU" dirty="0">
              <a:latin typeface="Consolas" panose="020B0609020204030204" pitchFamily="49" charset="0"/>
            </a:endParaRPr>
          </a:p>
          <a:p>
            <a:endParaRPr lang="ru-RU" sz="2800" dirty="0"/>
          </a:p>
          <a:p>
            <a:r>
              <a:rPr lang="en-US" sz="2800" dirty="0">
                <a:latin typeface="Consolas" panose="020B0609020204030204" pitchFamily="49" charset="0"/>
              </a:rPr>
              <a:t>void</a:t>
            </a:r>
            <a:r>
              <a:rPr lang="en-US" dirty="0">
                <a:latin typeface="Consolas" panose="020B0609020204030204" pitchFamily="49" charset="0"/>
              </a:rPr>
              <a:t>*</a:t>
            </a:r>
            <a:r>
              <a:rPr lang="en-US" sz="2800" dirty="0"/>
              <a:t> </a:t>
            </a:r>
            <a:r>
              <a:rPr lang="ru-RU" sz="2800" dirty="0"/>
              <a:t>в любой </a:t>
            </a:r>
            <a:r>
              <a:rPr lang="ru-RU" dirty="0">
                <a:latin typeface="Consolas" panose="020B0609020204030204" pitchFamily="49" charset="0"/>
              </a:rPr>
              <a:t>Т*</a:t>
            </a:r>
            <a:endParaRPr lang="en-US" dirty="0">
              <a:latin typeface="Consolas" panose="020B0609020204030204" pitchFamily="49" charset="0"/>
            </a:endParaRPr>
          </a:p>
          <a:p>
            <a:r>
              <a:rPr lang="ru-RU" sz="2800" dirty="0"/>
              <a:t>Любой </a:t>
            </a:r>
            <a:r>
              <a:rPr lang="ru-RU" dirty="0">
                <a:latin typeface="Consolas" panose="020B0609020204030204" pitchFamily="49" charset="0"/>
              </a:rPr>
              <a:t>Т*</a:t>
            </a:r>
            <a:r>
              <a:rPr lang="ru-RU" sz="2800" dirty="0"/>
              <a:t> в </a:t>
            </a:r>
            <a:r>
              <a:rPr lang="en-US" dirty="0">
                <a:latin typeface="Consolas" panose="020B0609020204030204" pitchFamily="49" charset="0"/>
              </a:rPr>
              <a:t>void</a:t>
            </a:r>
            <a:r>
              <a:rPr lang="ru-RU" dirty="0">
                <a:latin typeface="Consolas" panose="020B0609020204030204" pitchFamily="49" charset="0"/>
              </a:rPr>
              <a:t>*</a:t>
            </a:r>
          </a:p>
          <a:p>
            <a:r>
              <a:rPr lang="ru-RU" sz="2800" dirty="0"/>
              <a:t>Любой </a:t>
            </a:r>
            <a:r>
              <a:rPr lang="en-US" dirty="0">
                <a:latin typeface="Consolas" panose="020B0609020204030204" pitchFamily="49" charset="0"/>
              </a:rPr>
              <a:t>T</a:t>
            </a:r>
            <a:r>
              <a:rPr lang="ru-RU" dirty="0">
                <a:latin typeface="Consolas" panose="020B0609020204030204" pitchFamily="49" charset="0"/>
              </a:rPr>
              <a:t>*</a:t>
            </a:r>
            <a:r>
              <a:rPr lang="en-US" sz="2800" dirty="0"/>
              <a:t> </a:t>
            </a:r>
            <a:r>
              <a:rPr lang="ru-RU" sz="2800" dirty="0"/>
              <a:t>в </a:t>
            </a:r>
            <a:r>
              <a:rPr lang="en-US" dirty="0">
                <a:latin typeface="Consolas" panose="020B0609020204030204" pitchFamily="49" charset="0"/>
              </a:rPr>
              <a:t>const T</a:t>
            </a:r>
            <a:r>
              <a:rPr lang="ru-RU" dirty="0">
                <a:latin typeface="Consolas" panose="020B0609020204030204" pitchFamily="49" charset="0"/>
              </a:rPr>
              <a:t>*</a:t>
            </a:r>
            <a:r>
              <a:rPr lang="en-US" sz="2800" dirty="0"/>
              <a:t> </a:t>
            </a:r>
            <a:r>
              <a:rPr lang="ru-RU" sz="2800" dirty="0"/>
              <a:t>и </a:t>
            </a:r>
            <a:r>
              <a:rPr lang="en-US" dirty="0">
                <a:latin typeface="Consolas" panose="020B0609020204030204" pitchFamily="49" charset="0"/>
              </a:rPr>
              <a:t>volatile T</a:t>
            </a:r>
            <a:r>
              <a:rPr lang="ru-RU" dirty="0">
                <a:latin typeface="Consolas" panose="020B0609020204030204" pitchFamily="49" charset="0"/>
              </a:rPr>
              <a:t>*</a:t>
            </a:r>
          </a:p>
          <a:p>
            <a:pPr lvl="1"/>
            <a:r>
              <a:rPr lang="ru-RU" dirty="0">
                <a:highlight>
                  <a:srgbClr val="00FFFF"/>
                </a:highlight>
              </a:rPr>
              <a:t>«Навешивание»</a:t>
            </a:r>
            <a:r>
              <a:rPr lang="ru-RU" dirty="0">
                <a:highlight>
                  <a:srgbClr val="00FFFF"/>
                </a:highlight>
                <a:latin typeface="Consolas" panose="020B0609020204030204" pitchFamily="49" charset="0"/>
              </a:rPr>
              <a:t> </a:t>
            </a:r>
            <a:r>
              <a:rPr lang="en-US" dirty="0">
                <a:highlight>
                  <a:srgbClr val="00FFFF"/>
                </a:highlight>
                <a:latin typeface="Consolas" panose="020B0609020204030204" pitchFamily="49" charset="0"/>
              </a:rPr>
              <a:t>const/volatile</a:t>
            </a:r>
            <a:endParaRPr lang="ru-RU" dirty="0">
              <a:highlight>
                <a:srgbClr val="00FFFF"/>
              </a:highlight>
              <a:latin typeface="Consolas" panose="020B0609020204030204" pitchFamily="49" charset="0"/>
            </a:endParaRPr>
          </a:p>
          <a:p>
            <a:endParaRPr lang="ru-RU" sz="2800" dirty="0"/>
          </a:p>
          <a:p>
            <a:r>
              <a:rPr lang="ru-RU" sz="2800" dirty="0"/>
              <a:t>Во всех случаях:</a:t>
            </a:r>
          </a:p>
          <a:p>
            <a:pPr lvl="1"/>
            <a:r>
              <a:rPr lang="ru-RU" sz="2400" dirty="0"/>
              <a:t>Меняется только тип выражения</a:t>
            </a:r>
          </a:p>
          <a:p>
            <a:pPr lvl="1"/>
            <a:r>
              <a:rPr lang="ru-RU" sz="2400" dirty="0"/>
              <a:t>Значение указателя не меняется</a:t>
            </a:r>
          </a:p>
          <a:p>
            <a:pPr lvl="1"/>
            <a:r>
              <a:rPr lang="en-US" sz="2400" dirty="0"/>
              <a:t>well-defined</a:t>
            </a:r>
            <a:endParaRPr lang="ru-RU" sz="2400" dirty="0"/>
          </a:p>
          <a:p>
            <a:endParaRPr lang="ru-RU" sz="28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0E2822-3F92-4355-B47E-F2E8C9595EE5}" type="slidenum">
              <a:rPr lang="ru-RU" smtClean="0"/>
              <a:t>20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7956690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/>
              <a:t>Явные преобразования указателей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ru-RU" sz="2800" dirty="0"/>
              <a:t>Целое в </a:t>
            </a:r>
            <a:r>
              <a:rPr lang="en-US" sz="2800" dirty="0"/>
              <a:t>T</a:t>
            </a:r>
            <a:r>
              <a:rPr lang="en-US" sz="2800" dirty="0">
                <a:latin typeface="Consolas" panose="020B0609020204030204" pitchFamily="49" charset="0"/>
              </a:rPr>
              <a:t>*</a:t>
            </a:r>
            <a:endParaRPr lang="ru-RU" sz="2800" dirty="0">
              <a:latin typeface="Consolas" panose="020B0609020204030204" pitchFamily="49" charset="0"/>
            </a:endParaRPr>
          </a:p>
          <a:p>
            <a:pPr lvl="1"/>
            <a:r>
              <a:rPr lang="en-US" sz="2400" dirty="0"/>
              <a:t>Implementation-defined</a:t>
            </a:r>
          </a:p>
          <a:p>
            <a:pPr lvl="1"/>
            <a:r>
              <a:rPr lang="ru-RU" sz="2400" dirty="0"/>
              <a:t>Если целое не</a:t>
            </a:r>
            <a:r>
              <a:rPr lang="en-US" sz="2400" dirty="0"/>
              <a:t> </a:t>
            </a:r>
            <a:r>
              <a:rPr lang="ru-RU" sz="2400" dirty="0"/>
              <a:t>кратно </a:t>
            </a:r>
            <a:r>
              <a:rPr lang="en-US" dirty="0" err="1">
                <a:latin typeface="Consolas" panose="020B0609020204030204" pitchFamily="49" charset="0"/>
              </a:rPr>
              <a:t>alignof</a:t>
            </a:r>
            <a:r>
              <a:rPr lang="ru-RU" sz="2400" dirty="0"/>
              <a:t>(</a:t>
            </a:r>
            <a:r>
              <a:rPr lang="en-US" sz="2400" dirty="0"/>
              <a:t>T</a:t>
            </a:r>
            <a:r>
              <a:rPr lang="ru-RU" sz="2400" dirty="0"/>
              <a:t>)</a:t>
            </a:r>
            <a:r>
              <a:rPr lang="en-US" sz="2400" dirty="0"/>
              <a:t>, </a:t>
            </a:r>
            <a:r>
              <a:rPr lang="ru-RU" sz="2400" dirty="0"/>
              <a:t>результат может быть указателем-ловушкой</a:t>
            </a:r>
          </a:p>
          <a:p>
            <a:pPr lvl="2"/>
            <a:endParaRPr lang="en-US" dirty="0"/>
          </a:p>
          <a:p>
            <a:r>
              <a:rPr lang="ru-RU" sz="2800" dirty="0"/>
              <a:t>Указатель </a:t>
            </a:r>
            <a:r>
              <a:rPr lang="ru-RU" sz="2900" dirty="0">
                <a:latin typeface="+mj-lt"/>
              </a:rPr>
              <a:t>Т</a:t>
            </a:r>
            <a:r>
              <a:rPr lang="ru-RU" sz="2900" dirty="0">
                <a:latin typeface="Consolas" panose="020B0609020204030204" pitchFamily="49" charset="0"/>
              </a:rPr>
              <a:t>*</a:t>
            </a:r>
            <a:r>
              <a:rPr lang="ru-RU" sz="2800" dirty="0"/>
              <a:t> в целое типа </a:t>
            </a:r>
            <a:r>
              <a:rPr lang="ru-RU" sz="2900" dirty="0">
                <a:latin typeface="+mj-lt"/>
              </a:rPr>
              <a:t>Т1</a:t>
            </a:r>
          </a:p>
          <a:p>
            <a:pPr lvl="1"/>
            <a:r>
              <a:rPr lang="en-US" sz="2400" dirty="0"/>
              <a:t>Implementation-defined,</a:t>
            </a:r>
            <a:r>
              <a:rPr lang="ru-RU" sz="2400" dirty="0"/>
              <a:t> если </a:t>
            </a:r>
            <a:r>
              <a:rPr lang="en-US" sz="2400" dirty="0" err="1">
                <a:latin typeface="Consolas" panose="020B0609020204030204" pitchFamily="49" charset="0"/>
              </a:rPr>
              <a:t>sizeof</a:t>
            </a:r>
            <a:r>
              <a:rPr lang="en-US" dirty="0">
                <a:latin typeface="Consolas" panose="020B0609020204030204" pitchFamily="49" charset="0"/>
              </a:rPr>
              <a:t>(</a:t>
            </a:r>
            <a:r>
              <a:rPr lang="en-US" sz="2900" dirty="0">
                <a:latin typeface="+mj-lt"/>
              </a:rPr>
              <a:t>T</a:t>
            </a:r>
            <a:r>
              <a:rPr lang="en-US" dirty="0">
                <a:latin typeface="Consolas" panose="020B0609020204030204" pitchFamily="49" charset="0"/>
              </a:rPr>
              <a:t>*) &lt;= </a:t>
            </a:r>
            <a:r>
              <a:rPr lang="en-US" dirty="0" err="1">
                <a:latin typeface="Consolas" panose="020B0609020204030204" pitchFamily="49" charset="0"/>
              </a:rPr>
              <a:t>sizeof</a:t>
            </a:r>
            <a:r>
              <a:rPr lang="en-US" dirty="0">
                <a:latin typeface="Consolas" panose="020B0609020204030204" pitchFamily="49" charset="0"/>
              </a:rPr>
              <a:t>(</a:t>
            </a:r>
            <a:r>
              <a:rPr lang="ru-RU" sz="2900" dirty="0">
                <a:latin typeface="+mj-lt"/>
              </a:rPr>
              <a:t>Т1</a:t>
            </a:r>
            <a:r>
              <a:rPr lang="en-US" dirty="0">
                <a:latin typeface="Consolas" panose="020B0609020204030204" pitchFamily="49" charset="0"/>
              </a:rPr>
              <a:t>)</a:t>
            </a:r>
            <a:endParaRPr lang="ru-RU" dirty="0">
              <a:latin typeface="Consolas" panose="020B0609020204030204" pitchFamily="49" charset="0"/>
            </a:endParaRPr>
          </a:p>
          <a:p>
            <a:pPr lvl="1"/>
            <a:r>
              <a:rPr lang="en-US" sz="2400" dirty="0"/>
              <a:t>Undefined, </a:t>
            </a:r>
            <a:r>
              <a:rPr lang="ru-RU" dirty="0"/>
              <a:t>если</a:t>
            </a:r>
            <a:r>
              <a:rPr lang="ru-RU" sz="2000" dirty="0"/>
              <a:t> </a:t>
            </a:r>
            <a:r>
              <a:rPr lang="en-US" dirty="0" err="1">
                <a:latin typeface="Consolas" panose="020B0609020204030204" pitchFamily="49" charset="0"/>
              </a:rPr>
              <a:t>sizeof</a:t>
            </a:r>
            <a:r>
              <a:rPr lang="en-US" dirty="0">
                <a:latin typeface="Consolas" panose="020B0609020204030204" pitchFamily="49" charset="0"/>
              </a:rPr>
              <a:t>(</a:t>
            </a:r>
            <a:r>
              <a:rPr lang="en-US" sz="2800" dirty="0">
                <a:latin typeface="+mj-lt"/>
              </a:rPr>
              <a:t>T</a:t>
            </a:r>
            <a:r>
              <a:rPr lang="en-US" dirty="0">
                <a:latin typeface="Consolas" panose="020B0609020204030204" pitchFamily="49" charset="0"/>
              </a:rPr>
              <a:t>*) &gt; </a:t>
            </a:r>
            <a:r>
              <a:rPr lang="en-US" dirty="0" err="1">
                <a:latin typeface="Consolas" panose="020B0609020204030204" pitchFamily="49" charset="0"/>
              </a:rPr>
              <a:t>sizeof</a:t>
            </a:r>
            <a:r>
              <a:rPr lang="en-US" dirty="0">
                <a:latin typeface="Consolas" panose="020B0609020204030204" pitchFamily="49" charset="0"/>
              </a:rPr>
              <a:t>(</a:t>
            </a:r>
            <a:r>
              <a:rPr lang="ru-RU" sz="2800" dirty="0">
                <a:latin typeface="+mj-lt"/>
              </a:rPr>
              <a:t>Т1</a:t>
            </a:r>
            <a:r>
              <a:rPr lang="en-US" dirty="0">
                <a:latin typeface="Consolas" panose="020B0609020204030204" pitchFamily="49" charset="0"/>
              </a:rPr>
              <a:t>)</a:t>
            </a:r>
            <a:endParaRPr lang="ru-RU" sz="2400" dirty="0"/>
          </a:p>
          <a:p>
            <a:pPr lvl="2"/>
            <a:endParaRPr lang="en-US" dirty="0"/>
          </a:p>
          <a:p>
            <a:r>
              <a:rPr lang="ru-RU" sz="2800" dirty="0"/>
              <a:t>Любой Т1</a:t>
            </a:r>
            <a:r>
              <a:rPr lang="ru-RU" sz="2900" dirty="0">
                <a:latin typeface="Consolas" panose="020B0609020204030204" pitchFamily="49" charset="0"/>
              </a:rPr>
              <a:t>*</a:t>
            </a:r>
            <a:r>
              <a:rPr lang="ru-RU" sz="2800" dirty="0"/>
              <a:t> в Т2</a:t>
            </a:r>
            <a:r>
              <a:rPr lang="ru-RU" sz="2900" dirty="0">
                <a:latin typeface="Consolas" panose="020B0609020204030204" pitchFamily="49" charset="0"/>
              </a:rPr>
              <a:t>*</a:t>
            </a:r>
          </a:p>
          <a:p>
            <a:pPr lvl="1"/>
            <a:r>
              <a:rPr lang="ru-RU" sz="2400" dirty="0"/>
              <a:t>Меняется тип выражения, значение указателя сохраняется</a:t>
            </a:r>
          </a:p>
          <a:p>
            <a:pPr lvl="1"/>
            <a:r>
              <a:rPr lang="en-US" sz="2400" dirty="0"/>
              <a:t>Undefined, </a:t>
            </a:r>
            <a:r>
              <a:rPr lang="ru-RU" sz="2400" dirty="0"/>
              <a:t>если </a:t>
            </a:r>
            <a:r>
              <a:rPr lang="en-US" dirty="0" err="1">
                <a:latin typeface="Consolas" panose="020B0609020204030204" pitchFamily="49" charset="0"/>
              </a:rPr>
              <a:t>alignof</a:t>
            </a:r>
            <a:r>
              <a:rPr lang="en-US" sz="2400" dirty="0"/>
              <a:t>(T2) </a:t>
            </a:r>
            <a:r>
              <a:rPr lang="ru-RU" sz="2400" dirty="0"/>
              <a:t>не делит </a:t>
            </a:r>
            <a:r>
              <a:rPr lang="en-US" dirty="0" err="1">
                <a:latin typeface="Consolas" panose="020B0609020204030204" pitchFamily="49" charset="0"/>
              </a:rPr>
              <a:t>alignof</a:t>
            </a:r>
            <a:r>
              <a:rPr lang="en-US" sz="2400" dirty="0"/>
              <a:t>(T1)</a:t>
            </a:r>
            <a:r>
              <a:rPr lang="ru-RU" sz="2400" dirty="0"/>
              <a:t>, например </a:t>
            </a:r>
            <a:r>
              <a:rPr lang="en-US" sz="2500" dirty="0">
                <a:latin typeface="Consolas" panose="020B0609020204030204" pitchFamily="49" charset="0"/>
              </a:rPr>
              <a:t>char*</a:t>
            </a:r>
            <a:r>
              <a:rPr lang="en-US" sz="2400" dirty="0"/>
              <a:t> </a:t>
            </a:r>
            <a:r>
              <a:rPr lang="ru-RU" sz="2400" dirty="0"/>
              <a:t>в</a:t>
            </a:r>
            <a:r>
              <a:rPr lang="en-US" sz="2400" dirty="0"/>
              <a:t> </a:t>
            </a:r>
            <a:r>
              <a:rPr lang="en-US" sz="2500" dirty="0">
                <a:latin typeface="Consolas" panose="020B0609020204030204" pitchFamily="49" charset="0"/>
              </a:rPr>
              <a:t>int*</a:t>
            </a:r>
          </a:p>
          <a:p>
            <a:pPr lvl="2"/>
            <a:endParaRPr lang="en-US" dirty="0"/>
          </a:p>
          <a:p>
            <a:r>
              <a:rPr lang="ru-RU" sz="2800" dirty="0"/>
              <a:t>Указатель на функцию </a:t>
            </a:r>
            <a:r>
              <a:rPr lang="en-US" sz="2800" dirty="0"/>
              <a:t>F1* </a:t>
            </a:r>
            <a:r>
              <a:rPr lang="ru-RU" sz="2800" dirty="0"/>
              <a:t>в указатель на функцию</a:t>
            </a:r>
            <a:r>
              <a:rPr lang="en-US" sz="2800" dirty="0"/>
              <a:t> F2*</a:t>
            </a:r>
          </a:p>
          <a:p>
            <a:pPr lvl="1"/>
            <a:r>
              <a:rPr lang="ru-RU" sz="2400" dirty="0"/>
              <a:t>Меняется тип выражения, значение указателя сохраняется</a:t>
            </a:r>
          </a:p>
          <a:p>
            <a:pPr lvl="1"/>
            <a:r>
              <a:rPr lang="en-US" sz="2400" dirty="0"/>
              <a:t>Well-defined, </a:t>
            </a:r>
            <a:r>
              <a:rPr lang="ru-RU" sz="2400" dirty="0"/>
              <a:t>если </a:t>
            </a:r>
            <a:r>
              <a:rPr lang="en-US" dirty="0"/>
              <a:t>F1 </a:t>
            </a:r>
            <a:r>
              <a:rPr lang="ru-RU" dirty="0"/>
              <a:t>и </a:t>
            </a:r>
            <a:r>
              <a:rPr lang="en-US" dirty="0"/>
              <a:t>F2 </a:t>
            </a:r>
            <a:r>
              <a:rPr lang="ru-RU" dirty="0"/>
              <a:t>– </a:t>
            </a:r>
            <a:r>
              <a:rPr lang="ru-RU" dirty="0">
                <a:highlight>
                  <a:srgbClr val="00FFFF"/>
                </a:highlight>
              </a:rPr>
              <a:t>совместимые типы</a:t>
            </a:r>
            <a:r>
              <a:rPr lang="en-US" dirty="0"/>
              <a:t>, </a:t>
            </a:r>
            <a:r>
              <a:rPr lang="ru-RU" dirty="0"/>
              <a:t>иначе </a:t>
            </a:r>
            <a:r>
              <a:rPr lang="en-US" dirty="0"/>
              <a:t>undefined</a:t>
            </a:r>
            <a:endParaRPr lang="en-US" sz="28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0E2822-3F92-4355-B47E-F2E8C9595EE5}" type="slidenum">
              <a:rPr lang="ru-RU" smtClean="0"/>
              <a:t>21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5182336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83E683-13E9-6B37-3F0E-27E6213BB7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Совместимые типы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C91E64-07B9-9E87-4CF0-E1ED1E824642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ru-RU" dirty="0">
                <a:highlight>
                  <a:srgbClr val="00FFFF"/>
                </a:highlight>
              </a:rPr>
              <a:t>Путь доступа</a:t>
            </a:r>
            <a:r>
              <a:rPr lang="ru-RU" dirty="0"/>
              <a:t> – цепочка унарных операций </a:t>
            </a:r>
            <a:r>
              <a:rPr lang="en-US" dirty="0">
                <a:latin typeface="Consolas" panose="020B0609020204030204" pitchFamily="49" charset="0"/>
              </a:rPr>
              <a:t>*</a:t>
            </a:r>
            <a:r>
              <a:rPr lang="en-US" dirty="0"/>
              <a:t>, </a:t>
            </a:r>
            <a:r>
              <a:rPr lang="en-US" dirty="0">
                <a:latin typeface="Consolas" panose="020B0609020204030204" pitchFamily="49" charset="0"/>
              </a:rPr>
              <a:t>[]</a:t>
            </a:r>
            <a:r>
              <a:rPr lang="en-US" dirty="0"/>
              <a:t>, </a:t>
            </a:r>
            <a:r>
              <a:rPr lang="en-US" dirty="0">
                <a:latin typeface="Consolas" panose="020B0609020204030204" pitchFamily="49" charset="0"/>
              </a:rPr>
              <a:t>-&gt;</a:t>
            </a:r>
            <a:r>
              <a:rPr lang="en-US" dirty="0"/>
              <a:t>, </a:t>
            </a:r>
            <a:r>
              <a:rPr lang="en-US" dirty="0">
                <a:latin typeface="Consolas" panose="020B0609020204030204" pitchFamily="49" charset="0"/>
              </a:rPr>
              <a:t>.</a:t>
            </a:r>
            <a:r>
              <a:rPr lang="en-US" dirty="0"/>
              <a:t> </a:t>
            </a:r>
            <a:r>
              <a:rPr lang="ru-RU" dirty="0"/>
              <a:t>, </a:t>
            </a:r>
            <a:r>
              <a:rPr lang="ru-RU" dirty="0">
                <a:latin typeface="Consolas" panose="020B0609020204030204" pitchFamily="49" charset="0"/>
              </a:rPr>
              <a:t>()</a:t>
            </a:r>
            <a:r>
              <a:rPr lang="ru-RU" dirty="0"/>
              <a:t> или формальная переменная </a:t>
            </a:r>
            <a:r>
              <a:rPr lang="en-US" dirty="0" err="1"/>
              <a:t>arg</a:t>
            </a:r>
            <a:r>
              <a:rPr lang="ru-RU" dirty="0"/>
              <a:t>_</a:t>
            </a:r>
            <a:r>
              <a:rPr lang="en-US" dirty="0" err="1"/>
              <a:t>i</a:t>
            </a:r>
            <a:r>
              <a:rPr lang="en-US" dirty="0"/>
              <a:t> </a:t>
            </a:r>
            <a:r>
              <a:rPr lang="ru-RU" dirty="0"/>
              <a:t>обозначающая </a:t>
            </a:r>
            <a:r>
              <a:rPr lang="en-US" dirty="0" err="1"/>
              <a:t>i</a:t>
            </a:r>
            <a:r>
              <a:rPr lang="en-US" dirty="0"/>
              <a:t>-</a:t>
            </a:r>
            <a:r>
              <a:rPr lang="ru-RU" dirty="0"/>
              <a:t>й аргумент функции</a:t>
            </a:r>
          </a:p>
          <a:p>
            <a:pPr lvl="2"/>
            <a:endParaRPr lang="ru-RU" dirty="0"/>
          </a:p>
          <a:p>
            <a:r>
              <a:rPr lang="ru-RU" dirty="0"/>
              <a:t>Типы</a:t>
            </a:r>
            <a:r>
              <a:rPr lang="en-US" dirty="0"/>
              <a:t> </a:t>
            </a:r>
            <a:r>
              <a:rPr lang="ru-RU" dirty="0"/>
              <a:t>совместимы, если задают один и тот же набор путей доступа и значения по соотв. путям имеют совместимые типы</a:t>
            </a:r>
            <a:endParaRPr lang="en-US" dirty="0"/>
          </a:p>
          <a:p>
            <a:pPr lvl="1"/>
            <a:r>
              <a:rPr lang="ru-RU" dirty="0"/>
              <a:t>Рекурсия по описанию типа</a:t>
            </a:r>
          </a:p>
          <a:p>
            <a:pPr lvl="1"/>
            <a:r>
              <a:rPr lang="ru-RU" dirty="0"/>
              <a:t>Полное определение см. </a:t>
            </a:r>
            <a:r>
              <a:rPr lang="en-US" dirty="0">
                <a:hlinkClick r:id="rId2"/>
              </a:rPr>
              <a:t>https://en.cppreference.com/c/language/type</a:t>
            </a:r>
            <a:endParaRPr lang="ru-RU" dirty="0"/>
          </a:p>
          <a:p>
            <a:pPr lvl="2"/>
            <a:endParaRPr lang="ru-RU" dirty="0"/>
          </a:p>
          <a:p>
            <a:r>
              <a:rPr lang="ru-RU" dirty="0"/>
              <a:t>База рекурсии</a:t>
            </a:r>
            <a:endParaRPr lang="en-US" dirty="0"/>
          </a:p>
          <a:p>
            <a:pPr lvl="1"/>
            <a:r>
              <a:rPr lang="en-US" dirty="0"/>
              <a:t>T </a:t>
            </a:r>
            <a:r>
              <a:rPr lang="ru-RU" dirty="0"/>
              <a:t>совместим с </a:t>
            </a:r>
            <a:r>
              <a:rPr lang="en-US" dirty="0"/>
              <a:t>T, const T, volatile T</a:t>
            </a:r>
          </a:p>
          <a:p>
            <a:pPr lvl="1"/>
            <a:r>
              <a:rPr lang="en-US" dirty="0" err="1"/>
              <a:t>enum</a:t>
            </a:r>
            <a:r>
              <a:rPr lang="en-US" dirty="0"/>
              <a:t> </a:t>
            </a:r>
            <a:r>
              <a:rPr lang="ru-RU" dirty="0"/>
              <a:t>совместим с </a:t>
            </a:r>
            <a:r>
              <a:rPr lang="en-US" dirty="0" err="1"/>
              <a:t>enum</a:t>
            </a:r>
            <a:r>
              <a:rPr lang="ru-RU" dirty="0"/>
              <a:t>,</a:t>
            </a:r>
            <a:r>
              <a:rPr lang="en-US" dirty="0"/>
              <a:t> </a:t>
            </a:r>
            <a:r>
              <a:rPr lang="ru-RU" dirty="0"/>
              <a:t>если совпадают наличие/отсутствие тэга, имена и значения констант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446003A-6440-C30D-4B48-6A2121E51A43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Autofit/>
          </a:bodyPr>
          <a:lstStyle/>
          <a:p>
            <a:r>
              <a:rPr lang="ru-RU" sz="2000" dirty="0"/>
              <a:t>Шаг рекурсии</a:t>
            </a:r>
          </a:p>
          <a:p>
            <a:pPr lvl="1"/>
            <a:r>
              <a:rPr lang="ru-RU" sz="1700" dirty="0"/>
              <a:t>Если </a:t>
            </a:r>
            <a:r>
              <a:rPr lang="en-US" sz="1700" dirty="0"/>
              <a:t>T1 </a:t>
            </a:r>
            <a:r>
              <a:rPr lang="ru-RU" sz="1700" dirty="0"/>
              <a:t>совместим с </a:t>
            </a:r>
            <a:r>
              <a:rPr lang="en-US" sz="1700" dirty="0"/>
              <a:t>T2</a:t>
            </a:r>
            <a:r>
              <a:rPr lang="ru-RU" sz="1700" dirty="0"/>
              <a:t>, то</a:t>
            </a:r>
          </a:p>
          <a:p>
            <a:pPr lvl="2"/>
            <a:r>
              <a:rPr lang="en-US" sz="1600" dirty="0"/>
              <a:t>T1*  </a:t>
            </a:r>
            <a:r>
              <a:rPr lang="ru-RU" sz="1600" dirty="0"/>
              <a:t>совместим с </a:t>
            </a:r>
            <a:r>
              <a:rPr lang="en-US" sz="1600" dirty="0"/>
              <a:t>T2*</a:t>
            </a:r>
            <a:endParaRPr lang="ru-RU" sz="1600" dirty="0"/>
          </a:p>
          <a:p>
            <a:pPr lvl="2"/>
            <a:r>
              <a:rPr lang="en-US" sz="1600" dirty="0"/>
              <a:t>T1[N] </a:t>
            </a:r>
            <a:r>
              <a:rPr lang="ru-RU" sz="1600" dirty="0"/>
              <a:t>совместим с</a:t>
            </a:r>
            <a:r>
              <a:rPr lang="en-US" sz="1600" dirty="0"/>
              <a:t> T2[N] </a:t>
            </a:r>
            <a:r>
              <a:rPr lang="ru-RU" sz="1600" dirty="0"/>
              <a:t>и </a:t>
            </a:r>
            <a:r>
              <a:rPr lang="en-US" sz="1600" dirty="0"/>
              <a:t>T2[]</a:t>
            </a:r>
          </a:p>
          <a:p>
            <a:pPr lvl="1"/>
            <a:r>
              <a:rPr lang="en-US" sz="1700" dirty="0"/>
              <a:t>struct </a:t>
            </a:r>
            <a:r>
              <a:rPr lang="ru-RU" sz="1700" dirty="0"/>
              <a:t>совместим с</a:t>
            </a:r>
            <a:r>
              <a:rPr lang="en-US" sz="1700" dirty="0"/>
              <a:t> struct</a:t>
            </a:r>
            <a:r>
              <a:rPr lang="ru-RU" sz="1700" dirty="0"/>
              <a:t> (</a:t>
            </a:r>
            <a:r>
              <a:rPr lang="en-US" sz="1700" dirty="0"/>
              <a:t>union </a:t>
            </a:r>
            <a:r>
              <a:rPr lang="ru-RU" sz="1700" dirty="0"/>
              <a:t>– с </a:t>
            </a:r>
            <a:r>
              <a:rPr lang="en-US" sz="1700" dirty="0"/>
              <a:t>union</a:t>
            </a:r>
            <a:r>
              <a:rPr lang="ru-RU" sz="1700" dirty="0"/>
              <a:t>)</a:t>
            </a:r>
            <a:r>
              <a:rPr lang="en-US" sz="1700" dirty="0"/>
              <a:t>, </a:t>
            </a:r>
            <a:r>
              <a:rPr lang="ru-RU" sz="1700" dirty="0"/>
              <a:t>если </a:t>
            </a:r>
          </a:p>
          <a:p>
            <a:pPr lvl="2"/>
            <a:r>
              <a:rPr lang="ru-RU" sz="1600" dirty="0"/>
              <a:t>Совпадают наличие/отсутствие тэга</a:t>
            </a:r>
          </a:p>
          <a:p>
            <a:pPr lvl="2"/>
            <a:r>
              <a:rPr lang="ru-RU" sz="1600" dirty="0"/>
              <a:t>Имена и порядок описания элементов</a:t>
            </a:r>
          </a:p>
          <a:p>
            <a:pPr lvl="2"/>
            <a:r>
              <a:rPr lang="ru-RU" sz="1600" dirty="0"/>
              <a:t>Типы соотв. элементов совместимы</a:t>
            </a:r>
          </a:p>
          <a:p>
            <a:pPr lvl="1"/>
            <a:r>
              <a:rPr lang="ru-RU" sz="1700" dirty="0"/>
              <a:t>Функция совместима с функцией, если</a:t>
            </a:r>
            <a:r>
              <a:rPr lang="ru-RU" sz="1600" dirty="0"/>
              <a:t> </a:t>
            </a:r>
            <a:endParaRPr lang="en-US" sz="1600" dirty="0"/>
          </a:p>
          <a:p>
            <a:pPr lvl="2"/>
            <a:r>
              <a:rPr lang="ru-RU" sz="1600" dirty="0"/>
              <a:t>Совместимы типы возвращаемых значений</a:t>
            </a:r>
            <a:endParaRPr lang="en-US" sz="1600" dirty="0"/>
          </a:p>
          <a:p>
            <a:pPr lvl="2"/>
            <a:r>
              <a:rPr lang="ru-RU" sz="1600" dirty="0"/>
              <a:t>Совместимы типы соотв. аргументов после генерации указателя для массивов и функций и удаления </a:t>
            </a:r>
            <a:r>
              <a:rPr lang="en-US" sz="1600" dirty="0"/>
              <a:t>const/volatile </a:t>
            </a:r>
            <a:r>
              <a:rPr lang="ru-RU" sz="1600" dirty="0"/>
              <a:t>верхнего уровня</a:t>
            </a:r>
          </a:p>
        </p:txBody>
      </p:sp>
    </p:spTree>
    <p:extLst>
      <p:ext uri="{BB962C8B-B14F-4D97-AF65-F5344CB8AC3E}">
        <p14:creationId xmlns:p14="http://schemas.microsoft.com/office/powerpoint/2010/main" val="91184731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418EBB12-0334-DE51-B86E-D7B8078A01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Примеры совместимых типов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E6CED89-37A3-3148-DE00-F760D3EACA4B}"/>
              </a:ext>
            </a:extLst>
          </p:cNvPr>
          <p:cNvSpPr>
            <a:spLocks noGrp="1"/>
          </p:cNvSpPr>
          <p:nvPr>
            <p:ph idx="1"/>
          </p:nvPr>
        </p:nvSpPr>
        <p:spPr>
          <a:solidFill>
            <a:schemeClr val="tx1">
              <a:lumMod val="95000"/>
              <a:lumOff val="5000"/>
            </a:schemeClr>
          </a:solidFill>
        </p:spPr>
        <p:txBody>
          <a:bodyPr>
            <a:normAutofit fontScale="55000" lnSpcReduction="20000"/>
          </a:bodyPr>
          <a:lstStyle/>
          <a:p>
            <a:pPr marL="0" indent="0">
              <a:buNone/>
            </a:pPr>
            <a:r>
              <a:rPr lang="en-US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struct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Str {</a:t>
            </a:r>
            <a:r>
              <a:rPr lang="ru-RU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ru-RU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задает пути доступа </a:t>
            </a:r>
            <a:r>
              <a:rPr lang="en-US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.A[</a:t>
            </a:r>
            <a:r>
              <a:rPr lang="ru-RU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]</a:t>
            </a:r>
            <a:r>
              <a:rPr lang="ru-RU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.A[</a:t>
            </a:r>
            <a:r>
              <a:rPr lang="ru-RU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] .A[</a:t>
            </a:r>
            <a:r>
              <a:rPr lang="ru-RU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] .A[</a:t>
            </a:r>
            <a:r>
              <a:rPr lang="ru-RU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3</a:t>
            </a:r>
            <a:r>
              <a:rPr lang="en-US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] </a:t>
            </a:r>
            <a:r>
              <a:rPr lang="ru-RU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типа </a:t>
            </a:r>
            <a:r>
              <a:rPr lang="en-US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int</a:t>
            </a:r>
            <a:endParaRPr lang="en-US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C8C8C8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4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];</a:t>
            </a:r>
          </a:p>
          <a:p>
            <a:pPr marL="0" indent="0">
              <a:buNone/>
            </a:pP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};</a:t>
            </a:r>
          </a:p>
          <a:p>
            <a:pPr marL="0" indent="0">
              <a:buNone/>
            </a:pPr>
            <a:r>
              <a:rPr lang="ru-RU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задае</a:t>
            </a:r>
            <a:r>
              <a:rPr lang="ru-RU" dirty="0">
                <a:solidFill>
                  <a:srgbClr val="6A9955"/>
                </a:solidFill>
                <a:latin typeface="Consolas" panose="020B0609020204030204" pitchFamily="49" charset="0"/>
              </a:rPr>
              <a:t>т такие же пути доступа совместимого типа </a:t>
            </a:r>
            <a:r>
              <a:rPr lang="en-US" dirty="0">
                <a:solidFill>
                  <a:srgbClr val="6A9955"/>
                </a:solidFill>
                <a:latin typeface="Consolas" panose="020B0609020204030204" pitchFamily="49" charset="0"/>
              </a:rPr>
              <a:t>const int</a:t>
            </a:r>
            <a:endParaRPr lang="en-US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struct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Uct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pPr marL="0" indent="0">
              <a:buNone/>
            </a:pP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C8C8C8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4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];</a:t>
            </a:r>
          </a:p>
          <a:p>
            <a:pPr marL="0" indent="0">
              <a:buNone/>
            </a:pP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};</a:t>
            </a:r>
            <a:endParaRPr lang="ru-RU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ru-RU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задает </a:t>
            </a:r>
            <a:r>
              <a:rPr lang="en-US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3 </a:t>
            </a:r>
            <a:r>
              <a:rPr lang="ru-RU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пути доступа -- ()</a:t>
            </a:r>
            <a:r>
              <a:rPr lang="en-US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ru-RU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6A9955"/>
                </a:solidFill>
                <a:latin typeface="Consolas" panose="020B0609020204030204" pitchFamily="49" charset="0"/>
              </a:rPr>
              <a:t>arg0, arg1, </a:t>
            </a:r>
            <a:r>
              <a:rPr lang="ru-RU" dirty="0">
                <a:solidFill>
                  <a:srgbClr val="6A9955"/>
                </a:solidFill>
                <a:latin typeface="Consolas" panose="020B0609020204030204" pitchFamily="49" charset="0"/>
              </a:rPr>
              <a:t>типов </a:t>
            </a:r>
            <a:r>
              <a:rPr lang="en-US" dirty="0">
                <a:solidFill>
                  <a:srgbClr val="6A9955"/>
                </a:solidFill>
                <a:latin typeface="Consolas" panose="020B0609020204030204" pitchFamily="49" charset="0"/>
              </a:rPr>
              <a:t>const int, const int, struct Str*</a:t>
            </a:r>
            <a:endParaRPr lang="en-US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const int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C8C8C8"/>
                </a:solidFill>
                <a:effectLst/>
                <a:latin typeface="Consolas" panose="020B0609020204030204" pitchFamily="49" charset="0"/>
              </a:rPr>
              <a:t>foo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7F7F7F"/>
                </a:solidFill>
                <a:effectLst/>
                <a:latin typeface="Consolas" panose="020B0609020204030204" pitchFamily="49" charset="0"/>
              </a:rPr>
              <a:t>x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struct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Str* </a:t>
            </a:r>
            <a:r>
              <a:rPr lang="en-US" b="0" dirty="0">
                <a:solidFill>
                  <a:srgbClr val="7F7F7F"/>
                </a:solidFill>
                <a:effectLst/>
                <a:latin typeface="Consolas" panose="020B0609020204030204" pitchFamily="49" charset="0"/>
              </a:rPr>
              <a:t>s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 {</a:t>
            </a:r>
            <a:r>
              <a:rPr lang="ru-RU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endParaRPr lang="en-US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marL="0" indent="0">
              <a:buNone/>
            </a:pP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}</a:t>
            </a:r>
            <a:endParaRPr lang="ru-RU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ru-RU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задает</a:t>
            </a:r>
            <a:r>
              <a:rPr lang="en-US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ru-RU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такие же пути доступа совместимых типов </a:t>
            </a:r>
            <a:r>
              <a:rPr lang="en-US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int, int, const struct</a:t>
            </a:r>
            <a:r>
              <a:rPr lang="ru-RU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Uct</a:t>
            </a:r>
            <a:r>
              <a:rPr lang="ru-RU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*</a:t>
            </a:r>
            <a:endParaRPr lang="en-US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C8C8C8"/>
                </a:solidFill>
                <a:effectLst/>
                <a:latin typeface="Consolas" panose="020B0609020204030204" pitchFamily="49" charset="0"/>
              </a:rPr>
              <a:t>bar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7F7F7F"/>
                </a:solidFill>
                <a:effectLst/>
                <a:latin typeface="Consolas" panose="020B0609020204030204" pitchFamily="49" charset="0"/>
              </a:rPr>
              <a:t>x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struct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Uct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* </a:t>
            </a:r>
            <a:r>
              <a:rPr lang="en-US" b="0" dirty="0">
                <a:solidFill>
                  <a:srgbClr val="7F7F7F"/>
                </a:solidFill>
                <a:effectLst/>
                <a:latin typeface="Consolas" panose="020B0609020204030204" pitchFamily="49" charset="0"/>
              </a:rPr>
              <a:t>s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 {</a:t>
            </a:r>
            <a:r>
              <a:rPr lang="ru-RU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endParaRPr lang="ru-RU" b="0" dirty="0">
              <a:solidFill>
                <a:srgbClr val="6A9955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marL="0" indent="0">
              <a:buNone/>
            </a:pP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}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85722105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Заключение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ru-RU" dirty="0"/>
              <a:t>Понятие преобразования типа</a:t>
            </a:r>
          </a:p>
          <a:p>
            <a:pPr lvl="1"/>
            <a:r>
              <a:rPr lang="ru-RU" dirty="0"/>
              <a:t>Явное </a:t>
            </a:r>
            <a:r>
              <a:rPr lang="en-US" dirty="0"/>
              <a:t>vs</a:t>
            </a:r>
            <a:r>
              <a:rPr lang="ru-RU" dirty="0"/>
              <a:t> неявное</a:t>
            </a:r>
          </a:p>
          <a:p>
            <a:r>
              <a:rPr lang="ru-RU" dirty="0"/>
              <a:t>Преобразования</a:t>
            </a:r>
            <a:endParaRPr lang="en-US" dirty="0"/>
          </a:p>
          <a:p>
            <a:pPr lvl="1"/>
            <a:r>
              <a:rPr lang="ru-RU" dirty="0"/>
              <a:t>Целых и типов с плавающей точкой</a:t>
            </a:r>
          </a:p>
          <a:p>
            <a:pPr lvl="2"/>
            <a:r>
              <a:rPr lang="ru-RU" dirty="0"/>
              <a:t>Общий тип, ранг целого типа, целочисленное повышение</a:t>
            </a:r>
          </a:p>
          <a:p>
            <a:pPr lvl="2"/>
            <a:r>
              <a:rPr lang="ru-RU" dirty="0"/>
              <a:t>Есть целые значения, не являющиеся значениями с плавающей точкой</a:t>
            </a:r>
          </a:p>
          <a:p>
            <a:pPr lvl="1"/>
            <a:r>
              <a:rPr lang="ru-RU" dirty="0"/>
              <a:t>«Генерация указателя», массив и функция неявно становится указателями </a:t>
            </a:r>
          </a:p>
          <a:p>
            <a:pPr lvl="1"/>
            <a:r>
              <a:rPr lang="ru-RU" dirty="0"/>
              <a:t>Любой тип можно сделать </a:t>
            </a:r>
            <a:r>
              <a:rPr lang="en-US" dirty="0"/>
              <a:t>void</a:t>
            </a:r>
          </a:p>
          <a:p>
            <a:pPr lvl="1"/>
            <a:r>
              <a:rPr lang="en-US" dirty="0"/>
              <a:t>(T*)0 </a:t>
            </a:r>
            <a:r>
              <a:rPr lang="ru-RU" dirty="0"/>
              <a:t>неявно становится</a:t>
            </a:r>
            <a:r>
              <a:rPr lang="en-US" dirty="0"/>
              <a:t> NULL, T* -- const  T* </a:t>
            </a:r>
            <a:r>
              <a:rPr lang="ru-RU" dirty="0"/>
              <a:t>и </a:t>
            </a:r>
            <a:r>
              <a:rPr lang="en-US" dirty="0"/>
              <a:t>volatile T*</a:t>
            </a:r>
            <a:endParaRPr lang="ru-RU" dirty="0"/>
          </a:p>
          <a:p>
            <a:pPr lvl="1"/>
            <a:r>
              <a:rPr lang="en-US" dirty="0"/>
              <a:t>T1* -&gt; T2* </a:t>
            </a:r>
            <a:r>
              <a:rPr lang="ru-RU" dirty="0"/>
              <a:t>ОК, если </a:t>
            </a:r>
            <a:r>
              <a:rPr lang="en-US" dirty="0" err="1"/>
              <a:t>alignof</a:t>
            </a:r>
            <a:r>
              <a:rPr lang="en-US" dirty="0"/>
              <a:t>(T1) </a:t>
            </a:r>
            <a:r>
              <a:rPr lang="ru-RU" dirty="0"/>
              <a:t>делится на </a:t>
            </a:r>
            <a:r>
              <a:rPr lang="en-US" dirty="0" err="1"/>
              <a:t>alignof</a:t>
            </a:r>
            <a:r>
              <a:rPr lang="en-US" dirty="0"/>
              <a:t>(T2)</a:t>
            </a:r>
            <a:endParaRPr lang="ru-RU" dirty="0"/>
          </a:p>
          <a:p>
            <a:pPr lvl="1"/>
            <a:r>
              <a:rPr lang="ru-RU" dirty="0"/>
              <a:t>Целое -</a:t>
            </a:r>
            <a:r>
              <a:rPr lang="en-US" dirty="0"/>
              <a:t>&gt; T2* </a:t>
            </a:r>
            <a:r>
              <a:rPr lang="ru-RU" dirty="0"/>
              <a:t>ОК, если целое делится на </a:t>
            </a:r>
            <a:r>
              <a:rPr lang="en-US" dirty="0" err="1"/>
              <a:t>alignof</a:t>
            </a:r>
            <a:r>
              <a:rPr lang="en-US" dirty="0"/>
              <a:t>(T2)</a:t>
            </a:r>
            <a:endParaRPr lang="ru-RU" dirty="0"/>
          </a:p>
          <a:p>
            <a:pPr lvl="1"/>
            <a:r>
              <a:rPr lang="ru-RU" dirty="0"/>
              <a:t>Указ. на функцию в </a:t>
            </a:r>
            <a:r>
              <a:rPr lang="ru-RU"/>
              <a:t>указ. функцию </a:t>
            </a:r>
            <a:r>
              <a:rPr lang="ru-RU" dirty="0"/>
              <a:t>ОК, если функции имеют совместимые типы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0E2822-3F92-4355-B47E-F2E8C9595EE5}" type="slidenum">
              <a:rPr lang="ru-RU" smtClean="0"/>
              <a:t>24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3031804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20285</TotalTime>
  <Words>2168</Words>
  <Application>Microsoft Office PowerPoint</Application>
  <PresentationFormat>Widescreen</PresentationFormat>
  <Paragraphs>360</Paragraphs>
  <Slides>24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30" baseType="lpstr">
      <vt:lpstr>Consolas</vt:lpstr>
      <vt:lpstr>Aptos Display</vt:lpstr>
      <vt:lpstr>Arial</vt:lpstr>
      <vt:lpstr>Aptos</vt:lpstr>
      <vt:lpstr>Symbol</vt:lpstr>
      <vt:lpstr>Office Theme</vt:lpstr>
      <vt:lpstr>Преобразования типов языка Си</vt:lpstr>
      <vt:lpstr>План лекции</vt:lpstr>
      <vt:lpstr>Преобразование типа </vt:lpstr>
      <vt:lpstr>Явное и неявное преобразование типа в Си</vt:lpstr>
      <vt:lpstr>Общий тип, целочисленное повышение</vt:lpstr>
      <vt:lpstr>Ранг enum и bool</vt:lpstr>
      <vt:lpstr>Примеры определения общего типа</vt:lpstr>
      <vt:lpstr>Неявные арифметические преобразования</vt:lpstr>
      <vt:lpstr>Неявное целочисленное повышение</vt:lpstr>
      <vt:lpstr>Неявное преобразование к общему типу</vt:lpstr>
      <vt:lpstr>Преобразование целый тип &lt;-&gt; целый тип</vt:lpstr>
      <vt:lpstr>Примеры преобразования целых</vt:lpstr>
      <vt:lpstr>Преобразования целый тип &lt;-&gt; вещественный тип</vt:lpstr>
      <vt:lpstr>Преобразования вещественных типов</vt:lpstr>
      <vt:lpstr>Генерация указателя</vt:lpstr>
      <vt:lpstr>Пример генерации указателя</vt:lpstr>
      <vt:lpstr>Преобразование функции в указатель</vt:lpstr>
      <vt:lpstr>Пример преобразования функции в указатель</vt:lpstr>
      <vt:lpstr>Преобразование к void</vt:lpstr>
      <vt:lpstr>Неявные преобразования указателей</vt:lpstr>
      <vt:lpstr>Явные преобразования указателей</vt:lpstr>
      <vt:lpstr>Совместимые типы</vt:lpstr>
      <vt:lpstr>Примеры совместимых типов</vt:lpstr>
      <vt:lpstr>Заключение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Evgenii Petrov</dc:creator>
  <cp:lastModifiedBy>Evgenii Petrov</cp:lastModifiedBy>
  <cp:revision>65</cp:revision>
  <dcterms:created xsi:type="dcterms:W3CDTF">2026-09-04T05:18:10Z</dcterms:created>
  <dcterms:modified xsi:type="dcterms:W3CDTF">2026-09-23T15:07:18Z</dcterms:modified>
</cp:coreProperties>
</file>