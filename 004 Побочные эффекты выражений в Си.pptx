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410" r:id="rId4"/>
    <p:sldId id="435" r:id="rId5"/>
    <p:sldId id="485" r:id="rId6"/>
    <p:sldId id="486" r:id="rId7"/>
    <p:sldId id="259" r:id="rId8"/>
    <p:sldId id="340" r:id="rId9"/>
    <p:sldId id="341" r:id="rId10"/>
    <p:sldId id="342" r:id="rId11"/>
    <p:sldId id="489" r:id="rId12"/>
    <p:sldId id="404" r:id="rId13"/>
    <p:sldId id="375" r:id="rId14"/>
    <p:sldId id="488" r:id="rId15"/>
    <p:sldId id="440" r:id="rId16"/>
    <p:sldId id="447" r:id="rId17"/>
    <p:sldId id="343" r:id="rId18"/>
    <p:sldId id="450" r:id="rId19"/>
    <p:sldId id="454" r:id="rId20"/>
    <p:sldId id="355" r:id="rId21"/>
    <p:sldId id="461" r:id="rId22"/>
    <p:sldId id="465" r:id="rId23"/>
    <p:sldId id="469" r:id="rId24"/>
    <p:sldId id="473" r:id="rId25"/>
    <p:sldId id="476" r:id="rId26"/>
    <p:sldId id="258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236" autoAdjust="0"/>
  </p:normalViewPr>
  <p:slideViewPr>
    <p:cSldViewPr snapToGrid="0">
      <p:cViewPr varScale="1">
        <p:scale>
          <a:sx n="112" d="100"/>
          <a:sy n="112" d="100"/>
        </p:scale>
        <p:origin x="43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84E2-35C4-1FAA-87F1-59AC27BF8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D3753-28DC-58BB-9D72-3250B36E2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81C1C-2D9D-8F59-58F2-674DC183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48F78-3696-DBCB-0030-AA538E83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6586C-0DEC-5EF5-0A0B-0496F36D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62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5E14-33C3-5B4E-F4E4-1F711FB5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45DF9-33E2-4A6D-005A-3F599B50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D7784-FD59-3CEF-6523-F49B1B8D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E1467-E64E-83D4-EB63-1CB057FE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8A509-3D7A-E806-B0CD-45E7AE8D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94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4BFC-0EBD-6080-C0E9-663000A9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DBC76-E9B3-19B3-331E-B05969A6E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9C241-4CC2-56E5-348D-2110683D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39F4B-7CD0-9771-8CEC-F11BBAF6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A2343-5E49-2757-F6FA-C7BECC16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34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ACBC-02E2-CAE1-908F-09E0835E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C58B-64F0-0D7D-E5FB-A346C99B86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A2078-4C91-30F0-5209-3133A42EA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BCE83-68F5-0542-719E-302F3829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AF977-D6D3-ACE4-4C72-8E646B3D7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82F0E-5EC7-26C7-BF61-9DA98BFE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865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D4C2-D53D-1A06-8E25-852ACCB24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A7A29-742C-18F7-8AD8-7389839E6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F1363-4F6E-4753-93EF-BB90BE01E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88620-67AD-92A5-D3F4-1628657B3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9BD7C-B87F-61E1-0DF3-9B3269052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B319AC-C976-F03A-3699-C6611FD1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046848-FD7E-1E31-52BD-E04425AD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E35C5-FD18-1F6E-02AB-DEA227F1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12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0C42-6FDE-D603-AF87-4731765A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CF4C1-9356-524C-CCC0-332E74C5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9A414-0DC5-E6B6-CC00-C8ECCA05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99164-11AA-BBF6-529B-C2693ADE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19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77B4C-66E9-70FE-3232-4E1DB84A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17FA3-EE6A-192B-F2B7-890C0638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EBF05-1B2A-9696-6328-C9AE002E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29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C014-0CFF-29F3-EE80-A6FAF3EA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D2C83-ABE7-D622-D6EC-5A0DF407C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B7006-CE4D-7E92-A5D6-B72514583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6C22C-37A0-5A5F-923E-88C5BEF5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BC455-AD9D-7D0F-D423-F825A663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AB427-9DD2-1716-BDC8-054BF291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73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A5A2-11B7-1ADF-662B-8D071D83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09CA6B-224D-5A1A-843A-29FE395BE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75EA2-C52B-860C-5487-933A7A00A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8CD20-042B-1EA2-62D3-E6A58DB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7A8E0-DEA5-A7C8-FACB-F9652433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AEB1F-E627-BAA8-0493-76017B3C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909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EBC5-EF38-A554-E74F-E287B865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1D40D-C61B-F006-6A62-F6C93A8D5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57B5E-6F75-1D7E-2862-C857BB38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543B4-C8A1-0AAA-6FEC-7089FAAF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F7D1-57F3-991B-6C36-0F9F6772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58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08EA3-5127-D6B3-B2AC-E46846FE5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C39C1-101C-2E72-F12F-EDDF449A7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DCE23-E2A1-24D0-B705-A171A8D2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8FE0-5055-4BF9-A28C-11CD2BDF5B1E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B50E-EAD1-693E-A123-DA912E32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EC568-52BC-074B-5354-E718BCBC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388FB-518D-408C-9EFC-0B6932E17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3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6508D-5072-31D6-A4EB-2999649B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BE06F-B3D3-47BD-E325-E739C8BD4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ED463-5BDC-349A-8AB7-C73D0BBB5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E0408FE0-5055-4BF9-A28C-11CD2BDF5B1E}" type="datetimeFigureOut">
              <a:rPr lang="ru-RU" smtClean="0"/>
              <a:pPr/>
              <a:t>18.10.2026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6EFE4-9D52-E403-B3A3-375A3A2EF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3D3BD-AEA9-D725-8D60-691CA8AA5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A5388FB-518D-408C-9EFC-0B6932E1742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95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2C81-0E3D-FD74-EDCB-617C4AE14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Побочные эффекты выражений в Си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D3D5-C98A-B08A-B261-97F8A3C4B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492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A17A-D134-5528-9475-75E0BAE5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7C09E-A7C4-329C-CBD3-4DAD21CEA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Выражение</a:t>
            </a:r>
          </a:p>
          <a:p>
            <a:pPr lvl="1"/>
            <a:r>
              <a:rPr lang="ru-RU" dirty="0"/>
              <a:t>Виды операндов</a:t>
            </a:r>
          </a:p>
          <a:p>
            <a:pPr lvl="1"/>
            <a:r>
              <a:rPr lang="ru-RU" dirty="0"/>
              <a:t>Виды операторов</a:t>
            </a:r>
          </a:p>
          <a:p>
            <a:pPr lvl="1"/>
            <a:r>
              <a:rPr lang="ru-RU" dirty="0"/>
              <a:t>Связывание операндов и операторов</a:t>
            </a:r>
          </a:p>
          <a:p>
            <a:r>
              <a:rPr lang="en-US" dirty="0"/>
              <a:t>ℓ-value</a:t>
            </a:r>
          </a:p>
          <a:p>
            <a:r>
              <a:rPr lang="ru-RU" dirty="0"/>
              <a:t>Побочный эффект</a:t>
            </a:r>
          </a:p>
          <a:p>
            <a:r>
              <a:rPr lang="ru-RU" dirty="0"/>
              <a:t>Точка 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5066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 языка Си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highlight>
                  <a:srgbClr val="00FFFF"/>
                </a:highlight>
              </a:rPr>
              <a:t>Выражение</a:t>
            </a:r>
            <a:r>
              <a:rPr lang="ru-RU" dirty="0"/>
              <a:t> – это последовательность операторов и операндов</a:t>
            </a:r>
          </a:p>
          <a:p>
            <a:endParaRPr lang="ru-RU" dirty="0"/>
          </a:p>
          <a:p>
            <a:r>
              <a:rPr lang="ru-RU" dirty="0"/>
              <a:t>Выражение</a:t>
            </a:r>
          </a:p>
          <a:p>
            <a:pPr lvl="1"/>
            <a:r>
              <a:rPr lang="ru-RU" dirty="0"/>
              <a:t>Описывает вычисление значения, либо</a:t>
            </a:r>
          </a:p>
          <a:p>
            <a:pPr lvl="1"/>
            <a:r>
              <a:rPr lang="ru-RU" dirty="0"/>
              <a:t>Описывает путь доступа к значению</a:t>
            </a:r>
          </a:p>
          <a:p>
            <a:endParaRPr lang="ru-RU" dirty="0"/>
          </a:p>
          <a:p>
            <a:r>
              <a:rPr lang="ru-RU" dirty="0"/>
              <a:t>Вычисление выражения может иметь побочный эффект</a:t>
            </a:r>
          </a:p>
          <a:p>
            <a:pPr lvl="1"/>
            <a:r>
              <a:rPr lang="ru-RU" dirty="0"/>
              <a:t>Например, изменять значение в памяти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12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операндов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Константы</a:t>
            </a:r>
          </a:p>
          <a:p>
            <a:endParaRPr lang="ru-RU" dirty="0"/>
          </a:p>
          <a:p>
            <a:r>
              <a:rPr lang="ru-RU" dirty="0"/>
              <a:t>Идентификаторы</a:t>
            </a:r>
          </a:p>
          <a:p>
            <a:endParaRPr lang="ru-RU" dirty="0"/>
          </a:p>
          <a:p>
            <a:r>
              <a:rPr lang="ru-RU" dirty="0"/>
              <a:t>Любые выражения, заключенные в скобки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5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0858-31D3-74D8-6A01-9A48C311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операторов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36BE-FA36-8F16-64C8-551FB70C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E64F-1023-07A0-961D-BDDCFB5E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B73919-3EC1-E191-FE5C-466010D19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13315"/>
              </p:ext>
            </p:extLst>
          </p:nvPr>
        </p:nvGraphicFramePr>
        <p:xfrm>
          <a:off x="838200" y="2081054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664">
                  <a:extLst>
                    <a:ext uri="{9D8B030D-6E8A-4147-A177-3AD203B41FA5}">
                      <a16:colId xmlns:a16="http://schemas.microsoft.com/office/drawing/2014/main" val="3176817486"/>
                    </a:ext>
                  </a:extLst>
                </a:gridCol>
                <a:gridCol w="285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8272">
                  <a:extLst>
                    <a:ext uri="{9D8B030D-6E8A-4147-A177-3AD203B41FA5}">
                      <a16:colId xmlns:a16="http://schemas.microsoft.com/office/drawing/2014/main" val="2224947301"/>
                    </a:ext>
                  </a:extLst>
                </a:gridCol>
              </a:tblGrid>
              <a:tr h="370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Приоритет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Связывание с операндами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Натуральное число</a:t>
                      </a:r>
                    </a:p>
                    <a:p>
                      <a:pPr algn="ctr"/>
                      <a:endParaRPr lang="ru-RU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Унарный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Префиксный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660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5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Постфиксный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ru-RU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Лево-ассоциативный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Право-ассоциативный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542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Тернарный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338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1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Связывание с операндами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Постфиксные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Префиксные операторы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Бинарный/тернарный оператор максимального приоритета</a:t>
            </a:r>
          </a:p>
          <a:p>
            <a:pPr lvl="1"/>
            <a:r>
              <a:rPr lang="ru-RU" dirty="0"/>
              <a:t>Самый правый лево-ассоциативный или</a:t>
            </a:r>
          </a:p>
          <a:p>
            <a:pPr lvl="1"/>
            <a:r>
              <a:rPr lang="ru-RU" dirty="0"/>
              <a:t>Самый левый право-ассоциативный</a:t>
            </a:r>
          </a:p>
          <a:p>
            <a:pPr lvl="1"/>
            <a:r>
              <a:rPr lang="ru-RU" dirty="0"/>
              <a:t>В Си операторы одного приоритета имеют одинаковую ассоциативность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Повторяем п. 3, пока есть бинарный или тернарный оператор, не связанный с операндами</a:t>
            </a:r>
          </a:p>
          <a:p>
            <a:pPr lv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2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4255-D153-2F34-0993-3603CEBE2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 неявной расстановкой скобок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66F5-2C49-8EAC-EBF0-418C5B86AB9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p)))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       5 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4  1     8    2   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7  6    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9   3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в произв. порядке: 1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и 4</a:t>
            </a:r>
            <a:r>
              <a:rPr lang="en-US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ru-RU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6</a:t>
            </a:r>
            <a:endParaRPr lang="ru-R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492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операторов в языке Си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956222"/>
              </p:ext>
            </p:extLst>
          </p:nvPr>
        </p:nvGraphicFramePr>
        <p:xfrm>
          <a:off x="838200" y="1825626"/>
          <a:ext cx="1051559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7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Лексемы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Приор-т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Ассоц-ность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a[k]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Доступ к элементу массива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Постфиксный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 rowSpan="11"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f(…)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Вызов функции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Элемент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struct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или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union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Элемент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struct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или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union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через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указатель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++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return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значение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послед. у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величение или уменьшение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 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 1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++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--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Увеличение или уменьшение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 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 1 и </a:t>
                      </a:r>
                      <a:r>
                        <a:rPr lang="en-US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return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значение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Префиксный</a:t>
                      </a: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sizeof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Размер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значения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или типа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байтах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Поразрядное НЕ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Логическое НЕ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Смена знака числа (-) или НОП (+)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4827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Взятие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адреса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13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операторов в языке Си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89626"/>
              </p:ext>
            </p:extLst>
          </p:nvPr>
        </p:nvGraphicFramePr>
        <p:xfrm>
          <a:off x="838200" y="1825625"/>
          <a:ext cx="10515598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1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7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Лексемы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Приор-т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Ассоциативность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Разыменование 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указателя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Префиксный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(имя типа)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i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Преобразование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типа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 /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Умножение, деление, остаток от деления</a:t>
                      </a: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Левая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-&gt;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Сложение, вычитание чисел и указателей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&lt;&lt; 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Сдвиг влево или вправо в 2 с.с.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 &gt; &lt;= 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Сравнение чисел и указателей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==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Проверка равенства и различия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Поразрядное И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Поразрядное исключающее ИЛИ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Поразрядное ИЛИ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Логическое И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736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Логическое ИЛИ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925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операторов в языке Си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809653"/>
              </p:ext>
            </p:extLst>
          </p:nvPr>
        </p:nvGraphicFramePr>
        <p:xfrm>
          <a:off x="838198" y="1825625"/>
          <a:ext cx="10515599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4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76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Лексемы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Класс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Приор-т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Ассоц-ность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6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 ? в1 : в2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в1 (если с != 0) или в2 (если с == 0)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Тернарный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Правая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&lt;-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878167"/>
                  </a:ext>
                </a:extLst>
              </a:tr>
              <a:tr h="150423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&lt;&lt;=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&gt;&gt;=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^= 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Вычисление</a:t>
                      </a:r>
                      <a:r>
                        <a:rPr lang="ru-RU" sz="16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правого операнда и послед. запись полученного значения в ячейку памяти, определяемую левым операндом (п</a:t>
                      </a:r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рисваивание)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Бинарный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6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Последовательное вычисление операндов 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Левая 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-&gt;</a:t>
                      </a:r>
                      <a:endParaRPr lang="ru-RU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23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CFA9-A3D3-9248-CC65-6826BA3D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Пропущено </a:t>
            </a:r>
            <a:r>
              <a:rPr lang="en-US" sz="4000" dirty="0"/>
              <a:t>≈ 15 </a:t>
            </a:r>
            <a:r>
              <a:rPr lang="ru-RU" sz="4000" dirty="0"/>
              <a:t>слайдов про операторы вида: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9EAFC-2683-3F20-079E-8D07B2EC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t">
              <a:spcBef>
                <a:spcPts val="0"/>
              </a:spcBef>
            </a:pPr>
            <a:r>
              <a:rPr lang="ru-RU" sz="2800" b="0" i="0" u="none" strike="noStrike" kern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Что требуется от типов операндов, как определяется тип результата</a:t>
            </a:r>
            <a:endParaRPr lang="ru-RU" sz="2800" b="0" i="0" u="none" strike="noStrike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spcBef>
                <a:spcPts val="0"/>
              </a:spcBef>
            </a:pPr>
            <a:endParaRPr lang="ru-RU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spcBef>
                <a:spcPts val="0"/>
              </a:spcBef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В каком порядке вычисляются операнды</a:t>
            </a:r>
            <a:endParaRPr lang="ru-RU" b="0" i="0" u="none" strike="noStrike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spcBef>
                <a:spcPts val="0"/>
              </a:spcBef>
            </a:pPr>
            <a:endParaRPr lang="ru-RU" sz="2800" b="0" i="0" u="none" strike="noStrike" kern="1200" dirty="0">
              <a:solidFill>
                <a:srgbClr val="000000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spcBef>
                <a:spcPts val="0"/>
              </a:spcBef>
            </a:pPr>
            <a:r>
              <a:rPr lang="ru-RU" sz="2800" b="0" i="0" u="none" strike="noStrike" kern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Как вычисляется результат</a:t>
            </a:r>
            <a:endParaRPr lang="en-US" sz="2800" b="0" i="0" u="none" strike="noStrike" kern="1200" dirty="0">
              <a:solidFill>
                <a:srgbClr val="000000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t">
              <a:spcBef>
                <a:spcPts val="0"/>
              </a:spcBef>
            </a:pPr>
            <a:r>
              <a:rPr lang="en-US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Well</a:t>
            </a:r>
            <a:r>
              <a:rPr lang="ru-RU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defined</a:t>
            </a:r>
            <a:r>
              <a:rPr lang="ru-RU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ru-RU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behavior</a:t>
            </a:r>
            <a:endParaRPr lang="ru-RU" b="0" i="0" u="none" strike="noStrike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Implementation-defined behavior</a:t>
            </a:r>
            <a:endParaRPr lang="ru-RU" b="0" i="0" u="none" strike="noStrike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t">
              <a:spcBef>
                <a:spcPts val="0"/>
              </a:spcBef>
            </a:pPr>
            <a:r>
              <a:rPr lang="en-US" b="0" i="0" u="none" strike="noStrike" kern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Unspecified behavior</a:t>
            </a:r>
            <a:endParaRPr lang="ru-RU" b="0" i="0" u="none" strike="noStrike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b="0" i="0" u="none" strike="noStrike" kern="1200" baseline="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Undefined behavior</a:t>
            </a:r>
          </a:p>
          <a:p>
            <a:pPr fontAlgn="t">
              <a:spcBef>
                <a:spcPts val="0"/>
              </a:spcBef>
            </a:pPr>
            <a:endParaRPr lang="ru-RU" sz="2800" b="0" i="0" u="none" strike="noStrike" kern="1200" dirty="0">
              <a:solidFill>
                <a:srgbClr val="000000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spcBef>
                <a:spcPts val="0"/>
              </a:spcBef>
            </a:pPr>
            <a:r>
              <a:rPr lang="ru-RU" sz="2800" b="0" i="0" u="none" strike="noStrike" kern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Какие есть побочные эффекты</a:t>
            </a:r>
            <a:endParaRPr lang="ru-RU" sz="2800" b="0" i="0" u="none" strike="noStrike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9740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ru-RU" sz="4000" dirty="0"/>
              <a:t>Пропущенный слайд для </a:t>
            </a:r>
            <a:r>
              <a:rPr lang="en-US" sz="4000" dirty="0"/>
              <a:t>x &amp;&amp; y </a:t>
            </a:r>
            <a:r>
              <a:rPr lang="ru-RU" sz="4000" dirty="0"/>
              <a:t>и </a:t>
            </a:r>
            <a:r>
              <a:rPr lang="en-US" sz="4000" dirty="0"/>
              <a:t>x || y</a:t>
            </a:r>
            <a:endParaRPr lang="ru-R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/>
          </p:cNvGraphicFramePr>
          <p:nvPr/>
        </p:nvGraphicFramePr>
        <p:xfrm>
          <a:off x="838200" y="2202974"/>
          <a:ext cx="105156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1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3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288">
                <a:tc>
                  <a:txBody>
                    <a:bodyPr/>
                    <a:lstStyle/>
                    <a:p>
                      <a:endParaRPr lang="ru-RU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54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Требования к виду и типам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 </a:t>
                      </a:r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или неявно преобразуется к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endParaRPr lang="ru-RU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083735"/>
                  </a:ext>
                </a:extLst>
              </a:tr>
              <a:tr h="341754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Правило определения типа результата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endParaRPr lang="ru-RU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288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Порядок вычисления операндов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х и потом, возможно, у</a:t>
                      </a:r>
                      <a:endParaRPr lang="ru-RU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243343"/>
                  </a:ext>
                </a:extLst>
              </a:tr>
              <a:tr h="341754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Правило вычисления результата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&amp;&amp;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если значение 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(int)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х == 0, то 0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иначе значение !!у</a:t>
                      </a:r>
                      <a:endParaRPr lang="en-US" sz="2000" baseline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||: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если значение 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(int)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х 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!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то 1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иначе значение !!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aseline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Если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(int)x </a:t>
                      </a:r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и/или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(int)y </a:t>
                      </a:r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является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implementation-defined</a:t>
                      </a:r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то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implementation-defined</a:t>
                      </a:r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иначе 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  <a:r>
                        <a:rPr lang="en-US" sz="2000" baseline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ell-defined</a:t>
                      </a:r>
                      <a:endParaRPr lang="ru-RU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54"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Побочные эффекты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41479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599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Неявная расстановка скобок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Соответствует математической нотации и интуиции</a:t>
            </a:r>
          </a:p>
          <a:p>
            <a:pPr lvl="1"/>
            <a:r>
              <a:rPr lang="ru-RU" sz="2400" dirty="0">
                <a:highlight>
                  <a:srgbClr val="00FF00"/>
                </a:highlight>
              </a:rPr>
              <a:t>Если выражение содержит только арифметические операторы, логические связки, операторы сравнения и унарные операторы</a:t>
            </a:r>
          </a:p>
          <a:p>
            <a:endParaRPr lang="ru-RU" sz="2800" dirty="0"/>
          </a:p>
          <a:p>
            <a:r>
              <a:rPr lang="ru-RU" sz="2800" dirty="0"/>
              <a:t>НЕ соответствует математической нотации и интуиции</a:t>
            </a:r>
          </a:p>
          <a:p>
            <a:pPr lvl="1"/>
            <a:r>
              <a:rPr lang="ru-RU" sz="2400" dirty="0">
                <a:highlight>
                  <a:srgbClr val="FFFF00"/>
                </a:highlight>
              </a:rPr>
              <a:t>Если выражение содержит поразрядные операторы</a:t>
            </a:r>
          </a:p>
          <a:p>
            <a:pPr lvl="1"/>
            <a:endParaRPr lang="ru-RU" sz="2400" dirty="0"/>
          </a:p>
          <a:p>
            <a:pPr marL="0" indent="0">
              <a:buNone/>
            </a:pPr>
            <a:endParaRPr lang="ru-RU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17DEB2-872A-E3B8-1884-813103858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454017"/>
              </p:ext>
            </p:extLst>
          </p:nvPr>
        </p:nvGraphicFramePr>
        <p:xfrm>
          <a:off x="838200" y="4754564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158800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308422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2437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Выражение на 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Ожидание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Реальность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858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+ 1 &lt;&lt; y </a:t>
                      </a:r>
                      <a:endParaRPr lang="ru-RU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+ (1 &lt;&lt; y)</a:t>
                      </a:r>
                      <a:endParaRPr lang="ru-RU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+ 1</a:t>
                      </a:r>
                      <a:r>
                        <a:rPr lang="ru-RU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&lt;&lt; y</a:t>
                      </a:r>
                      <a:endParaRPr lang="ru-RU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0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&amp; y == 0</a:t>
                      </a:r>
                      <a:endParaRPr lang="ru-RU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(x &amp; y) == 0</a:t>
                      </a:r>
                      <a:endParaRPr lang="ru-RU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 &amp; (y == 0)</a:t>
                      </a:r>
                      <a:endParaRPr lang="ru-RU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736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652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BF8F-FFBD-B948-AB47-06E3EEA8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вычисления операндов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38811-9250-9F71-2B95-E61C12B7C4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highlight>
                  <a:srgbClr val="00FF00"/>
                </a:highlight>
              </a:rPr>
              <a:t>Левый, возможно правый</a:t>
            </a:r>
          </a:p>
          <a:p>
            <a:pPr lvl="1"/>
            <a:r>
              <a:rPr lang="ru-RU" dirty="0"/>
              <a:t>в1 </a:t>
            </a:r>
            <a:r>
              <a:rPr lang="en-US" dirty="0"/>
              <a:t>&amp;&amp; </a:t>
            </a:r>
            <a:r>
              <a:rPr lang="ru-RU" dirty="0"/>
              <a:t>в2 </a:t>
            </a:r>
          </a:p>
          <a:p>
            <a:pPr lvl="1"/>
            <a:r>
              <a:rPr lang="ru-RU" dirty="0"/>
              <a:t>в1 </a:t>
            </a:r>
            <a:r>
              <a:rPr lang="en-US" dirty="0"/>
              <a:t>|| </a:t>
            </a:r>
            <a:r>
              <a:rPr lang="ru-RU" dirty="0"/>
              <a:t>в2 </a:t>
            </a:r>
          </a:p>
          <a:p>
            <a:r>
              <a:rPr lang="ru-RU" dirty="0">
                <a:highlight>
                  <a:srgbClr val="00FF00"/>
                </a:highlight>
              </a:rPr>
              <a:t>Левый, правый</a:t>
            </a:r>
            <a:endParaRPr lang="ru-RU" dirty="0"/>
          </a:p>
          <a:p>
            <a:pPr lvl="1"/>
            <a:r>
              <a:rPr lang="ru-RU" dirty="0"/>
              <a:t>в1 </a:t>
            </a:r>
            <a:r>
              <a:rPr lang="en-US" dirty="0"/>
              <a:t>, </a:t>
            </a:r>
            <a:r>
              <a:rPr lang="ru-RU" dirty="0"/>
              <a:t>в2</a:t>
            </a:r>
          </a:p>
          <a:p>
            <a:r>
              <a:rPr lang="ru-RU" dirty="0">
                <a:highlight>
                  <a:srgbClr val="00FF00"/>
                </a:highlight>
              </a:rPr>
              <a:t>Левый, один из правых</a:t>
            </a:r>
          </a:p>
          <a:p>
            <a:pPr lvl="1"/>
            <a:r>
              <a:rPr lang="ru-RU" dirty="0"/>
              <a:t>у </a:t>
            </a:r>
            <a:r>
              <a:rPr lang="en-US" dirty="0"/>
              <a:t>?</a:t>
            </a:r>
            <a:r>
              <a:rPr lang="ru-RU" dirty="0"/>
              <a:t> в1 </a:t>
            </a:r>
            <a:r>
              <a:rPr lang="en-US" dirty="0"/>
              <a:t>:</a:t>
            </a:r>
            <a:r>
              <a:rPr lang="ru-RU" dirty="0"/>
              <a:t> в2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5E4B7-2F4B-4957-4393-028803D510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Unspecified</a:t>
            </a:r>
          </a:p>
          <a:p>
            <a:pPr lvl="1"/>
            <a:r>
              <a:rPr lang="ru-RU" dirty="0"/>
              <a:t>Все остальные бинарные операторы</a:t>
            </a:r>
          </a:p>
          <a:p>
            <a:pPr lvl="1"/>
            <a:r>
              <a:rPr lang="ru-RU" dirty="0"/>
              <a:t>Самые частотные «ловушки»</a:t>
            </a:r>
            <a:endParaRPr lang="en-US" dirty="0"/>
          </a:p>
          <a:p>
            <a:pPr lvl="2"/>
            <a:r>
              <a:rPr lang="en-US" dirty="0"/>
              <a:t>f() + g()</a:t>
            </a:r>
          </a:p>
          <a:p>
            <a:pPr lvl="2"/>
            <a:r>
              <a:rPr lang="en-US" dirty="0"/>
              <a:t>h(f(), g())</a:t>
            </a:r>
          </a:p>
          <a:p>
            <a:pPr lvl="2"/>
            <a:r>
              <a:rPr lang="en-US" dirty="0"/>
              <a:t>a[f()] = g()</a:t>
            </a:r>
            <a:endParaRPr lang="ru-RU" dirty="0">
              <a:highlight>
                <a:srgbClr val="FFFF00"/>
              </a:highlight>
            </a:endParaRPr>
          </a:p>
          <a:p>
            <a:pPr lvl="2"/>
            <a:r>
              <a:rPr lang="ru-RU" dirty="0"/>
              <a:t>выше порядок вызовов </a:t>
            </a:r>
            <a:r>
              <a:rPr lang="en-US" dirty="0"/>
              <a:t>f </a:t>
            </a:r>
            <a:r>
              <a:rPr lang="ru-RU" dirty="0"/>
              <a:t>и </a:t>
            </a:r>
            <a:r>
              <a:rPr lang="en-US" dirty="0"/>
              <a:t>g unspecified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30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ℓ-value</a:t>
            </a:r>
            <a:r>
              <a:rPr lang="ru-RU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ighlight>
                  <a:srgbClr val="00FFFF"/>
                </a:highlight>
              </a:rPr>
              <a:t>ℓ-value</a:t>
            </a:r>
            <a:r>
              <a:rPr lang="en-US" sz="2800" dirty="0"/>
              <a:t> </a:t>
            </a:r>
            <a:r>
              <a:rPr lang="ru-RU" sz="2800" dirty="0"/>
              <a:t>– значение, имеющее адрес в памяти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dirty="0"/>
              <a:t>Нужно для описания семантики операторов, использующих адреса значений</a:t>
            </a:r>
          </a:p>
          <a:p>
            <a:pPr lvl="1"/>
            <a:r>
              <a:rPr lang="ru-RU" dirty="0"/>
              <a:t>Почему так ОК?</a:t>
            </a:r>
          </a:p>
          <a:p>
            <a:pPr lvl="2"/>
            <a:r>
              <a:rPr lang="ru-RU" dirty="0"/>
              <a:t>&amp;</a:t>
            </a:r>
            <a:r>
              <a:rPr lang="en-US" dirty="0"/>
              <a:t>x</a:t>
            </a:r>
          </a:p>
          <a:p>
            <a:pPr lvl="2"/>
            <a:r>
              <a:rPr lang="en-US" dirty="0"/>
              <a:t>x = 5</a:t>
            </a:r>
          </a:p>
          <a:p>
            <a:pPr lvl="1"/>
            <a:r>
              <a:rPr lang="ru-RU" dirty="0"/>
              <a:t>Почему так не ОК?</a:t>
            </a:r>
          </a:p>
          <a:p>
            <a:pPr lvl="2"/>
            <a:r>
              <a:rPr lang="ru-RU" dirty="0"/>
              <a:t>&amp;5</a:t>
            </a:r>
            <a:endParaRPr lang="en-US" dirty="0"/>
          </a:p>
          <a:p>
            <a:pPr lvl="2"/>
            <a:r>
              <a:rPr lang="ru-RU" dirty="0"/>
              <a:t>(</a:t>
            </a:r>
            <a:r>
              <a:rPr lang="en-US" dirty="0"/>
              <a:t>int)x = 5</a:t>
            </a:r>
            <a:endParaRPr lang="ru-RU" dirty="0"/>
          </a:p>
          <a:p>
            <a:pPr lvl="1"/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50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Выражения, являющиеся </a:t>
            </a:r>
            <a:r>
              <a:rPr lang="en-US" dirty="0"/>
              <a:t>ℓ-value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 – </a:t>
            </a:r>
            <a:r>
              <a:rPr lang="ru-RU" dirty="0"/>
              <a:t>переменная</a:t>
            </a:r>
            <a:endParaRPr lang="en-US" dirty="0"/>
          </a:p>
          <a:p>
            <a:r>
              <a:rPr lang="ru-RU" dirty="0"/>
              <a:t>*</a:t>
            </a:r>
            <a:r>
              <a:rPr lang="en-US" dirty="0" err="1"/>
              <a:t>ptr</a:t>
            </a:r>
            <a:r>
              <a:rPr lang="en-US" dirty="0"/>
              <a:t> </a:t>
            </a:r>
            <a:r>
              <a:rPr lang="ru-RU" dirty="0"/>
              <a:t>– разыменование указателя</a:t>
            </a:r>
          </a:p>
          <a:p>
            <a:r>
              <a:rPr lang="en-US" dirty="0" err="1"/>
              <a:t>ptr</a:t>
            </a:r>
            <a:r>
              <a:rPr lang="en-US" dirty="0"/>
              <a:t>[k] </a:t>
            </a:r>
            <a:r>
              <a:rPr lang="ru-RU" dirty="0"/>
              <a:t>– индексация</a:t>
            </a:r>
          </a:p>
          <a:p>
            <a:r>
              <a:rPr lang="en-US" dirty="0"/>
              <a:t>var.name </a:t>
            </a:r>
            <a:r>
              <a:rPr lang="ru-RU" dirty="0"/>
              <a:t>– доступ к полю структуры или объединения</a:t>
            </a:r>
          </a:p>
          <a:p>
            <a:r>
              <a:rPr lang="en-US" dirty="0" err="1"/>
              <a:t>ptr</a:t>
            </a:r>
            <a:r>
              <a:rPr lang="en-US" dirty="0"/>
              <a:t>-&gt;name – </a:t>
            </a:r>
            <a:r>
              <a:rPr lang="ru-RU" dirty="0"/>
              <a:t>доступ к полю структуры или объединения через указатель</a:t>
            </a:r>
          </a:p>
          <a:p>
            <a:endParaRPr lang="ru-RU" sz="2800" dirty="0"/>
          </a:p>
          <a:p>
            <a:r>
              <a:rPr lang="ru-RU" sz="2800" dirty="0">
                <a:highlight>
                  <a:srgbClr val="C0C0C0"/>
                </a:highlight>
              </a:rPr>
              <a:t>Остальные выражения не являются </a:t>
            </a:r>
            <a:r>
              <a:rPr lang="en-US" sz="2800" dirty="0">
                <a:highlight>
                  <a:srgbClr val="C0C0C0"/>
                </a:highlight>
              </a:rPr>
              <a:t>ℓ-value</a:t>
            </a:r>
            <a:endParaRPr lang="ru-RU" sz="2800" dirty="0">
              <a:highlight>
                <a:srgbClr val="C0C0C0"/>
              </a:highlight>
            </a:endParaRPr>
          </a:p>
          <a:p>
            <a:pPr lvl="1"/>
            <a:r>
              <a:rPr lang="ru-RU" sz="2400" dirty="0"/>
              <a:t>Хранить их значения в памяти или нет решает компилятор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73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Операторы, требующие </a:t>
            </a: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ℓ</a:t>
            </a:r>
            <a:r>
              <a:rPr lang="en-US" dirty="0"/>
              <a:t>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Левый операнд во всех видах присваивания</a:t>
            </a:r>
            <a:r>
              <a:rPr lang="en-US" dirty="0"/>
              <a:t> =, +=</a:t>
            </a:r>
            <a:r>
              <a:rPr lang="ru-RU" dirty="0"/>
              <a:t> и т.п.</a:t>
            </a:r>
          </a:p>
          <a:p>
            <a:r>
              <a:rPr lang="ru-RU" dirty="0"/>
              <a:t>Взятие адреса </a:t>
            </a:r>
            <a:r>
              <a:rPr lang="en-US" dirty="0"/>
              <a:t>&amp;</a:t>
            </a:r>
            <a:endParaRPr lang="ru-RU" dirty="0"/>
          </a:p>
          <a:p>
            <a:r>
              <a:rPr lang="ru-RU" dirty="0"/>
              <a:t>Префиксные и постфиксные ++ и --</a:t>
            </a:r>
          </a:p>
          <a:p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17</a:t>
            </a:fld>
            <a:endParaRPr lang="ru-R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B1A38F-C50E-B5EE-5AC0-E21600C69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399214"/>
              </p:ext>
            </p:extLst>
          </p:nvPr>
        </p:nvGraphicFramePr>
        <p:xfrm>
          <a:off x="838200" y="3525203"/>
          <a:ext cx="105156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50020356"/>
                    </a:ext>
                  </a:extLst>
                </a:gridCol>
                <a:gridCol w="3176899">
                  <a:extLst>
                    <a:ext uri="{9D8B030D-6E8A-4147-A177-3AD203B41FA5}">
                      <a16:colId xmlns:a16="http://schemas.microsoft.com/office/drawing/2014/main" val="1602820264"/>
                    </a:ext>
                  </a:extLst>
                </a:gridCol>
                <a:gridCol w="3833501">
                  <a:extLst>
                    <a:ext uri="{9D8B030D-6E8A-4147-A177-3AD203B41FA5}">
                      <a16:colId xmlns:a16="http://schemas.microsoft.com/office/drawing/2014/main" val="2589653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</a:t>
                      </a:r>
                    </a:p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endParaRPr lang="en-US" sz="2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[k]</a:t>
                      </a:r>
                      <a:endParaRPr lang="ru-RU" sz="2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var.name</a:t>
                      </a:r>
                    </a:p>
                    <a:p>
                      <a:pPr algn="ctr"/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ptr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-&gt;name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ℓ-value</a:t>
                      </a:r>
                      <a:endParaRPr lang="ru-RU" sz="2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…, </a:t>
                      </a:r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+= … </a:t>
                      </a:r>
                      <a:r>
                        <a:rPr lang="ru-RU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и т.п.</a:t>
                      </a:r>
                    </a:p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&amp;</a:t>
                      </a:r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endParaRPr lang="en-US" sz="2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++</a:t>
                      </a:r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++</a:t>
                      </a:r>
                    </a:p>
                    <a:p>
                      <a:pPr algn="ctr"/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ℓ</a:t>
                      </a:r>
                      <a:r>
                        <a:rPr lang="en-US" sz="28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</a:t>
                      </a:r>
                      <a:r>
                        <a:rPr lang="en-US" sz="2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  <a:endParaRPr lang="ru-RU" sz="28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206457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95D4E332-9D79-EC9B-39F6-362AB09013A6}"/>
              </a:ext>
            </a:extLst>
          </p:cNvPr>
          <p:cNvSpPr/>
          <p:nvPr/>
        </p:nvSpPr>
        <p:spPr>
          <a:xfrm>
            <a:off x="4061360" y="441486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D7C33A5-3AC2-627E-3A37-0C7BF36E02BC}"/>
              </a:ext>
            </a:extLst>
          </p:cNvPr>
          <p:cNvSpPr/>
          <p:nvPr/>
        </p:nvSpPr>
        <p:spPr>
          <a:xfrm>
            <a:off x="6663030" y="441486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377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 с </a:t>
            </a:r>
            <a:r>
              <a:rPr lang="en-US" dirty="0"/>
              <a:t>ℓ-value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/>
              <a:t>Пример 1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 = 2;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x – ℓ-value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A[10];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A[5] = 5+x;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A[5] – ℓ-value, 5+x –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не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ℓ-value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/>
              <a:t>Пример 2</a:t>
            </a:r>
          </a:p>
          <a:p>
            <a:pPr marL="400050" lvl="1" indent="0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pPr marL="400050" lvl="1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(x &lt; y ? x : y) = 1;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 ошибка, т.к. (x &lt; y ? x : y) </a:t>
            </a:r>
            <a:r>
              <a:rPr lang="es-E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не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 ℓ-</a:t>
            </a:r>
            <a:r>
              <a:rPr lang="es-E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*(x &lt; y ? &amp;x : &amp;y) = 1; </a:t>
            </a:r>
            <a:r>
              <a:rPr lang="es-E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ОК, т.к. *(x &lt; y ? &amp;x : &amp;y) – ℓ-</a:t>
            </a:r>
            <a:r>
              <a:rPr lang="es-E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value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/>
          </a:p>
          <a:p>
            <a:r>
              <a:rPr lang="ru-RU" sz="2400" dirty="0"/>
              <a:t>Пример 3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&lt; A[j] ?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: A[j]) = 1;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A[ A[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&lt; A[j] ?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 j ] = 1;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ОК 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7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побочный эффект?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highlight>
                  <a:srgbClr val="00FFFF"/>
                </a:highlight>
              </a:rPr>
              <a:t>Побочный эффект </a:t>
            </a:r>
            <a:r>
              <a:rPr lang="ru-RU" dirty="0"/>
              <a:t>(</a:t>
            </a:r>
            <a:r>
              <a:rPr lang="en-US" dirty="0"/>
              <a:t>side effect</a:t>
            </a:r>
            <a:r>
              <a:rPr lang="ru-RU" dirty="0"/>
              <a:t>) вычисления выражения – это факт изменения содержимого ячеек памяти в процессе вычисления выражения</a:t>
            </a:r>
          </a:p>
          <a:p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Присваивание</a:t>
            </a:r>
          </a:p>
          <a:p>
            <a:pPr lvl="1"/>
            <a:r>
              <a:rPr lang="en-US" dirty="0"/>
              <a:t>x = 1;</a:t>
            </a:r>
            <a:r>
              <a:rPr lang="ru-RU" dirty="0"/>
              <a:t> </a:t>
            </a:r>
          </a:p>
          <a:p>
            <a:pPr lvl="2"/>
            <a:endParaRPr lang="ru-RU" dirty="0"/>
          </a:p>
          <a:p>
            <a:r>
              <a:rPr lang="ru-RU" dirty="0"/>
              <a:t>Инкремент и декремент</a:t>
            </a:r>
            <a:endParaRPr lang="en-US" dirty="0"/>
          </a:p>
          <a:p>
            <a:pPr lvl="1"/>
            <a:r>
              <a:rPr lang="en-US" dirty="0"/>
              <a:t>i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/>
              <a:t>0; A[i++]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</a:t>
            </a:r>
            <a:r>
              <a:rPr lang="en-US" dirty="0" err="1"/>
              <a:t>i</a:t>
            </a:r>
            <a:r>
              <a:rPr lang="en-US" dirty="0"/>
              <a:t>++;</a:t>
            </a:r>
            <a:r>
              <a:rPr lang="ru-RU" dirty="0"/>
              <a:t> </a:t>
            </a:r>
            <a:r>
              <a:rPr lang="en-US" dirty="0"/>
              <a:t>A[</a:t>
            </a:r>
            <a:r>
              <a:rPr lang="ru-RU" dirty="0"/>
              <a:t>++</a:t>
            </a:r>
            <a:r>
              <a:rPr lang="en-US" dirty="0" err="1"/>
              <a:t>i</a:t>
            </a:r>
            <a:r>
              <a:rPr lang="en-US" dirty="0"/>
              <a:t>]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ru-RU" dirty="0"/>
              <a:t> ++</a:t>
            </a:r>
            <a:r>
              <a:rPr lang="en-US" dirty="0" err="1"/>
              <a:t>i</a:t>
            </a:r>
            <a:r>
              <a:rPr lang="en-US" dirty="0"/>
              <a:t>;</a:t>
            </a:r>
            <a:endParaRPr lang="ru-RU" dirty="0"/>
          </a:p>
          <a:p>
            <a:pPr lvl="1"/>
            <a:endParaRPr lang="en-US" dirty="0"/>
          </a:p>
          <a:p>
            <a:pPr lvl="1"/>
            <a:r>
              <a:rPr lang="ru-RU" dirty="0"/>
              <a:t>Какие элементы </a:t>
            </a:r>
            <a:r>
              <a:rPr lang="en-US" dirty="0"/>
              <a:t>A</a:t>
            </a:r>
            <a:r>
              <a:rPr lang="ru-RU" dirty="0"/>
              <a:t> изменятся? Какие они получат значения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В каком порядке исполнятся ++?</a:t>
            </a:r>
          </a:p>
          <a:p>
            <a:pPr lvl="1"/>
            <a:r>
              <a:rPr lang="ru-RU" dirty="0"/>
              <a:t>Определён ли вообще порядок исполнения ++?</a:t>
            </a:r>
          </a:p>
          <a:p>
            <a:pPr lvl="2"/>
            <a:endParaRPr lang="ru-RU" dirty="0"/>
          </a:p>
          <a:p>
            <a:r>
              <a:rPr lang="ru-RU" dirty="0"/>
              <a:t>Вызов функции</a:t>
            </a:r>
          </a:p>
          <a:p>
            <a:pPr lvl="1"/>
            <a:r>
              <a:rPr lang="ru-RU" dirty="0"/>
              <a:t>Почему?</a:t>
            </a:r>
          </a:p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773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такое точка следования?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highlight>
                  <a:srgbClr val="00FFFF"/>
                </a:highlight>
              </a:rPr>
              <a:t>Точка следования </a:t>
            </a:r>
            <a:r>
              <a:rPr lang="ru-RU" dirty="0"/>
              <a:t>(</a:t>
            </a:r>
            <a:r>
              <a:rPr lang="en-US" dirty="0"/>
              <a:t>s</a:t>
            </a:r>
            <a:r>
              <a:rPr lang="ru-RU" dirty="0"/>
              <a:t>equence point)</a:t>
            </a:r>
            <a:r>
              <a:rPr lang="en-US" dirty="0"/>
              <a:t> – </a:t>
            </a:r>
            <a:r>
              <a:rPr lang="ru-RU" dirty="0"/>
              <a:t>это момент вычисления выражения, когда побочные эффекты</a:t>
            </a:r>
          </a:p>
          <a:p>
            <a:pPr lvl="1"/>
            <a:r>
              <a:rPr lang="ru-RU" dirty="0"/>
              <a:t>все произошли в вычисленной части выражения</a:t>
            </a:r>
          </a:p>
          <a:p>
            <a:pPr lvl="1"/>
            <a:r>
              <a:rPr lang="ru-RU" dirty="0"/>
              <a:t>ни один не произошёл в невычисленной части выражения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20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408B1-63D8-2E22-5223-06BE17024531}"/>
              </a:ext>
            </a:extLst>
          </p:cNvPr>
          <p:cNvSpPr txBox="1"/>
          <p:nvPr/>
        </p:nvSpPr>
        <p:spPr>
          <a:xfrm>
            <a:off x="535909" y="4556604"/>
            <a:ext cx="2751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Исполняемые инструкции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38C2F-51C4-311B-4B60-CF91601ECA96}"/>
              </a:ext>
            </a:extLst>
          </p:cNvPr>
          <p:cNvSpPr txBox="1"/>
          <p:nvPr/>
        </p:nvSpPr>
        <p:spPr>
          <a:xfrm>
            <a:off x="851385" y="5061015"/>
            <a:ext cx="212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Побочные эффекты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F8541-BA29-85E0-E034-CBCFBD08601D}"/>
              </a:ext>
            </a:extLst>
          </p:cNvPr>
          <p:cNvSpPr txBox="1"/>
          <p:nvPr/>
        </p:nvSpPr>
        <p:spPr>
          <a:xfrm>
            <a:off x="1125589" y="3884971"/>
            <a:ext cx="1572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Исходный код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B31354-A4D4-F801-25F7-0CFDC41F01A3}"/>
              </a:ext>
            </a:extLst>
          </p:cNvPr>
          <p:cNvSpPr txBox="1"/>
          <p:nvPr/>
        </p:nvSpPr>
        <p:spPr>
          <a:xfrm>
            <a:off x="896664" y="5615736"/>
            <a:ext cx="2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Значения в памяти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D7B687-DD86-814B-0118-75296450E78E}"/>
              </a:ext>
            </a:extLst>
          </p:cNvPr>
          <p:cNvGrpSpPr/>
          <p:nvPr/>
        </p:nvGrpSpPr>
        <p:grpSpPr>
          <a:xfrm>
            <a:off x="3171905" y="3739339"/>
            <a:ext cx="8397145" cy="2386825"/>
            <a:chOff x="3171905" y="3739339"/>
            <a:chExt cx="8397145" cy="238682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2A85B80-2DB9-209D-6AD9-C019EF6BD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905" y="3739339"/>
              <a:ext cx="8397145" cy="238682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3056DA-B9C6-A021-F5D4-7C74BEDB96FB}"/>
                </a:ext>
              </a:extLst>
            </p:cNvPr>
            <p:cNvSpPr txBox="1"/>
            <p:nvPr/>
          </p:nvSpPr>
          <p:spPr>
            <a:xfrm>
              <a:off x="4512141" y="3884971"/>
              <a:ext cx="8208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expr  1</a:t>
              </a:r>
              <a:endParaRPr lang="ru-RU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94CE18-5721-13AC-004E-563544E07E6F}"/>
                </a:ext>
              </a:extLst>
            </p:cNvPr>
            <p:cNvSpPr txBox="1"/>
            <p:nvPr/>
          </p:nvSpPr>
          <p:spPr>
            <a:xfrm>
              <a:off x="9307963" y="3884971"/>
              <a:ext cx="8208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expr  2</a:t>
              </a:r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1D2B7F-5C37-5E18-40C0-062E35B7AA61}"/>
                </a:ext>
              </a:extLst>
            </p:cNvPr>
            <p:cNvSpPr txBox="1"/>
            <p:nvPr/>
          </p:nvSpPr>
          <p:spPr>
            <a:xfrm>
              <a:off x="7176437" y="3884971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</a:t>
              </a:r>
              <a:endParaRPr lang="ru-R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31358F7-56BC-9187-D22D-4353500B1259}"/>
                </a:ext>
              </a:extLst>
            </p:cNvPr>
            <p:cNvSpPr txBox="1"/>
            <p:nvPr/>
          </p:nvSpPr>
          <p:spPr>
            <a:xfrm>
              <a:off x="4512141" y="4571836"/>
              <a:ext cx="8208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expr  1</a:t>
              </a:r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5D5B7E-01AB-8F13-413D-60E1D00110BC}"/>
                </a:ext>
              </a:extLst>
            </p:cNvPr>
            <p:cNvSpPr txBox="1"/>
            <p:nvPr/>
          </p:nvSpPr>
          <p:spPr>
            <a:xfrm>
              <a:off x="8227843" y="4509120"/>
              <a:ext cx="8208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expr  2</a:t>
              </a:r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E885B4-2203-0140-D76D-59935C6A01DB}"/>
                </a:ext>
              </a:extLst>
            </p:cNvPr>
            <p:cNvSpPr txBox="1"/>
            <p:nvPr/>
          </p:nvSpPr>
          <p:spPr>
            <a:xfrm>
              <a:off x="10708555" y="4509120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</a:t>
              </a:r>
              <a:endParaRPr lang="ru-RU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EB663FA-0C5D-0EEC-3042-2EEE7B5D3362}"/>
                </a:ext>
              </a:extLst>
            </p:cNvPr>
            <p:cNvSpPr/>
            <p:nvPr/>
          </p:nvSpPr>
          <p:spPr>
            <a:xfrm>
              <a:off x="6456040" y="4293096"/>
              <a:ext cx="331518" cy="831363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628E34-E202-38D8-BE6C-A5F9B5CCB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692"/>
            <a:stretch/>
          </p:blipFill>
          <p:spPr>
            <a:xfrm>
              <a:off x="10452119" y="4941168"/>
              <a:ext cx="775119" cy="73875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CAA5AF7-38C6-F703-0916-D972A0068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49157" y="4901101"/>
              <a:ext cx="775119" cy="77511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898AF18-87FE-F653-9A14-2A8F96EE5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6516"/>
            <a:stretch/>
          </p:blipFill>
          <p:spPr>
            <a:xfrm>
              <a:off x="9048516" y="4904919"/>
              <a:ext cx="775119" cy="7246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4460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Виды точек 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левого операнда &amp;&amp;, || и , (запятая)</a:t>
            </a:r>
            <a:endParaRPr lang="en-US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вычисления первого операнда </a:t>
            </a:r>
            <a:r>
              <a:rPr lang="en-US" sz="2800" dirty="0"/>
              <a:t>?:</a:t>
            </a:r>
            <a:endParaRPr lang="ru-RU" sz="2800" dirty="0"/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конце всего выражения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Перед входом в вызываемую функцию</a:t>
            </a:r>
          </a:p>
          <a:p>
            <a:pPr marL="582930" indent="-514350">
              <a:buFont typeface="+mj-lt"/>
              <a:buAutoNum type="arabicPeriod"/>
            </a:pPr>
            <a:endParaRPr lang="ru-RU" sz="2800" dirty="0"/>
          </a:p>
          <a:p>
            <a:pPr marL="582930" indent="-514350">
              <a:buFont typeface="+mj-lt"/>
              <a:buAutoNum type="arabicPeriod"/>
            </a:pPr>
            <a:r>
              <a:rPr lang="ru-RU" sz="2800" dirty="0"/>
              <a:t>В объявлении с инициализацией на момент завершения вычисления инициализирующего значения</a:t>
            </a:r>
          </a:p>
          <a:p>
            <a:pPr marL="582930" indent="-514350"/>
            <a:endParaRPr lang="ru-RU" sz="2800" dirty="0"/>
          </a:p>
          <a:p>
            <a:pPr marL="582930" indent="-514350"/>
            <a:r>
              <a:rPr lang="ru-RU" sz="2800" dirty="0"/>
              <a:t>В остальном порядок побочных эффектов является </a:t>
            </a:r>
            <a:r>
              <a:rPr lang="en-US" sz="2800" dirty="0"/>
              <a:t>unspecified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93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(*p++ != 0 &amp;&amp; *q++ != 0) *p = *q;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ru-RU" dirty="0">
                <a:highlight>
                  <a:srgbClr val="00FF00"/>
                </a:highlight>
              </a:rPr>
              <a:t>Никогда не пишите так =)</a:t>
            </a:r>
          </a:p>
          <a:p>
            <a:pPr lvl="2"/>
            <a:endParaRPr lang="ru-RU" dirty="0"/>
          </a:p>
          <a:p>
            <a:pPr lvl="1"/>
            <a:r>
              <a:rPr lang="ru-RU" dirty="0"/>
              <a:t>Побочный эффект *p++ != 0 проявится до начала вычисления *q++ != 0 </a:t>
            </a:r>
          </a:p>
          <a:p>
            <a:pPr lvl="2"/>
            <a:r>
              <a:rPr lang="ru-RU" dirty="0"/>
              <a:t>Конец первого операнда </a:t>
            </a:r>
            <a:r>
              <a:rPr lang="en-US" dirty="0"/>
              <a:t>&amp;&amp;</a:t>
            </a:r>
            <a:endParaRPr lang="ru-RU" dirty="0"/>
          </a:p>
          <a:p>
            <a:pPr lvl="2"/>
            <a:endParaRPr lang="ru-RU" dirty="0"/>
          </a:p>
          <a:p>
            <a:pPr lvl="1"/>
            <a:r>
              <a:rPr lang="ru-RU" dirty="0"/>
              <a:t>Побочный эффект *q++ != 0 проявится до начала вычисления *p = *q </a:t>
            </a:r>
            <a:endParaRPr lang="en-US" dirty="0"/>
          </a:p>
          <a:p>
            <a:pPr lvl="2"/>
            <a:r>
              <a:rPr lang="ru-RU" dirty="0"/>
              <a:t>Конец выражения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Сколько точек следования в каждом из этих операторов?</a:t>
            </a:r>
          </a:p>
          <a:p>
            <a:pPr marL="857250" lvl="1" indent="-45720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 != 0 &amp;&amp; *q != 0) *p++ = *q++;</a:t>
            </a:r>
          </a:p>
          <a:p>
            <a:pPr marL="857250" lvl="1" indent="-457200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(*q != 0) *p++ = *q++;</a:t>
            </a:r>
          </a:p>
          <a:p>
            <a:pPr marL="125730" indent="0">
              <a:buNone/>
            </a:pPr>
            <a:endParaRPr lang="ru-RU" dirty="0"/>
          </a:p>
          <a:p>
            <a:pPr marL="125730" indent="0">
              <a:buNone/>
            </a:pP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238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A[3] = { 1,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 }, *p = A;</a:t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(*p++) ? (*p++) : 0;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чему равно a?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400" dirty="0"/>
          </a:p>
          <a:p>
            <a:pPr lvl="1"/>
            <a:r>
              <a:rPr lang="ru-RU" sz="2400" dirty="0"/>
              <a:t>Точка следования находится после первого *p++</a:t>
            </a:r>
          </a:p>
          <a:p>
            <a:endParaRPr lang="ru-RU" sz="2800" dirty="0"/>
          </a:p>
          <a:p>
            <a:pPr lvl="1"/>
            <a:r>
              <a:rPr lang="ru-RU" sz="2400" dirty="0"/>
              <a:t>p уже увеличена на 1 при вычислении второго *p++ </a:t>
            </a:r>
          </a:p>
          <a:p>
            <a:endParaRPr lang="ru-RU" sz="2800" dirty="0"/>
          </a:p>
          <a:p>
            <a:r>
              <a:rPr lang="ru-RU" sz="2800" dirty="0">
                <a:highlight>
                  <a:srgbClr val="00FF00"/>
                </a:highlight>
              </a:rPr>
              <a:t>Никогда не пишите так</a:t>
            </a:r>
            <a:r>
              <a:rPr lang="ru-RU" dirty="0">
                <a:highlight>
                  <a:srgbClr val="00FF00"/>
                </a:highlight>
              </a:rPr>
              <a:t> =)</a:t>
            </a:r>
            <a:endParaRPr lang="ru-RU" sz="2800" dirty="0">
              <a:highlight>
                <a:srgbClr val="00FF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234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0, j = i++, k = i++;</a:t>
            </a:r>
            <a:b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 = f(i++) + g(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+ h(k++);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(2)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dirty="0"/>
          </a:p>
          <a:p>
            <a:r>
              <a:rPr lang="ru-RU" dirty="0"/>
              <a:t>Каждая из переменных i, j и k принимает новое значение перед входом в f, g и h соответственно, при этом…</a:t>
            </a:r>
          </a:p>
          <a:p>
            <a:endParaRPr lang="ru-RU" dirty="0"/>
          </a:p>
          <a:p>
            <a:pPr lvl="1"/>
            <a:r>
              <a:rPr lang="en-US" dirty="0"/>
              <a:t>Unspecified</a:t>
            </a:r>
            <a:endParaRPr lang="ru-RU" dirty="0"/>
          </a:p>
          <a:p>
            <a:pPr lvl="2"/>
            <a:r>
              <a:rPr lang="ru-RU" dirty="0"/>
              <a:t>Порядок вызова функций f(), g(), h() и порядок инкрементов i, j, k в строке 2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i, </a:t>
            </a:r>
            <a:r>
              <a:rPr lang="ru-RU" dirty="0"/>
              <a:t>j и k – глобальные переменные, то </a:t>
            </a:r>
            <a:r>
              <a:rPr lang="en-US" dirty="0"/>
              <a:t>unspecified</a:t>
            </a:r>
            <a:endParaRPr lang="ru-RU" dirty="0"/>
          </a:p>
          <a:p>
            <a:pPr lvl="2"/>
            <a:r>
              <a:rPr lang="ru-RU" dirty="0"/>
              <a:t>Значения j и k внутри f</a:t>
            </a:r>
          </a:p>
          <a:p>
            <a:pPr lvl="2"/>
            <a:r>
              <a:rPr lang="ru-RU" dirty="0"/>
              <a:t>Значения </a:t>
            </a:r>
            <a:r>
              <a:rPr lang="en-US" dirty="0"/>
              <a:t>i</a:t>
            </a:r>
            <a:r>
              <a:rPr lang="ru-RU" dirty="0"/>
              <a:t> и k внутри </a:t>
            </a:r>
            <a:r>
              <a:rPr lang="en-US" dirty="0"/>
              <a:t>g</a:t>
            </a:r>
            <a:endParaRPr lang="ru-RU" dirty="0"/>
          </a:p>
          <a:p>
            <a:pPr lvl="2"/>
            <a:r>
              <a:rPr lang="ru-RU" dirty="0"/>
              <a:t>Значения </a:t>
            </a:r>
            <a:r>
              <a:rPr lang="en-US" dirty="0"/>
              <a:t>i </a:t>
            </a:r>
            <a:r>
              <a:rPr lang="ru-RU" dirty="0"/>
              <a:t>и j внутри </a:t>
            </a:r>
            <a:r>
              <a:rPr lang="en-US" dirty="0"/>
              <a:t>h</a:t>
            </a:r>
            <a:r>
              <a:rPr lang="ru-RU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720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Советы по </a:t>
            </a:r>
            <a:r>
              <a:rPr lang="en-US" sz="3600" dirty="0"/>
              <a:t>[</a:t>
            </a:r>
            <a:r>
              <a:rPr lang="ru-RU" sz="3600" dirty="0">
                <a:highlight>
                  <a:srgbClr val="00FF00"/>
                </a:highlight>
              </a:rPr>
              <a:t>не</a:t>
            </a:r>
            <a:r>
              <a:rPr lang="en-US" sz="3600" dirty="0"/>
              <a:t>]</a:t>
            </a:r>
            <a:r>
              <a:rPr lang="ru-RU" sz="3600" dirty="0"/>
              <a:t>использованию побочных эффектов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Меньше – легче понимать код </a:t>
            </a:r>
          </a:p>
          <a:p>
            <a:endParaRPr lang="en-US" dirty="0"/>
          </a:p>
          <a:p>
            <a:r>
              <a:rPr lang="ru-RU" dirty="0"/>
              <a:t>Более одного с одним и тем же </a:t>
            </a:r>
            <a:r>
              <a:rPr lang="en-US" dirty="0"/>
              <a:t>ℓ-value </a:t>
            </a:r>
            <a:r>
              <a:rPr lang="ru-RU" dirty="0"/>
              <a:t>между соседними точками следования == </a:t>
            </a:r>
            <a:r>
              <a:rPr lang="en-US" dirty="0"/>
              <a:t>unspecified behavior</a:t>
            </a:r>
            <a:endParaRPr lang="ru-RU" dirty="0"/>
          </a:p>
          <a:p>
            <a:endParaRPr lang="ru-RU" dirty="0"/>
          </a:p>
          <a:p>
            <a:r>
              <a:rPr lang="ru-RU" dirty="0"/>
              <a:t>Хороший стиль  </a:t>
            </a:r>
            <a:r>
              <a:rPr lang="en-US" dirty="0"/>
              <a:t>≤ </a:t>
            </a:r>
            <a:r>
              <a:rPr lang="ru-RU" dirty="0"/>
              <a:t>1 на выражение верхнего уровня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E2822-3F92-4355-B47E-F2E8C9595EE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752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75C5C-186A-1C9B-C546-EFF0397F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7D711-3836-4FE4-EB13-0386390BB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Выражение</a:t>
            </a:r>
          </a:p>
          <a:p>
            <a:pPr lvl="1"/>
            <a:r>
              <a:rPr lang="ru-RU" dirty="0"/>
              <a:t>Операнды: переменные, константы, выражения в скобках</a:t>
            </a:r>
          </a:p>
          <a:p>
            <a:pPr lvl="1"/>
            <a:r>
              <a:rPr lang="ru-RU" dirty="0"/>
              <a:t>Связывание операторов с операндами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ru-RU" dirty="0">
                <a:highlight>
                  <a:srgbClr val="C0C0C0"/>
                </a:highlight>
              </a:rPr>
              <a:t>постфиксные</a:t>
            </a:r>
            <a:r>
              <a:rPr lang="ru-RU" dirty="0"/>
              <a:t> </a:t>
            </a:r>
            <a:r>
              <a:rPr lang="en-US" dirty="0"/>
              <a:t>-&gt;</a:t>
            </a:r>
            <a:r>
              <a:rPr lang="ru-RU" dirty="0"/>
              <a:t> </a:t>
            </a:r>
            <a:r>
              <a:rPr lang="ru-RU" dirty="0">
                <a:highlight>
                  <a:srgbClr val="FF00FF"/>
                </a:highlight>
              </a:rPr>
              <a:t>префиксные</a:t>
            </a:r>
            <a:r>
              <a:rPr lang="en-US" dirty="0"/>
              <a:t> -&gt;</a:t>
            </a:r>
            <a:r>
              <a:rPr lang="ru-RU" dirty="0"/>
              <a:t> </a:t>
            </a:r>
            <a:r>
              <a:rPr lang="ru-RU" dirty="0">
                <a:highlight>
                  <a:srgbClr val="00FF00"/>
                </a:highlight>
              </a:rPr>
              <a:t>бинарные по убыванию приоритета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ru-RU" dirty="0">
                <a:highlight>
                  <a:srgbClr val="00FF00"/>
                </a:highlight>
              </a:rPr>
              <a:t>+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ru-RU" dirty="0">
                <a:highlight>
                  <a:srgbClr val="00FF00"/>
                </a:highlight>
              </a:rPr>
              <a:t>учет ассоциативности</a:t>
            </a:r>
            <a:endParaRPr lang="en-US" dirty="0">
              <a:highlight>
                <a:srgbClr val="00FF00"/>
              </a:highlight>
            </a:endParaRPr>
          </a:p>
          <a:p>
            <a:pPr lvl="1"/>
            <a:r>
              <a:rPr lang="ru-RU" dirty="0"/>
              <a:t>Порядок вычисления операндов </a:t>
            </a:r>
            <a:r>
              <a:rPr lang="en-US" dirty="0"/>
              <a:t>unspecified, </a:t>
            </a:r>
            <a:r>
              <a:rPr lang="ru-RU" dirty="0"/>
              <a:t>кроме </a:t>
            </a:r>
            <a:r>
              <a:rPr lang="en-US" dirty="0"/>
              <a:t>&amp;&amp; || ,</a:t>
            </a:r>
            <a:endParaRPr lang="ru-RU" dirty="0"/>
          </a:p>
          <a:p>
            <a:r>
              <a:rPr lang="en-US" dirty="0"/>
              <a:t>ℓ-value</a:t>
            </a:r>
            <a:r>
              <a:rPr lang="ru-RU" dirty="0"/>
              <a:t> – значение с известным адресом, нужно в = </a:t>
            </a:r>
            <a:r>
              <a:rPr lang="en-US" dirty="0"/>
              <a:t>&amp;</a:t>
            </a:r>
            <a:r>
              <a:rPr lang="ru-RU" dirty="0"/>
              <a:t> ++ --</a:t>
            </a:r>
            <a:endParaRPr lang="en-US" dirty="0"/>
          </a:p>
          <a:p>
            <a:r>
              <a:rPr lang="ru-RU" dirty="0"/>
              <a:t>Побочный эффект – меняем память, вычисляя выражение</a:t>
            </a:r>
          </a:p>
          <a:p>
            <a:r>
              <a:rPr lang="ru-RU" dirty="0"/>
              <a:t>Точка следования – граница для проявления побочного эффекта</a:t>
            </a:r>
          </a:p>
          <a:p>
            <a:r>
              <a:rPr lang="ru-RU" dirty="0"/>
              <a:t>Хороший стиль  </a:t>
            </a:r>
            <a:r>
              <a:rPr lang="en-US" dirty="0"/>
              <a:t>≤ </a:t>
            </a:r>
            <a:r>
              <a:rPr lang="ru-RU" dirty="0"/>
              <a:t>1 побочного эффекта на выражение </a:t>
            </a:r>
          </a:p>
        </p:txBody>
      </p:sp>
    </p:spTree>
    <p:extLst>
      <p:ext uri="{BB962C8B-B14F-4D97-AF65-F5344CB8AC3E}">
        <p14:creationId xmlns:p14="http://schemas.microsoft.com/office/powerpoint/2010/main" val="162098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1719</Words>
  <Application>Microsoft Office PowerPoint</Application>
  <PresentationFormat>Widescreen</PresentationFormat>
  <Paragraphs>374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Побочные эффекты выражений в Си</vt:lpstr>
      <vt:lpstr>План лекции</vt:lpstr>
      <vt:lpstr>Выражения языка Си</vt:lpstr>
      <vt:lpstr>Виды операндов</vt:lpstr>
      <vt:lpstr>Виды операторов</vt:lpstr>
      <vt:lpstr>Связывание с операндами</vt:lpstr>
      <vt:lpstr>Пример с неявной расстановкой скобок</vt:lpstr>
      <vt:lpstr>Приоритеты операторов в языке Си</vt:lpstr>
      <vt:lpstr>Приоритеты операторов в языке Си</vt:lpstr>
      <vt:lpstr>Приоритеты операторов в языке Си</vt:lpstr>
      <vt:lpstr>Пропущено ≈ 15 слайдов про операторы вида:</vt:lpstr>
      <vt:lpstr>Пропущенный слайд для x &amp;&amp; y и x || y</vt:lpstr>
      <vt:lpstr>Неявная расстановка скобок</vt:lpstr>
      <vt:lpstr>Порядок вычисления операндов</vt:lpstr>
      <vt:lpstr>Что такое ℓ-value?</vt:lpstr>
      <vt:lpstr>Выражения, являющиеся ℓ-value</vt:lpstr>
      <vt:lpstr>Операторы, требующие ℓ-value</vt:lpstr>
      <vt:lpstr>Примеры с ℓ-value</vt:lpstr>
      <vt:lpstr>Что такое побочный эффект?</vt:lpstr>
      <vt:lpstr>Что такое точка следования?</vt:lpstr>
      <vt:lpstr>Виды точек следования</vt:lpstr>
      <vt:lpstr>Пример 1</vt:lpstr>
      <vt:lpstr>Пример 2</vt:lpstr>
      <vt:lpstr>Пример 3</vt:lpstr>
      <vt:lpstr>Советы по [не]использованию побочных эффектов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 Petrov</dc:creator>
  <cp:lastModifiedBy>Evgenii Petrov</cp:lastModifiedBy>
  <cp:revision>72</cp:revision>
  <dcterms:created xsi:type="dcterms:W3CDTF">2026-10-18T08:29:25Z</dcterms:created>
  <dcterms:modified xsi:type="dcterms:W3CDTF">2026-10-20T09:49:59Z</dcterms:modified>
</cp:coreProperties>
</file>